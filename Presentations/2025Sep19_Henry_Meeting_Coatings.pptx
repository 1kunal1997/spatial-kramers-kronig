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8" r:id="rId2"/>
    <p:sldId id="259" r:id="rId3"/>
    <p:sldId id="266" r:id="rId4"/>
    <p:sldId id="262" r:id="rId5"/>
    <p:sldId id="263" r:id="rId6"/>
    <p:sldId id="264" r:id="rId7"/>
    <p:sldId id="265" r:id="rId8"/>
    <p:sldId id="260" r:id="rId9"/>
    <p:sldId id="261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425"/>
    <p:restoredTop sz="94563"/>
  </p:normalViewPr>
  <p:slideViewPr>
    <p:cSldViewPr snapToGrid="0">
      <p:cViewPr varScale="1">
        <p:scale>
          <a:sx n="115" d="100"/>
          <a:sy n="115" d="100"/>
        </p:scale>
        <p:origin x="232" y="7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A66D02-21FE-AF24-F9A8-7BE0CF157E9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244BFD9-2462-7917-B6D2-5BFAA9CD15C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720655A-FECB-03DA-5CBF-4F3F99AA05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01C47-71CF-2742-ADFF-DB5703A2E021}" type="datetimeFigureOut">
              <a:rPr lang="en-US" smtClean="0"/>
              <a:t>9/30/25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70F35C-2ECA-2FB1-86D9-529BBDC6A2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C61CE59-FD08-2A81-EF74-61777BDFA5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34013E-437D-DE49-9382-0AD951FFAC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88008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B3430D-6535-E769-1A22-3AA456EFD2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083466-4B2A-0847-BFF1-9F6F2B491EE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39B1BC-BAE6-4126-CF94-F9CDD30F6F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01C47-71CF-2742-ADFF-DB5703A2E021}" type="datetimeFigureOut">
              <a:rPr lang="en-US" smtClean="0"/>
              <a:t>9/30/25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C0F746A-16C0-16B6-A107-E70217D0FB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586268-693B-7678-5236-8439136FE0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34013E-437D-DE49-9382-0AD951FFAC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029067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5FC394-EA83-D0C6-3751-8C64FD9627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63C8031-876F-9DA7-DA43-0F0F98A75B9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E20395-ED1A-7324-DA4C-52EE5255DB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01C47-71CF-2742-ADFF-DB5703A2E021}" type="datetimeFigureOut">
              <a:rPr lang="en-US" smtClean="0"/>
              <a:t>9/30/25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FBADA7-3EB1-DE48-EE41-3C251A8DC4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9A9EBA-8F5E-061B-D7AE-F721030E21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34013E-437D-DE49-9382-0AD951FFAC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9933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97131F-405A-626B-4583-44BE59D780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918DA2-7883-ED76-7B12-AA89E98AF3A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8FDEC8A-2305-B72A-727C-42BF2E7F075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7D6A7DF-08C9-DE13-405A-210A59FCCA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01C47-71CF-2742-ADFF-DB5703A2E021}" type="datetimeFigureOut">
              <a:rPr lang="en-US" smtClean="0"/>
              <a:t>9/30/25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8F5FAB8-215C-E9F1-5D1C-53F860183E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B837A26-6029-C877-EEA4-6F6E68BDBF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34013E-437D-DE49-9382-0AD951FFAC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3345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928248-3D29-16C6-7442-2B9FE84D09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0C86B70-58E7-F04F-661F-23B79CFA8F6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33BA037-6475-ACCF-49DC-24CEC755E4F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A62A3EC-3BA2-A8BE-73D5-908F712D17A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5A1F51C-7A01-EBBD-45AC-75EBA68ADC0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BB50A8B-AD52-CF52-B9E6-89C2F186D7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01C47-71CF-2742-ADFF-DB5703A2E021}" type="datetimeFigureOut">
              <a:rPr lang="en-US" smtClean="0"/>
              <a:t>9/30/25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EFC90D7-77FB-9FF4-DEF2-CE450B948E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B8A45B2-6E50-1149-AEA2-9A93B63908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34013E-437D-DE49-9382-0AD951FFAC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75059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FFFAD8-5C36-734B-129C-C458F7CB76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74D2FFB-36FD-3562-388D-840FA64CCB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01C47-71CF-2742-ADFF-DB5703A2E021}" type="datetimeFigureOut">
              <a:rPr lang="en-US" smtClean="0"/>
              <a:t>9/30/25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385EE51-7F3D-DB6A-CF15-DDEC7D15C1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6994A8-CBE0-8C9D-0AA0-CCCF1E5D61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34013E-437D-DE49-9382-0AD951FFAC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9409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B349F7D-6E09-8A09-61FC-1014A97FC7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01C47-71CF-2742-ADFF-DB5703A2E021}" type="datetimeFigureOut">
              <a:rPr lang="en-US" smtClean="0"/>
              <a:t>9/30/25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5AA086E-7366-EA9B-2133-9DD82586C3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557E19B-1746-21CA-DE9B-11C99255E0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34013E-437D-DE49-9382-0AD951FFAC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75790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673AFA-5CBB-9825-DB81-DC574E421D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D798C1-AEDC-9BFE-36FC-9CB068A252F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3ACFD50-893B-1D3C-8114-0A40DD2C054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4FD06CB-8659-D07E-BA82-06A9EF6DDF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01C47-71CF-2742-ADFF-DB5703A2E021}" type="datetimeFigureOut">
              <a:rPr lang="en-US" smtClean="0"/>
              <a:t>9/30/25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0FA349A-9DEB-7071-20F1-681DC5A031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EFB8388-2499-E5DA-1B27-D3DCABF371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34013E-437D-DE49-9382-0AD951FFAC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09712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36BE4C-04DC-D0F9-C23A-DE4F6228F5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717C68B-7E8A-33C9-0757-A3295ABB33E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1041564-A85E-0FA1-C11C-90A181F8D39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A428419-EC96-4ECF-7A45-831B3EFFCB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01C47-71CF-2742-ADFF-DB5703A2E021}" type="datetimeFigureOut">
              <a:rPr lang="en-US" smtClean="0"/>
              <a:t>9/30/25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45D2D13-B037-A2FB-AD2D-C82B6BF52F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0FB4960-C8CC-3E5B-B7B6-7DF6DAD65E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34013E-437D-DE49-9382-0AD951FFAC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10435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BE5374-EF06-2766-BD34-ECF8CDA426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AA789C3-ACA1-A30E-8972-D63B17DEEB2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5FCA16D-C624-9329-DD56-6351512061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01C47-71CF-2742-ADFF-DB5703A2E021}" type="datetimeFigureOut">
              <a:rPr lang="en-US" smtClean="0"/>
              <a:t>9/30/25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A4EF6F4-B9A0-74E1-9A0F-44C83FAB96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4AA1C0-4522-E312-E303-D44F38FE78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34013E-437D-DE49-9382-0AD951FFAC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86676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57D04C4-BA25-DF3A-0281-33C35967D01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EB93140-9291-1F8C-CED7-24D608F71EE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208FA8-CD71-D464-4859-8D05867BC4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01C47-71CF-2742-ADFF-DB5703A2E021}" type="datetimeFigureOut">
              <a:rPr lang="en-US" smtClean="0"/>
              <a:t>9/30/25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330D80-C8F4-E7D1-C0FA-5CF6A6B7AA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65961B7-113E-1E8D-9E9B-E22F3B6C60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34013E-437D-DE49-9382-0AD951FFAC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89893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883DB6E-C903-450D-CDA1-66711A5DD5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458A075-B36A-54AD-D930-E968E678018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CE0408-7493-D9AF-F495-3C28EBE8066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E701C47-71CF-2742-ADFF-DB5703A2E021}" type="datetimeFigureOut">
              <a:rPr lang="en-US" smtClean="0"/>
              <a:t>9/30/25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47EC5CD-19B1-815E-F113-86F11531585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934E870-41E1-F29D-7EA9-E06CF530E6C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C34013E-437D-DE49-9382-0AD951FFAC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30434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7" Type="http://schemas.openxmlformats.org/officeDocument/2006/relationships/image" Target="../media/image1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7" Type="http://schemas.openxmlformats.org/officeDocument/2006/relationships/image" Target="../media/image1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7" Type="http://schemas.openxmlformats.org/officeDocument/2006/relationships/image" Target="../media/image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.png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7" Type="http://schemas.openxmlformats.org/officeDocument/2006/relationships/image" Target="../media/image1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0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AEF720-3E36-81C1-2057-4B3EC59838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9477" y="102079"/>
            <a:ext cx="10515600" cy="549274"/>
          </a:xfrm>
        </p:spPr>
        <p:txBody>
          <a:bodyPr>
            <a:noAutofit/>
          </a:bodyPr>
          <a:lstStyle/>
          <a:p>
            <a:r>
              <a:rPr lang="en-US" sz="2400" dirty="0"/>
              <a:t>How can a spatial </a:t>
            </a:r>
            <a:r>
              <a:rPr lang="en-US" sz="2400" dirty="0" err="1"/>
              <a:t>Kramers</a:t>
            </a:r>
            <a:r>
              <a:rPr lang="en-US" sz="2400" dirty="0"/>
              <a:t>–</a:t>
            </a:r>
            <a:r>
              <a:rPr lang="en-US" sz="2400" dirty="0" err="1"/>
              <a:t>Kronig</a:t>
            </a:r>
            <a:r>
              <a:rPr lang="en-US" sz="2400" dirty="0"/>
              <a:t> coating help?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47724CDD-0FB1-B971-1D17-CB379E3D250E}"/>
              </a:ext>
            </a:extLst>
          </p:cNvPr>
          <p:cNvGrpSpPr>
            <a:grpSpLocks noChangeAspect="1"/>
          </p:cNvGrpSpPr>
          <p:nvPr/>
        </p:nvGrpSpPr>
        <p:grpSpPr>
          <a:xfrm>
            <a:off x="5966666" y="1535354"/>
            <a:ext cx="3408912" cy="1052186"/>
            <a:chOff x="1853852" y="1240077"/>
            <a:chExt cx="3327748" cy="1027134"/>
          </a:xfrm>
        </p:grpSpPr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7944F7A8-C36B-FF91-C276-CC1AB2082467}"/>
                </a:ext>
              </a:extLst>
            </p:cNvPr>
            <p:cNvSpPr/>
            <p:nvPr/>
          </p:nvSpPr>
          <p:spPr>
            <a:xfrm>
              <a:off x="1853852" y="1240077"/>
              <a:ext cx="2805830" cy="1027134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A08897A9-94D3-6CD1-A1F8-301867A13A50}"/>
                </a:ext>
              </a:extLst>
            </p:cNvPr>
            <p:cNvSpPr/>
            <p:nvPr/>
          </p:nvSpPr>
          <p:spPr>
            <a:xfrm>
              <a:off x="4659682" y="1240077"/>
              <a:ext cx="521918" cy="1027134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D6EAE3B4-4712-3831-A7C4-902484B1467D}"/>
              </a:ext>
            </a:extLst>
          </p:cNvPr>
          <p:cNvSpPr txBox="1"/>
          <p:nvPr/>
        </p:nvSpPr>
        <p:spPr>
          <a:xfrm>
            <a:off x="7081482" y="1121995"/>
            <a:ext cx="9534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window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79B1C0D-4DFC-0DF0-7F0E-49FB75F80E68}"/>
              </a:ext>
            </a:extLst>
          </p:cNvPr>
          <p:cNvSpPr txBox="1"/>
          <p:nvPr/>
        </p:nvSpPr>
        <p:spPr>
          <a:xfrm>
            <a:off x="8631521" y="1121995"/>
            <a:ext cx="9232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coating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69D4E46A-EA0F-9B62-8689-15C661604582}"/>
              </a:ext>
            </a:extLst>
          </p:cNvPr>
          <p:cNvCxnSpPr/>
          <p:nvPr/>
        </p:nvCxnSpPr>
        <p:spPr>
          <a:xfrm>
            <a:off x="4438491" y="1710718"/>
            <a:ext cx="1227550" cy="0"/>
          </a:xfrm>
          <a:prstGeom prst="straightConnector1">
            <a:avLst/>
          </a:prstGeom>
          <a:ln w="28575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10" name="Picture 9">
            <a:extLst>
              <a:ext uri="{FF2B5EF4-FFF2-40B4-BE49-F238E27FC236}">
                <a16:creationId xmlns:a16="http://schemas.microsoft.com/office/drawing/2014/main" id="{86D2B10E-E8B8-2609-DA58-7019353C6738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1364" t="31945" b="33579"/>
          <a:stretch>
            <a:fillRect/>
          </a:stretch>
        </p:blipFill>
        <p:spPr>
          <a:xfrm rot="10800000">
            <a:off x="2950979" y="1810927"/>
            <a:ext cx="1052370" cy="964504"/>
          </a:xfrm>
          <a:prstGeom prst="rect">
            <a:avLst/>
          </a:prstGeom>
        </p:spPr>
      </p:pic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3790CFB2-3B62-505B-1E22-316AF288FE76}"/>
              </a:ext>
            </a:extLst>
          </p:cNvPr>
          <p:cNvCxnSpPr>
            <a:cxnSpLocks/>
          </p:cNvCxnSpPr>
          <p:nvPr/>
        </p:nvCxnSpPr>
        <p:spPr>
          <a:xfrm flipH="1">
            <a:off x="4762079" y="2293179"/>
            <a:ext cx="828806" cy="0"/>
          </a:xfrm>
          <a:prstGeom prst="straightConnector1">
            <a:avLst/>
          </a:prstGeom>
          <a:ln w="28575"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19539916-07DD-A2FB-EBA2-596BF7CE21C6}"/>
              </a:ext>
            </a:extLst>
          </p:cNvPr>
          <p:cNvSpPr txBox="1"/>
          <p:nvPr/>
        </p:nvSpPr>
        <p:spPr>
          <a:xfrm>
            <a:off x="4653146" y="2321413"/>
            <a:ext cx="112562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R</a:t>
            </a:r>
            <a:r>
              <a:rPr lang="en-US" baseline="-25000" dirty="0">
                <a:solidFill>
                  <a:schemeClr val="accent6">
                    <a:lumMod val="75000"/>
                  </a:schemeClr>
                </a:solidFill>
              </a:rPr>
              <a:t>f 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(signal)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7B13A9C-5379-43DD-99F3-6DB26EFEACE3}"/>
              </a:ext>
            </a:extLst>
          </p:cNvPr>
          <p:cNvSpPr txBox="1"/>
          <p:nvPr/>
        </p:nvSpPr>
        <p:spPr>
          <a:xfrm>
            <a:off x="4866959" y="1738953"/>
            <a:ext cx="3257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</a:t>
            </a:r>
            <a:r>
              <a:rPr lang="en-US" baseline="-25000" dirty="0"/>
              <a:t>0</a:t>
            </a: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64C5C477-377F-C376-F4B0-A7E4DBC10DA6}"/>
              </a:ext>
            </a:extLst>
          </p:cNvPr>
          <p:cNvCxnSpPr>
            <a:cxnSpLocks/>
          </p:cNvCxnSpPr>
          <p:nvPr/>
        </p:nvCxnSpPr>
        <p:spPr>
          <a:xfrm>
            <a:off x="7991707" y="1710718"/>
            <a:ext cx="689021" cy="0"/>
          </a:xfrm>
          <a:prstGeom prst="straightConnector1">
            <a:avLst/>
          </a:prstGeom>
          <a:ln w="28575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B92E44BD-588B-CDCD-AE4D-3A927882DE5F}"/>
              </a:ext>
            </a:extLst>
          </p:cNvPr>
          <p:cNvSpPr txBox="1"/>
          <p:nvPr/>
        </p:nvSpPr>
        <p:spPr>
          <a:xfrm>
            <a:off x="8173352" y="1754746"/>
            <a:ext cx="2952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</a:t>
            </a:r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6BFBE2DC-DFDA-9022-F00A-3773D4891E8E}"/>
              </a:ext>
            </a:extLst>
          </p:cNvPr>
          <p:cNvCxnSpPr>
            <a:cxnSpLocks/>
          </p:cNvCxnSpPr>
          <p:nvPr/>
        </p:nvCxnSpPr>
        <p:spPr>
          <a:xfrm flipH="1">
            <a:off x="8096643" y="2218208"/>
            <a:ext cx="535068" cy="0"/>
          </a:xfrm>
          <a:prstGeom prst="straightConnector1">
            <a:avLst/>
          </a:prstGeom>
          <a:ln w="28575"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AD51AF97-5AAB-3EDC-D92F-2E919DA5193D}"/>
              </a:ext>
            </a:extLst>
          </p:cNvPr>
          <p:cNvSpPr txBox="1"/>
          <p:nvPr/>
        </p:nvSpPr>
        <p:spPr>
          <a:xfrm>
            <a:off x="7801508" y="2218208"/>
            <a:ext cx="11336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R</a:t>
            </a:r>
            <a:r>
              <a:rPr lang="en-US" baseline="-25000" dirty="0">
                <a:solidFill>
                  <a:schemeClr val="accent6">
                    <a:lumMod val="75000"/>
                  </a:schemeClr>
                </a:solidFill>
              </a:rPr>
              <a:t>b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 (noise)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DF78CB87-9B66-00BE-EDD5-C6BADEE99D8E}"/>
              </a:ext>
            </a:extLst>
          </p:cNvPr>
          <p:cNvSpPr txBox="1"/>
          <p:nvPr/>
        </p:nvSpPr>
        <p:spPr>
          <a:xfrm>
            <a:off x="296579" y="1212188"/>
            <a:ext cx="298429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1. Coating behind window (e.g. ellipsometry)</a:t>
            </a:r>
          </a:p>
        </p:txBody>
      </p: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9986545F-86D2-E15C-980D-D66B69C0F762}"/>
              </a:ext>
            </a:extLst>
          </p:cNvPr>
          <p:cNvCxnSpPr>
            <a:cxnSpLocks/>
          </p:cNvCxnSpPr>
          <p:nvPr/>
        </p:nvCxnSpPr>
        <p:spPr>
          <a:xfrm>
            <a:off x="330820" y="3429000"/>
            <a:ext cx="11530360" cy="0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27" name="Group 26">
            <a:extLst>
              <a:ext uri="{FF2B5EF4-FFF2-40B4-BE49-F238E27FC236}">
                <a16:creationId xmlns:a16="http://schemas.microsoft.com/office/drawing/2014/main" id="{A5A3F4AD-7CF6-C2F1-FE10-1BA60C95BFC6}"/>
              </a:ext>
            </a:extLst>
          </p:cNvPr>
          <p:cNvGrpSpPr>
            <a:grpSpLocks noChangeAspect="1"/>
          </p:cNvGrpSpPr>
          <p:nvPr/>
        </p:nvGrpSpPr>
        <p:grpSpPr>
          <a:xfrm rot="10800000">
            <a:off x="4824140" y="4326168"/>
            <a:ext cx="3408912" cy="1052186"/>
            <a:chOff x="1853852" y="1240077"/>
            <a:chExt cx="3327748" cy="1027134"/>
          </a:xfrm>
        </p:grpSpPr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1ADDF7B2-7C5A-55D4-E836-C4734878B39A}"/>
                </a:ext>
              </a:extLst>
            </p:cNvPr>
            <p:cNvSpPr/>
            <p:nvPr/>
          </p:nvSpPr>
          <p:spPr>
            <a:xfrm>
              <a:off x="1853852" y="1240077"/>
              <a:ext cx="2805830" cy="1027134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FE72D3D1-1D86-1544-280E-CF1CDDA7495A}"/>
                </a:ext>
              </a:extLst>
            </p:cNvPr>
            <p:cNvSpPr/>
            <p:nvPr/>
          </p:nvSpPr>
          <p:spPr>
            <a:xfrm>
              <a:off x="4659682" y="1240077"/>
              <a:ext cx="521918" cy="1027134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0" name="TextBox 29">
            <a:extLst>
              <a:ext uri="{FF2B5EF4-FFF2-40B4-BE49-F238E27FC236}">
                <a16:creationId xmlns:a16="http://schemas.microsoft.com/office/drawing/2014/main" id="{69C9AFB6-5DA6-ED65-5E70-ED3E7A8E2B5E}"/>
              </a:ext>
            </a:extLst>
          </p:cNvPr>
          <p:cNvSpPr txBox="1"/>
          <p:nvPr/>
        </p:nvSpPr>
        <p:spPr>
          <a:xfrm>
            <a:off x="6198415" y="3901434"/>
            <a:ext cx="9534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window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2B04B35F-98AD-ABFC-DB07-982A16D2711A}"/>
              </a:ext>
            </a:extLst>
          </p:cNvPr>
          <p:cNvSpPr txBox="1"/>
          <p:nvPr/>
        </p:nvSpPr>
        <p:spPr>
          <a:xfrm>
            <a:off x="4636249" y="3901434"/>
            <a:ext cx="9232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coating</a:t>
            </a:r>
          </a:p>
        </p:txBody>
      </p: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0522D1C0-99E0-88BC-053D-FFB89694E239}"/>
              </a:ext>
            </a:extLst>
          </p:cNvPr>
          <p:cNvCxnSpPr/>
          <p:nvPr/>
        </p:nvCxnSpPr>
        <p:spPr>
          <a:xfrm>
            <a:off x="3295965" y="4501532"/>
            <a:ext cx="1227550" cy="0"/>
          </a:xfrm>
          <a:prstGeom prst="straightConnector1">
            <a:avLst/>
          </a:prstGeom>
          <a:ln w="28575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33" name="Picture 32">
            <a:extLst>
              <a:ext uri="{FF2B5EF4-FFF2-40B4-BE49-F238E27FC236}">
                <a16:creationId xmlns:a16="http://schemas.microsoft.com/office/drawing/2014/main" id="{A9F9E52A-2016-F7B9-52AF-9196C8AA15A4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1364" t="31945" b="33579"/>
          <a:stretch>
            <a:fillRect/>
          </a:stretch>
        </p:blipFill>
        <p:spPr>
          <a:xfrm>
            <a:off x="9525763" y="4416847"/>
            <a:ext cx="1052370" cy="964504"/>
          </a:xfrm>
          <a:prstGeom prst="rect">
            <a:avLst/>
          </a:prstGeom>
        </p:spPr>
      </p:pic>
      <p:sp>
        <p:nvSpPr>
          <p:cNvPr id="36" name="TextBox 35">
            <a:extLst>
              <a:ext uri="{FF2B5EF4-FFF2-40B4-BE49-F238E27FC236}">
                <a16:creationId xmlns:a16="http://schemas.microsoft.com/office/drawing/2014/main" id="{503D4EBF-798D-39D5-A6D2-31A8C36D90D8}"/>
              </a:ext>
            </a:extLst>
          </p:cNvPr>
          <p:cNvSpPr txBox="1"/>
          <p:nvPr/>
        </p:nvSpPr>
        <p:spPr>
          <a:xfrm>
            <a:off x="3724433" y="4529767"/>
            <a:ext cx="3257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</a:t>
            </a:r>
            <a:r>
              <a:rPr lang="en-US" baseline="-25000" dirty="0"/>
              <a:t>0</a:t>
            </a:r>
          </a:p>
        </p:txBody>
      </p: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91EBFDCD-FD2A-1488-DF6C-7B384F317F9B}"/>
              </a:ext>
            </a:extLst>
          </p:cNvPr>
          <p:cNvCxnSpPr>
            <a:cxnSpLocks/>
          </p:cNvCxnSpPr>
          <p:nvPr/>
        </p:nvCxnSpPr>
        <p:spPr>
          <a:xfrm>
            <a:off x="5533340" y="4501532"/>
            <a:ext cx="689021" cy="0"/>
          </a:xfrm>
          <a:prstGeom prst="straightConnector1">
            <a:avLst/>
          </a:prstGeom>
          <a:ln w="28575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8" name="TextBox 37">
            <a:extLst>
              <a:ext uri="{FF2B5EF4-FFF2-40B4-BE49-F238E27FC236}">
                <a16:creationId xmlns:a16="http://schemas.microsoft.com/office/drawing/2014/main" id="{4BEBEC34-7ECE-FFFC-A2B0-1B33B58E92B9}"/>
              </a:ext>
            </a:extLst>
          </p:cNvPr>
          <p:cNvSpPr txBox="1"/>
          <p:nvPr/>
        </p:nvSpPr>
        <p:spPr>
          <a:xfrm>
            <a:off x="5714985" y="4545560"/>
            <a:ext cx="3770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</a:t>
            </a:r>
            <a:r>
              <a:rPr lang="en-US" baseline="-25000" dirty="0"/>
              <a:t>0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C42676E8-3B2D-C10F-DBBA-63DB747F654F}"/>
              </a:ext>
            </a:extLst>
          </p:cNvPr>
          <p:cNvSpPr txBox="1"/>
          <p:nvPr/>
        </p:nvSpPr>
        <p:spPr>
          <a:xfrm>
            <a:off x="296579" y="3989835"/>
            <a:ext cx="298429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2. Coating in front of window (e.g. TE detection)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89AC0243-2045-3D1D-8681-829EF609A435}"/>
                  </a:ext>
                </a:extLst>
              </p:cNvPr>
              <p:cNvSpPr txBox="1"/>
              <p:nvPr/>
            </p:nvSpPr>
            <p:spPr>
              <a:xfrm>
                <a:off x="10627387" y="1804357"/>
                <a:ext cx="752322" cy="52315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  <m:r>
                            <a:rPr lang="en-US" b="0" i="1" baseline="-25000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  <m:r>
                            <a:rPr lang="en-US" b="0" i="1" baseline="-25000" smtClean="0">
                              <a:latin typeface="Cambria Math" panose="02040503050406030204" pitchFamily="18" charset="0"/>
                            </a:rPr>
                            <m:t>𝑏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𝜀</m:t>
                          </m:r>
                          <m:r>
                            <a:rPr lang="en-US" b="0" i="1" baseline="-25000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89AC0243-2045-3D1D-8681-829EF609A43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627387" y="1804357"/>
                <a:ext cx="752322" cy="523157"/>
              </a:xfrm>
              <a:prstGeom prst="rect">
                <a:avLst/>
              </a:prstGeom>
              <a:blipFill>
                <a:blip r:embed="rId3"/>
                <a:stretch>
                  <a:fillRect l="-6557" t="-2381" r="-1639" b="-1428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4" name="TextBox 43">
            <a:extLst>
              <a:ext uri="{FF2B5EF4-FFF2-40B4-BE49-F238E27FC236}">
                <a16:creationId xmlns:a16="http://schemas.microsoft.com/office/drawing/2014/main" id="{8437FC59-F739-7A2D-DF5E-130E3F2EFB57}"/>
              </a:ext>
            </a:extLst>
          </p:cNvPr>
          <p:cNvSpPr txBox="1"/>
          <p:nvPr/>
        </p:nvSpPr>
        <p:spPr>
          <a:xfrm>
            <a:off x="9905266" y="1882738"/>
            <a:ext cx="7221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FOM:</a:t>
            </a:r>
          </a:p>
        </p:txBody>
      </p: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7C2EA381-8C80-5407-76E4-F5E878E04A33}"/>
              </a:ext>
            </a:extLst>
          </p:cNvPr>
          <p:cNvCxnSpPr>
            <a:cxnSpLocks/>
          </p:cNvCxnSpPr>
          <p:nvPr/>
        </p:nvCxnSpPr>
        <p:spPr>
          <a:xfrm>
            <a:off x="8418908" y="4649333"/>
            <a:ext cx="518468" cy="0"/>
          </a:xfrm>
          <a:prstGeom prst="straightConnector1">
            <a:avLst/>
          </a:prstGeom>
          <a:ln w="28575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6" name="TextBox 45">
            <a:extLst>
              <a:ext uri="{FF2B5EF4-FFF2-40B4-BE49-F238E27FC236}">
                <a16:creationId xmlns:a16="http://schemas.microsoft.com/office/drawing/2014/main" id="{9CFD9023-7BB4-A03C-4EE4-2825FDE6F1BD}"/>
              </a:ext>
            </a:extLst>
          </p:cNvPr>
          <p:cNvSpPr txBox="1"/>
          <p:nvPr/>
        </p:nvSpPr>
        <p:spPr>
          <a:xfrm>
            <a:off x="8522496" y="4671059"/>
            <a:ext cx="3368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T</a:t>
            </a:r>
            <a:r>
              <a:rPr lang="en-US" baseline="-25000" dirty="0" err="1"/>
              <a:t>f</a:t>
            </a:r>
            <a:endParaRPr lang="en-US" baseline="-25000" dirty="0"/>
          </a:p>
        </p:txBody>
      </p: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687166AA-A335-A85D-17B7-15855E60ED7D}"/>
              </a:ext>
            </a:extLst>
          </p:cNvPr>
          <p:cNvCxnSpPr>
            <a:cxnSpLocks/>
          </p:cNvCxnSpPr>
          <p:nvPr/>
        </p:nvCxnSpPr>
        <p:spPr>
          <a:xfrm flipH="1">
            <a:off x="8105598" y="2775432"/>
            <a:ext cx="535068" cy="0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8" name="TextBox 47">
            <a:extLst>
              <a:ext uri="{FF2B5EF4-FFF2-40B4-BE49-F238E27FC236}">
                <a16:creationId xmlns:a16="http://schemas.microsoft.com/office/drawing/2014/main" id="{FE52844A-5915-D140-A0D4-33A2B1CD0DA4}"/>
              </a:ext>
            </a:extLst>
          </p:cNvPr>
          <p:cNvSpPr txBox="1"/>
          <p:nvPr/>
        </p:nvSpPr>
        <p:spPr>
          <a:xfrm>
            <a:off x="7834829" y="2793847"/>
            <a:ext cx="11512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l-GR" dirty="0">
                <a:solidFill>
                  <a:srgbClr val="FF0000"/>
                </a:solidFill>
              </a:rPr>
              <a:t>ε</a:t>
            </a:r>
            <a:r>
              <a:rPr lang="en-US" baseline="-25000" dirty="0">
                <a:solidFill>
                  <a:srgbClr val="FF0000"/>
                </a:solidFill>
              </a:rPr>
              <a:t>b</a:t>
            </a:r>
            <a:r>
              <a:rPr lang="en-US" dirty="0">
                <a:solidFill>
                  <a:srgbClr val="FF0000"/>
                </a:solidFill>
              </a:rPr>
              <a:t> (noise)</a:t>
            </a:r>
          </a:p>
        </p:txBody>
      </p:sp>
      <p:cxnSp>
        <p:nvCxnSpPr>
          <p:cNvPr id="51" name="Straight Arrow Connector 50">
            <a:extLst>
              <a:ext uri="{FF2B5EF4-FFF2-40B4-BE49-F238E27FC236}">
                <a16:creationId xmlns:a16="http://schemas.microsoft.com/office/drawing/2014/main" id="{E022D210-66A4-638C-9094-E307004C0C5E}"/>
              </a:ext>
            </a:extLst>
          </p:cNvPr>
          <p:cNvCxnSpPr>
            <a:cxnSpLocks/>
          </p:cNvCxnSpPr>
          <p:nvPr/>
        </p:nvCxnSpPr>
        <p:spPr>
          <a:xfrm flipH="1">
            <a:off x="4177802" y="5007245"/>
            <a:ext cx="535068" cy="0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2" name="TextBox 51">
            <a:extLst>
              <a:ext uri="{FF2B5EF4-FFF2-40B4-BE49-F238E27FC236}">
                <a16:creationId xmlns:a16="http://schemas.microsoft.com/office/drawing/2014/main" id="{6A8C9AAB-DBD2-510F-A226-754C4577E30E}"/>
              </a:ext>
            </a:extLst>
          </p:cNvPr>
          <p:cNvSpPr txBox="1"/>
          <p:nvPr/>
        </p:nvSpPr>
        <p:spPr>
          <a:xfrm>
            <a:off x="4331322" y="4944962"/>
            <a:ext cx="3754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l-GR" dirty="0">
                <a:solidFill>
                  <a:srgbClr val="FF0000"/>
                </a:solidFill>
              </a:rPr>
              <a:t>ε</a:t>
            </a:r>
            <a:r>
              <a:rPr lang="en-US" baseline="-25000" dirty="0">
                <a:solidFill>
                  <a:srgbClr val="FF0000"/>
                </a:solidFill>
              </a:rPr>
              <a:t>L</a:t>
            </a:r>
            <a:endParaRPr lang="en-US" dirty="0">
              <a:solidFill>
                <a:srgbClr val="FF0000"/>
              </a:solidFill>
            </a:endParaRPr>
          </a:p>
        </p:txBody>
      </p:sp>
      <p:cxnSp>
        <p:nvCxnSpPr>
          <p:cNvPr id="53" name="Straight Arrow Connector 52">
            <a:extLst>
              <a:ext uri="{FF2B5EF4-FFF2-40B4-BE49-F238E27FC236}">
                <a16:creationId xmlns:a16="http://schemas.microsoft.com/office/drawing/2014/main" id="{B77D6DD0-6B8A-6562-9D00-5BEB56A22586}"/>
              </a:ext>
            </a:extLst>
          </p:cNvPr>
          <p:cNvCxnSpPr>
            <a:cxnSpLocks/>
          </p:cNvCxnSpPr>
          <p:nvPr/>
        </p:nvCxnSpPr>
        <p:spPr>
          <a:xfrm>
            <a:off x="5714985" y="5016728"/>
            <a:ext cx="373277" cy="0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7" name="TextBox 56">
            <a:extLst>
              <a:ext uri="{FF2B5EF4-FFF2-40B4-BE49-F238E27FC236}">
                <a16:creationId xmlns:a16="http://schemas.microsoft.com/office/drawing/2014/main" id="{A483EF1A-7FBF-7696-066C-38E624A08756}"/>
              </a:ext>
            </a:extLst>
          </p:cNvPr>
          <p:cNvSpPr txBox="1"/>
          <p:nvPr/>
        </p:nvSpPr>
        <p:spPr>
          <a:xfrm>
            <a:off x="5358788" y="5009022"/>
            <a:ext cx="111440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l-GR" dirty="0">
                <a:solidFill>
                  <a:srgbClr val="FF0000"/>
                </a:solidFill>
              </a:rPr>
              <a:t>ε</a:t>
            </a:r>
            <a:r>
              <a:rPr lang="en-US" baseline="-25000" dirty="0">
                <a:solidFill>
                  <a:srgbClr val="FF0000"/>
                </a:solidFill>
              </a:rPr>
              <a:t>R</a:t>
            </a:r>
            <a:r>
              <a:rPr lang="en-US" dirty="0">
                <a:solidFill>
                  <a:srgbClr val="FF0000"/>
                </a:solidFill>
              </a:rPr>
              <a:t> (noise)</a:t>
            </a:r>
          </a:p>
        </p:txBody>
      </p:sp>
      <p:cxnSp>
        <p:nvCxnSpPr>
          <p:cNvPr id="59" name="Straight Arrow Connector 58">
            <a:extLst>
              <a:ext uri="{FF2B5EF4-FFF2-40B4-BE49-F238E27FC236}">
                <a16:creationId xmlns:a16="http://schemas.microsoft.com/office/drawing/2014/main" id="{B2461CE0-E9B4-EE75-0068-F38826024B67}"/>
              </a:ext>
            </a:extLst>
          </p:cNvPr>
          <p:cNvCxnSpPr>
            <a:cxnSpLocks/>
          </p:cNvCxnSpPr>
          <p:nvPr/>
        </p:nvCxnSpPr>
        <p:spPr>
          <a:xfrm>
            <a:off x="8581927" y="5094656"/>
            <a:ext cx="373277" cy="0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60" name="TextBox 59">
            <a:extLst>
              <a:ext uri="{FF2B5EF4-FFF2-40B4-BE49-F238E27FC236}">
                <a16:creationId xmlns:a16="http://schemas.microsoft.com/office/drawing/2014/main" id="{C7B094AD-79C6-D3AD-21DA-8BF451137B74}"/>
              </a:ext>
            </a:extLst>
          </p:cNvPr>
          <p:cNvSpPr txBox="1"/>
          <p:nvPr/>
        </p:nvSpPr>
        <p:spPr>
          <a:xfrm>
            <a:off x="8233052" y="5062116"/>
            <a:ext cx="11592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l-GR" dirty="0">
                <a:solidFill>
                  <a:srgbClr val="FF0000"/>
                </a:solidFill>
              </a:rPr>
              <a:t>ε</a:t>
            </a:r>
            <a:r>
              <a:rPr lang="en-US" baseline="-25000" dirty="0">
                <a:solidFill>
                  <a:srgbClr val="FF0000"/>
                </a:solidFill>
              </a:rPr>
              <a:t>W</a:t>
            </a:r>
            <a:r>
              <a:rPr lang="en-US" dirty="0">
                <a:solidFill>
                  <a:srgbClr val="FF0000"/>
                </a:solidFill>
              </a:rPr>
              <a:t> (noise)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1" name="TextBox 60">
                <a:extLst>
                  <a:ext uri="{FF2B5EF4-FFF2-40B4-BE49-F238E27FC236}">
                    <a16:creationId xmlns:a16="http://schemas.microsoft.com/office/drawing/2014/main" id="{3CCEB2EB-9827-18AA-9522-B05D8A7AEC3A}"/>
                  </a:ext>
                </a:extLst>
              </p:cNvPr>
              <p:cNvSpPr txBox="1"/>
              <p:nvPr/>
            </p:nvSpPr>
            <p:spPr>
              <a:xfrm>
                <a:off x="1735792" y="5001143"/>
                <a:ext cx="793230" cy="52315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  <m:r>
                            <a:rPr lang="en-US" b="0" i="1" baseline="-25000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𝜀</m:t>
                          </m:r>
                          <m:r>
                            <a:rPr lang="en-US" b="0" i="1" baseline="-25000" smtClean="0">
                              <a:latin typeface="Cambria Math" panose="02040503050406030204" pitchFamily="18" charset="0"/>
                            </a:rPr>
                            <m:t>𝑊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𝜀</m:t>
                          </m:r>
                          <m:r>
                            <a:rPr lang="en-US" b="0" i="1" baseline="-25000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61" name="TextBox 60">
                <a:extLst>
                  <a:ext uri="{FF2B5EF4-FFF2-40B4-BE49-F238E27FC236}">
                    <a16:creationId xmlns:a16="http://schemas.microsoft.com/office/drawing/2014/main" id="{3CCEB2EB-9827-18AA-9522-B05D8A7AEC3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35792" y="5001143"/>
                <a:ext cx="793230" cy="523157"/>
              </a:xfrm>
              <a:prstGeom prst="rect">
                <a:avLst/>
              </a:prstGeom>
              <a:blipFill>
                <a:blip r:embed="rId4"/>
                <a:stretch>
                  <a:fillRect l="-4688" r="-1563" b="-1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2" name="TextBox 61">
            <a:extLst>
              <a:ext uri="{FF2B5EF4-FFF2-40B4-BE49-F238E27FC236}">
                <a16:creationId xmlns:a16="http://schemas.microsoft.com/office/drawing/2014/main" id="{1D051635-9EA0-748E-DD08-BEED691DC0A9}"/>
              </a:ext>
            </a:extLst>
          </p:cNvPr>
          <p:cNvSpPr txBox="1"/>
          <p:nvPr/>
        </p:nvSpPr>
        <p:spPr>
          <a:xfrm>
            <a:off x="1032925" y="5078056"/>
            <a:ext cx="7221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FOM:</a:t>
            </a:r>
          </a:p>
        </p:txBody>
      </p:sp>
    </p:spTree>
    <p:extLst>
      <p:ext uri="{BB962C8B-B14F-4D97-AF65-F5344CB8AC3E}">
        <p14:creationId xmlns:p14="http://schemas.microsoft.com/office/powerpoint/2010/main" val="327209089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>
            <a:extLst>
              <a:ext uri="{FF2B5EF4-FFF2-40B4-BE49-F238E27FC236}">
                <a16:creationId xmlns:a16="http://schemas.microsoft.com/office/drawing/2014/main" id="{F9B18F77-A725-E9BF-F486-04115EC12411}"/>
              </a:ext>
            </a:extLst>
          </p:cNvPr>
          <p:cNvGrpSpPr>
            <a:grpSpLocks noChangeAspect="1"/>
          </p:cNvGrpSpPr>
          <p:nvPr/>
        </p:nvGrpSpPr>
        <p:grpSpPr>
          <a:xfrm>
            <a:off x="8888328" y="823204"/>
            <a:ext cx="2582674" cy="1529703"/>
            <a:chOff x="5424015" y="1237785"/>
            <a:chExt cx="3351235" cy="1984917"/>
          </a:xfrm>
        </p:grpSpPr>
        <p:pic>
          <p:nvPicPr>
            <p:cNvPr id="4" name="Google Shape;89;p1">
              <a:extLst>
                <a:ext uri="{FF2B5EF4-FFF2-40B4-BE49-F238E27FC236}">
                  <a16:creationId xmlns:a16="http://schemas.microsoft.com/office/drawing/2014/main" id="{3A9D7ABA-0996-FDC5-C412-99FE2DB0EB64}"/>
                </a:ext>
              </a:extLst>
            </p:cNvPr>
            <p:cNvPicPr preferRelativeResize="0">
              <a:picLocks noChangeAspect="1"/>
            </p:cNvPicPr>
            <p:nvPr/>
          </p:nvPicPr>
          <p:blipFill rotWithShape="1">
            <a:blip r:embed="rId2">
              <a:alphaModFix/>
            </a:blip>
            <a:srcRect/>
            <a:stretch/>
          </p:blipFill>
          <p:spPr>
            <a:xfrm>
              <a:off x="5424015" y="1242426"/>
              <a:ext cx="3351235" cy="1980276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FAE7D453-015C-6CB4-0A05-48DFB680D30D}"/>
                </a:ext>
              </a:extLst>
            </p:cNvPr>
            <p:cNvSpPr/>
            <p:nvPr/>
          </p:nvSpPr>
          <p:spPr>
            <a:xfrm>
              <a:off x="5507277" y="1237785"/>
              <a:ext cx="1373025" cy="1962615"/>
            </a:xfrm>
            <a:prstGeom prst="rect">
              <a:avLst/>
            </a:prstGeom>
            <a:solidFill>
              <a:schemeClr val="accent1">
                <a:lumMod val="20000"/>
                <a:lumOff val="80000"/>
                <a:shade val="30000"/>
                <a:satMod val="115000"/>
                <a:alpha val="73553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F5D99E9F-C014-3DE3-93DC-C73E2355A0F6}"/>
                </a:ext>
              </a:extLst>
            </p:cNvPr>
            <p:cNvSpPr/>
            <p:nvPr/>
          </p:nvSpPr>
          <p:spPr>
            <a:xfrm>
              <a:off x="7304049" y="1251256"/>
              <a:ext cx="1471201" cy="1962615"/>
            </a:xfrm>
            <a:prstGeom prst="rect">
              <a:avLst/>
            </a:prstGeom>
            <a:solidFill>
              <a:schemeClr val="accent1">
                <a:lumMod val="20000"/>
                <a:lumOff val="80000"/>
                <a:shade val="30000"/>
                <a:satMod val="115000"/>
                <a:alpha val="73553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F768286D-23A1-8636-A995-D1C8DA556AA8}"/>
              </a:ext>
            </a:extLst>
          </p:cNvPr>
          <p:cNvGrpSpPr>
            <a:grpSpLocks noChangeAspect="1"/>
          </p:cNvGrpSpPr>
          <p:nvPr/>
        </p:nvGrpSpPr>
        <p:grpSpPr>
          <a:xfrm>
            <a:off x="8911358" y="3123597"/>
            <a:ext cx="2559644" cy="1512517"/>
            <a:chOff x="6658084" y="3524709"/>
            <a:chExt cx="3351236" cy="1980276"/>
          </a:xfrm>
        </p:grpSpPr>
        <p:pic>
          <p:nvPicPr>
            <p:cNvPr id="7" name="Google Shape;89;p1">
              <a:extLst>
                <a:ext uri="{FF2B5EF4-FFF2-40B4-BE49-F238E27FC236}">
                  <a16:creationId xmlns:a16="http://schemas.microsoft.com/office/drawing/2014/main" id="{48AFE446-E74A-4186-AFA3-73F14F63361A}"/>
                </a:ext>
              </a:extLst>
            </p:cNvPr>
            <p:cNvPicPr preferRelativeResize="0">
              <a:picLocks noChangeAspect="1"/>
            </p:cNvPicPr>
            <p:nvPr/>
          </p:nvPicPr>
          <p:blipFill rotWithShape="1">
            <a:blip r:embed="rId2">
              <a:alphaModFix/>
            </a:blip>
            <a:srcRect/>
            <a:stretch/>
          </p:blipFill>
          <p:spPr>
            <a:xfrm>
              <a:off x="6658084" y="3524709"/>
              <a:ext cx="3351235" cy="1980276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870D16A7-CBE4-DF77-F8C2-70D94FA97569}"/>
                </a:ext>
              </a:extLst>
            </p:cNvPr>
            <p:cNvSpPr/>
            <p:nvPr/>
          </p:nvSpPr>
          <p:spPr>
            <a:xfrm>
              <a:off x="8218450" y="3533539"/>
              <a:ext cx="1790870" cy="1962615"/>
            </a:xfrm>
            <a:prstGeom prst="rect">
              <a:avLst/>
            </a:prstGeom>
            <a:solidFill>
              <a:schemeClr val="accent1">
                <a:lumMod val="20000"/>
                <a:lumOff val="80000"/>
                <a:shade val="30000"/>
                <a:satMod val="115000"/>
                <a:alpha val="73553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8F7EB840-B548-1DEC-B802-F8E7494E144B}"/>
              </a:ext>
            </a:extLst>
          </p:cNvPr>
          <p:cNvGrpSpPr>
            <a:grpSpLocks noChangeAspect="1"/>
          </p:cNvGrpSpPr>
          <p:nvPr/>
        </p:nvGrpSpPr>
        <p:grpSpPr>
          <a:xfrm>
            <a:off x="6356195" y="1254015"/>
            <a:ext cx="2108788" cy="650893"/>
            <a:chOff x="1853852" y="1240077"/>
            <a:chExt cx="3327748" cy="1027134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83870A69-55EB-EAB3-4187-FBB5BD173426}"/>
                </a:ext>
              </a:extLst>
            </p:cNvPr>
            <p:cNvSpPr/>
            <p:nvPr/>
          </p:nvSpPr>
          <p:spPr>
            <a:xfrm>
              <a:off x="1853852" y="1240077"/>
              <a:ext cx="2805830" cy="1027134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96B7E72A-8E94-7237-919D-0DC162E578C8}"/>
                </a:ext>
              </a:extLst>
            </p:cNvPr>
            <p:cNvSpPr/>
            <p:nvPr/>
          </p:nvSpPr>
          <p:spPr>
            <a:xfrm>
              <a:off x="4659682" y="1240077"/>
              <a:ext cx="521918" cy="1027134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E5C3C2A7-E7B9-5913-07FE-069D8983B163}"/>
              </a:ext>
            </a:extLst>
          </p:cNvPr>
          <p:cNvGrpSpPr>
            <a:grpSpLocks noChangeAspect="1"/>
          </p:cNvGrpSpPr>
          <p:nvPr/>
        </p:nvGrpSpPr>
        <p:grpSpPr>
          <a:xfrm rot="10800000">
            <a:off x="6356195" y="3554408"/>
            <a:ext cx="2108788" cy="650893"/>
            <a:chOff x="1853852" y="1240077"/>
            <a:chExt cx="3327748" cy="1027134"/>
          </a:xfrm>
        </p:grpSpPr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ED8C5E87-CF17-BF93-2713-B4A8049A1920}"/>
                </a:ext>
              </a:extLst>
            </p:cNvPr>
            <p:cNvSpPr/>
            <p:nvPr/>
          </p:nvSpPr>
          <p:spPr>
            <a:xfrm>
              <a:off x="1853852" y="1240077"/>
              <a:ext cx="2805830" cy="1027134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C7380404-ECC7-7311-83FA-980A02BD7BE5}"/>
                </a:ext>
              </a:extLst>
            </p:cNvPr>
            <p:cNvSpPr/>
            <p:nvPr/>
          </p:nvSpPr>
          <p:spPr>
            <a:xfrm>
              <a:off x="4659682" y="1240077"/>
              <a:ext cx="521918" cy="1027134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0" name="TextBox 19">
            <a:extLst>
              <a:ext uri="{FF2B5EF4-FFF2-40B4-BE49-F238E27FC236}">
                <a16:creationId xmlns:a16="http://schemas.microsoft.com/office/drawing/2014/main" id="{7829069B-092C-6192-ED8C-23034BAD027E}"/>
              </a:ext>
            </a:extLst>
          </p:cNvPr>
          <p:cNvSpPr txBox="1"/>
          <p:nvPr/>
        </p:nvSpPr>
        <p:spPr>
          <a:xfrm>
            <a:off x="607465" y="980798"/>
            <a:ext cx="5080396" cy="1708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spcAft>
                <a:spcPts val="600"/>
              </a:spcAft>
              <a:buFontTx/>
              <a:buChar char="-"/>
            </a:pPr>
            <a:r>
              <a:rPr lang="en-US" dirty="0"/>
              <a:t>Use different portions of KK profile for coating</a:t>
            </a:r>
          </a:p>
          <a:p>
            <a:pPr marL="285750" indent="-285750">
              <a:spcAft>
                <a:spcPts val="600"/>
              </a:spcAft>
              <a:buFontTx/>
              <a:buChar char="-"/>
            </a:pPr>
            <a:r>
              <a:rPr lang="en-US" dirty="0"/>
              <a:t>Compare FOM of </a:t>
            </a:r>
            <a:r>
              <a:rPr lang="en-US" dirty="0" err="1"/>
              <a:t>sKK</a:t>
            </a:r>
            <a:r>
              <a:rPr lang="en-US" dirty="0"/>
              <a:t> coating and AR coating</a:t>
            </a:r>
          </a:p>
          <a:p>
            <a:pPr marL="285750" indent="-285750">
              <a:spcAft>
                <a:spcPts val="600"/>
              </a:spcAft>
              <a:buFontTx/>
              <a:buChar char="-"/>
            </a:pPr>
            <a:r>
              <a:rPr lang="en-US" dirty="0"/>
              <a:t>Intuition: </a:t>
            </a:r>
            <a:r>
              <a:rPr lang="en-US" dirty="0" err="1"/>
              <a:t>sKK</a:t>
            </a:r>
            <a:r>
              <a:rPr lang="en-US" dirty="0"/>
              <a:t> coating will not help (trading reflection for emission, not transmission) </a:t>
            </a:r>
          </a:p>
          <a:p>
            <a:pPr marL="285750" indent="-285750">
              <a:spcAft>
                <a:spcPts val="600"/>
              </a:spcAft>
              <a:buFontTx/>
              <a:buChar char="-"/>
            </a:pPr>
            <a:endParaRPr lang="en-US" dirty="0"/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9120F1FE-584E-BAE7-13CF-69922B766D6E}"/>
              </a:ext>
            </a:extLst>
          </p:cNvPr>
          <p:cNvGrpSpPr>
            <a:grpSpLocks noChangeAspect="1"/>
          </p:cNvGrpSpPr>
          <p:nvPr/>
        </p:nvGrpSpPr>
        <p:grpSpPr>
          <a:xfrm>
            <a:off x="1531252" y="2668642"/>
            <a:ext cx="3973815" cy="3315990"/>
            <a:chOff x="327188" y="3558360"/>
            <a:chExt cx="4782752" cy="3991016"/>
          </a:xfrm>
        </p:grpSpPr>
        <p:pic>
          <p:nvPicPr>
            <p:cNvPr id="1026" name="Picture 2">
              <a:extLst>
                <a:ext uri="{FF2B5EF4-FFF2-40B4-BE49-F238E27FC236}">
                  <a16:creationId xmlns:a16="http://schemas.microsoft.com/office/drawing/2014/main" id="{4E5E3C53-3FC1-59DA-2208-DC735CEB5DB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27188" y="3558360"/>
              <a:ext cx="4782752" cy="399101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028" name="Picture 4">
              <a:extLst>
                <a:ext uri="{FF2B5EF4-FFF2-40B4-BE49-F238E27FC236}">
                  <a16:creationId xmlns:a16="http://schemas.microsoft.com/office/drawing/2014/main" id="{9564B26F-9671-EF99-490F-C511BAA763E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819502" y="4404732"/>
              <a:ext cx="1108274" cy="157929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24" name="Title 1">
            <a:extLst>
              <a:ext uri="{FF2B5EF4-FFF2-40B4-BE49-F238E27FC236}">
                <a16:creationId xmlns:a16="http://schemas.microsoft.com/office/drawing/2014/main" id="{73944658-1523-35C0-1E64-8CAA63C8CC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9477" y="102079"/>
            <a:ext cx="10515600" cy="549274"/>
          </a:xfrm>
        </p:spPr>
        <p:txBody>
          <a:bodyPr>
            <a:noAutofit/>
          </a:bodyPr>
          <a:lstStyle/>
          <a:p>
            <a:r>
              <a:rPr lang="en-US" sz="2400" dirty="0"/>
              <a:t>Plan and Intuition</a:t>
            </a:r>
          </a:p>
        </p:txBody>
      </p:sp>
    </p:spTree>
    <p:extLst>
      <p:ext uri="{BB962C8B-B14F-4D97-AF65-F5344CB8AC3E}">
        <p14:creationId xmlns:p14="http://schemas.microsoft.com/office/powerpoint/2010/main" val="122378250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A6FE55E4-5574-B03E-C526-BCBB8F5B572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08546" y="203769"/>
            <a:ext cx="3517599" cy="2933266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4879C2FE-627D-BEF1-2B76-7BC31C5AC52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1545" t="20293" r="11138" b="20586"/>
          <a:stretch>
            <a:fillRect/>
          </a:stretch>
        </p:blipFill>
        <p:spPr>
          <a:xfrm>
            <a:off x="10759604" y="180591"/>
            <a:ext cx="1134072" cy="722658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EC842FC6-3350-4F9A-5BDC-86AF3018605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0550" y="3429000"/>
            <a:ext cx="3517599" cy="2943654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D505A8C7-212C-443F-3BF7-DA5DE3DDBFD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53853" y="3429000"/>
            <a:ext cx="3517599" cy="2943654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E8825741-DBAB-DC23-78F8-89CBD172FB89}"/>
              </a:ext>
            </a:extLst>
          </p:cNvPr>
          <p:cNvSpPr/>
          <p:nvPr/>
        </p:nvSpPr>
        <p:spPr>
          <a:xfrm>
            <a:off x="9538732" y="1322544"/>
            <a:ext cx="1778049" cy="650893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F57422C5-E8EB-54FA-5072-3F5EB5E58C6E}"/>
              </a:ext>
            </a:extLst>
          </p:cNvPr>
          <p:cNvCxnSpPr>
            <a:cxnSpLocks/>
          </p:cNvCxnSpPr>
          <p:nvPr/>
        </p:nvCxnSpPr>
        <p:spPr>
          <a:xfrm>
            <a:off x="10571914" y="1560084"/>
            <a:ext cx="636217" cy="0"/>
          </a:xfrm>
          <a:prstGeom prst="straightConnector1">
            <a:avLst/>
          </a:prstGeom>
          <a:ln w="28575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11" name="Picture 10">
            <a:extLst>
              <a:ext uri="{FF2B5EF4-FFF2-40B4-BE49-F238E27FC236}">
                <a16:creationId xmlns:a16="http://schemas.microsoft.com/office/drawing/2014/main" id="{7D16CBB7-40C2-DD17-5ACE-701F0251472B}"/>
              </a:ext>
            </a:extLst>
          </p:cNvPr>
          <p:cNvPicPr>
            <a:picLocks noChangeAspect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1364" t="31945" b="33579"/>
          <a:stretch>
            <a:fillRect/>
          </a:stretch>
        </p:blipFill>
        <p:spPr>
          <a:xfrm rot="10800000">
            <a:off x="7969771" y="1165738"/>
            <a:ext cx="1052370" cy="964504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6D393F73-1462-7FF6-532F-6CED8B69C48F}"/>
              </a:ext>
            </a:extLst>
          </p:cNvPr>
          <p:cNvSpPr txBox="1"/>
          <p:nvPr/>
        </p:nvSpPr>
        <p:spPr>
          <a:xfrm>
            <a:off x="10747425" y="1582095"/>
            <a:ext cx="3257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</a:t>
            </a:r>
            <a:r>
              <a:rPr lang="en-US" baseline="-25000" dirty="0"/>
              <a:t>0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288A8E3-C8A1-086D-082C-6C1305AF9ED5}"/>
              </a:ext>
            </a:extLst>
          </p:cNvPr>
          <p:cNvSpPr txBox="1"/>
          <p:nvPr/>
        </p:nvSpPr>
        <p:spPr>
          <a:xfrm>
            <a:off x="9211427" y="2226371"/>
            <a:ext cx="13452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b="1" dirty="0"/>
              <a:t>noise = R</a:t>
            </a:r>
            <a:r>
              <a:rPr lang="en-US" b="1" baseline="-25000" dirty="0"/>
              <a:t>LR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36A3FD7-D79D-99B1-C027-56D1652E134A}"/>
              </a:ext>
            </a:extLst>
          </p:cNvPr>
          <p:cNvSpPr txBox="1"/>
          <p:nvPr/>
        </p:nvSpPr>
        <p:spPr>
          <a:xfrm>
            <a:off x="5372885" y="3098352"/>
            <a:ext cx="14462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noise=0.071</a:t>
            </a:r>
            <a:endParaRPr lang="en-US" b="1" baseline="-25000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4A1DFC2-FEC9-DC94-B2EC-8412D8EDDA17}"/>
              </a:ext>
            </a:extLst>
          </p:cNvPr>
          <p:cNvSpPr txBox="1"/>
          <p:nvPr/>
        </p:nvSpPr>
        <p:spPr>
          <a:xfrm>
            <a:off x="2057256" y="6372654"/>
            <a:ext cx="13227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noise=0.58</a:t>
            </a:r>
            <a:endParaRPr lang="en-US" b="1" baseline="-25000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D306FF9-B422-9D25-0CEC-1C402673FCDB}"/>
              </a:ext>
            </a:extLst>
          </p:cNvPr>
          <p:cNvSpPr txBox="1"/>
          <p:nvPr/>
        </p:nvSpPr>
        <p:spPr>
          <a:xfrm>
            <a:off x="9104958" y="6372654"/>
            <a:ext cx="13227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noise=0.63</a:t>
            </a:r>
            <a:endParaRPr lang="en-US" b="1" baseline="-25000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6313C97-E83E-3854-F519-C3330C3096BA}"/>
              </a:ext>
            </a:extLst>
          </p:cNvPr>
          <p:cNvSpPr txBox="1"/>
          <p:nvPr/>
        </p:nvSpPr>
        <p:spPr>
          <a:xfrm>
            <a:off x="565111" y="315486"/>
            <a:ext cx="298429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/>
              <a:t>1. Ellipsometry (Bare Window)</a:t>
            </a:r>
          </a:p>
        </p:txBody>
      </p:sp>
    </p:spTree>
    <p:extLst>
      <p:ext uri="{BB962C8B-B14F-4D97-AF65-F5344CB8AC3E}">
        <p14:creationId xmlns:p14="http://schemas.microsoft.com/office/powerpoint/2010/main" val="106785024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E184CB-3EB0-FD47-A72E-D6BB17864A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1687F655-17D6-5ACE-A800-58974BC0EF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885" y="250520"/>
            <a:ext cx="3405242" cy="2682748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71A40262-3454-78F8-4073-47DD66F16EC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31744" y="250520"/>
            <a:ext cx="3405242" cy="2682748"/>
          </a:xfrm>
          <a:prstGeom prst="rect">
            <a:avLst/>
          </a:prstGeo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F5C190A3-46BC-137E-FC60-F5760D30DA7A}"/>
              </a:ext>
            </a:extLst>
          </p:cNvPr>
          <p:cNvSpPr txBox="1"/>
          <p:nvPr/>
        </p:nvSpPr>
        <p:spPr>
          <a:xfrm>
            <a:off x="9182694" y="1899338"/>
            <a:ext cx="172675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b="1" dirty="0"/>
              <a:t>noise = R</a:t>
            </a:r>
            <a:r>
              <a:rPr lang="en-US" b="1" baseline="-25000" dirty="0"/>
              <a:t>LR</a:t>
            </a:r>
            <a:r>
              <a:rPr lang="en-US" b="1" dirty="0"/>
              <a:t> + E</a:t>
            </a:r>
            <a:r>
              <a:rPr lang="en-US" b="1" baseline="-25000" dirty="0"/>
              <a:t>L</a:t>
            </a:r>
          </a:p>
          <a:p>
            <a:pPr algn="ctr"/>
            <a:r>
              <a:rPr lang="en-US" b="1" dirty="0"/>
              <a:t>E</a:t>
            </a:r>
            <a:r>
              <a:rPr lang="en-US" b="1" baseline="-25000" dirty="0"/>
              <a:t>L</a:t>
            </a:r>
            <a:r>
              <a:rPr lang="en-US" b="1" dirty="0"/>
              <a:t> = A</a:t>
            </a:r>
            <a:r>
              <a:rPr lang="en-US" b="1" baseline="-25000" dirty="0"/>
              <a:t>LR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AC8EEBD1-FCD9-B298-C01F-A1C44B22B596}"/>
              </a:ext>
            </a:extLst>
          </p:cNvPr>
          <p:cNvSpPr txBox="1"/>
          <p:nvPr/>
        </p:nvSpPr>
        <p:spPr>
          <a:xfrm>
            <a:off x="4665569" y="6233404"/>
            <a:ext cx="32255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R</a:t>
            </a:r>
            <a:r>
              <a:rPr lang="en-US" baseline="-25000" dirty="0"/>
              <a:t>LR</a:t>
            </a:r>
            <a:r>
              <a:rPr lang="en-US" dirty="0"/>
              <a:t>=0.071, A</a:t>
            </a:r>
            <a:r>
              <a:rPr lang="en-US" baseline="-25000" dirty="0"/>
              <a:t>LR</a:t>
            </a:r>
            <a:r>
              <a:rPr lang="en-US" dirty="0"/>
              <a:t>=0, </a:t>
            </a:r>
            <a:r>
              <a:rPr lang="en-US" b="1" dirty="0"/>
              <a:t>noise=0.071</a:t>
            </a:r>
            <a:endParaRPr lang="en-US" b="1" baseline="-25000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F1725736-FD40-1FD7-B3C2-626CD5975ED4}"/>
              </a:ext>
            </a:extLst>
          </p:cNvPr>
          <p:cNvSpPr txBox="1"/>
          <p:nvPr/>
        </p:nvSpPr>
        <p:spPr>
          <a:xfrm>
            <a:off x="647842" y="6233404"/>
            <a:ext cx="35285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R</a:t>
            </a:r>
            <a:r>
              <a:rPr lang="en-US" baseline="-25000" dirty="0"/>
              <a:t>LR</a:t>
            </a:r>
            <a:r>
              <a:rPr lang="en-US" dirty="0"/>
              <a:t>=0.057, A</a:t>
            </a:r>
            <a:r>
              <a:rPr lang="en-US" baseline="-25000" dirty="0"/>
              <a:t>LR</a:t>
            </a:r>
            <a:r>
              <a:rPr lang="en-US" dirty="0"/>
              <a:t>=0.056, </a:t>
            </a:r>
            <a:r>
              <a:rPr lang="en-US" b="1" dirty="0"/>
              <a:t>noise=0.11</a:t>
            </a:r>
            <a:endParaRPr lang="en-US" b="1" baseline="-25000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A6289C0D-EF9A-B883-F024-54F6D60B9C8C}"/>
              </a:ext>
            </a:extLst>
          </p:cNvPr>
          <p:cNvSpPr txBox="1"/>
          <p:nvPr/>
        </p:nvSpPr>
        <p:spPr>
          <a:xfrm>
            <a:off x="8083117" y="2845584"/>
            <a:ext cx="3976698" cy="40318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spcAft>
                <a:spcPts val="1200"/>
              </a:spcAft>
              <a:buFontTx/>
              <a:buChar char="-"/>
            </a:pPr>
            <a:r>
              <a:rPr lang="en-US" dirty="0"/>
              <a:t>semi-infinite layer on left is the bulk material, which is assumed to be max value of real part of dielectric function.</a:t>
            </a:r>
          </a:p>
          <a:p>
            <a:pPr marL="285750" indent="-285750">
              <a:spcAft>
                <a:spcPts val="1200"/>
              </a:spcAft>
              <a:buFontTx/>
              <a:buChar char="-"/>
            </a:pPr>
            <a:r>
              <a:rPr lang="en-US" dirty="0"/>
              <a:t>semi-infinite layer on the right is air.</a:t>
            </a:r>
          </a:p>
          <a:p>
            <a:pPr marL="285750" indent="-285750">
              <a:spcAft>
                <a:spcPts val="1200"/>
              </a:spcAft>
              <a:buFontTx/>
              <a:buChar char="-"/>
            </a:pPr>
            <a:r>
              <a:rPr lang="en-US" dirty="0"/>
              <a:t>adding losses lowers reflectance, but adds emission, so more noise overall.</a:t>
            </a:r>
          </a:p>
          <a:p>
            <a:pPr marL="285750" indent="-285750">
              <a:spcAft>
                <a:spcPts val="1200"/>
              </a:spcAft>
              <a:buFontTx/>
              <a:buChar char="-"/>
            </a:pPr>
            <a:r>
              <a:rPr lang="en-US" dirty="0"/>
              <a:t>adding dispersion will likely not change results (still trading reflection for emission).</a:t>
            </a:r>
          </a:p>
          <a:p>
            <a:pPr>
              <a:spcAft>
                <a:spcPts val="1200"/>
              </a:spcAft>
            </a:pPr>
            <a:endParaRPr lang="en-US" dirty="0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36D12B70-0B62-887E-F875-27D8E6788291}"/>
              </a:ext>
            </a:extLst>
          </p:cNvPr>
          <p:cNvSpPr/>
          <p:nvPr/>
        </p:nvSpPr>
        <p:spPr>
          <a:xfrm>
            <a:off x="1020762" y="388307"/>
            <a:ext cx="1273623" cy="2066794"/>
          </a:xfrm>
          <a:prstGeom prst="rect">
            <a:avLst/>
          </a:prstGeom>
          <a:solidFill>
            <a:schemeClr val="accent1">
              <a:lumMod val="20000"/>
              <a:lumOff val="80000"/>
              <a:shade val="30000"/>
              <a:satMod val="115000"/>
              <a:alpha val="54425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D920158A-600F-B28E-D9C8-F18EE47A0038}"/>
              </a:ext>
            </a:extLst>
          </p:cNvPr>
          <p:cNvSpPr/>
          <p:nvPr/>
        </p:nvSpPr>
        <p:spPr>
          <a:xfrm>
            <a:off x="2518709" y="388307"/>
            <a:ext cx="1273624" cy="2066794"/>
          </a:xfrm>
          <a:prstGeom prst="rect">
            <a:avLst/>
          </a:prstGeom>
          <a:solidFill>
            <a:schemeClr val="accent1">
              <a:lumMod val="20000"/>
              <a:lumOff val="80000"/>
              <a:shade val="30000"/>
              <a:satMod val="115000"/>
              <a:alpha val="54425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E682C2D9-4D19-A071-E967-963FC736D35B}"/>
              </a:ext>
            </a:extLst>
          </p:cNvPr>
          <p:cNvSpPr/>
          <p:nvPr/>
        </p:nvSpPr>
        <p:spPr>
          <a:xfrm>
            <a:off x="4799766" y="388307"/>
            <a:ext cx="1273623" cy="2066794"/>
          </a:xfrm>
          <a:prstGeom prst="rect">
            <a:avLst/>
          </a:prstGeom>
          <a:solidFill>
            <a:schemeClr val="accent1">
              <a:lumMod val="20000"/>
              <a:lumOff val="80000"/>
              <a:shade val="30000"/>
              <a:satMod val="115000"/>
              <a:alpha val="54425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73ED3B87-2BCB-376E-D4F7-53C6B9BF42B3}"/>
              </a:ext>
            </a:extLst>
          </p:cNvPr>
          <p:cNvSpPr/>
          <p:nvPr/>
        </p:nvSpPr>
        <p:spPr>
          <a:xfrm>
            <a:off x="6297713" y="388307"/>
            <a:ext cx="1273624" cy="2066794"/>
          </a:xfrm>
          <a:prstGeom prst="rect">
            <a:avLst/>
          </a:prstGeom>
          <a:solidFill>
            <a:schemeClr val="accent1">
              <a:lumMod val="20000"/>
              <a:lumOff val="80000"/>
              <a:shade val="30000"/>
              <a:satMod val="115000"/>
              <a:alpha val="54425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74C8CFCD-2DB8-B4EF-CF89-321DAC47F5BC}"/>
              </a:ext>
            </a:extLst>
          </p:cNvPr>
          <p:cNvGrpSpPr>
            <a:grpSpLocks noChangeAspect="1"/>
          </p:cNvGrpSpPr>
          <p:nvPr/>
        </p:nvGrpSpPr>
        <p:grpSpPr>
          <a:xfrm>
            <a:off x="394126" y="3031297"/>
            <a:ext cx="3714759" cy="3099719"/>
            <a:chOff x="2209800" y="186225"/>
            <a:chExt cx="7772400" cy="6485550"/>
          </a:xfrm>
        </p:grpSpPr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B988EE00-1D4D-6A18-0EED-B4F67AF1601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2209800" y="186225"/>
              <a:ext cx="7772400" cy="6485550"/>
            </a:xfrm>
            <a:prstGeom prst="rect">
              <a:avLst/>
            </a:prstGeom>
          </p:spPr>
        </p:pic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76F2E3F6-5C57-073E-9E30-0656E4BA4350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rcRect l="11775" t="9202" r="11887" b="9440"/>
            <a:stretch>
              <a:fillRect/>
            </a:stretch>
          </p:blipFill>
          <p:spPr>
            <a:xfrm>
              <a:off x="8205502" y="2561773"/>
              <a:ext cx="1334012" cy="1184771"/>
            </a:xfrm>
            <a:prstGeom prst="rect">
              <a:avLst/>
            </a:prstGeom>
          </p:spPr>
        </p:pic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69EAB022-D380-436E-AFC9-32EE15091AED}"/>
              </a:ext>
            </a:extLst>
          </p:cNvPr>
          <p:cNvGrpSpPr/>
          <p:nvPr/>
        </p:nvGrpSpPr>
        <p:grpSpPr>
          <a:xfrm>
            <a:off x="4176372" y="3031296"/>
            <a:ext cx="3714760" cy="3099720"/>
            <a:chOff x="4354790" y="3031296"/>
            <a:chExt cx="3714760" cy="3099720"/>
          </a:xfrm>
        </p:grpSpPr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id="{28866243-CFBC-D665-A70E-633A0F94CC97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4354790" y="3031296"/>
              <a:ext cx="3714760" cy="3099720"/>
            </a:xfrm>
            <a:prstGeom prst="rect">
              <a:avLst/>
            </a:prstGeom>
          </p:spPr>
        </p:pic>
        <p:pic>
          <p:nvPicPr>
            <p:cNvPr id="14" name="Picture 13">
              <a:extLst>
                <a:ext uri="{FF2B5EF4-FFF2-40B4-BE49-F238E27FC236}">
                  <a16:creationId xmlns:a16="http://schemas.microsoft.com/office/drawing/2014/main" id="{7D0F18B1-FBB8-7709-8CC5-3A337525C292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rcRect l="11775" t="9202" r="11887" b="9440"/>
            <a:stretch>
              <a:fillRect/>
            </a:stretch>
          </p:blipFill>
          <p:spPr>
            <a:xfrm>
              <a:off x="7223760" y="4197118"/>
              <a:ext cx="603300" cy="535806"/>
            </a:xfrm>
            <a:prstGeom prst="rect">
              <a:avLst/>
            </a:prstGeom>
          </p:spPr>
        </p:pic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77FBAC3D-FBB6-119D-19F2-2FAE8E3024D8}"/>
              </a:ext>
            </a:extLst>
          </p:cNvPr>
          <p:cNvGrpSpPr>
            <a:grpSpLocks noChangeAspect="1"/>
          </p:cNvGrpSpPr>
          <p:nvPr/>
        </p:nvGrpSpPr>
        <p:grpSpPr>
          <a:xfrm>
            <a:off x="9616790" y="1010905"/>
            <a:ext cx="2108788" cy="650893"/>
            <a:chOff x="1853852" y="1240077"/>
            <a:chExt cx="3327748" cy="1027134"/>
          </a:xfrm>
        </p:grpSpPr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81F0E0E8-BBC9-4C75-03D4-2D597ECD2551}"/>
                </a:ext>
              </a:extLst>
            </p:cNvPr>
            <p:cNvSpPr/>
            <p:nvPr/>
          </p:nvSpPr>
          <p:spPr>
            <a:xfrm>
              <a:off x="1853852" y="1240077"/>
              <a:ext cx="2805830" cy="1027134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69554A68-0695-2095-5CA3-BE1DEA05709F}"/>
                </a:ext>
              </a:extLst>
            </p:cNvPr>
            <p:cNvSpPr/>
            <p:nvPr/>
          </p:nvSpPr>
          <p:spPr>
            <a:xfrm>
              <a:off x="4659682" y="1240077"/>
              <a:ext cx="521918" cy="1027134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83C8C47F-B22B-0CBE-C921-E69D994EFB0C}"/>
              </a:ext>
            </a:extLst>
          </p:cNvPr>
          <p:cNvCxnSpPr>
            <a:cxnSpLocks/>
          </p:cNvCxnSpPr>
          <p:nvPr/>
        </p:nvCxnSpPr>
        <p:spPr>
          <a:xfrm>
            <a:off x="10649972" y="1248445"/>
            <a:ext cx="636217" cy="0"/>
          </a:xfrm>
          <a:prstGeom prst="straightConnector1">
            <a:avLst/>
          </a:prstGeom>
          <a:ln w="28575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29" name="Picture 28">
            <a:extLst>
              <a:ext uri="{FF2B5EF4-FFF2-40B4-BE49-F238E27FC236}">
                <a16:creationId xmlns:a16="http://schemas.microsoft.com/office/drawing/2014/main" id="{0EA70D75-5A43-0039-73E5-09DADB59F9FB}"/>
              </a:ext>
            </a:extLst>
          </p:cNvPr>
          <p:cNvPicPr>
            <a:picLocks noChangeAspect="1"/>
          </p:cNvPicPr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1364" t="31945" b="33579"/>
          <a:stretch>
            <a:fillRect/>
          </a:stretch>
        </p:blipFill>
        <p:spPr>
          <a:xfrm rot="10800000">
            <a:off x="8047829" y="854099"/>
            <a:ext cx="1052370" cy="964504"/>
          </a:xfrm>
          <a:prstGeom prst="rect">
            <a:avLst/>
          </a:prstGeom>
        </p:spPr>
      </p:pic>
      <p:sp>
        <p:nvSpPr>
          <p:cNvPr id="32" name="TextBox 31">
            <a:extLst>
              <a:ext uri="{FF2B5EF4-FFF2-40B4-BE49-F238E27FC236}">
                <a16:creationId xmlns:a16="http://schemas.microsoft.com/office/drawing/2014/main" id="{7B9BF04F-39EB-4C8D-43E3-461516566E6F}"/>
              </a:ext>
            </a:extLst>
          </p:cNvPr>
          <p:cNvSpPr txBox="1"/>
          <p:nvPr/>
        </p:nvSpPr>
        <p:spPr>
          <a:xfrm>
            <a:off x="10825483" y="1270456"/>
            <a:ext cx="3257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</a:t>
            </a:r>
            <a:r>
              <a:rPr lang="en-US" baseline="-25000" dirty="0"/>
              <a:t>0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192093C5-881F-35A0-FBF4-143EF95F5135}"/>
              </a:ext>
            </a:extLst>
          </p:cNvPr>
          <p:cNvSpPr txBox="1"/>
          <p:nvPr/>
        </p:nvSpPr>
        <p:spPr>
          <a:xfrm>
            <a:off x="8581416" y="315442"/>
            <a:ext cx="312592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/>
              <a:t>Wavelength dependence</a:t>
            </a:r>
            <a:endParaRPr lang="en-US" sz="2000" b="1" baseline="-25000" dirty="0"/>
          </a:p>
        </p:txBody>
      </p:sp>
    </p:spTree>
    <p:extLst>
      <p:ext uri="{BB962C8B-B14F-4D97-AF65-F5344CB8AC3E}">
        <p14:creationId xmlns:p14="http://schemas.microsoft.com/office/powerpoint/2010/main" val="85068434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9F002B-D2F7-F80B-9735-D310AB98F1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extBox 22">
            <a:extLst>
              <a:ext uri="{FF2B5EF4-FFF2-40B4-BE49-F238E27FC236}">
                <a16:creationId xmlns:a16="http://schemas.microsoft.com/office/drawing/2014/main" id="{5E423882-4EEC-CA38-1DE2-AA015CED2A36}"/>
              </a:ext>
            </a:extLst>
          </p:cNvPr>
          <p:cNvSpPr txBox="1"/>
          <p:nvPr/>
        </p:nvSpPr>
        <p:spPr>
          <a:xfrm>
            <a:off x="4616052" y="6260836"/>
            <a:ext cx="29690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R</a:t>
            </a:r>
            <a:r>
              <a:rPr lang="en-US" baseline="-25000" dirty="0"/>
              <a:t>LR</a:t>
            </a:r>
            <a:r>
              <a:rPr lang="en-US" dirty="0"/>
              <a:t>=0.59, A</a:t>
            </a:r>
            <a:r>
              <a:rPr lang="en-US" baseline="-25000" dirty="0"/>
              <a:t>LR</a:t>
            </a:r>
            <a:r>
              <a:rPr lang="en-US" dirty="0"/>
              <a:t>=0, </a:t>
            </a:r>
            <a:r>
              <a:rPr lang="en-US" b="1" dirty="0"/>
              <a:t>noise=0.59</a:t>
            </a:r>
            <a:endParaRPr lang="en-US" b="1" baseline="-25000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C06DC0CD-265C-3654-75FE-6B07635F2C4C}"/>
              </a:ext>
            </a:extLst>
          </p:cNvPr>
          <p:cNvSpPr txBox="1"/>
          <p:nvPr/>
        </p:nvSpPr>
        <p:spPr>
          <a:xfrm>
            <a:off x="696457" y="6260836"/>
            <a:ext cx="315823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R</a:t>
            </a:r>
            <a:r>
              <a:rPr lang="en-US" baseline="-25000" dirty="0"/>
              <a:t>LR</a:t>
            </a:r>
            <a:r>
              <a:rPr lang="en-US" dirty="0"/>
              <a:t>=0.51, A</a:t>
            </a:r>
            <a:r>
              <a:rPr lang="en-US" baseline="-25000" dirty="0"/>
              <a:t>LR</a:t>
            </a:r>
            <a:r>
              <a:rPr lang="en-US" dirty="0"/>
              <a:t>=0.1, </a:t>
            </a:r>
            <a:r>
              <a:rPr lang="en-US" b="1" dirty="0"/>
              <a:t>noise=0.61</a:t>
            </a:r>
            <a:endParaRPr lang="en-US" b="1" baseline="-25000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519C9924-B1C0-04C5-2EC9-E08BF86F9B7C}"/>
              </a:ext>
            </a:extLst>
          </p:cNvPr>
          <p:cNvSpPr txBox="1"/>
          <p:nvPr/>
        </p:nvSpPr>
        <p:spPr>
          <a:xfrm>
            <a:off x="8137036" y="2854920"/>
            <a:ext cx="384739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spcAft>
                <a:spcPts val="1200"/>
              </a:spcAft>
              <a:buFontTx/>
              <a:buChar char="-"/>
            </a:pPr>
            <a:r>
              <a:rPr lang="en-US" dirty="0"/>
              <a:t>adding losses does not help (trading reflection for emission, which is still noise).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5A03ECEB-33C7-D5ED-5BAA-725E1B37ED3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7406" y="3380694"/>
            <a:ext cx="3327288" cy="2784395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094E2B7A-410B-C0A3-8C01-6078FC80B1A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1775" t="9202" r="11887" b="9440"/>
          <a:stretch>
            <a:fillRect/>
          </a:stretch>
        </p:blipFill>
        <p:spPr>
          <a:xfrm>
            <a:off x="2989478" y="4261104"/>
            <a:ext cx="667579" cy="592894"/>
          </a:xfrm>
          <a:prstGeom prst="rect">
            <a:avLst/>
          </a:pr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67087C70-4CAD-CE39-7CC4-5A88FCBDDA0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06411" y="3380693"/>
            <a:ext cx="3327288" cy="2784395"/>
          </a:xfrm>
          <a:prstGeom prst="rect">
            <a:avLst/>
          </a:prstGeom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E614A13F-FCA8-B6B2-43D5-91463B0E806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1775" t="9202" r="11887" b="9440"/>
          <a:stretch>
            <a:fillRect/>
          </a:stretch>
        </p:blipFill>
        <p:spPr>
          <a:xfrm>
            <a:off x="6772338" y="4261104"/>
            <a:ext cx="667578" cy="592893"/>
          </a:xfrm>
          <a:prstGeom prst="rect">
            <a:avLst/>
          </a:prstGeom>
        </p:spPr>
      </p:pic>
      <p:pic>
        <p:nvPicPr>
          <p:cNvPr id="32" name="Picture 31">
            <a:extLst>
              <a:ext uri="{FF2B5EF4-FFF2-40B4-BE49-F238E27FC236}">
                <a16:creationId xmlns:a16="http://schemas.microsoft.com/office/drawing/2014/main" id="{4BD96959-E68F-5331-C4AA-FA429439D53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04651" y="164106"/>
            <a:ext cx="3327286" cy="2784394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97A922CD-B389-10C2-0ED5-6EC1B1D2232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27406" y="164104"/>
            <a:ext cx="3327289" cy="2784396"/>
          </a:xfrm>
          <a:prstGeom prst="rect">
            <a:avLst/>
          </a:prstGeom>
        </p:spPr>
      </p:pic>
      <p:sp>
        <p:nvSpPr>
          <p:cNvPr id="34" name="TextBox 33">
            <a:extLst>
              <a:ext uri="{FF2B5EF4-FFF2-40B4-BE49-F238E27FC236}">
                <a16:creationId xmlns:a16="http://schemas.microsoft.com/office/drawing/2014/main" id="{392D723C-6DB7-1A82-D686-40EC9E8DC5EA}"/>
              </a:ext>
            </a:extLst>
          </p:cNvPr>
          <p:cNvSpPr txBox="1"/>
          <p:nvPr/>
        </p:nvSpPr>
        <p:spPr>
          <a:xfrm>
            <a:off x="594686" y="2979930"/>
            <a:ext cx="34050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R</a:t>
            </a:r>
            <a:r>
              <a:rPr lang="en-US" baseline="-25000" dirty="0"/>
              <a:t>LR</a:t>
            </a:r>
            <a:r>
              <a:rPr lang="en-US" dirty="0"/>
              <a:t>=0.48, A</a:t>
            </a:r>
            <a:r>
              <a:rPr lang="en-US" baseline="-25000" dirty="0"/>
              <a:t>LR</a:t>
            </a:r>
            <a:r>
              <a:rPr lang="en-US" dirty="0"/>
              <a:t>=0.086, </a:t>
            </a:r>
            <a:r>
              <a:rPr lang="en-US" b="1" dirty="0"/>
              <a:t>noise=0.57</a:t>
            </a:r>
            <a:endParaRPr lang="en-US" b="1" baseline="-25000" dirty="0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2A72C335-A2A0-D2BA-1875-AACCC9CA987B}"/>
              </a:ext>
            </a:extLst>
          </p:cNvPr>
          <p:cNvSpPr txBox="1"/>
          <p:nvPr/>
        </p:nvSpPr>
        <p:spPr>
          <a:xfrm>
            <a:off x="4611458" y="2979930"/>
            <a:ext cx="29690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R</a:t>
            </a:r>
            <a:r>
              <a:rPr lang="en-US" baseline="-25000" dirty="0"/>
              <a:t>LR</a:t>
            </a:r>
            <a:r>
              <a:rPr lang="en-US" dirty="0"/>
              <a:t>=0.54, A</a:t>
            </a:r>
            <a:r>
              <a:rPr lang="en-US" baseline="-25000" dirty="0"/>
              <a:t>LR</a:t>
            </a:r>
            <a:r>
              <a:rPr lang="en-US" dirty="0"/>
              <a:t>=0, </a:t>
            </a:r>
            <a:r>
              <a:rPr lang="en-US" b="1" dirty="0"/>
              <a:t>noise=0.54</a:t>
            </a:r>
            <a:endParaRPr lang="en-US" b="1" baseline="-25000" dirty="0"/>
          </a:p>
        </p:txBody>
      </p:sp>
      <p:pic>
        <p:nvPicPr>
          <p:cNvPr id="36" name="Picture 35">
            <a:extLst>
              <a:ext uri="{FF2B5EF4-FFF2-40B4-BE49-F238E27FC236}">
                <a16:creationId xmlns:a16="http://schemas.microsoft.com/office/drawing/2014/main" id="{D8B47031-8885-2081-8F47-0E5D9FC6EDF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1775" t="9202" r="11887" b="9440"/>
          <a:stretch>
            <a:fillRect/>
          </a:stretch>
        </p:blipFill>
        <p:spPr>
          <a:xfrm>
            <a:off x="2989477" y="1075945"/>
            <a:ext cx="667579" cy="592894"/>
          </a:xfrm>
          <a:prstGeom prst="rect">
            <a:avLst/>
          </a:prstGeom>
        </p:spPr>
      </p:pic>
      <p:pic>
        <p:nvPicPr>
          <p:cNvPr id="37" name="Picture 36">
            <a:extLst>
              <a:ext uri="{FF2B5EF4-FFF2-40B4-BE49-F238E27FC236}">
                <a16:creationId xmlns:a16="http://schemas.microsoft.com/office/drawing/2014/main" id="{08D9BAB0-B430-2979-8983-9D086EDFAEC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1775" t="9202" r="11887" b="9440"/>
          <a:stretch>
            <a:fillRect/>
          </a:stretch>
        </p:blipFill>
        <p:spPr>
          <a:xfrm>
            <a:off x="6772338" y="1075945"/>
            <a:ext cx="667579" cy="592894"/>
          </a:xfrm>
          <a:prstGeom prst="rect">
            <a:avLst/>
          </a:prstGeom>
        </p:spPr>
      </p:pic>
      <p:sp>
        <p:nvSpPr>
          <p:cNvPr id="38" name="TextBox 37">
            <a:extLst>
              <a:ext uri="{FF2B5EF4-FFF2-40B4-BE49-F238E27FC236}">
                <a16:creationId xmlns:a16="http://schemas.microsoft.com/office/drawing/2014/main" id="{EA6122EE-A45C-BCE0-EF33-BF9B4B486DE3}"/>
              </a:ext>
            </a:extLst>
          </p:cNvPr>
          <p:cNvSpPr txBox="1"/>
          <p:nvPr/>
        </p:nvSpPr>
        <p:spPr>
          <a:xfrm>
            <a:off x="9182694" y="1899338"/>
            <a:ext cx="172675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b="1" dirty="0"/>
              <a:t>noise = R</a:t>
            </a:r>
            <a:r>
              <a:rPr lang="en-US" b="1" baseline="-25000" dirty="0"/>
              <a:t>LR</a:t>
            </a:r>
            <a:r>
              <a:rPr lang="en-US" b="1" dirty="0"/>
              <a:t> + E</a:t>
            </a:r>
            <a:r>
              <a:rPr lang="en-US" b="1" baseline="-25000" dirty="0"/>
              <a:t>L</a:t>
            </a:r>
          </a:p>
          <a:p>
            <a:pPr algn="ctr"/>
            <a:r>
              <a:rPr lang="en-US" b="1" dirty="0"/>
              <a:t>E</a:t>
            </a:r>
            <a:r>
              <a:rPr lang="en-US" b="1" baseline="-25000" dirty="0"/>
              <a:t>L</a:t>
            </a:r>
            <a:r>
              <a:rPr lang="en-US" b="1" dirty="0"/>
              <a:t> = A</a:t>
            </a:r>
            <a:r>
              <a:rPr lang="en-US" b="1" baseline="-25000" dirty="0"/>
              <a:t>LR</a:t>
            </a:r>
          </a:p>
        </p:txBody>
      </p:sp>
      <p:grpSp>
        <p:nvGrpSpPr>
          <p:cNvPr id="39" name="Group 38">
            <a:extLst>
              <a:ext uri="{FF2B5EF4-FFF2-40B4-BE49-F238E27FC236}">
                <a16:creationId xmlns:a16="http://schemas.microsoft.com/office/drawing/2014/main" id="{6A0CC67C-422C-653E-82A6-B77E4CBFC931}"/>
              </a:ext>
            </a:extLst>
          </p:cNvPr>
          <p:cNvGrpSpPr>
            <a:grpSpLocks noChangeAspect="1"/>
          </p:cNvGrpSpPr>
          <p:nvPr/>
        </p:nvGrpSpPr>
        <p:grpSpPr>
          <a:xfrm>
            <a:off x="9616790" y="1010905"/>
            <a:ext cx="2108788" cy="650893"/>
            <a:chOff x="1853852" y="1240077"/>
            <a:chExt cx="3327748" cy="1027134"/>
          </a:xfrm>
        </p:grpSpPr>
        <p:sp>
          <p:nvSpPr>
            <p:cNvPr id="40" name="Rectangle 39">
              <a:extLst>
                <a:ext uri="{FF2B5EF4-FFF2-40B4-BE49-F238E27FC236}">
                  <a16:creationId xmlns:a16="http://schemas.microsoft.com/office/drawing/2014/main" id="{C292FD4F-8AC5-9547-73CD-F9A47AD97B86}"/>
                </a:ext>
              </a:extLst>
            </p:cNvPr>
            <p:cNvSpPr/>
            <p:nvPr/>
          </p:nvSpPr>
          <p:spPr>
            <a:xfrm>
              <a:off x="1853852" y="1240077"/>
              <a:ext cx="2805830" cy="1027134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1" name="Rectangle 40">
              <a:extLst>
                <a:ext uri="{FF2B5EF4-FFF2-40B4-BE49-F238E27FC236}">
                  <a16:creationId xmlns:a16="http://schemas.microsoft.com/office/drawing/2014/main" id="{76532034-E154-0EEA-F349-68CE417E8CF2}"/>
                </a:ext>
              </a:extLst>
            </p:cNvPr>
            <p:cNvSpPr/>
            <p:nvPr/>
          </p:nvSpPr>
          <p:spPr>
            <a:xfrm>
              <a:off x="4659682" y="1240077"/>
              <a:ext cx="521918" cy="1027134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0D775F9B-83B0-E19A-E185-00B391ECEF4D}"/>
              </a:ext>
            </a:extLst>
          </p:cNvPr>
          <p:cNvCxnSpPr>
            <a:cxnSpLocks/>
          </p:cNvCxnSpPr>
          <p:nvPr/>
        </p:nvCxnSpPr>
        <p:spPr>
          <a:xfrm>
            <a:off x="10649972" y="1248445"/>
            <a:ext cx="636217" cy="0"/>
          </a:xfrm>
          <a:prstGeom prst="straightConnector1">
            <a:avLst/>
          </a:prstGeom>
          <a:ln w="28575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43" name="Picture 42">
            <a:extLst>
              <a:ext uri="{FF2B5EF4-FFF2-40B4-BE49-F238E27FC236}">
                <a16:creationId xmlns:a16="http://schemas.microsoft.com/office/drawing/2014/main" id="{893DC179-1816-DECC-5F60-5D084BEDCC73}"/>
              </a:ext>
            </a:extLst>
          </p:cNvPr>
          <p:cNvPicPr>
            <a:picLocks noChangeAspect="1"/>
          </p:cNvPicPr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1364" t="31945" b="33579"/>
          <a:stretch>
            <a:fillRect/>
          </a:stretch>
        </p:blipFill>
        <p:spPr>
          <a:xfrm rot="10800000">
            <a:off x="8047829" y="854099"/>
            <a:ext cx="1052370" cy="964504"/>
          </a:xfrm>
          <a:prstGeom prst="rect">
            <a:avLst/>
          </a:prstGeom>
        </p:spPr>
      </p:pic>
      <p:sp>
        <p:nvSpPr>
          <p:cNvPr id="44" name="TextBox 43">
            <a:extLst>
              <a:ext uri="{FF2B5EF4-FFF2-40B4-BE49-F238E27FC236}">
                <a16:creationId xmlns:a16="http://schemas.microsoft.com/office/drawing/2014/main" id="{8BF9B341-FD0E-7E4E-8DC8-F274E545AAEF}"/>
              </a:ext>
            </a:extLst>
          </p:cNvPr>
          <p:cNvSpPr txBox="1"/>
          <p:nvPr/>
        </p:nvSpPr>
        <p:spPr>
          <a:xfrm>
            <a:off x="10825483" y="1270456"/>
            <a:ext cx="3257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</a:t>
            </a:r>
            <a:r>
              <a:rPr lang="en-US" baseline="-25000" dirty="0"/>
              <a:t>0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51D80F42-4E08-93FD-A62C-C7332236CBBF}"/>
              </a:ext>
            </a:extLst>
          </p:cNvPr>
          <p:cNvSpPr txBox="1"/>
          <p:nvPr/>
        </p:nvSpPr>
        <p:spPr>
          <a:xfrm>
            <a:off x="8882365" y="291970"/>
            <a:ext cx="235673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/>
              <a:t>Angle dependence</a:t>
            </a:r>
            <a:endParaRPr lang="en-US" sz="2000" b="1" baseline="-25000" dirty="0"/>
          </a:p>
        </p:txBody>
      </p:sp>
    </p:spTree>
    <p:extLst>
      <p:ext uri="{BB962C8B-B14F-4D97-AF65-F5344CB8AC3E}">
        <p14:creationId xmlns:p14="http://schemas.microsoft.com/office/powerpoint/2010/main" val="228138488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B21423-9EEA-4E9F-6415-5E1C78DD2F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3DC7658F-36C1-5644-9639-3F4D63DE8FD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23514" y="250520"/>
            <a:ext cx="3487386" cy="2747463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E8004C83-972B-6931-7273-A496795EA27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1267" y="250520"/>
            <a:ext cx="3487386" cy="2682748"/>
          </a:xfrm>
          <a:prstGeom prst="rect">
            <a:avLst/>
          </a:prstGeom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6ED7156C-76E3-DF46-EB2E-1FAF1A0E470F}"/>
              </a:ext>
            </a:extLst>
          </p:cNvPr>
          <p:cNvSpPr txBox="1"/>
          <p:nvPr/>
        </p:nvSpPr>
        <p:spPr>
          <a:xfrm>
            <a:off x="4699024" y="6233404"/>
            <a:ext cx="29887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T=0.72, A</a:t>
            </a:r>
            <a:r>
              <a:rPr lang="en-US" baseline="-25000" dirty="0"/>
              <a:t>RL</a:t>
            </a:r>
            <a:r>
              <a:rPr lang="en-US" dirty="0"/>
              <a:t>=0.17, </a:t>
            </a:r>
            <a:r>
              <a:rPr lang="en-US" b="1" dirty="0"/>
              <a:t>FOM=4.29</a:t>
            </a:r>
            <a:endParaRPr lang="en-US" b="1" baseline="-25000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80972FC-036B-FC91-9829-8E0BCA71B35B}"/>
              </a:ext>
            </a:extLst>
          </p:cNvPr>
          <p:cNvSpPr txBox="1"/>
          <p:nvPr/>
        </p:nvSpPr>
        <p:spPr>
          <a:xfrm>
            <a:off x="681297" y="6233404"/>
            <a:ext cx="29887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T=0.69, A</a:t>
            </a:r>
            <a:r>
              <a:rPr lang="en-US" baseline="-25000" dirty="0"/>
              <a:t>RL</a:t>
            </a:r>
            <a:r>
              <a:rPr lang="en-US" dirty="0"/>
              <a:t>=0.21, </a:t>
            </a:r>
            <a:r>
              <a:rPr lang="en-US" b="1" dirty="0"/>
              <a:t>FOM=3.33</a:t>
            </a:r>
            <a:endParaRPr lang="en-US" b="1" baseline="-25000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535BE298-14BE-2D08-5E1B-DEC396E8C6BA}"/>
              </a:ext>
            </a:extLst>
          </p:cNvPr>
          <p:cNvSpPr txBox="1"/>
          <p:nvPr/>
        </p:nvSpPr>
        <p:spPr>
          <a:xfrm>
            <a:off x="8134345" y="3179813"/>
            <a:ext cx="3513696" cy="24929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spcAft>
                <a:spcPts val="1200"/>
              </a:spcAft>
              <a:buFontTx/>
              <a:buChar char="-"/>
            </a:pPr>
            <a:r>
              <a:rPr lang="en-US" dirty="0"/>
              <a:t>window is 5mm sapphire with k = 10</a:t>
            </a:r>
            <a:r>
              <a:rPr lang="en-US" baseline="30000" dirty="0"/>
              <a:t>-5</a:t>
            </a:r>
          </a:p>
          <a:p>
            <a:pPr marL="285750" indent="-285750">
              <a:spcAft>
                <a:spcPts val="1200"/>
              </a:spcAft>
              <a:buFontTx/>
              <a:buChar char="-"/>
            </a:pPr>
            <a:r>
              <a:rPr lang="en-US" dirty="0"/>
              <a:t>adding losses lowers transmission and increases emission (no benefit)</a:t>
            </a:r>
          </a:p>
          <a:p>
            <a:pPr marL="285750" indent="-285750">
              <a:spcAft>
                <a:spcPts val="1200"/>
              </a:spcAft>
              <a:buFontTx/>
              <a:buChar char="-"/>
            </a:pPr>
            <a:endParaRPr lang="en-US" dirty="0"/>
          </a:p>
          <a:p>
            <a:pPr>
              <a:spcAft>
                <a:spcPts val="1200"/>
              </a:spcAft>
            </a:pPr>
            <a:endParaRPr lang="en-US" dirty="0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18F78534-96B8-6C21-BAEB-B1AEE7576256}"/>
              </a:ext>
            </a:extLst>
          </p:cNvPr>
          <p:cNvSpPr/>
          <p:nvPr/>
        </p:nvSpPr>
        <p:spPr>
          <a:xfrm>
            <a:off x="2406213" y="388307"/>
            <a:ext cx="1419575" cy="2066794"/>
          </a:xfrm>
          <a:prstGeom prst="rect">
            <a:avLst/>
          </a:prstGeom>
          <a:solidFill>
            <a:schemeClr val="accent1">
              <a:lumMod val="20000"/>
              <a:lumOff val="80000"/>
              <a:shade val="30000"/>
              <a:satMod val="115000"/>
              <a:alpha val="54425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0A6D701B-BFE0-4343-3C26-2144C6683C69}"/>
              </a:ext>
            </a:extLst>
          </p:cNvPr>
          <p:cNvSpPr/>
          <p:nvPr/>
        </p:nvSpPr>
        <p:spPr>
          <a:xfrm>
            <a:off x="6191829" y="388306"/>
            <a:ext cx="1412963" cy="2144581"/>
          </a:xfrm>
          <a:prstGeom prst="rect">
            <a:avLst/>
          </a:prstGeom>
          <a:solidFill>
            <a:schemeClr val="accent1">
              <a:lumMod val="20000"/>
              <a:lumOff val="80000"/>
              <a:shade val="30000"/>
              <a:satMod val="115000"/>
              <a:alpha val="54425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8692569D-6D9B-E848-DB5E-34802A4CE496}"/>
              </a:ext>
            </a:extLst>
          </p:cNvPr>
          <p:cNvGrpSpPr>
            <a:grpSpLocks noChangeAspect="1"/>
          </p:cNvGrpSpPr>
          <p:nvPr/>
        </p:nvGrpSpPr>
        <p:grpSpPr>
          <a:xfrm rot="10800000">
            <a:off x="8761015" y="965817"/>
            <a:ext cx="2108788" cy="650893"/>
            <a:chOff x="1853852" y="1240077"/>
            <a:chExt cx="3327748" cy="1027134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ACAB07E5-D916-7ECE-0EA9-B75037DD51FF}"/>
                </a:ext>
              </a:extLst>
            </p:cNvPr>
            <p:cNvSpPr/>
            <p:nvPr/>
          </p:nvSpPr>
          <p:spPr>
            <a:xfrm>
              <a:off x="1853852" y="1240077"/>
              <a:ext cx="2805830" cy="1027134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F2813148-9A84-DA92-3308-9966B1A0F393}"/>
                </a:ext>
              </a:extLst>
            </p:cNvPr>
            <p:cNvSpPr/>
            <p:nvPr/>
          </p:nvSpPr>
          <p:spPr>
            <a:xfrm>
              <a:off x="4659682" y="1240077"/>
              <a:ext cx="521918" cy="1027134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11" name="Picture 10">
            <a:extLst>
              <a:ext uri="{FF2B5EF4-FFF2-40B4-BE49-F238E27FC236}">
                <a16:creationId xmlns:a16="http://schemas.microsoft.com/office/drawing/2014/main" id="{55B16AE1-EDE6-15A6-BC69-0D51839BB2A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7580" y="3031296"/>
            <a:ext cx="3714760" cy="3099720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F20845D9-2EB3-E5ED-3B76-99F37C1FCA98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11586" t="21440" r="12138" b="20480"/>
          <a:stretch>
            <a:fillRect/>
          </a:stretch>
        </p:blipFill>
        <p:spPr>
          <a:xfrm>
            <a:off x="3174638" y="4197118"/>
            <a:ext cx="722394" cy="458380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00350198-04DD-5C5F-6C26-EC59B4C282D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209827" y="3031296"/>
            <a:ext cx="3714760" cy="3099720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059FE8D0-58A8-0947-F7AB-7B76327F8CF0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11586" t="21440" r="12138" b="20480"/>
          <a:stretch>
            <a:fillRect/>
          </a:stretch>
        </p:blipFill>
        <p:spPr>
          <a:xfrm>
            <a:off x="6980631" y="4197118"/>
            <a:ext cx="722394" cy="458380"/>
          </a:xfrm>
          <a:prstGeom prst="rect">
            <a:avLst/>
          </a:prstGeom>
        </p:spPr>
      </p:pic>
      <p:sp>
        <p:nvSpPr>
          <p:cNvPr id="28" name="TextBox 27">
            <a:extLst>
              <a:ext uri="{FF2B5EF4-FFF2-40B4-BE49-F238E27FC236}">
                <a16:creationId xmlns:a16="http://schemas.microsoft.com/office/drawing/2014/main" id="{636D5594-CAC2-6CC4-3A24-F8257A6E1983}"/>
              </a:ext>
            </a:extLst>
          </p:cNvPr>
          <p:cNvSpPr txBox="1"/>
          <p:nvPr/>
        </p:nvSpPr>
        <p:spPr>
          <a:xfrm>
            <a:off x="8947900" y="1935439"/>
            <a:ext cx="2269019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b="1" dirty="0"/>
              <a:t>signal = T</a:t>
            </a:r>
          </a:p>
          <a:p>
            <a:pPr algn="ctr"/>
            <a:r>
              <a:rPr lang="en-US" b="1" dirty="0"/>
              <a:t>noise = E</a:t>
            </a:r>
            <a:r>
              <a:rPr lang="en-US" b="1" baseline="-25000" dirty="0"/>
              <a:t>R</a:t>
            </a:r>
            <a:r>
              <a:rPr lang="en-US" b="1" dirty="0"/>
              <a:t> = A</a:t>
            </a:r>
            <a:r>
              <a:rPr lang="en-US" b="1" baseline="-25000" dirty="0"/>
              <a:t>RL</a:t>
            </a:r>
          </a:p>
          <a:p>
            <a:pPr algn="ctr"/>
            <a:r>
              <a:rPr lang="en-US" b="1" dirty="0"/>
              <a:t>FOM = signal / noise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CE755866-4DB5-BD0E-C52C-4E19DEB0B13A}"/>
              </a:ext>
            </a:extLst>
          </p:cNvPr>
          <p:cNvSpPr txBox="1"/>
          <p:nvPr/>
        </p:nvSpPr>
        <p:spPr>
          <a:xfrm>
            <a:off x="8530600" y="250520"/>
            <a:ext cx="312592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/>
              <a:t>Wavelength dependence</a:t>
            </a:r>
            <a:endParaRPr lang="en-US" sz="2000" b="1" baseline="-25000" dirty="0"/>
          </a:p>
        </p:txBody>
      </p: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41E5ABD8-3833-B873-8A3E-369440F5C465}"/>
              </a:ext>
            </a:extLst>
          </p:cNvPr>
          <p:cNvCxnSpPr>
            <a:cxnSpLocks/>
          </p:cNvCxnSpPr>
          <p:nvPr/>
        </p:nvCxnSpPr>
        <p:spPr>
          <a:xfrm>
            <a:off x="8048600" y="1183152"/>
            <a:ext cx="473352" cy="0"/>
          </a:xfrm>
          <a:prstGeom prst="straightConnector1">
            <a:avLst/>
          </a:prstGeom>
          <a:ln w="28575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33" name="Picture 32">
            <a:extLst>
              <a:ext uri="{FF2B5EF4-FFF2-40B4-BE49-F238E27FC236}">
                <a16:creationId xmlns:a16="http://schemas.microsoft.com/office/drawing/2014/main" id="{79AEF0A9-4BB2-2B29-5A6B-908A641C5BA6}"/>
              </a:ext>
            </a:extLst>
          </p:cNvPr>
          <p:cNvPicPr>
            <a:picLocks noChangeAspect="1"/>
          </p:cNvPicPr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1364" t="31945" b="33579"/>
          <a:stretch>
            <a:fillRect/>
          </a:stretch>
        </p:blipFill>
        <p:spPr>
          <a:xfrm>
            <a:off x="11139630" y="836706"/>
            <a:ext cx="1052370" cy="964504"/>
          </a:xfrm>
          <a:prstGeom prst="rect">
            <a:avLst/>
          </a:prstGeom>
        </p:spPr>
      </p:pic>
      <p:sp>
        <p:nvSpPr>
          <p:cNvPr id="34" name="TextBox 33">
            <a:extLst>
              <a:ext uri="{FF2B5EF4-FFF2-40B4-BE49-F238E27FC236}">
                <a16:creationId xmlns:a16="http://schemas.microsoft.com/office/drawing/2014/main" id="{FCC77C81-3633-78B7-E863-7D4C0A76BDFB}"/>
              </a:ext>
            </a:extLst>
          </p:cNvPr>
          <p:cNvSpPr txBox="1"/>
          <p:nvPr/>
        </p:nvSpPr>
        <p:spPr>
          <a:xfrm>
            <a:off x="8134345" y="1187918"/>
            <a:ext cx="3257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</a:t>
            </a:r>
            <a:r>
              <a:rPr lang="en-US" baseline="-25000" dirty="0"/>
              <a:t>0</a:t>
            </a:r>
          </a:p>
        </p:txBody>
      </p:sp>
    </p:spTree>
    <p:extLst>
      <p:ext uri="{BB962C8B-B14F-4D97-AF65-F5344CB8AC3E}">
        <p14:creationId xmlns:p14="http://schemas.microsoft.com/office/powerpoint/2010/main" val="134680649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E82142-BCB2-CA6C-B0A1-C5577B0EDD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extBox 24">
            <a:extLst>
              <a:ext uri="{FF2B5EF4-FFF2-40B4-BE49-F238E27FC236}">
                <a16:creationId xmlns:a16="http://schemas.microsoft.com/office/drawing/2014/main" id="{AE0548F3-6698-AE02-71ED-BD1D03C5026B}"/>
              </a:ext>
            </a:extLst>
          </p:cNvPr>
          <p:cNvSpPr txBox="1"/>
          <p:nvPr/>
        </p:nvSpPr>
        <p:spPr>
          <a:xfrm>
            <a:off x="8137037" y="3141364"/>
            <a:ext cx="3847392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spcAft>
                <a:spcPts val="1200"/>
              </a:spcAft>
              <a:buFontTx/>
              <a:buChar char="-"/>
            </a:pPr>
            <a:r>
              <a:rPr lang="en-US" dirty="0"/>
              <a:t>Same conclusion for angle dependence: FOM gets worse for </a:t>
            </a:r>
            <a:r>
              <a:rPr lang="en-US" dirty="0" err="1"/>
              <a:t>sKK</a:t>
            </a:r>
            <a:r>
              <a:rPr lang="en-US" dirty="0"/>
              <a:t> coating for both s and p polarizations.</a:t>
            </a:r>
          </a:p>
          <a:p>
            <a:pPr>
              <a:spcAft>
                <a:spcPts val="1200"/>
              </a:spcAft>
            </a:pP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A1A1D17-C032-A0AC-BBDB-D2ABBC13919B}"/>
              </a:ext>
            </a:extLst>
          </p:cNvPr>
          <p:cNvSpPr txBox="1"/>
          <p:nvPr/>
        </p:nvSpPr>
        <p:spPr>
          <a:xfrm>
            <a:off x="4574028" y="6230293"/>
            <a:ext cx="29887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T=0.57, A</a:t>
            </a:r>
            <a:r>
              <a:rPr lang="en-US" baseline="-25000" dirty="0"/>
              <a:t>RL</a:t>
            </a:r>
            <a:r>
              <a:rPr lang="en-US" dirty="0"/>
              <a:t>=0.18, </a:t>
            </a:r>
            <a:r>
              <a:rPr lang="en-US" b="1" dirty="0"/>
              <a:t>FOM=3.15</a:t>
            </a:r>
            <a:endParaRPr lang="en-US" b="1" baseline="-250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728E971-4596-B814-8D73-053E3C5E9371}"/>
              </a:ext>
            </a:extLst>
          </p:cNvPr>
          <p:cNvSpPr txBox="1"/>
          <p:nvPr/>
        </p:nvSpPr>
        <p:spPr>
          <a:xfrm>
            <a:off x="864567" y="6225037"/>
            <a:ext cx="28653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T=0.54, A</a:t>
            </a:r>
            <a:r>
              <a:rPr lang="en-US" baseline="-25000" dirty="0"/>
              <a:t>RL</a:t>
            </a:r>
            <a:r>
              <a:rPr lang="en-US" dirty="0"/>
              <a:t>=0.23, </a:t>
            </a:r>
            <a:r>
              <a:rPr lang="en-US" b="1" dirty="0"/>
              <a:t>FOM=2.4</a:t>
            </a:r>
            <a:endParaRPr lang="en-US" b="1" baseline="-250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4FE6E06-58D0-DFB8-714D-576DF4D5B56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04651" y="3394952"/>
            <a:ext cx="3327288" cy="278439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E018EFB-62D0-8223-5FC8-87DB1F2612D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2265" y="3394951"/>
            <a:ext cx="3327288" cy="278439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2F7E1DDA-CEFE-6BE0-D691-F5A4340BEFB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2265" y="164105"/>
            <a:ext cx="3327288" cy="2784395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619B9CF0-6F7D-2E30-4553-222243749E4C}"/>
              </a:ext>
            </a:extLst>
          </p:cNvPr>
          <p:cNvSpPr txBox="1"/>
          <p:nvPr/>
        </p:nvSpPr>
        <p:spPr>
          <a:xfrm>
            <a:off x="802851" y="2987060"/>
            <a:ext cx="29887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T=0.69, A</a:t>
            </a:r>
            <a:r>
              <a:rPr lang="en-US" baseline="-25000" dirty="0"/>
              <a:t>RL</a:t>
            </a:r>
            <a:r>
              <a:rPr lang="en-US" dirty="0"/>
              <a:t>=0.24, </a:t>
            </a:r>
            <a:r>
              <a:rPr lang="en-US" b="1" dirty="0"/>
              <a:t>FOM=2.85</a:t>
            </a:r>
            <a:endParaRPr lang="en-US" b="1" baseline="-250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47A2CA8-5B92-3527-4B45-0B366499AAAB}"/>
              </a:ext>
            </a:extLst>
          </p:cNvPr>
          <p:cNvSpPr txBox="1"/>
          <p:nvPr/>
        </p:nvSpPr>
        <p:spPr>
          <a:xfrm>
            <a:off x="4725048" y="2987060"/>
            <a:ext cx="27419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T=0.73, A</a:t>
            </a:r>
            <a:r>
              <a:rPr lang="en-US" baseline="-25000" dirty="0"/>
              <a:t>RL</a:t>
            </a:r>
            <a:r>
              <a:rPr lang="en-US" dirty="0"/>
              <a:t>=0.2, </a:t>
            </a:r>
            <a:r>
              <a:rPr lang="en-US" b="1" dirty="0"/>
              <a:t>FOM=3.7</a:t>
            </a:r>
            <a:endParaRPr lang="en-US" b="1" baseline="-25000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FC63D524-E3D4-A6A6-3024-BF9220108FA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04651" y="164104"/>
            <a:ext cx="3327288" cy="2784395"/>
          </a:xfrm>
          <a:prstGeom prst="rect">
            <a:avLst/>
          </a:prstGeom>
        </p:spPr>
      </p:pic>
      <p:grpSp>
        <p:nvGrpSpPr>
          <p:cNvPr id="16" name="Group 15">
            <a:extLst>
              <a:ext uri="{FF2B5EF4-FFF2-40B4-BE49-F238E27FC236}">
                <a16:creationId xmlns:a16="http://schemas.microsoft.com/office/drawing/2014/main" id="{B0BD16EE-6026-F747-C841-EFD91D3DA191}"/>
              </a:ext>
            </a:extLst>
          </p:cNvPr>
          <p:cNvGrpSpPr>
            <a:grpSpLocks noChangeAspect="1"/>
          </p:cNvGrpSpPr>
          <p:nvPr/>
        </p:nvGrpSpPr>
        <p:grpSpPr>
          <a:xfrm rot="10800000">
            <a:off x="8761015" y="965817"/>
            <a:ext cx="2108788" cy="650893"/>
            <a:chOff x="1853852" y="1240077"/>
            <a:chExt cx="3327748" cy="1027134"/>
          </a:xfrm>
        </p:grpSpPr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33C0344F-1906-67DA-FE42-56169D05E397}"/>
                </a:ext>
              </a:extLst>
            </p:cNvPr>
            <p:cNvSpPr/>
            <p:nvPr/>
          </p:nvSpPr>
          <p:spPr>
            <a:xfrm>
              <a:off x="1853852" y="1240077"/>
              <a:ext cx="2805830" cy="1027134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B94B8FBE-CE45-D108-15AD-229EF3301232}"/>
                </a:ext>
              </a:extLst>
            </p:cNvPr>
            <p:cNvSpPr/>
            <p:nvPr/>
          </p:nvSpPr>
          <p:spPr>
            <a:xfrm>
              <a:off x="4659682" y="1240077"/>
              <a:ext cx="521918" cy="1027134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0" name="TextBox 29">
            <a:extLst>
              <a:ext uri="{FF2B5EF4-FFF2-40B4-BE49-F238E27FC236}">
                <a16:creationId xmlns:a16="http://schemas.microsoft.com/office/drawing/2014/main" id="{8511F2EC-5857-71FC-F966-D53A9AE1F8FC}"/>
              </a:ext>
            </a:extLst>
          </p:cNvPr>
          <p:cNvSpPr txBox="1"/>
          <p:nvPr/>
        </p:nvSpPr>
        <p:spPr>
          <a:xfrm>
            <a:off x="8947900" y="1935439"/>
            <a:ext cx="2269019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b="1" dirty="0"/>
              <a:t>signal = T</a:t>
            </a:r>
          </a:p>
          <a:p>
            <a:pPr algn="ctr"/>
            <a:r>
              <a:rPr lang="en-US" b="1" dirty="0"/>
              <a:t>noise = E</a:t>
            </a:r>
            <a:r>
              <a:rPr lang="en-US" b="1" baseline="-25000" dirty="0"/>
              <a:t>R</a:t>
            </a:r>
            <a:r>
              <a:rPr lang="en-US" b="1" dirty="0"/>
              <a:t> = A</a:t>
            </a:r>
            <a:r>
              <a:rPr lang="en-US" b="1" baseline="-25000" dirty="0"/>
              <a:t>RL</a:t>
            </a:r>
          </a:p>
          <a:p>
            <a:pPr algn="ctr"/>
            <a:r>
              <a:rPr lang="en-US" b="1" dirty="0"/>
              <a:t>FOM = signal / noise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1200BD52-923A-A380-2DE4-D6C3854E0585}"/>
              </a:ext>
            </a:extLst>
          </p:cNvPr>
          <p:cNvSpPr txBox="1"/>
          <p:nvPr/>
        </p:nvSpPr>
        <p:spPr>
          <a:xfrm>
            <a:off x="8796787" y="273071"/>
            <a:ext cx="235673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/>
              <a:t>Angle dependence</a:t>
            </a:r>
            <a:endParaRPr lang="en-US" sz="2000" b="1" baseline="-25000" dirty="0"/>
          </a:p>
        </p:txBody>
      </p: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B25E6B21-705D-013B-87EA-F7440C04EFEF}"/>
              </a:ext>
            </a:extLst>
          </p:cNvPr>
          <p:cNvCxnSpPr>
            <a:cxnSpLocks/>
          </p:cNvCxnSpPr>
          <p:nvPr/>
        </p:nvCxnSpPr>
        <p:spPr>
          <a:xfrm>
            <a:off x="8048600" y="1183152"/>
            <a:ext cx="473352" cy="0"/>
          </a:xfrm>
          <a:prstGeom prst="straightConnector1">
            <a:avLst/>
          </a:prstGeom>
          <a:ln w="28575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39" name="Picture 38">
            <a:extLst>
              <a:ext uri="{FF2B5EF4-FFF2-40B4-BE49-F238E27FC236}">
                <a16:creationId xmlns:a16="http://schemas.microsoft.com/office/drawing/2014/main" id="{651596E2-022E-A3D1-D5F8-10BF4D459653}"/>
              </a:ext>
            </a:extLst>
          </p:cNvPr>
          <p:cNvPicPr>
            <a:picLocks noChangeAspect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1364" t="31945" b="33579"/>
          <a:stretch>
            <a:fillRect/>
          </a:stretch>
        </p:blipFill>
        <p:spPr>
          <a:xfrm>
            <a:off x="11139630" y="836706"/>
            <a:ext cx="1052370" cy="964504"/>
          </a:xfrm>
          <a:prstGeom prst="rect">
            <a:avLst/>
          </a:prstGeom>
        </p:spPr>
      </p:pic>
      <p:sp>
        <p:nvSpPr>
          <p:cNvPr id="40" name="TextBox 39">
            <a:extLst>
              <a:ext uri="{FF2B5EF4-FFF2-40B4-BE49-F238E27FC236}">
                <a16:creationId xmlns:a16="http://schemas.microsoft.com/office/drawing/2014/main" id="{33CE994C-1764-0395-297A-505FB9A6A996}"/>
              </a:ext>
            </a:extLst>
          </p:cNvPr>
          <p:cNvSpPr txBox="1"/>
          <p:nvPr/>
        </p:nvSpPr>
        <p:spPr>
          <a:xfrm>
            <a:off x="8134345" y="1187918"/>
            <a:ext cx="3257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</a:t>
            </a:r>
            <a:r>
              <a:rPr lang="en-US" baseline="-25000" dirty="0"/>
              <a:t>0</a:t>
            </a:r>
          </a:p>
        </p:txBody>
      </p:sp>
    </p:spTree>
    <p:extLst>
      <p:ext uri="{BB962C8B-B14F-4D97-AF65-F5344CB8AC3E}">
        <p14:creationId xmlns:p14="http://schemas.microsoft.com/office/powerpoint/2010/main" val="2605248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>
            <a:extLst>
              <a:ext uri="{FF2B5EF4-FFF2-40B4-BE49-F238E27FC236}">
                <a16:creationId xmlns:a16="http://schemas.microsoft.com/office/drawing/2014/main" id="{02429B1A-476E-2437-0869-AE54C5AA32DD}"/>
              </a:ext>
            </a:extLst>
          </p:cNvPr>
          <p:cNvGrpSpPr>
            <a:grpSpLocks noChangeAspect="1"/>
          </p:cNvGrpSpPr>
          <p:nvPr/>
        </p:nvGrpSpPr>
        <p:grpSpPr>
          <a:xfrm>
            <a:off x="4355403" y="3031298"/>
            <a:ext cx="3714759" cy="3099719"/>
            <a:chOff x="4719577" y="3281819"/>
            <a:chExt cx="3714759" cy="3099719"/>
          </a:xfrm>
        </p:grpSpPr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2AE57270-A5CE-104D-1EAF-E235FAD29F7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719577" y="3281819"/>
              <a:ext cx="3714759" cy="3099719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0B1415FD-AAA4-DC4D-BC1F-015874A38C2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l="10639" t="8657" r="12374" b="9150"/>
            <a:stretch>
              <a:fillRect/>
            </a:stretch>
          </p:blipFill>
          <p:spPr>
            <a:xfrm>
              <a:off x="7380011" y="4336812"/>
              <a:ext cx="822718" cy="731955"/>
            </a:xfrm>
            <a:prstGeom prst="rect">
              <a:avLst/>
            </a:prstGeom>
          </p:spPr>
        </p:pic>
      </p:grpSp>
      <p:pic>
        <p:nvPicPr>
          <p:cNvPr id="2" name="Picture 1">
            <a:extLst>
              <a:ext uri="{FF2B5EF4-FFF2-40B4-BE49-F238E27FC236}">
                <a16:creationId xmlns:a16="http://schemas.microsoft.com/office/drawing/2014/main" id="{4E31E9F8-DE91-4119-3E75-2B097A21E14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7303" y="250520"/>
            <a:ext cx="3405242" cy="2682748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20ECB6D4-AF0E-53A3-24D3-ABB41E173ED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10162" y="250520"/>
            <a:ext cx="3405242" cy="2682748"/>
          </a:xfrm>
          <a:prstGeom prst="rect">
            <a:avLst/>
          </a:prstGeom>
        </p:spPr>
      </p:pic>
      <p:grpSp>
        <p:nvGrpSpPr>
          <p:cNvPr id="8" name="Group 7">
            <a:extLst>
              <a:ext uri="{FF2B5EF4-FFF2-40B4-BE49-F238E27FC236}">
                <a16:creationId xmlns:a16="http://schemas.microsoft.com/office/drawing/2014/main" id="{943C2DC1-CF0C-5DBD-032D-4777D2841E13}"/>
              </a:ext>
            </a:extLst>
          </p:cNvPr>
          <p:cNvGrpSpPr>
            <a:grpSpLocks noChangeAspect="1"/>
          </p:cNvGrpSpPr>
          <p:nvPr/>
        </p:nvGrpSpPr>
        <p:grpSpPr>
          <a:xfrm>
            <a:off x="571320" y="3031299"/>
            <a:ext cx="3717208" cy="3099718"/>
            <a:chOff x="2209800" y="188363"/>
            <a:chExt cx="7772400" cy="6481274"/>
          </a:xfrm>
        </p:grpSpPr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30925D5D-8524-5173-F7CA-50171B047949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2209800" y="188363"/>
              <a:ext cx="7772400" cy="6481274"/>
            </a:xfrm>
            <a:prstGeom prst="rect">
              <a:avLst/>
            </a:prstGeom>
          </p:spPr>
        </p:pic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D0D43415-66C0-7CB1-1F32-D6DF21F83A8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l="10639" t="8657" r="12374" b="9150"/>
            <a:stretch>
              <a:fillRect/>
            </a:stretch>
          </p:blipFill>
          <p:spPr>
            <a:xfrm>
              <a:off x="7787013" y="2394270"/>
              <a:ext cx="1720241" cy="1530463"/>
            </a:xfrm>
            <a:prstGeom prst="rect">
              <a:avLst/>
            </a:prstGeom>
          </p:spPr>
        </p:pic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659C9775-757A-0471-C59A-0D00F7311907}"/>
              </a:ext>
            </a:extLst>
          </p:cNvPr>
          <p:cNvGrpSpPr>
            <a:grpSpLocks noChangeAspect="1"/>
          </p:cNvGrpSpPr>
          <p:nvPr/>
        </p:nvGrpSpPr>
        <p:grpSpPr>
          <a:xfrm>
            <a:off x="9784127" y="1354354"/>
            <a:ext cx="2108788" cy="650893"/>
            <a:chOff x="1853852" y="1240077"/>
            <a:chExt cx="3327748" cy="1027134"/>
          </a:xfrm>
        </p:grpSpPr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9B77DC28-8104-CF05-534C-322431577CBD}"/>
                </a:ext>
              </a:extLst>
            </p:cNvPr>
            <p:cNvSpPr/>
            <p:nvPr/>
          </p:nvSpPr>
          <p:spPr>
            <a:xfrm>
              <a:off x="1853852" y="1240077"/>
              <a:ext cx="2805830" cy="1027134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CB3BC3C8-9D2A-D25A-37B2-4CFBCB32119F}"/>
                </a:ext>
              </a:extLst>
            </p:cNvPr>
            <p:cNvSpPr/>
            <p:nvPr/>
          </p:nvSpPr>
          <p:spPr>
            <a:xfrm>
              <a:off x="4659682" y="1240077"/>
              <a:ext cx="521918" cy="1027134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1" name="TextBox 20">
            <a:extLst>
              <a:ext uri="{FF2B5EF4-FFF2-40B4-BE49-F238E27FC236}">
                <a16:creationId xmlns:a16="http://schemas.microsoft.com/office/drawing/2014/main" id="{89EF2122-8E24-BB5F-937B-A0F83A4E985A}"/>
              </a:ext>
            </a:extLst>
          </p:cNvPr>
          <p:cNvSpPr txBox="1"/>
          <p:nvPr/>
        </p:nvSpPr>
        <p:spPr>
          <a:xfrm>
            <a:off x="9217975" y="2519270"/>
            <a:ext cx="177484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noise = R</a:t>
            </a:r>
            <a:r>
              <a:rPr lang="en-US" baseline="-25000" dirty="0"/>
              <a:t>LR</a:t>
            </a:r>
            <a:r>
              <a:rPr lang="en-US" dirty="0"/>
              <a:t> + A</a:t>
            </a:r>
            <a:r>
              <a:rPr lang="en-US" baseline="-25000" dirty="0"/>
              <a:t>LR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C3BD9900-1204-0EE1-CDA1-E77620022A95}"/>
              </a:ext>
            </a:extLst>
          </p:cNvPr>
          <p:cNvSpPr txBox="1"/>
          <p:nvPr/>
        </p:nvSpPr>
        <p:spPr>
          <a:xfrm>
            <a:off x="5329367" y="6233404"/>
            <a:ext cx="15023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noise = 0.055</a:t>
            </a:r>
            <a:endParaRPr lang="en-US" baseline="-25000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060EB47D-A73E-FB33-7C5F-560A67E1D651}"/>
              </a:ext>
            </a:extLst>
          </p:cNvPr>
          <p:cNvSpPr txBox="1"/>
          <p:nvPr/>
        </p:nvSpPr>
        <p:spPr>
          <a:xfrm>
            <a:off x="1678757" y="6233404"/>
            <a:ext cx="15023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noise = 0.115</a:t>
            </a:r>
            <a:endParaRPr lang="en-US" baseline="-25000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3C88D8CA-1E70-D478-112A-3D16210124CE}"/>
              </a:ext>
            </a:extLst>
          </p:cNvPr>
          <p:cNvSpPr txBox="1"/>
          <p:nvPr/>
        </p:nvSpPr>
        <p:spPr>
          <a:xfrm>
            <a:off x="8137037" y="3371082"/>
            <a:ext cx="3847392" cy="33239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spcAft>
                <a:spcPts val="1200"/>
              </a:spcAft>
              <a:buFontTx/>
              <a:buChar char="-"/>
            </a:pPr>
            <a:r>
              <a:rPr lang="en-US" dirty="0"/>
              <a:t>semi-infinite layer on left is window, which is assumed to be max value of real part of dielectric function.</a:t>
            </a:r>
          </a:p>
          <a:p>
            <a:pPr marL="285750" indent="-285750">
              <a:spcAft>
                <a:spcPts val="1200"/>
              </a:spcAft>
              <a:buFontTx/>
              <a:buChar char="-"/>
            </a:pPr>
            <a:r>
              <a:rPr lang="en-US" dirty="0"/>
              <a:t>semi-infinite layer on the right is min value of Re(eps).</a:t>
            </a:r>
          </a:p>
          <a:p>
            <a:pPr marL="285750" indent="-285750">
              <a:spcAft>
                <a:spcPts val="1200"/>
              </a:spcAft>
              <a:buFontTx/>
              <a:buChar char="-"/>
            </a:pPr>
            <a:r>
              <a:rPr lang="en-US" dirty="0"/>
              <a:t>assumed that materials between n=1 and n=1.4 exist, to show whether adding losses help or not.</a:t>
            </a:r>
          </a:p>
          <a:p>
            <a:pPr>
              <a:spcAft>
                <a:spcPts val="1200"/>
              </a:spcAft>
            </a:pPr>
            <a:endParaRPr lang="en-US" dirty="0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B6E8AEF0-AD3A-E7FD-13BF-D65404C27054}"/>
              </a:ext>
            </a:extLst>
          </p:cNvPr>
          <p:cNvSpPr/>
          <p:nvPr/>
        </p:nvSpPr>
        <p:spPr>
          <a:xfrm>
            <a:off x="1199180" y="388307"/>
            <a:ext cx="1273623" cy="2066794"/>
          </a:xfrm>
          <a:prstGeom prst="rect">
            <a:avLst/>
          </a:prstGeom>
          <a:solidFill>
            <a:schemeClr val="accent1">
              <a:lumMod val="20000"/>
              <a:lumOff val="80000"/>
              <a:shade val="30000"/>
              <a:satMod val="115000"/>
              <a:alpha val="54425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F3BE1BB4-CAA8-0FF4-318E-B000E7084AC1}"/>
              </a:ext>
            </a:extLst>
          </p:cNvPr>
          <p:cNvSpPr/>
          <p:nvPr/>
        </p:nvSpPr>
        <p:spPr>
          <a:xfrm>
            <a:off x="2697127" y="388307"/>
            <a:ext cx="1273624" cy="2066794"/>
          </a:xfrm>
          <a:prstGeom prst="rect">
            <a:avLst/>
          </a:prstGeom>
          <a:solidFill>
            <a:schemeClr val="accent1">
              <a:lumMod val="20000"/>
              <a:lumOff val="80000"/>
              <a:shade val="30000"/>
              <a:satMod val="115000"/>
              <a:alpha val="54425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17CDE32D-340D-4BC9-80E9-B2E7B1632D4F}"/>
              </a:ext>
            </a:extLst>
          </p:cNvPr>
          <p:cNvSpPr/>
          <p:nvPr/>
        </p:nvSpPr>
        <p:spPr>
          <a:xfrm>
            <a:off x="4978184" y="388307"/>
            <a:ext cx="1273623" cy="2066794"/>
          </a:xfrm>
          <a:prstGeom prst="rect">
            <a:avLst/>
          </a:prstGeom>
          <a:solidFill>
            <a:schemeClr val="accent1">
              <a:lumMod val="20000"/>
              <a:lumOff val="80000"/>
              <a:shade val="30000"/>
              <a:satMod val="115000"/>
              <a:alpha val="54425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94BA0280-05A1-C740-3775-500525E3DB9F}"/>
              </a:ext>
            </a:extLst>
          </p:cNvPr>
          <p:cNvSpPr/>
          <p:nvPr/>
        </p:nvSpPr>
        <p:spPr>
          <a:xfrm>
            <a:off x="6476131" y="388307"/>
            <a:ext cx="1273624" cy="2066794"/>
          </a:xfrm>
          <a:prstGeom prst="rect">
            <a:avLst/>
          </a:prstGeom>
          <a:solidFill>
            <a:schemeClr val="accent1">
              <a:lumMod val="20000"/>
              <a:lumOff val="80000"/>
              <a:shade val="30000"/>
              <a:satMod val="115000"/>
              <a:alpha val="54425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EC32E785-B46D-BB71-AE62-CD22D293E039}"/>
              </a:ext>
            </a:extLst>
          </p:cNvPr>
          <p:cNvCxnSpPr>
            <a:cxnSpLocks/>
          </p:cNvCxnSpPr>
          <p:nvPr/>
        </p:nvCxnSpPr>
        <p:spPr>
          <a:xfrm>
            <a:off x="10817309" y="1591894"/>
            <a:ext cx="636217" cy="0"/>
          </a:xfrm>
          <a:prstGeom prst="straightConnector1">
            <a:avLst/>
          </a:prstGeom>
          <a:ln w="28575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33" name="Picture 32">
            <a:extLst>
              <a:ext uri="{FF2B5EF4-FFF2-40B4-BE49-F238E27FC236}">
                <a16:creationId xmlns:a16="http://schemas.microsoft.com/office/drawing/2014/main" id="{CD67937A-8602-3BD4-B22C-A34D063E7D42}"/>
              </a:ext>
            </a:extLst>
          </p:cNvPr>
          <p:cNvPicPr>
            <a:picLocks noChangeAspect="1"/>
          </p:cNvPicPr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1364" t="31945" b="33579"/>
          <a:stretch>
            <a:fillRect/>
          </a:stretch>
        </p:blipFill>
        <p:spPr>
          <a:xfrm rot="10800000">
            <a:off x="8215166" y="1197548"/>
            <a:ext cx="1052370" cy="964504"/>
          </a:xfrm>
          <a:prstGeom prst="rect">
            <a:avLst/>
          </a:prstGeom>
        </p:spPr>
      </p:pic>
      <p:sp>
        <p:nvSpPr>
          <p:cNvPr id="34" name="TextBox 33">
            <a:extLst>
              <a:ext uri="{FF2B5EF4-FFF2-40B4-BE49-F238E27FC236}">
                <a16:creationId xmlns:a16="http://schemas.microsoft.com/office/drawing/2014/main" id="{563F586A-2901-2A6C-5822-0B0AC90D0DA3}"/>
              </a:ext>
            </a:extLst>
          </p:cNvPr>
          <p:cNvSpPr txBox="1"/>
          <p:nvPr/>
        </p:nvSpPr>
        <p:spPr>
          <a:xfrm>
            <a:off x="10992820" y="1613905"/>
            <a:ext cx="3257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</a:t>
            </a:r>
            <a:r>
              <a:rPr lang="en-US" baseline="-25000" dirty="0"/>
              <a:t>0</a:t>
            </a:r>
          </a:p>
        </p:txBody>
      </p:sp>
    </p:spTree>
    <p:extLst>
      <p:ext uri="{BB962C8B-B14F-4D97-AF65-F5344CB8AC3E}">
        <p14:creationId xmlns:p14="http://schemas.microsoft.com/office/powerpoint/2010/main" val="293578078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898CF6B3-5BE8-81CC-F949-60820B52C2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4563" y="405383"/>
            <a:ext cx="3397774" cy="2682748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0B1BC717-F591-E395-0BAD-23BE8CEC16C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97113" y="405383"/>
            <a:ext cx="3397774" cy="26827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962489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14143</TotalTime>
  <Words>499</Words>
  <Application>Microsoft Macintosh PowerPoint</Application>
  <PresentationFormat>Widescreen</PresentationFormat>
  <Paragraphs>77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Aptos</vt:lpstr>
      <vt:lpstr>Aptos Display</vt:lpstr>
      <vt:lpstr>Arial</vt:lpstr>
      <vt:lpstr>Cambria Math</vt:lpstr>
      <vt:lpstr>Office Theme</vt:lpstr>
      <vt:lpstr>How can a spatial Kramers–Kronig coating help?</vt:lpstr>
      <vt:lpstr>Plan and Intuition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Kunal Lakhanpal</dc:creator>
  <cp:lastModifiedBy>Kunal Lakhanpal</cp:lastModifiedBy>
  <cp:revision>36</cp:revision>
  <dcterms:created xsi:type="dcterms:W3CDTF">2025-09-19T15:39:39Z</dcterms:created>
  <dcterms:modified xsi:type="dcterms:W3CDTF">2025-10-10T20:14:11Z</dcterms:modified>
</cp:coreProperties>
</file>