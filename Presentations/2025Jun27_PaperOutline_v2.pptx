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7" r:id="rId3"/>
    <p:sldId id="269" r:id="rId4"/>
    <p:sldId id="259" r:id="rId5"/>
    <p:sldId id="264" r:id="rId6"/>
    <p:sldId id="275" r:id="rId7"/>
    <p:sldId id="262" r:id="rId8"/>
    <p:sldId id="27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267DB-B086-4E0D-B487-E3F936A72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D36F32-2BEF-421B-9F76-FAD847BCBB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F83D2-2A53-486C-ACC0-F500A6F28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0DDCD-36D4-41BC-B844-F0E283F9D31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CEC91-6766-4CF0-8B72-78F30A22F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DB892-D640-4D82-A117-DD0EA5EF5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70478-1B1E-4F7E-AD85-51AE91DC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785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B1E9-7294-4CBF-BEDC-26DCD13AB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3C326-D99A-49D8-9861-2927BE057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A9028-686C-4E13-BBE2-3F020654B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0DDCD-36D4-41BC-B844-F0E283F9D31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4EE52-701A-4A0D-A2E3-04B35A4E8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3F7E9-B93E-421D-8B0C-8C63B81DC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70478-1B1E-4F7E-AD85-51AE91DC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436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8BE9A-6E0C-4D13-BA4F-B3F097A62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3DB12-00F9-41C9-AB1E-651B2EB45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CF5A0-D568-4C2E-8B42-B754BE6B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0DDCD-36D4-41BC-B844-F0E283F9D31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B6F5A-89EC-418F-85FE-6402A86AB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0E69E-73C0-409D-8CAB-C3AC4BDB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70478-1B1E-4F7E-AD85-51AE91DC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67C1A-7B16-43CE-9DA1-D07041595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658BF-A854-43B0-AE16-DACCF6457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0404F-DDA5-4F52-BE3A-E257E0638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E81839-CD7C-47A1-9F96-6A51A12D6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0DDCD-36D4-41BC-B844-F0E283F9D31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4DD12-DD9C-449A-BE2C-A72AA2A13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13634-F7E4-41AE-96EF-40E4C307A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70478-1B1E-4F7E-AD85-51AE91DC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674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A1FC7-D7D0-4ADF-A429-E48F7DC93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E91DC-7A07-4D69-A473-134582926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E8AD5-14ED-4408-B168-3ECB231C6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863097-8E84-4F3E-9331-2937CF2ECA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D29A5-EF56-4745-893C-BDC77D4207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0EAC3B-BDC0-4956-B824-868B6995E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0DDCD-36D4-41BC-B844-F0E283F9D31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83FE80-2984-4DA7-BE50-DE65DB6D0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FE442C-FD51-46B0-8981-A1F49D1E1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70478-1B1E-4F7E-AD85-51AE91DC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78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074CD-D48D-4E1D-9BCE-482EB0644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5A8A71-F0D6-45A6-B2A0-3B3F09DAB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0DDCD-36D4-41BC-B844-F0E283F9D31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6DB9E-7EBF-402F-89F6-D0C634580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056F5-9238-4432-ABE2-3FD2AC142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70478-1B1E-4F7E-AD85-51AE91DC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85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D40089-A6DF-4DF6-9F53-A8686A67F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0DDCD-36D4-41BC-B844-F0E283F9D31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42966D-54AA-42CA-9936-2EC433047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F75CC-13F0-44E1-BF9D-56594A8C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70478-1B1E-4F7E-AD85-51AE91DC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932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CC932-520F-4A47-830F-5749E9776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D2441-02B6-4D04-B87A-294F1E508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1F6EFE-1AE4-44DF-92DE-D4667939B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E9A15-0547-469D-8EC4-BE31D9F8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0DDCD-36D4-41BC-B844-F0E283F9D31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3EA7C-818B-423E-8DC3-D603A0442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13A58B-FD13-45C7-BB51-C98C4E805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70478-1B1E-4F7E-AD85-51AE91DC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41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3FA0D-838C-4265-B668-9DE77459F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E9A7F0-2ED2-44C6-9CF3-ED7587568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8970F7-20AC-4E64-A4CD-0E044A461D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2AE86-F61C-44A5-8494-853FA7E55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0DDCD-36D4-41BC-B844-F0E283F9D31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F15D7-5B5E-4176-A2DA-F0568C785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0DEEFA-ECCF-42DD-9B49-A4C3AD9D4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70478-1B1E-4F7E-AD85-51AE91DC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630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EC225-484A-4DA2-AC5E-4D947B222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57F6A3-B6F9-4840-831F-EABB35C43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E4FB6-B2A6-45D9-BD53-50063307A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0DDCD-36D4-41BC-B844-F0E283F9D31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4A996-C0AB-4348-ACAE-2C006C314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940D-6778-448E-9130-4F5150227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70478-1B1E-4F7E-AD85-51AE91DC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9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1FA025-ACCD-43FF-A3E1-7457E54A57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3E090-5DC4-4333-A27A-19C09BE87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CD5C0-BD6C-4F52-81DA-DF0CCE743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0DDCD-36D4-41BC-B844-F0E283F9D31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12E31-CEA6-4EC8-BD44-C33186B8F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31593-D657-4610-AF1C-CA8359B83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70478-1B1E-4F7E-AD85-51AE91DC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20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67070F-1887-4F66-9C8F-B0E45F6BE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53DBC-2FA0-401E-BCA4-77640B612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5315F-4890-4F2F-8A74-51D1F45BF8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0DDCD-36D4-41BC-B844-F0E283F9D31B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DF7E7-1E06-4DCB-8E6C-66A8882CD0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81F76-27B7-44C9-A328-E8424FCDF6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70478-1B1E-4F7E-AD85-51AE91DC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34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A192E-C5A7-4159-BF7D-676803603899}"/>
              </a:ext>
            </a:extLst>
          </p:cNvPr>
          <p:cNvSpPr txBox="1">
            <a:spLocks/>
          </p:cNvSpPr>
          <p:nvPr/>
        </p:nvSpPr>
        <p:spPr>
          <a:xfrm>
            <a:off x="143318" y="137015"/>
            <a:ext cx="10515600" cy="3814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/>
              <a:t>Spatial KK Literature Review: Experimental Papers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4602D3-1322-4825-92C3-0418DF6449DC}"/>
              </a:ext>
            </a:extLst>
          </p:cNvPr>
          <p:cNvSpPr txBox="1"/>
          <p:nvPr/>
        </p:nvSpPr>
        <p:spPr>
          <a:xfrm>
            <a:off x="573741" y="733066"/>
            <a:ext cx="100851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Matryoshka metamaterials, anechoic chambers, mesoscopic </a:t>
            </a:r>
            <a:r>
              <a:rPr lang="en-US" sz="2000" dirty="0" err="1"/>
              <a:t>metastructures</a:t>
            </a:r>
            <a:r>
              <a:rPr lang="en-US" sz="2000" dirty="0"/>
              <a:t>, imaging </a:t>
            </a:r>
          </a:p>
          <a:p>
            <a:endParaRPr lang="en-US" sz="2000" dirty="0"/>
          </a:p>
          <a:p>
            <a:r>
              <a:rPr lang="en-US" sz="2000" b="1" dirty="0"/>
              <a:t>Do any of them cover discretization / Hilbert-transform deviation? </a:t>
            </a:r>
            <a:r>
              <a:rPr lang="en-US" sz="2000" b="1" dirty="0">
                <a:highlight>
                  <a:srgbClr val="FFFF00"/>
                </a:highlight>
              </a:rPr>
              <a:t>Not really</a:t>
            </a:r>
            <a:endParaRPr lang="en-US" dirty="0">
              <a:highlight>
                <a:srgbClr val="FFFF00"/>
              </a:highlight>
            </a:endParaRPr>
          </a:p>
          <a:p>
            <a:r>
              <a:rPr lang="en-US" dirty="0"/>
              <a:t>One paper discusses discretization briefly: </a:t>
            </a:r>
            <a:r>
              <a:rPr lang="en-US" b="1" dirty="0"/>
              <a:t>Ye et al.</a:t>
            </a:r>
            <a:r>
              <a:rPr lang="en-US" dirty="0"/>
              <a:t> “Observation of </a:t>
            </a:r>
            <a:r>
              <a:rPr lang="en-US" dirty="0" err="1"/>
              <a:t>reflectionless</a:t>
            </a:r>
            <a:r>
              <a:rPr lang="en-US" dirty="0"/>
              <a:t> absorption due to spatial </a:t>
            </a:r>
            <a:r>
              <a:rPr lang="en-US" dirty="0" err="1"/>
              <a:t>Kramers</a:t>
            </a:r>
            <a:r>
              <a:rPr lang="en-US" dirty="0"/>
              <a:t>–</a:t>
            </a:r>
            <a:r>
              <a:rPr lang="en-US" dirty="0" err="1"/>
              <a:t>Kronig</a:t>
            </a:r>
            <a:r>
              <a:rPr lang="en-US" dirty="0"/>
              <a:t> profile”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BD7BD8-DE72-4174-B7CA-56F748506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0" y="2300508"/>
            <a:ext cx="7017572" cy="3179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933221-E11E-4CF4-B39B-DC6031E55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862" y="2674680"/>
            <a:ext cx="4790739" cy="220076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B844D41-4740-47B8-A54A-2D92634A78C9}"/>
              </a:ext>
            </a:extLst>
          </p:cNvPr>
          <p:cNvSpPr/>
          <p:nvPr/>
        </p:nvSpPr>
        <p:spPr>
          <a:xfrm>
            <a:off x="573741" y="5619357"/>
            <a:ext cx="79785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“1/10 λ” rule-of-thumb was adopted by future experiments (Q. Li et al. 2022 Advanced Optical Materials, Q. Li et al. 2024 Communications Physics), but merely picked as a “good enough” metric</a:t>
            </a:r>
          </a:p>
        </p:txBody>
      </p:sp>
    </p:spTree>
    <p:extLst>
      <p:ext uri="{BB962C8B-B14F-4D97-AF65-F5344CB8AC3E}">
        <p14:creationId xmlns:p14="http://schemas.microsoft.com/office/powerpoint/2010/main" val="3409184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A192E-C5A7-4159-BF7D-676803603899}"/>
              </a:ext>
            </a:extLst>
          </p:cNvPr>
          <p:cNvSpPr txBox="1">
            <a:spLocks/>
          </p:cNvSpPr>
          <p:nvPr/>
        </p:nvSpPr>
        <p:spPr>
          <a:xfrm>
            <a:off x="143318" y="137015"/>
            <a:ext cx="10515600" cy="3814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/>
              <a:t>Spatial KK Literature Review: Theory/Comp Papers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4602D3-1322-4825-92C3-0418DF6449DC}"/>
              </a:ext>
            </a:extLst>
          </p:cNvPr>
          <p:cNvSpPr txBox="1"/>
          <p:nvPr/>
        </p:nvSpPr>
        <p:spPr>
          <a:xfrm>
            <a:off x="143319" y="1012732"/>
            <a:ext cx="7791450" cy="3404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Do any of them cover discretization / Hilbert-transform deviation? </a:t>
            </a:r>
            <a:r>
              <a:rPr lang="en-US" sz="2000" b="1" dirty="0">
                <a:highlight>
                  <a:srgbClr val="FFFF00"/>
                </a:highlight>
              </a:rPr>
              <a:t>No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Horsley et al. : Spatiotemporal deformations of </a:t>
            </a:r>
            <a:r>
              <a:rPr lang="en-US" dirty="0" err="1"/>
              <a:t>reflectionless</a:t>
            </a:r>
            <a:r>
              <a:rPr lang="en-US" dirty="0"/>
              <a:t> potentials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S. </a:t>
            </a:r>
            <a:r>
              <a:rPr lang="en-US" dirty="0" err="1"/>
              <a:t>Longhi</a:t>
            </a:r>
            <a:r>
              <a:rPr lang="en-US" dirty="0"/>
              <a:t>: Bidirectional invisibility in </a:t>
            </a:r>
            <a:r>
              <a:rPr lang="en-US" dirty="0" err="1"/>
              <a:t>Kramers</a:t>
            </a:r>
            <a:r>
              <a:rPr lang="en-US" dirty="0"/>
              <a:t>–</a:t>
            </a:r>
            <a:r>
              <a:rPr lang="en-US" dirty="0" err="1"/>
              <a:t>Kronig</a:t>
            </a:r>
            <a:r>
              <a:rPr lang="en-US" dirty="0"/>
              <a:t> optical media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Philbin et al. : Zero reflection and transmission in graded index media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S. </a:t>
            </a:r>
            <a:r>
              <a:rPr lang="en-US" dirty="0" err="1"/>
              <a:t>Longhi</a:t>
            </a:r>
            <a:r>
              <a:rPr lang="en-US" dirty="0"/>
              <a:t>: </a:t>
            </a:r>
            <a:r>
              <a:rPr lang="en-US" dirty="0" err="1"/>
              <a:t>Kramers-Kronig</a:t>
            </a:r>
            <a:r>
              <a:rPr lang="en-US" dirty="0"/>
              <a:t> potentials for the discrete Schrödinger equation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Liu et al : Designing Spatial </a:t>
            </a:r>
            <a:r>
              <a:rPr lang="en-US" dirty="0" err="1"/>
              <a:t>Kramers</a:t>
            </a:r>
            <a:r>
              <a:rPr lang="en-US" dirty="0"/>
              <a:t>–</a:t>
            </a:r>
            <a:r>
              <a:rPr lang="en-US" dirty="0" err="1"/>
              <a:t>Kronig</a:t>
            </a:r>
            <a:r>
              <a:rPr lang="en-US" dirty="0"/>
              <a:t> Media Using Transformation Optics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Zheng et al. : Spatial </a:t>
            </a:r>
            <a:r>
              <a:rPr lang="en-US" dirty="0" err="1"/>
              <a:t>Kramers-Kronig</a:t>
            </a:r>
            <a:r>
              <a:rPr lang="en-US" dirty="0"/>
              <a:t> relation and unidirectional light reflection induced by Rydberg interactions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37CD92-2307-4251-9CDF-339345392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163" y="707913"/>
            <a:ext cx="3798855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E84B0D-CDD8-4C16-AF24-1C3B05BD6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241" y="4416869"/>
            <a:ext cx="6368528" cy="241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321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01FF7-4F07-47B7-96CD-A154D4EF8721}"/>
              </a:ext>
            </a:extLst>
          </p:cNvPr>
          <p:cNvSpPr txBox="1">
            <a:spLocks/>
          </p:cNvSpPr>
          <p:nvPr/>
        </p:nvSpPr>
        <p:spPr>
          <a:xfrm>
            <a:off x="433749" y="213215"/>
            <a:ext cx="10515600" cy="38144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/>
              <a:t>Research Gaps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F2ED7D-E543-4F0E-B250-337F8605B711}"/>
              </a:ext>
            </a:extLst>
          </p:cNvPr>
          <p:cNvSpPr txBox="1"/>
          <p:nvPr/>
        </p:nvSpPr>
        <p:spPr>
          <a:xfrm>
            <a:off x="668210" y="1138252"/>
            <a:ext cx="34948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A rigorous analysis of </a:t>
            </a:r>
            <a:r>
              <a:rPr lang="en-US" b="1" dirty="0"/>
              <a:t>discretization</a:t>
            </a:r>
            <a:r>
              <a:rPr lang="en-US" dirty="0"/>
              <a:t> of spatial KK profiles, and its effects on </a:t>
            </a:r>
            <a:r>
              <a:rPr lang="en-US" dirty="0" err="1"/>
              <a:t>reflectionless</a:t>
            </a:r>
            <a:r>
              <a:rPr lang="en-US" dirty="0"/>
              <a:t> properties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D4DC7B-C8A5-4BEB-8361-28A6114EB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19" y="2522837"/>
            <a:ext cx="3863162" cy="31507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3A266C-B595-4096-9AA2-4A9E06A137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8564" y="2522836"/>
            <a:ext cx="3494871" cy="31507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7515D2-FA8C-471D-A28A-F2F264827A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1545" y="2522836"/>
            <a:ext cx="3940536" cy="31507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42F02F-9183-48B3-9C85-32377BCEDC7B}"/>
              </a:ext>
            </a:extLst>
          </p:cNvPr>
          <p:cNvSpPr txBox="1"/>
          <p:nvPr/>
        </p:nvSpPr>
        <p:spPr>
          <a:xfrm>
            <a:off x="4524577" y="1140627"/>
            <a:ext cx="34948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The effects of </a:t>
            </a:r>
            <a:r>
              <a:rPr lang="en-US" b="1" dirty="0"/>
              <a:t>deviating</a:t>
            </a:r>
            <a:r>
              <a:rPr lang="en-US" dirty="0"/>
              <a:t> from </a:t>
            </a:r>
            <a:r>
              <a:rPr lang="en-US" b="1" dirty="0"/>
              <a:t>Hilbert-transform</a:t>
            </a:r>
            <a:r>
              <a:rPr lang="en-US" dirty="0"/>
              <a:t> pairs (modifying n and k independently)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49E72A-7854-4B55-B672-B5C7BD0F76D0}"/>
              </a:ext>
            </a:extLst>
          </p:cNvPr>
          <p:cNvSpPr txBox="1"/>
          <p:nvPr/>
        </p:nvSpPr>
        <p:spPr>
          <a:xfrm>
            <a:off x="8403695" y="1138252"/>
            <a:ext cx="34948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Enhancement from composite design by </a:t>
            </a:r>
            <a:r>
              <a:rPr lang="en-US" b="1" dirty="0"/>
              <a:t>stacking multiple KK stacks</a:t>
            </a:r>
            <a:r>
              <a:rPr lang="en-US" dirty="0"/>
              <a:t> together (stack-of-stacks analysis)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E182AB-EB46-44AF-945F-4AD0DED3795A}"/>
              </a:ext>
            </a:extLst>
          </p:cNvPr>
          <p:cNvSpPr txBox="1"/>
          <p:nvPr/>
        </p:nvSpPr>
        <p:spPr>
          <a:xfrm>
            <a:off x="783771" y="6172200"/>
            <a:ext cx="8810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Bonus: Provide </a:t>
            </a:r>
            <a:r>
              <a:rPr lang="en-US" b="1" dirty="0"/>
              <a:t>open-source code</a:t>
            </a:r>
            <a:r>
              <a:rPr lang="en-US" dirty="0"/>
              <a:t> (GitHub repo) for reproducibility: journals might like that</a:t>
            </a:r>
          </a:p>
        </p:txBody>
      </p:sp>
    </p:spTree>
    <p:extLst>
      <p:ext uri="{BB962C8B-B14F-4D97-AF65-F5344CB8AC3E}">
        <p14:creationId xmlns:p14="http://schemas.microsoft.com/office/powerpoint/2010/main" val="1225179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DF04C6E-583D-4ED8-A5A4-F3229FFF93B6}"/>
              </a:ext>
            </a:extLst>
          </p:cNvPr>
          <p:cNvGrpSpPr>
            <a:grpSpLocks noChangeAspect="1"/>
          </p:cNvGrpSpPr>
          <p:nvPr/>
        </p:nvGrpSpPr>
        <p:grpSpPr>
          <a:xfrm>
            <a:off x="143911" y="1655911"/>
            <a:ext cx="3698501" cy="3394877"/>
            <a:chOff x="3534151" y="1077463"/>
            <a:chExt cx="5123698" cy="470307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C8510D7-9E19-44C5-A931-95780B5E03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34151" y="1077463"/>
              <a:ext cx="5123698" cy="4703074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0682F8F-2FFD-4DAB-898B-EDF5E827B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06103" y="4069079"/>
              <a:ext cx="1161290" cy="914402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5829CEDF-078E-47BF-B7A3-11DF3D2684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3286" y="1626255"/>
            <a:ext cx="4044803" cy="34541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F4F2EA-9EAD-4032-A83B-AD06FEE6D0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492" y="1632638"/>
            <a:ext cx="4044802" cy="34478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6B2422-83DD-493B-B356-866026FB7A3D}"/>
              </a:ext>
            </a:extLst>
          </p:cNvPr>
          <p:cNvSpPr txBox="1"/>
          <p:nvPr/>
        </p:nvSpPr>
        <p:spPr>
          <a:xfrm>
            <a:off x="1651745" y="5538933"/>
            <a:ext cx="8876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Could go up to 2x</a:t>
            </a:r>
            <a:r>
              <a:rPr lang="en-US" baseline="-25000" dirty="0"/>
              <a:t>0</a:t>
            </a:r>
            <a:r>
              <a:rPr lang="en-US" dirty="0"/>
              <a:t> and still maintain zero-reflectance properties of spatial KK materials.</a:t>
            </a:r>
          </a:p>
          <a:p>
            <a:r>
              <a:rPr lang="en-US" dirty="0"/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DCD56E-D92B-4CE3-8F58-364BA2463A81}"/>
              </a:ext>
            </a:extLst>
          </p:cNvPr>
          <p:cNvSpPr/>
          <p:nvPr/>
        </p:nvSpPr>
        <p:spPr>
          <a:xfrm>
            <a:off x="5090960" y="989485"/>
            <a:ext cx="19976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 = 10, x</a:t>
            </a:r>
            <a:r>
              <a:rPr lang="en-US" baseline="-25000" dirty="0"/>
              <a:t>0</a:t>
            </a:r>
            <a:r>
              <a:rPr lang="en-US" dirty="0"/>
              <a:t> = 0.01um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47A945B-E546-4E29-B1E5-135AB70DED7B}"/>
              </a:ext>
            </a:extLst>
          </p:cNvPr>
          <p:cNvSpPr txBox="1">
            <a:spLocks/>
          </p:cNvSpPr>
          <p:nvPr/>
        </p:nvSpPr>
        <p:spPr>
          <a:xfrm>
            <a:off x="831993" y="181053"/>
            <a:ext cx="10515600" cy="46257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500" b="1" dirty="0"/>
              <a:t>Maximum thickness </a:t>
            </a:r>
            <a:r>
              <a:rPr lang="en-US" sz="2500" b="1" dirty="0" err="1"/>
              <a:t>t</a:t>
            </a:r>
            <a:r>
              <a:rPr lang="en-US" sz="2500" b="1" baseline="-25000" dirty="0" err="1"/>
              <a:t>min</a:t>
            </a:r>
            <a:r>
              <a:rPr lang="en-US" sz="2500" b="1" dirty="0"/>
              <a:t> ≈ x</a:t>
            </a:r>
            <a:r>
              <a:rPr lang="en-US" sz="2500" b="1" baseline="-25000" dirty="0"/>
              <a:t>0</a:t>
            </a:r>
            <a:r>
              <a:rPr lang="en-US" sz="2500" b="1" dirty="0"/>
              <a:t> for best results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9199A30-CDF7-4AC6-BA3A-37D22944BD30}"/>
              </a:ext>
            </a:extLst>
          </p:cNvPr>
          <p:cNvCxnSpPr>
            <a:cxnSpLocks/>
          </p:cNvCxnSpPr>
          <p:nvPr/>
        </p:nvCxnSpPr>
        <p:spPr>
          <a:xfrm flipV="1">
            <a:off x="6121102" y="2583628"/>
            <a:ext cx="0" cy="196890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468CC20-3760-4912-B943-F91F18AF6C8F}"/>
              </a:ext>
            </a:extLst>
          </p:cNvPr>
          <p:cNvCxnSpPr>
            <a:cxnSpLocks/>
          </p:cNvCxnSpPr>
          <p:nvPr/>
        </p:nvCxnSpPr>
        <p:spPr>
          <a:xfrm flipV="1">
            <a:off x="6578302" y="2583628"/>
            <a:ext cx="0" cy="1968908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46C1076-978A-411D-BE02-9CF74C0B7E91}"/>
              </a:ext>
            </a:extLst>
          </p:cNvPr>
          <p:cNvSpPr txBox="1"/>
          <p:nvPr/>
        </p:nvSpPr>
        <p:spPr>
          <a:xfrm>
            <a:off x="6013399" y="2214296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x</a:t>
            </a:r>
            <a:r>
              <a:rPr lang="en-US" baseline="-250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8A7B32-DAAC-4A38-A350-C1D3ECA44672}"/>
              </a:ext>
            </a:extLst>
          </p:cNvPr>
          <p:cNvSpPr txBox="1"/>
          <p:nvPr/>
        </p:nvSpPr>
        <p:spPr>
          <a:xfrm>
            <a:off x="6505991" y="221429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2x</a:t>
            </a:r>
            <a:r>
              <a:rPr lang="en-US" baseline="-25000" dirty="0">
                <a:solidFill>
                  <a:schemeClr val="accent6">
                    <a:lumMod val="75000"/>
                  </a:schemeClr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294925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AC4E8C-7F26-4A9F-BEE9-3F3792A02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619" y="1763753"/>
            <a:ext cx="3694233" cy="33304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EFA36D-4C42-4A23-9290-8762C30974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056" y="409867"/>
            <a:ext cx="3835582" cy="30284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9C72DE-F635-4056-A722-8560608102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056" y="3584238"/>
            <a:ext cx="3820732" cy="30200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AFB5DE-DC73-4A95-90A9-CC294D1957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32" y="409867"/>
            <a:ext cx="3710965" cy="30333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BF5F75-B1EE-4287-9D38-7B8A79FD70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49" y="3574593"/>
            <a:ext cx="3835584" cy="3031756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1334484E-BA6E-4842-B96E-347EA275E2F4}"/>
              </a:ext>
            </a:extLst>
          </p:cNvPr>
          <p:cNvSpPr/>
          <p:nvPr/>
        </p:nvSpPr>
        <p:spPr>
          <a:xfrm>
            <a:off x="4551557" y="2025804"/>
            <a:ext cx="144966" cy="18957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85A45AD-1EC0-4FB1-802F-4D7A799D374B}"/>
              </a:ext>
            </a:extLst>
          </p:cNvPr>
          <p:cNvSpPr/>
          <p:nvPr/>
        </p:nvSpPr>
        <p:spPr>
          <a:xfrm>
            <a:off x="7101967" y="4370972"/>
            <a:ext cx="144966" cy="189571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8D5266-B3F6-42D9-9046-C7AC079F2E79}"/>
              </a:ext>
            </a:extLst>
          </p:cNvPr>
          <p:cNvCxnSpPr>
            <a:cxnSpLocks/>
          </p:cNvCxnSpPr>
          <p:nvPr/>
        </p:nvCxnSpPr>
        <p:spPr>
          <a:xfrm flipH="1" flipV="1">
            <a:off x="3983567" y="2092827"/>
            <a:ext cx="567990" cy="27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64EA3F9-4E86-49B4-8BF4-2DDCA9639D59}"/>
              </a:ext>
            </a:extLst>
          </p:cNvPr>
          <p:cNvCxnSpPr>
            <a:cxnSpLocks/>
          </p:cNvCxnSpPr>
          <p:nvPr/>
        </p:nvCxnSpPr>
        <p:spPr>
          <a:xfrm>
            <a:off x="7246933" y="4465757"/>
            <a:ext cx="72697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779114B-E500-486B-9DCA-3897287CA477}"/>
              </a:ext>
            </a:extLst>
          </p:cNvPr>
          <p:cNvSpPr txBox="1"/>
          <p:nvPr/>
        </p:nvSpPr>
        <p:spPr>
          <a:xfrm>
            <a:off x="711799" y="57738"/>
            <a:ext cx="3026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new</a:t>
            </a:r>
            <a:r>
              <a:rPr lang="en-US" dirty="0"/>
              <a:t> = 100 , x</a:t>
            </a:r>
            <a:r>
              <a:rPr lang="en-US" baseline="-25000" dirty="0"/>
              <a:t>0,new</a:t>
            </a:r>
            <a:r>
              <a:rPr lang="en-US" dirty="0"/>
              <a:t> = 0.0015 um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B62C57-D71C-4526-9A68-56811E2097FE}"/>
              </a:ext>
            </a:extLst>
          </p:cNvPr>
          <p:cNvSpPr txBox="1"/>
          <p:nvPr/>
        </p:nvSpPr>
        <p:spPr>
          <a:xfrm>
            <a:off x="9014908" y="57738"/>
            <a:ext cx="2733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  <a:r>
              <a:rPr lang="en-US" baseline="-25000" dirty="0"/>
              <a:t>new</a:t>
            </a:r>
            <a:r>
              <a:rPr lang="en-US" dirty="0"/>
              <a:t> = 0.38 , x</a:t>
            </a:r>
            <a:r>
              <a:rPr lang="en-US" baseline="-25000" dirty="0"/>
              <a:t>0,new</a:t>
            </a:r>
            <a:r>
              <a:rPr lang="en-US" dirty="0"/>
              <a:t> = 0.4 um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7F0111-B035-4334-B7B6-5CA677581DB8}"/>
              </a:ext>
            </a:extLst>
          </p:cNvPr>
          <p:cNvSpPr txBox="1"/>
          <p:nvPr/>
        </p:nvSpPr>
        <p:spPr>
          <a:xfrm>
            <a:off x="5173311" y="266963"/>
            <a:ext cx="1689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Losses = 0.1</a:t>
            </a:r>
          </a:p>
        </p:txBody>
      </p:sp>
    </p:spTree>
    <p:extLst>
      <p:ext uri="{BB962C8B-B14F-4D97-AF65-F5344CB8AC3E}">
        <p14:creationId xmlns:p14="http://schemas.microsoft.com/office/powerpoint/2010/main" val="4247356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2AB55942-5E73-422E-9547-BE9899FAC260}"/>
              </a:ext>
            </a:extLst>
          </p:cNvPr>
          <p:cNvSpPr txBox="1"/>
          <p:nvPr/>
        </p:nvSpPr>
        <p:spPr>
          <a:xfrm>
            <a:off x="2987652" y="942284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= 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F12774-BED9-4431-A247-1592880ACDC8}"/>
              </a:ext>
            </a:extLst>
          </p:cNvPr>
          <p:cNvSpPr txBox="1"/>
          <p:nvPr/>
        </p:nvSpPr>
        <p:spPr>
          <a:xfrm>
            <a:off x="9941311" y="3206275"/>
            <a:ext cx="2171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Increase stacks to confirm trends of transition points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4E97D1-BD05-44DC-A4F5-F76AAAA7FFEA}"/>
              </a:ext>
            </a:extLst>
          </p:cNvPr>
          <p:cNvGrpSpPr>
            <a:grpSpLocks noChangeAspect="1"/>
          </p:cNvGrpSpPr>
          <p:nvPr/>
        </p:nvGrpSpPr>
        <p:grpSpPr>
          <a:xfrm>
            <a:off x="466669" y="1465949"/>
            <a:ext cx="5166498" cy="3926101"/>
            <a:chOff x="1583655" y="0"/>
            <a:chExt cx="9024689" cy="685800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E720E36-C508-428E-8B70-6D5E7F95C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83655" y="0"/>
              <a:ext cx="9024689" cy="6858000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90A8F93-BD89-4519-8931-8D6F9881E0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663" t="6065" r="4503" b="5476"/>
            <a:stretch/>
          </p:blipFill>
          <p:spPr>
            <a:xfrm>
              <a:off x="3270324" y="267014"/>
              <a:ext cx="2022437" cy="1852243"/>
            </a:xfrm>
            <a:prstGeom prst="rect">
              <a:avLst/>
            </a:prstGeom>
          </p:spPr>
        </p:pic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A8B763F1-1974-4BD2-9F3A-5CDC4FE8DB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357" y="537275"/>
            <a:ext cx="3958883" cy="313066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4D03E85-26B3-41C7-87BD-97B8168FAD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357" y="3666562"/>
            <a:ext cx="3958883" cy="3130665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8063550-4EAF-417E-B7B5-B87DA0A344B2}"/>
              </a:ext>
            </a:extLst>
          </p:cNvPr>
          <p:cNvCxnSpPr/>
          <p:nvPr/>
        </p:nvCxnSpPr>
        <p:spPr>
          <a:xfrm flipV="1">
            <a:off x="5400339" y="2431228"/>
            <a:ext cx="604054" cy="5701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A229D6-F27B-41D1-B7CE-4F67A64EC6DD}"/>
              </a:ext>
            </a:extLst>
          </p:cNvPr>
          <p:cNvCxnSpPr>
            <a:cxnSpLocks/>
          </p:cNvCxnSpPr>
          <p:nvPr/>
        </p:nvCxnSpPr>
        <p:spPr>
          <a:xfrm>
            <a:off x="5428469" y="3843568"/>
            <a:ext cx="543261" cy="6684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6832C5F-FE27-4270-AFBD-3E004C39E3B1}"/>
              </a:ext>
            </a:extLst>
          </p:cNvPr>
          <p:cNvSpPr txBox="1"/>
          <p:nvPr/>
        </p:nvSpPr>
        <p:spPr>
          <a:xfrm>
            <a:off x="301214" y="102785"/>
            <a:ext cx="71295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Increasing x</a:t>
            </a:r>
            <a:r>
              <a:rPr lang="en-US" sz="2400" b="1" baseline="-25000" dirty="0"/>
              <a:t>0</a:t>
            </a:r>
            <a:r>
              <a:rPr lang="en-US" sz="2400" b="1" dirty="0"/>
              <a:t> dramatically changes FOM enhancement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FDE96F-D240-4F60-86D7-FC4441064E51}"/>
              </a:ext>
            </a:extLst>
          </p:cNvPr>
          <p:cNvSpPr txBox="1"/>
          <p:nvPr/>
        </p:nvSpPr>
        <p:spPr>
          <a:xfrm>
            <a:off x="525925" y="5544911"/>
            <a:ext cx="51741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changing </a:t>
            </a:r>
            <a:r>
              <a:rPr lang="en-US" b="1" dirty="0"/>
              <a:t>x</a:t>
            </a:r>
            <a:r>
              <a:rPr lang="en-US" b="1" baseline="-25000" dirty="0"/>
              <a:t>0</a:t>
            </a:r>
            <a:r>
              <a:rPr lang="en-US" dirty="0"/>
              <a:t> from </a:t>
            </a:r>
            <a:r>
              <a:rPr lang="en-US" b="1" dirty="0"/>
              <a:t>0.0022um</a:t>
            </a:r>
            <a:r>
              <a:rPr lang="en-US" dirty="0"/>
              <a:t> to </a:t>
            </a:r>
            <a:r>
              <a:rPr lang="en-US" b="1" dirty="0"/>
              <a:t>0.0023um</a:t>
            </a:r>
            <a:r>
              <a:rPr lang="en-US" dirty="0"/>
              <a:t> causes FOM enhancement to </a:t>
            </a:r>
            <a:r>
              <a:rPr lang="en-US" b="1" dirty="0"/>
              <a:t>transition</a:t>
            </a:r>
            <a:r>
              <a:rPr lang="en-US" dirty="0"/>
              <a:t> from </a:t>
            </a:r>
            <a:r>
              <a:rPr lang="en-US" b="1" dirty="0"/>
              <a:t>increasing</a:t>
            </a:r>
            <a:r>
              <a:rPr lang="en-US" dirty="0"/>
              <a:t> to </a:t>
            </a:r>
            <a:r>
              <a:rPr lang="en-US" b="1" dirty="0"/>
              <a:t>decreasing</a:t>
            </a:r>
            <a:r>
              <a:rPr lang="en-US" dirty="0"/>
              <a:t> with respect to number of stacks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B661695-5053-4354-BD3B-733AC34545E4}"/>
                  </a:ext>
                </a:extLst>
              </p:cNvPr>
              <p:cNvSpPr txBox="1"/>
              <p:nvPr/>
            </p:nvSpPr>
            <p:spPr>
              <a:xfrm>
                <a:off x="9527611" y="45346"/>
                <a:ext cx="2679619" cy="730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</a:rPr>
                        <m:t>FoM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sSub>
                                        <m:sSub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  <m:sub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𝒯</m:t>
                                      </m:r>
                                      <m:d>
                                        <m:dPr>
                                          <m:ctrlP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𝜆</m:t>
                                          </m:r>
                                        </m:e>
                                      </m:d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nary>
                        </m:den>
                      </m:f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B661695-5053-4354-BD3B-733AC3454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7611" y="45346"/>
                <a:ext cx="2679619" cy="730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51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9ED300-5730-44BA-838A-CC77D75662A2}"/>
              </a:ext>
            </a:extLst>
          </p:cNvPr>
          <p:cNvSpPr txBox="1"/>
          <p:nvPr/>
        </p:nvSpPr>
        <p:spPr>
          <a:xfrm>
            <a:off x="424543" y="493577"/>
            <a:ext cx="10929257" cy="4421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Working title: </a:t>
            </a:r>
            <a:r>
              <a:rPr lang="en-US" sz="2000" b="1" dirty="0"/>
              <a:t>“Robustness and Limitations of Spatial </a:t>
            </a:r>
            <a:r>
              <a:rPr lang="en-US" sz="2000" b="1" dirty="0" err="1"/>
              <a:t>Kramers-Kronig</a:t>
            </a:r>
            <a:r>
              <a:rPr lang="en-US" sz="2000" b="1" dirty="0"/>
              <a:t> </a:t>
            </a:r>
            <a:r>
              <a:rPr lang="en-US" sz="2000" b="1" dirty="0" err="1"/>
              <a:t>Metastructures</a:t>
            </a:r>
            <a:r>
              <a:rPr lang="en-US" sz="2000" b="1" dirty="0"/>
              <a:t> under Discretization, Hilbert-Transform Deviation, and Composite Design”</a:t>
            </a:r>
            <a:endParaRPr lang="en-US" sz="2000" dirty="0"/>
          </a:p>
          <a:p>
            <a:endParaRPr lang="en-US" dirty="0"/>
          </a:p>
          <a:p>
            <a:r>
              <a:rPr lang="en-US" sz="2000" dirty="0"/>
              <a:t>Alternative title to highlight experiment/fabrication: </a:t>
            </a:r>
            <a:r>
              <a:rPr lang="en-US" sz="2000" b="1" dirty="0"/>
              <a:t>“Design roadmap towards experimental realizations of Spatial </a:t>
            </a:r>
            <a:r>
              <a:rPr lang="en-US" sz="2000" b="1" dirty="0" err="1"/>
              <a:t>Kramers-Kronig</a:t>
            </a:r>
            <a:r>
              <a:rPr lang="en-US" sz="2000" b="1" dirty="0"/>
              <a:t> materials”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Journal to aim for: </a:t>
            </a:r>
            <a:r>
              <a:rPr lang="en-US" b="1" dirty="0"/>
              <a:t>APL Photonics (IF: 5.4)</a:t>
            </a:r>
          </a:p>
          <a:p>
            <a:endParaRPr lang="en-US" b="1" i="1" dirty="0"/>
          </a:p>
          <a:p>
            <a:r>
              <a:rPr lang="en-US" dirty="0"/>
              <a:t>Other journals: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PRApplied</a:t>
            </a:r>
            <a:r>
              <a:rPr lang="en-US" b="1" dirty="0"/>
              <a:t> (IF: 3.8)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APL Letters (IF: 3.6)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Optics Express (IF: 3.2)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Optics Letters (IF: 3.1)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JOSA B (IF: 1.8)</a:t>
            </a:r>
          </a:p>
        </p:txBody>
      </p:sp>
    </p:spTree>
    <p:extLst>
      <p:ext uri="{BB962C8B-B14F-4D97-AF65-F5344CB8AC3E}">
        <p14:creationId xmlns:p14="http://schemas.microsoft.com/office/powerpoint/2010/main" val="2365331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B36A45-5C97-4FCE-9E08-CEE2A58651CB}"/>
              </a:ext>
            </a:extLst>
          </p:cNvPr>
          <p:cNvSpPr txBox="1"/>
          <p:nvPr/>
        </p:nvSpPr>
        <p:spPr>
          <a:xfrm>
            <a:off x="301214" y="102785"/>
            <a:ext cx="5800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Nonreciprocal thermal emission paper (PRL)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F92DC7-07E2-47E7-811F-8B9BD677AA26}"/>
              </a:ext>
            </a:extLst>
          </p:cNvPr>
          <p:cNvSpPr txBox="1"/>
          <p:nvPr/>
        </p:nvSpPr>
        <p:spPr>
          <a:xfrm>
            <a:off x="533144" y="1020952"/>
            <a:ext cx="745812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/>
              <a:t>First observation of strong asymmetry in absorption and emission</a:t>
            </a:r>
          </a:p>
          <a:p>
            <a:pPr marL="742950" lvl="1" indent="-285750">
              <a:spcAft>
                <a:spcPts val="1200"/>
              </a:spcAft>
              <a:buFontTx/>
              <a:buChar char="-"/>
            </a:pPr>
            <a:r>
              <a:rPr lang="en-US" dirty="0"/>
              <a:t>as high as 0.43, while previous papers reported much smaller values (~0.05)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dirty="0"/>
              <a:t>breaking </a:t>
            </a:r>
            <a:r>
              <a:rPr lang="en-US" dirty="0" err="1"/>
              <a:t>Kirchoff’s</a:t>
            </a:r>
            <a:r>
              <a:rPr lang="en-US" dirty="0"/>
              <a:t> Law (absorption = emission) by breaking Lorentz reciprocity in a </a:t>
            </a:r>
            <a:r>
              <a:rPr lang="en-US" dirty="0" err="1"/>
              <a:t>nonisotropic</a:t>
            </a:r>
            <a:r>
              <a:rPr lang="en-US" dirty="0"/>
              <a:t> metamaterial placed in a magnetic field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α(</a:t>
            </a:r>
            <a:r>
              <a:rPr lang="el-GR" dirty="0"/>
              <a:t>θ</a:t>
            </a:r>
            <a:r>
              <a:rPr lang="en-US" dirty="0"/>
              <a:t>, B) = e(</a:t>
            </a:r>
            <a:r>
              <a:rPr lang="el-GR" dirty="0"/>
              <a:t>θ</a:t>
            </a:r>
            <a:r>
              <a:rPr lang="en-US" dirty="0"/>
              <a:t>, -B) so nonreciprocity can be measured by: </a:t>
            </a:r>
            <a:r>
              <a:rPr lang="el-GR" dirty="0"/>
              <a:t>Δ</a:t>
            </a:r>
            <a:r>
              <a:rPr lang="en-US" dirty="0"/>
              <a:t>e = e(</a:t>
            </a:r>
            <a:r>
              <a:rPr lang="el-GR" dirty="0"/>
              <a:t>θ</a:t>
            </a:r>
            <a:r>
              <a:rPr lang="en-US" dirty="0"/>
              <a:t>, B) - e(</a:t>
            </a:r>
            <a:r>
              <a:rPr lang="el-GR" dirty="0"/>
              <a:t>θ</a:t>
            </a:r>
            <a:r>
              <a:rPr lang="en-US" dirty="0"/>
              <a:t>, -B)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95D2D1-CB57-4D95-A57E-249D0A0BA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266" y="870858"/>
            <a:ext cx="4110114" cy="471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014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26866</TotalTime>
  <Words>536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Outline</dc:title>
  <dc:creator>Kunal Lakhanpal</dc:creator>
  <cp:lastModifiedBy>Kunal Lakhanpal</cp:lastModifiedBy>
  <cp:revision>67</cp:revision>
  <dcterms:created xsi:type="dcterms:W3CDTF">2024-11-07T22:57:39Z</dcterms:created>
  <dcterms:modified xsi:type="dcterms:W3CDTF">2025-07-07T21:07:10Z</dcterms:modified>
</cp:coreProperties>
</file>