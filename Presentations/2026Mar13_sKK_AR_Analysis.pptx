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4" r:id="rId6"/>
    <p:sldId id="260" r:id="rId7"/>
    <p:sldId id="267" r:id="rId8"/>
    <p:sldId id="261" r:id="rId9"/>
    <p:sldId id="262" r:id="rId10"/>
    <p:sldId id="263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31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A506-51A0-BF23-4071-E8091316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664F5-1A87-8A76-AB99-ADC1C8040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17CAC-7953-87AC-C99A-80B7FF016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E67AA-1F3C-5398-EB0B-C40C7BA7A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09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Hilbert Transform: Why Symmetric Endpoints Matter</a:t>
            </a:r>
            <a:endParaRPr lang="en-US" sz="2400" dirty="0"/>
          </a:p>
        </p:txBody>
      </p:sp>
      <p:pic>
        <p:nvPicPr>
          <p:cNvPr id="3" name="Image 0" descr="/sessions/practical-intelligent-heisenberg/figures/fig_new1_lorentz_vs_gr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00"/>
            <a:ext cx="896112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Lorentzian profile has same endpoints — FFT-based HT works perfectly.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 coating has different endpoints. FFT assumes periodicity → jump discontinuity → the root cause of unwanted artifacts.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Hilbert Transform Problem: Asymmetric Endpoints</a:t>
            </a:r>
            <a:endParaRPr lang="en-US" sz="2400" dirty="0"/>
          </a:p>
        </p:txBody>
      </p:sp>
      <p:pic>
        <p:nvPicPr>
          <p:cNvPr id="3" name="Image 0" descr="/sessions/practical-intelligent-heisenberg/figures/fig0a_ht_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00"/>
            <a:ext cx="896112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 requires computing </a:t>
            </a: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ε''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[ε']. For coatings on substrates, ε'(−∞) = ε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≠ 1 = ε'(+∞). FFT-based HT assumes periodicity → endpoint mismatch causes gain regions.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Derivative-then-Integrate: Solving the Endpoint Problem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334699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derivative of ε'(x) → both endpoints go to 0 → standard HT works → integrate back.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well-localized ε'' peak, but "lossy air" region (n ≈ 1, k &gt; 0) persists — this is fundamental to the asymmetric HT.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67134D-C3AA-9EDF-2FB6-C7A314A8E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99" y="825016"/>
            <a:ext cx="8960002" cy="33704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Backside Reflection Reduction: sKK vs GRIN vs Bulk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2976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s-pol, 80°: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 coating reduces ⟨R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⟩ from 0.129 (bulk) to 0.022, a &gt;5× improvement. GRIN alone provides negligible benefit (0.128) at this sub-λ thickness.</a:t>
            </a:r>
            <a:endParaRPr lang="en-US" sz="1200" dirty="0"/>
          </a:p>
        </p:txBody>
      </p:sp>
      <p:pic>
        <p:nvPicPr>
          <p:cNvPr id="6" name="Picture 5" descr="A graph of different types of lines&#10;&#10;AI-generated content may be incorrect.">
            <a:extLst>
              <a:ext uri="{FF2B5EF4-FFF2-40B4-BE49-F238E27FC236}">
                <a16:creationId xmlns:a16="http://schemas.microsoft.com/office/drawing/2014/main" id="{0EF0E4A6-39CC-5BFA-788B-40E85AD1E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6" y="803524"/>
            <a:ext cx="8832024" cy="33292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Angle-Dependence of Backside Reflection at λ = 3 μm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2976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 coating reduces backside reflection at all angles for both polarizations.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particularly strong at ellipsometric angles (60–80°).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3BF952-987F-732B-728F-411E9A0CE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547395" cy="3221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Analyticity: Spectral One-Sidedness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065058" y="107442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Form complex derivative function: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z(x) = dε′/dx + i · dε′′/dx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Fourier transform to spatial frequency: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Z(k) = FFT{ z(x) }</a:t>
            </a: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 = spatial wavenumber (μm⁻¹))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3. Measure one-sidedness: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E₊ = ∫ |Z(k)|² dk  for k &gt; 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E₋ = ∫ |Z(k)|² dk  for k &lt; 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FoM = 100 * (E₊ − E₋) / (E₊ + E₋)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Physical meaning: </a:t>
            </a: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sKK requires ε(x) analytic in upper half-plane → its spatial spectrum is one-sided. Positive k = no reflection from one direction.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graph of a full skk profile&#10;&#10;AI-generated content may be incorrect.">
            <a:extLst>
              <a:ext uri="{FF2B5EF4-FFF2-40B4-BE49-F238E27FC236}">
                <a16:creationId xmlns:a16="http://schemas.microsoft.com/office/drawing/2014/main" id="{82BF1A4D-BB6B-EC13-CF9A-770248666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0" y="841785"/>
            <a:ext cx="4985060" cy="35847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C4B2F-03F6-643D-7092-E7D43727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24EB93-04E6-7EFE-73A2-82019002D057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Analyticity: Spectral One-Sidedness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74A292-3FD2-3A26-7267-04D3530F9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08116"/>
            <a:ext cx="7772400" cy="2927267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40F92F8E-27B9-D46D-88CE-4BCE6CA19F38}"/>
              </a:ext>
            </a:extLst>
          </p:cNvPr>
          <p:cNvSpPr/>
          <p:nvPr/>
        </p:nvSpPr>
        <p:spPr>
          <a:xfrm>
            <a:off x="950258" y="703360"/>
            <a:ext cx="3931920" cy="404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</a:t>
            </a:r>
            <a:r>
              <a:rPr lang="en-US" sz="12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with complex Lorentzian: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74209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→ A Trade-off: Sweeping Loss Magnitude</a:t>
            </a:r>
            <a:endParaRPr lang="en-US" sz="2400" dirty="0"/>
          </a:p>
        </p:txBody>
      </p:sp>
      <p:pic>
        <p:nvPicPr>
          <p:cNvPr id="3" name="Image 0" descr="/sessions/practical-intelligent-heisenberg/figures/fig4_alpha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029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ε''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</a:t>
            </a: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α · ε''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669280" y="1476103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R, A averaged over 2–5 μm.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Crossing point at α ≈ 0.12: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⟨R⟩ = ⟨A⟩ ≈ 0.10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 (GRIN only):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⟨R⟩ = 0.128, FoM = 0%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1 (full sKK):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⟨R⟩ = 0.022, FoM = 96.4%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α lowers absorption but also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destroys analyticity (purple dashed).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Gating Removes Unphysical "Lossy Air" Region</a:t>
            </a:r>
            <a:endParaRPr lang="en-US" sz="2400" dirty="0"/>
          </a:p>
        </p:txBody>
      </p:sp>
      <p:pic>
        <p:nvPicPr>
          <p:cNvPr id="5" name="Picture 4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2171E0F8-B821-FA53-1CE7-9451EA584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55" y="600634"/>
            <a:ext cx="8755117" cy="44980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Analyticity Cost: Full sKK vs Gated Profile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3891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sKK (left): nearly all spectral weight on positive k → FoM = 96.4%. Gated σ = 0.1 (right): removing lossy air injects power into forbidden (negative k) side → FoM drops to 17.5%.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practical mitigation breaks analyticity.</a:t>
            </a:r>
            <a:endParaRPr lang="en-US" sz="1200" dirty="0"/>
          </a:p>
        </p:txBody>
      </p:sp>
      <p:pic>
        <p:nvPicPr>
          <p:cNvPr id="6" name="Picture 5" descr="A comparison of a graph&#10;&#10;AI-generated content may be incorrect.">
            <a:extLst>
              <a:ext uri="{FF2B5EF4-FFF2-40B4-BE49-F238E27FC236}">
                <a16:creationId xmlns:a16="http://schemas.microsoft.com/office/drawing/2014/main" id="{ED7A8668-CC17-4DEC-2617-2B09E92D7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3" y="848348"/>
            <a:ext cx="8903371" cy="33560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Space: GRIN vs sKK Across Coating Thickness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437456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regimes: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Sub-λ coatings (&lt;1.5 μm) where GRIN is ineffective and sKK provides the only path to low R — but at the cost of absorption and broken analyticity. Thick coatings (&gt;6 μm) where GRIN alone achieves low R without absorption. Crossover region (1.5–6 μm) is where the design tradeoff is most nuanced.</a:t>
            </a:r>
            <a:endParaRPr lang="en-US" sz="1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48F827E-0736-8F76-887C-72B31B4298C6}"/>
              </a:ext>
            </a:extLst>
          </p:cNvPr>
          <p:cNvSpPr/>
          <p:nvPr/>
        </p:nvSpPr>
        <p:spPr>
          <a:xfrm>
            <a:off x="815789" y="2057400"/>
            <a:ext cx="271630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averaged </a:t>
            </a:r>
            <a:r>
              <a:rPr lang="en-US" sz="14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400" baseline="-250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2-5um (s-pol, 80deg):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E47052-C2A7-D95E-C44A-154BBEE95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094" y="711125"/>
            <a:ext cx="5147711" cy="34664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0964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the Hilbert transform of GRIN profiles with asymmetric endpoints (ε′(−∞) ≠ ε′(+∞)) is essential for coating application of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standard FFT-based HT fails due to periodic continuation artifacts.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Derivative-then-integrate: dε′/dx → 0 at both endpoints, so the standard HT works on the derivative. Integrate back to recover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′′.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zero-reflectance for all angles and wavelengths but with “lossy air” (n ≈ 1, k &gt; 0), which is fundamental to the asymmetric HT — not a numerical artifact (Horsley et al. perfect transmission via gain). First quantitative characterization of the analyticity–physicality tradeoff using spectral one-sidedness FoM.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thickness regimes: sub-λ (sKK essential, GRIN ineffective), crossover (1.5–6 μm), and thick coatings (&gt;6 μm, GRIN alone suffices).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300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mitigations (α-scaling, σ-gating) trade practicality for reflection reduction and broken analyticity.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799</Words>
  <Application>Microsoft Macintosh PowerPoint</Application>
  <PresentationFormat>On-screen Show (16:9)</PresentationFormat>
  <Paragraphs>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sKK AR Coating Analysis — Derivative Method</dc:title>
  <dc:subject>PptxGenJS Presentation</dc:subject>
  <dc:creator>Kunal</dc:creator>
  <cp:lastModifiedBy>Kunal Lakhanpal</cp:lastModifiedBy>
  <cp:revision>28</cp:revision>
  <dcterms:created xsi:type="dcterms:W3CDTF">2026-03-13T17:47:29Z</dcterms:created>
  <dcterms:modified xsi:type="dcterms:W3CDTF">2026-03-20T06:44:22Z</dcterms:modified>
</cp:coreProperties>
</file>