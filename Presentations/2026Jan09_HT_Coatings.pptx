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2"/>
  </p:normalViewPr>
  <p:slideViewPr>
    <p:cSldViewPr snapToGrid="0">
      <p:cViewPr varScale="1">
        <p:scale>
          <a:sx n="100" d="100"/>
          <a:sy n="10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FD393-9892-D570-1C50-B75337509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1988A-B234-491F-19FC-601781B01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09D38-5B8F-A634-3627-34AB640D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CD06-5508-F94E-BD98-F6B5E80C74B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A72A0-098D-2BD0-D1E8-40CEB9D1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51CA6-367F-A8EE-C9AE-4C6526E3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34126-D947-7D4D-96A1-A36730B9D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2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8CA4-B9C2-B962-4326-10226C32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12BDA-DD61-0080-F836-DC156B6DD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D4C45-4FCE-6F1B-EEBA-5E68B3C99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CD06-5508-F94E-BD98-F6B5E80C74B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C4DDC-D3C8-18CB-C899-D250DA75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EDEA-500D-38DD-0457-C5A9ED8B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34126-D947-7D4D-96A1-A36730B9D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03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DAA4-9889-D6F2-8CDF-ADC0E631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2A19B-2580-F30B-592C-F98F18A73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553AE-223D-F975-AE1F-08C40863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CD06-5508-F94E-BD98-F6B5E80C74B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9DF48-B5C4-FD73-0CE3-DE201BC62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72606-4CEC-968D-1EFC-D875BEA5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34126-D947-7D4D-96A1-A36730B9D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44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656E-64B9-E334-5752-17DDCE272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5DC6A-719B-2FC7-19AE-F9F331916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5AE74-7F8E-4EDE-D837-2DD89ACD4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29A14-9DE9-ACFB-4987-FBBEF569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CD06-5508-F94E-BD98-F6B5E80C74B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29A19-9733-E8B1-4522-8A6A3A242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1A7AA-BE52-38BC-5126-1CDAF0CF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34126-D947-7D4D-96A1-A36730B9D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2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9058-5CAE-6BEA-BCD5-B38F8164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C5C91-0B54-199C-E58B-0AAF7C31C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1929D-CBAD-4671-9CBD-4122D2C50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995D-23F6-7D1A-4108-17D461EDB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C8D2A-F0C2-D009-6393-508F90B6F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3DFA2-E535-BCFA-98F3-736563836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CD06-5508-F94E-BD98-F6B5E80C74B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42DA0-DC8F-513C-32C7-82BC09C7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2EBB7-8C24-6E44-C9A4-EE1064E24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34126-D947-7D4D-96A1-A36730B9D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42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D056D-F462-14F3-7973-77D907A1A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540F3-A0ED-C6D4-2FBE-42275CE0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CD06-5508-F94E-BD98-F6B5E80C74B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FE28B-872F-FA0C-0A62-EBC566B1D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6AA29-303A-2259-AC5A-1ADB5BBB7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34126-D947-7D4D-96A1-A36730B9D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B87EA-A005-B041-312D-997E0A88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CD06-5508-F94E-BD98-F6B5E80C74B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EE1309-B865-3C14-6515-E46A7F7CE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71CA5-06DA-F8C5-A4D3-E7CD5C4E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34126-D947-7D4D-96A1-A36730B9D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8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4B96F-E178-44AA-3B5F-4971E4466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31285-8DE2-A877-FBDC-993E62063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1D9BB-42A0-480A-9AB5-C904978EB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CDACB-DC52-5309-6C65-22417617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CD06-5508-F94E-BD98-F6B5E80C74B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7D4F1-9DD4-F700-BA66-67ADC00F3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E85E0-644F-0C3D-CAC1-EB793E64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34126-D947-7D4D-96A1-A36730B9D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7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8F7BB-94F0-AB77-2A7E-51C02EDF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07BDE-FE22-F70D-C167-57347A445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22034-4F9B-1836-7435-C3BD17C18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E8659-9D52-6BF4-276E-9538997D5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CD06-5508-F94E-BD98-F6B5E80C74B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C083B-7811-0D7E-7CB1-CB182CD8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9A1D4-32B1-628B-AF40-0E4942FE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34126-D947-7D4D-96A1-A36730B9D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58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04976-B993-B3F8-BF73-ED397844F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C4585-63A1-8F0E-8616-6B956F9D0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A4112-0D3E-9605-D927-5994BDF46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CD06-5508-F94E-BD98-F6B5E80C74B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0800D-0C46-BBA7-2018-AEB169F5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5002-3B72-EEB7-6109-2D0A66BFC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34126-D947-7D4D-96A1-A36730B9D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40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9B38AA-ABF7-33DA-8C90-B8935A916D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6CEF7-4EC4-5248-AA09-F79198A74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7F022-CA5E-D22C-A567-5789699B5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CD06-5508-F94E-BD98-F6B5E80C74B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667FE-CB37-D852-8BE5-718AD2A7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96982-4CB2-9ACF-C8C2-B703E0B5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34126-D947-7D4D-96A1-A36730B9D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3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20C2B-C902-D6BB-6B59-113FF4EC5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8AB3B-425D-B3DA-5FED-616FDD492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05CE7-5568-68EF-62A2-68F97A064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4CD06-5508-F94E-BD98-F6B5E80C74BA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F99D9-4E15-25C4-B5BF-1979E500C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8539D-48FD-3B52-7F30-EF6DAE4C7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A34126-D947-7D4D-96A1-A36730B9D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97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D16CBB7-40C2-DD17-5ACE-701F025147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8515871" y="22738"/>
            <a:ext cx="1052370" cy="9645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88A8E3-C8A1-086D-082C-6C1305AF9ED5}"/>
              </a:ext>
            </a:extLst>
          </p:cNvPr>
          <p:cNvSpPr txBox="1"/>
          <p:nvPr/>
        </p:nvSpPr>
        <p:spPr>
          <a:xfrm>
            <a:off x="9785173" y="93799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noise = R</a:t>
            </a:r>
            <a:r>
              <a:rPr lang="en-US" b="1" baseline="-25000" dirty="0"/>
              <a:t>b</a:t>
            </a:r>
            <a:r>
              <a:rPr lang="en-US" b="1" dirty="0"/>
              <a:t> + A</a:t>
            </a:r>
            <a:r>
              <a:rPr lang="en-US" b="1" baseline="-25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A3FD7-D79D-99B1-C027-56D1652E134A}"/>
              </a:ext>
            </a:extLst>
          </p:cNvPr>
          <p:cNvSpPr txBox="1"/>
          <p:nvPr/>
        </p:nvSpPr>
        <p:spPr>
          <a:xfrm>
            <a:off x="1085452" y="4710668"/>
            <a:ext cx="3150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=0.05, A</a:t>
            </a:r>
            <a:r>
              <a:rPr lang="en-US" b="1" baseline="-25000" dirty="0"/>
              <a:t>b</a:t>
            </a:r>
            <a:r>
              <a:rPr lang="en-US" b="1" dirty="0"/>
              <a:t>=0.05, </a:t>
            </a:r>
            <a:r>
              <a:rPr lang="en-US" b="1" dirty="0">
                <a:highlight>
                  <a:srgbClr val="FFFF00"/>
                </a:highlight>
              </a:rPr>
              <a:t>noise=0.1 </a:t>
            </a:r>
            <a:endParaRPr lang="en-US" b="1" baseline="-25000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313C97-E83E-3854-F519-C3330C3096BA}"/>
              </a:ext>
            </a:extLst>
          </p:cNvPr>
          <p:cNvSpPr txBox="1"/>
          <p:nvPr/>
        </p:nvSpPr>
        <p:spPr>
          <a:xfrm>
            <a:off x="103382" y="163840"/>
            <a:ext cx="6767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1. With x</a:t>
            </a:r>
            <a:r>
              <a:rPr lang="en-US" sz="2400" b="1" baseline="-25000" dirty="0"/>
              <a:t>0</a:t>
            </a:r>
            <a:r>
              <a:rPr lang="en-US" sz="2400" b="1" dirty="0"/>
              <a:t>=0.01um s-KK Coating (ellipsometry)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DCBD3-9FF9-6C1F-340D-7B9DE1E33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62" y="1478377"/>
            <a:ext cx="3894807" cy="3239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D5B632-19A6-9CC6-9929-9611B702A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257" y="1465676"/>
            <a:ext cx="3894807" cy="32392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09DBD3-A7B5-451C-0847-C75D08A1E970}"/>
              </a:ext>
            </a:extLst>
          </p:cNvPr>
          <p:cNvSpPr txBox="1"/>
          <p:nvPr/>
        </p:nvSpPr>
        <p:spPr>
          <a:xfrm>
            <a:off x="5176031" y="4704921"/>
            <a:ext cx="3060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=0.04, A</a:t>
            </a:r>
            <a:r>
              <a:rPr lang="en-US" b="1" baseline="-25000" dirty="0"/>
              <a:t>b</a:t>
            </a:r>
            <a:r>
              <a:rPr lang="en-US" b="1" dirty="0"/>
              <a:t>=0.1, </a:t>
            </a:r>
            <a:r>
              <a:rPr lang="en-US" b="1" dirty="0">
                <a:highlight>
                  <a:srgbClr val="FFFF00"/>
                </a:highlight>
              </a:rPr>
              <a:t>noise=0.14</a:t>
            </a:r>
            <a:r>
              <a:rPr lang="en-US" b="1" dirty="0"/>
              <a:t> </a:t>
            </a:r>
            <a:endParaRPr lang="en-US" b="1" baseline="-25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7BCB7A-47C3-F856-FA6D-AE68CCD3D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971" y="1465677"/>
            <a:ext cx="3194745" cy="24932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122A65-5CDF-27D8-1663-2923A6179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3052" y="4051299"/>
            <a:ext cx="3194746" cy="249329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C99983E-CEEE-AFE4-7847-FFD7F6A7446D}"/>
              </a:ext>
            </a:extLst>
          </p:cNvPr>
          <p:cNvSpPr txBox="1"/>
          <p:nvPr/>
        </p:nvSpPr>
        <p:spPr>
          <a:xfrm>
            <a:off x="463462" y="5545092"/>
            <a:ext cx="8226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coating slightly decreases R</a:t>
            </a:r>
            <a:r>
              <a:rPr lang="en-US" baseline="-25000" dirty="0"/>
              <a:t>b</a:t>
            </a:r>
            <a:r>
              <a:rPr lang="en-US" dirty="0"/>
              <a:t> but increases E</a:t>
            </a:r>
            <a:r>
              <a:rPr lang="en-US" baseline="-25000" dirty="0"/>
              <a:t>b</a:t>
            </a:r>
            <a:r>
              <a:rPr lang="en-US" dirty="0"/>
              <a:t>, causing overall noise to increase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C69BEF-AC9B-1B95-B94C-81569534C3AA}"/>
              </a:ext>
            </a:extLst>
          </p:cNvPr>
          <p:cNvSpPr/>
          <p:nvPr/>
        </p:nvSpPr>
        <p:spPr>
          <a:xfrm>
            <a:off x="9105900" y="15037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0965A9-6DFC-7939-FB01-6CE74AF67427}"/>
              </a:ext>
            </a:extLst>
          </p:cNvPr>
          <p:cNvSpPr/>
          <p:nvPr/>
        </p:nvSpPr>
        <p:spPr>
          <a:xfrm>
            <a:off x="10603846" y="15037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6C587C-8F23-19A5-44A0-465EFEC0DAF0}"/>
              </a:ext>
            </a:extLst>
          </p:cNvPr>
          <p:cNvGrpSpPr>
            <a:grpSpLocks noChangeAspect="1"/>
          </p:cNvGrpSpPr>
          <p:nvPr/>
        </p:nvGrpSpPr>
        <p:grpSpPr>
          <a:xfrm>
            <a:off x="9899473" y="179542"/>
            <a:ext cx="2108788" cy="650893"/>
            <a:chOff x="1853852" y="1240077"/>
            <a:chExt cx="3327748" cy="102713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64BFA27-7862-4B9A-A0F3-5A135450FBF4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7AEF622-9DDF-708C-94DD-07AD2BA6B644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333CB200-B143-4D84-3D5B-2663EEDDCCF5}"/>
              </a:ext>
            </a:extLst>
          </p:cNvPr>
          <p:cNvSpPr/>
          <p:nvPr/>
        </p:nvSpPr>
        <p:spPr>
          <a:xfrm>
            <a:off x="9080500" y="40945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40D8EB-C8B6-B172-934B-8AF0414E54FC}"/>
              </a:ext>
            </a:extLst>
          </p:cNvPr>
          <p:cNvSpPr/>
          <p:nvPr/>
        </p:nvSpPr>
        <p:spPr>
          <a:xfrm>
            <a:off x="10578446" y="40945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4536A0D-AB99-AB7C-2805-1792B2A69C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399" y="4451491"/>
            <a:ext cx="1135271" cy="94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9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B260B1-8EE1-120F-087F-D317B1E35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304" y="3381181"/>
            <a:ext cx="4267200" cy="3386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E88F26-674D-70FF-7C7A-5BFA61277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498" y="3409628"/>
            <a:ext cx="4267200" cy="33106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06C7EA-5456-0215-5619-8D4706396B2E}"/>
              </a:ext>
            </a:extLst>
          </p:cNvPr>
          <p:cNvSpPr txBox="1"/>
          <p:nvPr/>
        </p:nvSpPr>
        <p:spPr>
          <a:xfrm>
            <a:off x="285028" y="141145"/>
            <a:ext cx="6010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Hilbert Transform of Truncated 𝜀’ to get 𝜀’’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93A620-4542-CC1D-C4E9-F51F202E96DB}"/>
              </a:ext>
            </a:extLst>
          </p:cNvPr>
          <p:cNvGrpSpPr>
            <a:grpSpLocks noChangeAspect="1"/>
          </p:cNvGrpSpPr>
          <p:nvPr/>
        </p:nvGrpSpPr>
        <p:grpSpPr>
          <a:xfrm>
            <a:off x="4193149" y="707756"/>
            <a:ext cx="3494412" cy="2721244"/>
            <a:chOff x="6341159" y="674108"/>
            <a:chExt cx="3194745" cy="248788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CD2427D-9A9B-1060-63BD-53B1A809B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341159" y="674108"/>
              <a:ext cx="3194745" cy="248788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C598F89-B7D5-0CF3-4234-DC317670A4B5}"/>
                </a:ext>
              </a:extLst>
            </p:cNvPr>
            <p:cNvSpPr/>
            <p:nvPr/>
          </p:nvSpPr>
          <p:spPr>
            <a:xfrm>
              <a:off x="6743700" y="721128"/>
              <a:ext cx="1144032" cy="208699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shade val="30000"/>
                <a:satMod val="115000"/>
                <a:alpha val="5442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7BEC94-ACEE-2D25-6522-7F82EA5D382D}"/>
                </a:ext>
              </a:extLst>
            </p:cNvPr>
            <p:cNvSpPr/>
            <p:nvPr/>
          </p:nvSpPr>
          <p:spPr>
            <a:xfrm>
              <a:off x="8241646" y="721128"/>
              <a:ext cx="1144033" cy="208699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shade val="30000"/>
                <a:satMod val="115000"/>
                <a:alpha val="5442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1ADCF8F-24BD-1C29-7C41-F6E9E00976F8}"/>
              </a:ext>
            </a:extLst>
          </p:cNvPr>
          <p:cNvSpPr txBox="1"/>
          <p:nvPr/>
        </p:nvSpPr>
        <p:spPr>
          <a:xfrm>
            <a:off x="8127860" y="1721303"/>
            <a:ext cx="3467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Truncate dielectric function further to avoid gain from HT</a:t>
            </a:r>
          </a:p>
        </p:txBody>
      </p:sp>
    </p:spTree>
    <p:extLst>
      <p:ext uri="{BB962C8B-B14F-4D97-AF65-F5344CB8AC3E}">
        <p14:creationId xmlns:p14="http://schemas.microsoft.com/office/powerpoint/2010/main" val="199548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D16CBB7-40C2-DD17-5ACE-701F025147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8515871" y="22738"/>
            <a:ext cx="1052370" cy="9645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88A8E3-C8A1-086D-082C-6C1305AF9ED5}"/>
              </a:ext>
            </a:extLst>
          </p:cNvPr>
          <p:cNvSpPr txBox="1"/>
          <p:nvPr/>
        </p:nvSpPr>
        <p:spPr>
          <a:xfrm>
            <a:off x="10249932" y="890041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noise = R</a:t>
            </a:r>
            <a:r>
              <a:rPr lang="en-US" b="1" baseline="-25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A3FD7-D79D-99B1-C027-56D1652E134A}"/>
              </a:ext>
            </a:extLst>
          </p:cNvPr>
          <p:cNvSpPr txBox="1"/>
          <p:nvPr/>
        </p:nvSpPr>
        <p:spPr>
          <a:xfrm>
            <a:off x="851419" y="6432121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R</a:t>
            </a:r>
            <a:r>
              <a:rPr lang="en-US" b="1" baseline="-25000" dirty="0" err="1"/>
              <a:t>back</a:t>
            </a:r>
            <a:r>
              <a:rPr lang="en-US" b="1" dirty="0"/>
              <a:t>=0.01, A=0.25, </a:t>
            </a:r>
            <a:r>
              <a:rPr lang="en-US" b="1" dirty="0">
                <a:highlight>
                  <a:srgbClr val="FFFF00"/>
                </a:highlight>
              </a:rPr>
              <a:t>noise=0.01 </a:t>
            </a:r>
            <a:endParaRPr lang="en-US" b="1" baseline="-25000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313C97-E83E-3854-F519-C3330C3096BA}"/>
              </a:ext>
            </a:extLst>
          </p:cNvPr>
          <p:cNvSpPr txBox="1"/>
          <p:nvPr/>
        </p:nvSpPr>
        <p:spPr>
          <a:xfrm>
            <a:off x="103382" y="163840"/>
            <a:ext cx="6767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1. With x</a:t>
            </a:r>
            <a:r>
              <a:rPr lang="en-US" sz="2400" b="1" baseline="-25000" dirty="0"/>
              <a:t>0</a:t>
            </a:r>
            <a:r>
              <a:rPr lang="en-US" sz="2400" b="1" dirty="0"/>
              <a:t>=0.001um s-KK Coating (ellipsometry)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DCBD3-9FF9-6C1F-340D-7B9DE1E337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3462" y="3205577"/>
            <a:ext cx="3894806" cy="3239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D5B632-19A6-9CC6-9929-9611B702A3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8257" y="3192876"/>
            <a:ext cx="3894806" cy="32392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09DBD3-A7B5-451C-0847-C75D08A1E970}"/>
              </a:ext>
            </a:extLst>
          </p:cNvPr>
          <p:cNvSpPr txBox="1"/>
          <p:nvPr/>
        </p:nvSpPr>
        <p:spPr>
          <a:xfrm>
            <a:off x="5176031" y="6432121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R</a:t>
            </a:r>
            <a:r>
              <a:rPr lang="en-US" b="1" baseline="-25000" dirty="0" err="1"/>
              <a:t>back</a:t>
            </a:r>
            <a:r>
              <a:rPr lang="en-US" b="1" dirty="0"/>
              <a:t>=0.05, A=0.05, </a:t>
            </a:r>
            <a:r>
              <a:rPr lang="en-US" b="1" dirty="0">
                <a:highlight>
                  <a:srgbClr val="FFFF00"/>
                </a:highlight>
              </a:rPr>
              <a:t>noise=0.05</a:t>
            </a:r>
            <a:r>
              <a:rPr lang="en-US" b="1" dirty="0"/>
              <a:t> </a:t>
            </a:r>
            <a:endParaRPr lang="en-US" b="1" baseline="-25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6C587C-8F23-19A5-44A0-465EFEC0DAF0}"/>
              </a:ext>
            </a:extLst>
          </p:cNvPr>
          <p:cNvGrpSpPr>
            <a:grpSpLocks noChangeAspect="1"/>
          </p:cNvGrpSpPr>
          <p:nvPr/>
        </p:nvGrpSpPr>
        <p:grpSpPr>
          <a:xfrm>
            <a:off x="9899473" y="179542"/>
            <a:ext cx="2108788" cy="650893"/>
            <a:chOff x="1853852" y="1240077"/>
            <a:chExt cx="3327748" cy="102713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64BFA27-7862-4B9A-A0F3-5A135450FBF4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7AEF622-9DDF-708C-94DD-07AD2BA6B644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51D847C-462B-EE27-90E0-E849A95781DD}"/>
              </a:ext>
            </a:extLst>
          </p:cNvPr>
          <p:cNvGrpSpPr/>
          <p:nvPr/>
        </p:nvGrpSpPr>
        <p:grpSpPr>
          <a:xfrm>
            <a:off x="4908287" y="734325"/>
            <a:ext cx="3194746" cy="2458550"/>
            <a:chOff x="8653052" y="4068669"/>
            <a:chExt cx="3194746" cy="245855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5122A65-5CDF-27D8-1663-2923A61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653052" y="4068669"/>
              <a:ext cx="3194746" cy="245855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33CB200-B143-4D84-3D5B-2663EEDDCCF5}"/>
                </a:ext>
              </a:extLst>
            </p:cNvPr>
            <p:cNvSpPr/>
            <p:nvPr/>
          </p:nvSpPr>
          <p:spPr>
            <a:xfrm>
              <a:off x="9042400" y="4094576"/>
              <a:ext cx="1144032" cy="208699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shade val="30000"/>
                <a:satMod val="115000"/>
                <a:alpha val="5442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940D8EB-C8B6-B172-934B-8AF0414E54FC}"/>
                </a:ext>
              </a:extLst>
            </p:cNvPr>
            <p:cNvSpPr/>
            <p:nvPr/>
          </p:nvSpPr>
          <p:spPr>
            <a:xfrm>
              <a:off x="10540346" y="4094576"/>
              <a:ext cx="1144033" cy="208699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shade val="30000"/>
                <a:satMod val="115000"/>
                <a:alpha val="5442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45894F6-AE98-20A6-53CA-55695E1513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96" t="21333" r="5249" b="22181"/>
          <a:stretch>
            <a:fillRect/>
          </a:stretch>
        </p:blipFill>
        <p:spPr>
          <a:xfrm>
            <a:off x="4147331" y="6266807"/>
            <a:ext cx="1028700" cy="5347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876EDD-D864-7E0C-378D-B3B132F0EB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165" y="734325"/>
            <a:ext cx="2903399" cy="24585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10EDAF-45FC-275E-5581-E7CB7A60B925}"/>
              </a:ext>
            </a:extLst>
          </p:cNvPr>
          <p:cNvSpPr txBox="1"/>
          <p:nvPr/>
        </p:nvSpPr>
        <p:spPr>
          <a:xfrm>
            <a:off x="8653052" y="2286000"/>
            <a:ext cx="3355209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HT coating increases absorption, but reduces </a:t>
            </a:r>
            <a:r>
              <a:rPr lang="en-US"/>
              <a:t>backside reflections</a:t>
            </a:r>
            <a:endParaRPr lang="en-US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Next step: rigorous comparison between HT coating and GRIN coating over angles and wavelengths (is there a significant advantage?)</a:t>
            </a:r>
          </a:p>
        </p:txBody>
      </p:sp>
    </p:spTree>
    <p:extLst>
      <p:ext uri="{BB962C8B-B14F-4D97-AF65-F5344CB8AC3E}">
        <p14:creationId xmlns:p14="http://schemas.microsoft.com/office/powerpoint/2010/main" val="1067850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133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10</cp:revision>
  <dcterms:created xsi:type="dcterms:W3CDTF">2026-01-09T17:57:06Z</dcterms:created>
  <dcterms:modified xsi:type="dcterms:W3CDTF">2026-01-21T20:59:04Z</dcterms:modified>
</cp:coreProperties>
</file>