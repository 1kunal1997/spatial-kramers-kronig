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0" r:id="rId4"/>
    <p:sldId id="262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52"/>
  </p:normalViewPr>
  <p:slideViewPr>
    <p:cSldViewPr snapToGrid="0">
      <p:cViewPr varScale="1">
        <p:scale>
          <a:sx n="100" d="100"/>
          <a:sy n="100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6108-66C6-4769-D481-277B0EA5D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3791C-614D-572A-F372-8776939FBD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58651-45AB-283B-AEB1-248BDD3D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1DB4E-2FF1-0F47-A6F7-F7032847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2E4E5-FE07-94DE-5EDA-0A3744FB3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46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01D4-CCA6-854F-B8D9-B3BC971E3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DE46D-C961-EF6D-04C7-3F06AE627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09F07-81EE-9D4C-9104-ACD702E33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A114C-E93C-A289-0A43-1FD68B67B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2BD6E-C0E5-C1CA-C8DC-8C1D5ECD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4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E4D6-889A-77AD-D3BF-11A420946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E9E1D-34CD-094E-5B9D-2C7739F9ED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9A542-CEF6-8A16-89E8-B8E1C8CD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21E0-4A00-DE7D-38E4-75B19BF2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086C1-C6BE-9073-5A3E-97C500F4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7405-C71B-0C74-A5CC-5B3373E44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2A149-6A1C-9992-442F-D34A4966D9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355AC-C540-57EA-743B-05A31D99A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4199C0-F406-95C1-FFBA-8319E348C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636F1-851C-A6B0-1A4E-F32A276E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F3338-EDF8-F8C9-A98C-B6C209FD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83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3F6EB-AA4C-E63F-0401-B5F61514C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13CC6-11E4-05B6-CDFD-5A1977396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9DCF6-C7D5-81A6-C23B-73A453127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0B977-F071-192B-C6E7-004405E59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A030E-25D3-6F20-EC97-6214F00D30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FEC3C1-AAFA-B721-B381-110D83181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FACB9-65C4-093C-01C3-A5BE671D2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BA2AEC-3C8E-BC9E-D100-395BC1680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26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341BF-0E57-D4D4-2247-85B6140B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8D73F0-275F-C0CB-E907-BEE656E6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DF7C9-2238-44B3-F3F0-DD5C3315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C9411-C730-2997-F850-342DEC5B1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25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64F11-52FF-F162-A04E-E19458CDB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0238C5-E1B1-73EA-96DF-980935FF7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467C6-AA49-CDCF-6652-7AFB34C5E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4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9F33-3D51-6408-22C1-4BCED919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CF76B-16E7-C08C-77E4-3B9749FAF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07351C-0FF8-DBF5-73DA-5C96A2490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F36EA-B1C3-9FDA-2ADC-8DFC2334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C29CA-59AE-4864-883D-C823BD277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647BE-6008-38CA-A5BF-A70AC935C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4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6B12D-BD39-EA44-9123-145412285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DDEE67-60D0-AF46-AD46-BF2E85DC8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72AAD-B476-33B5-C74C-3676CC8D5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2FF1E-1548-B5BA-7DA6-A23B65DD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477D0-A3BC-AB7D-DF89-FD5E0C451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8629A6-9733-BE58-E3E5-6DDFFCDD2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5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E2CF-82D5-051F-980F-5975CE935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281C4-FBDD-04FB-9149-80B0983490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02292-2417-C380-29B5-3F7D5D2A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17503-D57D-0E6B-9D36-5658C4BA3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F5C7A4-01C1-3B7C-5406-EFD2962F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22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A3B6E-F9C8-32A4-5E8B-B60DBEF257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2DD5D-C75F-3DBE-92A3-60EC3BD0A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F8A5D-9667-260D-EF73-2AF946EA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CF8E3-D816-CA90-28D3-9A5C65769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44AC5-0356-89B8-24C3-0424E2C2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95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5926A9-DFB8-2895-2C6D-26FCD846B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863C79-5984-0BF5-C016-74C5CCA7D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AE626-E652-AB42-18A7-154C53817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39D62-C736-3240-B7BF-2C7FCA1AFA9D}" type="datetimeFigureOut">
              <a:rPr lang="en-US" smtClean="0"/>
              <a:t>12/19/25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150D4-BA74-0C21-E62A-800A8F8120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8204-7BFA-C0DE-9C6B-1C5BA24C2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2CF80E-D01D-9D4B-9139-9C9DCE93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73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B2E9B3-18D9-8AB7-234F-786D5304FE84}"/>
              </a:ext>
            </a:extLst>
          </p:cNvPr>
          <p:cNvSpPr/>
          <p:nvPr/>
        </p:nvSpPr>
        <p:spPr>
          <a:xfrm>
            <a:off x="3883065" y="394567"/>
            <a:ext cx="6638794" cy="8893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AAB301F0-5DE0-58E1-F8E2-384C439A935E}"/>
              </a:ext>
            </a:extLst>
          </p:cNvPr>
          <p:cNvSpPr/>
          <p:nvPr/>
        </p:nvSpPr>
        <p:spPr>
          <a:xfrm rot="16200000">
            <a:off x="7033362" y="-1728597"/>
            <a:ext cx="338201" cy="6638795"/>
          </a:xfrm>
          <a:prstGeom prst="leftBrace">
            <a:avLst>
              <a:gd name="adj1" fmla="val 0"/>
              <a:gd name="adj2" fmla="val 498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BABA1-7F8F-D3D6-17E2-D27CCFC98262}"/>
              </a:ext>
            </a:extLst>
          </p:cNvPr>
          <p:cNvSpPr txBox="1"/>
          <p:nvPr/>
        </p:nvSpPr>
        <p:spPr>
          <a:xfrm>
            <a:off x="7030530" y="1784951"/>
            <a:ext cx="408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</a:t>
            </a:r>
            <a:r>
              <a:rPr lang="en-US" sz="2000" baseline="-25000" dirty="0"/>
              <a:t>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A2EE6D-A969-6A32-E6B7-2D3C44484F1F}"/>
                  </a:ext>
                </a:extLst>
              </p:cNvPr>
              <p:cNvSpPr txBox="1"/>
              <p:nvPr/>
            </p:nvSpPr>
            <p:spPr>
              <a:xfrm>
                <a:off x="969383" y="642744"/>
                <a:ext cx="2018309" cy="3929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Losses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kbulkLo</m:t>
                      </m:r>
                    </m:oMath>
                  </m:oMathPara>
                </a14:m>
                <a:endParaRPr lang="en-US" sz="2000" baseline="-250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A2EE6D-A969-6A32-E6B7-2D3C44484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3" y="642744"/>
                <a:ext cx="2018309" cy="392993"/>
              </a:xfrm>
              <a:prstGeom prst="rect">
                <a:avLst/>
              </a:prstGeom>
              <a:blipFill>
                <a:blip r:embed="rId2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26BE0C06-746B-6439-9671-CED4192CA051}"/>
              </a:ext>
            </a:extLst>
          </p:cNvPr>
          <p:cNvSpPr/>
          <p:nvPr/>
        </p:nvSpPr>
        <p:spPr>
          <a:xfrm>
            <a:off x="4271372" y="2395604"/>
            <a:ext cx="2430049" cy="8893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6321A9-7081-4C0D-1730-6E72F280B781}"/>
              </a:ext>
            </a:extLst>
          </p:cNvPr>
          <p:cNvSpPr/>
          <p:nvPr/>
        </p:nvSpPr>
        <p:spPr>
          <a:xfrm>
            <a:off x="4599436" y="4271383"/>
            <a:ext cx="1064509" cy="8893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D60F30-C8FD-7722-CD94-92E879E0CA42}"/>
              </a:ext>
            </a:extLst>
          </p:cNvPr>
          <p:cNvSpPr/>
          <p:nvPr/>
        </p:nvSpPr>
        <p:spPr>
          <a:xfrm>
            <a:off x="7707683" y="2395604"/>
            <a:ext cx="2430049" cy="8893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02D69B37-1760-CF25-AD36-B8D80E7421AA}"/>
              </a:ext>
            </a:extLst>
          </p:cNvPr>
          <p:cNvSpPr/>
          <p:nvPr/>
        </p:nvSpPr>
        <p:spPr>
          <a:xfrm rot="16200000">
            <a:off x="5317294" y="2331411"/>
            <a:ext cx="338203" cy="2430049"/>
          </a:xfrm>
          <a:prstGeom prst="leftBrace">
            <a:avLst>
              <a:gd name="adj1" fmla="val 0"/>
              <a:gd name="adj2" fmla="val 498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B21B4D2D-8BB1-B9B6-FAF0-BBE5B5C7DEF8}"/>
              </a:ext>
            </a:extLst>
          </p:cNvPr>
          <p:cNvSpPr/>
          <p:nvPr/>
        </p:nvSpPr>
        <p:spPr>
          <a:xfrm rot="16200000">
            <a:off x="8753607" y="2331411"/>
            <a:ext cx="338202" cy="2430050"/>
          </a:xfrm>
          <a:prstGeom prst="leftBrace">
            <a:avLst>
              <a:gd name="adj1" fmla="val 0"/>
              <a:gd name="adj2" fmla="val 498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03510-46CC-AFC3-35B1-2FCF2721535A}"/>
              </a:ext>
            </a:extLst>
          </p:cNvPr>
          <p:cNvSpPr txBox="1"/>
          <p:nvPr/>
        </p:nvSpPr>
        <p:spPr>
          <a:xfrm>
            <a:off x="5307384" y="3677959"/>
            <a:ext cx="404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</a:t>
            </a:r>
            <a:r>
              <a:rPr lang="en-US" sz="2000" baseline="-25000" dirty="0"/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F29500-99F9-3789-FA52-5713D165E998}"/>
              </a:ext>
            </a:extLst>
          </p:cNvPr>
          <p:cNvSpPr txBox="1"/>
          <p:nvPr/>
        </p:nvSpPr>
        <p:spPr>
          <a:xfrm>
            <a:off x="8731170" y="3668771"/>
            <a:ext cx="404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</a:t>
            </a:r>
            <a:r>
              <a:rPr lang="en-US" sz="2000" baseline="-25000" dirty="0"/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C079A1-CA28-F384-0ED0-004CC6A53343}"/>
              </a:ext>
            </a:extLst>
          </p:cNvPr>
          <p:cNvSpPr/>
          <p:nvPr/>
        </p:nvSpPr>
        <p:spPr>
          <a:xfrm>
            <a:off x="6701421" y="2390179"/>
            <a:ext cx="1006262" cy="8893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s-KK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65CE28-60AE-D2C7-009E-6F56EB58FC0D}"/>
              </a:ext>
            </a:extLst>
          </p:cNvPr>
          <p:cNvSpPr/>
          <p:nvPr/>
        </p:nvSpPr>
        <p:spPr>
          <a:xfrm>
            <a:off x="8731170" y="4271383"/>
            <a:ext cx="1064509" cy="8893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60A3B5-A279-DAA8-AAD4-03A4EE96D4FC}"/>
              </a:ext>
            </a:extLst>
          </p:cNvPr>
          <p:cNvSpPr/>
          <p:nvPr/>
        </p:nvSpPr>
        <p:spPr>
          <a:xfrm>
            <a:off x="6670207" y="4271383"/>
            <a:ext cx="1064509" cy="88934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830925-0077-4522-C9D8-DC10BF168DEE}"/>
              </a:ext>
            </a:extLst>
          </p:cNvPr>
          <p:cNvSpPr/>
          <p:nvPr/>
        </p:nvSpPr>
        <p:spPr>
          <a:xfrm>
            <a:off x="5663945" y="4271382"/>
            <a:ext cx="1006262" cy="8893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s-KK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3DD11B-E2E2-7B2F-DB6C-C3229A3EDF5B}"/>
              </a:ext>
            </a:extLst>
          </p:cNvPr>
          <p:cNvSpPr/>
          <p:nvPr/>
        </p:nvSpPr>
        <p:spPr>
          <a:xfrm>
            <a:off x="7730932" y="4271382"/>
            <a:ext cx="1006262" cy="88934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s-KK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34285971-7962-7268-0E97-49C16A0C1CA1}"/>
              </a:ext>
            </a:extLst>
          </p:cNvPr>
          <p:cNvSpPr/>
          <p:nvPr/>
        </p:nvSpPr>
        <p:spPr>
          <a:xfrm rot="16200000">
            <a:off x="9091451" y="4869865"/>
            <a:ext cx="343946" cy="1064510"/>
          </a:xfrm>
          <a:prstGeom prst="leftBrace">
            <a:avLst>
              <a:gd name="adj1" fmla="val 0"/>
              <a:gd name="adj2" fmla="val 498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660E3958-9AB7-4A76-759E-9071328A6F85}"/>
              </a:ext>
            </a:extLst>
          </p:cNvPr>
          <p:cNvSpPr/>
          <p:nvPr/>
        </p:nvSpPr>
        <p:spPr>
          <a:xfrm rot="16200000">
            <a:off x="4959718" y="4869864"/>
            <a:ext cx="343946" cy="1064510"/>
          </a:xfrm>
          <a:prstGeom prst="leftBrace">
            <a:avLst>
              <a:gd name="adj1" fmla="val 0"/>
              <a:gd name="adj2" fmla="val 498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F5C01503-A8F0-8066-B1C1-CA78049342AA}"/>
              </a:ext>
            </a:extLst>
          </p:cNvPr>
          <p:cNvSpPr/>
          <p:nvPr/>
        </p:nvSpPr>
        <p:spPr>
          <a:xfrm rot="16200000">
            <a:off x="7030489" y="4874889"/>
            <a:ext cx="343946" cy="1064510"/>
          </a:xfrm>
          <a:prstGeom prst="leftBrace">
            <a:avLst>
              <a:gd name="adj1" fmla="val 0"/>
              <a:gd name="adj2" fmla="val 4981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E0F962-6327-BF04-A902-5A5AC3C89EED}"/>
              </a:ext>
            </a:extLst>
          </p:cNvPr>
          <p:cNvSpPr txBox="1"/>
          <p:nvPr/>
        </p:nvSpPr>
        <p:spPr>
          <a:xfrm>
            <a:off x="9061285" y="5516522"/>
            <a:ext cx="404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</a:t>
            </a:r>
            <a:r>
              <a:rPr lang="en-US" sz="2000" baseline="-25000" dirty="0"/>
              <a:t>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D27231-BC64-F8DB-5EC5-B465683F59F0}"/>
              </a:ext>
            </a:extLst>
          </p:cNvPr>
          <p:cNvSpPr txBox="1"/>
          <p:nvPr/>
        </p:nvSpPr>
        <p:spPr>
          <a:xfrm>
            <a:off x="4939359" y="5516522"/>
            <a:ext cx="404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</a:t>
            </a:r>
            <a:r>
              <a:rPr lang="en-US" sz="2000" baseline="-25000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5D758E-CFB0-87EA-217D-457DC2999DBC}"/>
              </a:ext>
            </a:extLst>
          </p:cNvPr>
          <p:cNvSpPr txBox="1"/>
          <p:nvPr/>
        </p:nvSpPr>
        <p:spPr>
          <a:xfrm>
            <a:off x="7000322" y="5520868"/>
            <a:ext cx="404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</a:t>
            </a:r>
            <a:r>
              <a:rPr lang="en-US" sz="2000" baseline="-250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95650E-EDFC-00F3-34AF-2802C65F6AFE}"/>
              </a:ext>
            </a:extLst>
          </p:cNvPr>
          <p:cNvSpPr txBox="1"/>
          <p:nvPr/>
        </p:nvSpPr>
        <p:spPr>
          <a:xfrm rot="5400000">
            <a:off x="7039916" y="6044941"/>
            <a:ext cx="55175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00" dirty="0"/>
              <a:t>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038116-F3CA-333B-398B-A7C0EDC69497}"/>
                  </a:ext>
                </a:extLst>
              </p:cNvPr>
              <p:cNvSpPr txBox="1"/>
              <p:nvPr/>
            </p:nvSpPr>
            <p:spPr>
              <a:xfrm>
                <a:off x="51983" y="4330540"/>
                <a:ext cx="3729033" cy="899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Losses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kbulkL</m:t>
                      </m:r>
                      <m:r>
                        <a:rPr lang="en-US" sz="2000" b="0" i="0" baseline="-2500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0" b="0" i="0" baseline="-25000" smtClean="0">
                              <a:latin typeface="Cambria Math" panose="02040503050406030204" pitchFamily="18" charset="0"/>
                            </a:rPr>
                            <m:t>sKK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dx</m:t>
                      </m:r>
                    </m:oMath>
                  </m:oMathPara>
                </a14:m>
                <a:endParaRPr lang="en-US" sz="2000" dirty="0">
                  <a:cs typeface="Al Nile" pitchFamily="2" charset="-7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F038116-F3CA-333B-398B-A7C0EDC69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83" y="4330540"/>
                <a:ext cx="3729033" cy="899605"/>
              </a:xfrm>
              <a:prstGeom prst="rect">
                <a:avLst/>
              </a:prstGeom>
              <a:blipFill>
                <a:blip r:embed="rId3"/>
                <a:stretch>
                  <a:fillRect t="-131944" b="-18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17858D-C268-54C1-4BF3-5920D5061818}"/>
                  </a:ext>
                </a:extLst>
              </p:cNvPr>
              <p:cNvSpPr txBox="1"/>
              <p:nvPr/>
            </p:nvSpPr>
            <p:spPr>
              <a:xfrm>
                <a:off x="116649" y="2451545"/>
                <a:ext cx="3599703" cy="8996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Losses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kbulkL</m:t>
                      </m:r>
                      <m:r>
                        <a:rPr lang="en-US" sz="2000" b="0" i="0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en-US" sz="2000" b="0" i="0" baseline="-25000" smtClean="0">
                              <a:latin typeface="Cambria Math" panose="02040503050406030204" pitchFamily="18" charset="0"/>
                            </a:rPr>
                            <m:t>sKK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dx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617858D-C268-54C1-4BF3-5920D5061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49" y="2451545"/>
                <a:ext cx="3599703" cy="899605"/>
              </a:xfrm>
              <a:prstGeom prst="rect">
                <a:avLst/>
              </a:prstGeom>
              <a:blipFill>
                <a:blip r:embed="rId4"/>
                <a:stretch>
                  <a:fillRect t="-131944" b="-18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6E4CE0A-447C-9CD6-915F-3EF4B9D9DDA1}"/>
              </a:ext>
            </a:extLst>
          </p:cNvPr>
          <p:cNvSpPr txBox="1"/>
          <p:nvPr/>
        </p:nvSpPr>
        <p:spPr>
          <a:xfrm>
            <a:off x="403789" y="5516522"/>
            <a:ext cx="31046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Determine length of bulk such that losses are constant</a:t>
            </a:r>
          </a:p>
        </p:txBody>
      </p:sp>
    </p:spTree>
    <p:extLst>
      <p:ext uri="{BB962C8B-B14F-4D97-AF65-F5344CB8AC3E}">
        <p14:creationId xmlns:p14="http://schemas.microsoft.com/office/powerpoint/2010/main" val="99158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F97822-AF40-B1AA-BFE7-A05DB71515D6}"/>
              </a:ext>
            </a:extLst>
          </p:cNvPr>
          <p:cNvSpPr txBox="1"/>
          <p:nvPr/>
        </p:nvSpPr>
        <p:spPr>
          <a:xfrm>
            <a:off x="3399436" y="204014"/>
            <a:ext cx="3869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sapphire</a:t>
            </a:r>
            <a:r>
              <a:rPr lang="en-US" dirty="0"/>
              <a:t> (</a:t>
            </a:r>
            <a:r>
              <a:rPr lang="en-US" dirty="0" err="1"/>
              <a:t>λ</a:t>
            </a:r>
            <a:r>
              <a:rPr lang="en-US" dirty="0"/>
              <a:t> = 5µm, T = 300K) = 3.84e-05</a:t>
            </a:r>
            <a:endParaRPr lang="en-US" baseline="-25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057B48-B848-4337-051F-4F2EA9F92C99}"/>
              </a:ext>
            </a:extLst>
          </p:cNvPr>
          <p:cNvSpPr txBox="1"/>
          <p:nvPr/>
        </p:nvSpPr>
        <p:spPr>
          <a:xfrm>
            <a:off x="7859884" y="3645380"/>
            <a:ext cx="3869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sapphire</a:t>
            </a:r>
            <a:r>
              <a:rPr lang="en-US" dirty="0"/>
              <a:t> (</a:t>
            </a:r>
            <a:r>
              <a:rPr lang="en-US" dirty="0" err="1"/>
              <a:t>λ</a:t>
            </a:r>
            <a:r>
              <a:rPr lang="en-US" dirty="0"/>
              <a:t> = 3µm, T = 900K) = 1.00e-07</a:t>
            </a:r>
            <a:endParaRPr lang="en-US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5A30C-2751-B1FE-B68B-E2C80F2DB085}"/>
              </a:ext>
            </a:extLst>
          </p:cNvPr>
          <p:cNvSpPr txBox="1"/>
          <p:nvPr/>
        </p:nvSpPr>
        <p:spPr>
          <a:xfrm>
            <a:off x="7859883" y="177163"/>
            <a:ext cx="3869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sapphire</a:t>
            </a:r>
            <a:r>
              <a:rPr lang="en-US" dirty="0"/>
              <a:t> (</a:t>
            </a:r>
            <a:r>
              <a:rPr lang="en-US" dirty="0" err="1"/>
              <a:t>λ</a:t>
            </a:r>
            <a:r>
              <a:rPr lang="en-US" dirty="0"/>
              <a:t> = 5µm, T = 900K) = 1.13e-04</a:t>
            </a:r>
            <a:endParaRPr lang="en-US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5CD74F-9412-ABA1-239F-FCB0CB2418FD}"/>
              </a:ext>
            </a:extLst>
          </p:cNvPr>
          <p:cNvSpPr txBox="1"/>
          <p:nvPr/>
        </p:nvSpPr>
        <p:spPr>
          <a:xfrm>
            <a:off x="3461152" y="3621315"/>
            <a:ext cx="3746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sapphire</a:t>
            </a:r>
            <a:r>
              <a:rPr lang="en-US" dirty="0"/>
              <a:t> (</a:t>
            </a:r>
            <a:r>
              <a:rPr lang="en-US" dirty="0" err="1"/>
              <a:t>λ</a:t>
            </a:r>
            <a:r>
              <a:rPr lang="en-US" dirty="0"/>
              <a:t> = 3µm, T = 300K) = 2.2e-08</a:t>
            </a:r>
            <a:endParaRPr lang="en-US" baseline="-25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87A94B-380F-77D1-639F-BD12BC9B8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427" y="530069"/>
            <a:ext cx="3870292" cy="2846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18D540-D86D-7C08-F6E3-CC3734873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884" y="4014712"/>
            <a:ext cx="4140049" cy="2842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66522B-978B-8569-4D54-B9DCB474A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729" y="3956334"/>
            <a:ext cx="3536936" cy="284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D38BD8-A0EE-22F5-D077-A493E4C6E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6048" y="530069"/>
            <a:ext cx="4036298" cy="28518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21BC8E-BE49-FE37-D737-94EBCFAE9D11}"/>
              </a:ext>
            </a:extLst>
          </p:cNvPr>
          <p:cNvSpPr txBox="1"/>
          <p:nvPr/>
        </p:nvSpPr>
        <p:spPr>
          <a:xfrm>
            <a:off x="50945" y="916276"/>
            <a:ext cx="3265103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used temperature dependent data for k-values for sapphire window 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more losses = more asymmetry (as expected)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sz="1600" dirty="0"/>
              <a:t>almost 10% asymmetry for </a:t>
            </a:r>
            <a:r>
              <a:rPr lang="en-US" sz="1600" dirty="0" err="1"/>
              <a:t>λ</a:t>
            </a:r>
            <a:r>
              <a:rPr lang="en-US" sz="1600" dirty="0"/>
              <a:t> = 5µm, T = 900K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362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4F7ECB-AFBC-FFCA-8F0F-BCA1C6659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3280" y="436298"/>
            <a:ext cx="4280566" cy="3024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EFDC88-30DC-ED1A-4B4A-C9CF5EEF7C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0" y="436298"/>
            <a:ext cx="4445696" cy="3023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A027FD-0266-5F3B-1F0E-3F3B6217E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280" y="3560908"/>
            <a:ext cx="4280566" cy="3024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0960-8197-9E5A-790C-0CE67B683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584" y="3560907"/>
            <a:ext cx="4280567" cy="302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04932E-433F-1C2C-DC84-1FBA413BE0A6}"/>
              </a:ext>
            </a:extLst>
          </p:cNvPr>
          <p:cNvSpPr txBox="1"/>
          <p:nvPr/>
        </p:nvSpPr>
        <p:spPr>
          <a:xfrm>
            <a:off x="8946410" y="727461"/>
            <a:ext cx="3185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many </a:t>
            </a:r>
            <a:r>
              <a:rPr lang="en-US" dirty="0" err="1"/>
              <a:t>sKK</a:t>
            </a:r>
            <a:r>
              <a:rPr lang="en-US" dirty="0"/>
              <a:t> MS with less losses provide less asymmetry compared to fewer </a:t>
            </a:r>
            <a:r>
              <a:rPr lang="en-US" dirty="0" err="1"/>
              <a:t>sKK</a:t>
            </a:r>
            <a:r>
              <a:rPr lang="en-US" dirty="0"/>
              <a:t> MS with higher losses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77E635-412A-F186-439E-3AA764D91087}"/>
              </a:ext>
            </a:extLst>
          </p:cNvPr>
          <p:cNvSpPr txBox="1"/>
          <p:nvPr/>
        </p:nvSpPr>
        <p:spPr>
          <a:xfrm>
            <a:off x="2650159" y="66966"/>
            <a:ext cx="3869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</a:t>
            </a:r>
            <a:r>
              <a:rPr lang="en-US" baseline="-25000" dirty="0" err="1"/>
              <a:t>sapphire</a:t>
            </a:r>
            <a:r>
              <a:rPr lang="en-US" dirty="0"/>
              <a:t> (</a:t>
            </a:r>
            <a:r>
              <a:rPr lang="en-US" dirty="0" err="1"/>
              <a:t>λ</a:t>
            </a:r>
            <a:r>
              <a:rPr lang="en-US" dirty="0"/>
              <a:t> = 5µm, T = 300K) = 3.84e-05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536861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02F6EE1-1F88-0D42-487D-627DB96184A6}"/>
              </a:ext>
            </a:extLst>
          </p:cNvPr>
          <p:cNvGrpSpPr>
            <a:grpSpLocks noChangeAspect="1"/>
          </p:cNvGrpSpPr>
          <p:nvPr/>
        </p:nvGrpSpPr>
        <p:grpSpPr>
          <a:xfrm>
            <a:off x="6196969" y="1725471"/>
            <a:ext cx="3933876" cy="3288015"/>
            <a:chOff x="1231826" y="877636"/>
            <a:chExt cx="4893621" cy="409019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FB6744-46E8-A10C-4A51-6BFD452DB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1826" y="877636"/>
              <a:ext cx="4893621" cy="409019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5528EFF-D8DC-D427-F3F4-452391CC29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494" t="4388" r="5346" b="4472"/>
            <a:stretch>
              <a:fillRect/>
            </a:stretch>
          </p:blipFill>
          <p:spPr>
            <a:xfrm>
              <a:off x="4784388" y="2660976"/>
              <a:ext cx="1176299" cy="1595984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4CB88C5-227C-B560-D5FC-1AAFCBACDB65}"/>
              </a:ext>
            </a:extLst>
          </p:cNvPr>
          <p:cNvGrpSpPr>
            <a:grpSpLocks noChangeAspect="1"/>
          </p:cNvGrpSpPr>
          <p:nvPr/>
        </p:nvGrpSpPr>
        <p:grpSpPr>
          <a:xfrm>
            <a:off x="1565032" y="1725470"/>
            <a:ext cx="3842541" cy="3288015"/>
            <a:chOff x="6096000" y="993701"/>
            <a:chExt cx="4725153" cy="404325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CF24287-4220-8446-A5A8-B779CB0A8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993701"/>
              <a:ext cx="4725153" cy="404325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0FEDA87-2BA7-46E8-563D-829727BA9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6287" t="4647" r="6126" b="4647"/>
            <a:stretch>
              <a:fillRect/>
            </a:stretch>
          </p:blipFill>
          <p:spPr>
            <a:xfrm>
              <a:off x="9442750" y="2530476"/>
              <a:ext cx="1210458" cy="1797047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4C6BFB9-5B0E-B3C4-8064-DF5A8E4D461E}"/>
              </a:ext>
            </a:extLst>
          </p:cNvPr>
          <p:cNvSpPr txBox="1"/>
          <p:nvPr/>
        </p:nvSpPr>
        <p:spPr>
          <a:xfrm>
            <a:off x="676984" y="169661"/>
            <a:ext cx="10838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Sweep specific A or x</a:t>
            </a:r>
            <a:r>
              <a:rPr lang="en-US" baseline="-25000" dirty="0"/>
              <a:t>0</a:t>
            </a:r>
            <a:r>
              <a:rPr lang="en-US" dirty="0"/>
              <a:t> values so that maximum number of </a:t>
            </a:r>
            <a:r>
              <a:rPr lang="en-US" dirty="0" err="1"/>
              <a:t>sKK</a:t>
            </a:r>
            <a:r>
              <a:rPr lang="en-US" dirty="0"/>
              <a:t> stacks addable fully replaces bulk material: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9F4D38-9CFD-A66F-D86F-4BBBCC1584CA}"/>
              </a:ext>
            </a:extLst>
          </p:cNvPr>
          <p:cNvSpPr/>
          <p:nvPr/>
        </p:nvSpPr>
        <p:spPr>
          <a:xfrm>
            <a:off x="1186101" y="817866"/>
            <a:ext cx="3933877" cy="57891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>
                <a:solidFill>
                  <a:schemeClr val="tx1"/>
                </a:solidFill>
              </a:rPr>
              <a:t>k</a:t>
            </a:r>
            <a:r>
              <a:rPr lang="en-US" sz="2000" baseline="-25000" dirty="0" err="1">
                <a:solidFill>
                  <a:schemeClr val="tx1"/>
                </a:solidFill>
              </a:rPr>
              <a:t>bulk</a:t>
            </a:r>
            <a:endParaRPr lang="en-US" sz="2000" baseline="-25000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7045A33-CB56-71F5-131C-D95E53569645}"/>
              </a:ext>
            </a:extLst>
          </p:cNvPr>
          <p:cNvGrpSpPr>
            <a:grpSpLocks noChangeAspect="1"/>
          </p:cNvGrpSpPr>
          <p:nvPr/>
        </p:nvGrpSpPr>
        <p:grpSpPr>
          <a:xfrm>
            <a:off x="6961371" y="817866"/>
            <a:ext cx="4044528" cy="582652"/>
            <a:chOff x="5935912" y="895373"/>
            <a:chExt cx="4044528" cy="582652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481D5D6-7064-B34C-2B83-F9E1ED7C6E7B}"/>
                </a:ext>
              </a:extLst>
            </p:cNvPr>
            <p:cNvSpPr/>
            <p:nvPr/>
          </p:nvSpPr>
          <p:spPr>
            <a:xfrm>
              <a:off x="6947044" y="899108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829D96B-1E50-3FB6-73E7-013E870085B9}"/>
                </a:ext>
              </a:extLst>
            </p:cNvPr>
            <p:cNvSpPr/>
            <p:nvPr/>
          </p:nvSpPr>
          <p:spPr>
            <a:xfrm>
              <a:off x="5935912" y="895374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054372-CBBA-8471-02A3-32921652748C}"/>
                </a:ext>
              </a:extLst>
            </p:cNvPr>
            <p:cNvSpPr/>
            <p:nvPr/>
          </p:nvSpPr>
          <p:spPr>
            <a:xfrm>
              <a:off x="7958176" y="895375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C7F1B59-4FB5-A427-C5F1-144CEB6878A4}"/>
                </a:ext>
              </a:extLst>
            </p:cNvPr>
            <p:cNvSpPr/>
            <p:nvPr/>
          </p:nvSpPr>
          <p:spPr>
            <a:xfrm>
              <a:off x="8974178" y="895373"/>
              <a:ext cx="1006262" cy="578917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s-KK</a:t>
              </a:r>
            </a:p>
          </p:txBody>
        </p:sp>
      </p:grp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6597C64-BFF1-1945-B9F4-E9B3B25BE4FB}"/>
              </a:ext>
            </a:extLst>
          </p:cNvPr>
          <p:cNvCxnSpPr/>
          <p:nvPr/>
        </p:nvCxnSpPr>
        <p:spPr>
          <a:xfrm>
            <a:off x="5632118" y="1107324"/>
            <a:ext cx="75028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E77C81C-0A53-0750-FB55-DAD655902A36}"/>
              </a:ext>
            </a:extLst>
          </p:cNvPr>
          <p:cNvSpPr txBox="1"/>
          <p:nvPr/>
        </p:nvSpPr>
        <p:spPr>
          <a:xfrm>
            <a:off x="588246" y="5116615"/>
            <a:ext cx="1083803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Both amplitude sweep and width sweep show that maximum asymmetry is achieved when all losses are built into a single KK stack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en-US" dirty="0"/>
              <a:t>Focusing losses into a thinner region (large A, small x</a:t>
            </a:r>
            <a:r>
              <a:rPr lang="en-US" baseline="-25000" dirty="0"/>
              <a:t>0</a:t>
            </a:r>
            <a:r>
              <a:rPr lang="en-US" dirty="0"/>
              <a:t>) yields larger asymmetry compared to spreading out losses (small A, large x</a:t>
            </a:r>
            <a:r>
              <a:rPr lang="en-US" baseline="-25000" dirty="0"/>
              <a:t>0</a:t>
            </a:r>
            <a:r>
              <a:rPr lang="en-US" dirty="0"/>
              <a:t>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67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276EB1-C65F-5BA7-6258-CAE4D23A8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3524" y="1309104"/>
            <a:ext cx="6090213" cy="44787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1743E0-BA50-F3F7-0C7E-F9F975CF5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263" y="1309104"/>
            <a:ext cx="5201856" cy="423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215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605B26-BD83-3796-75DC-8A12E5E58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08" y="5690"/>
            <a:ext cx="2967458" cy="21822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446A189-D02D-A68D-6D12-4D1663DAB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8149" y="5690"/>
            <a:ext cx="2967458" cy="21822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FF799C-C13F-4D4A-03D8-3820B7BC4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0553" y="5690"/>
            <a:ext cx="2967458" cy="21822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E8CCE3-3E5B-914D-4ABC-DC1C4CEF4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008" y="2196715"/>
            <a:ext cx="2967458" cy="2182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01ED08-9D14-4319-0C9E-2402938A55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7838" y="2196714"/>
            <a:ext cx="3028079" cy="2182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A28004-84DC-0931-DA6C-C1B14ACE6D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0553" y="2196714"/>
            <a:ext cx="2967460" cy="21822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14FDC2-BDAD-98EA-68FB-9CA5117E77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8147" y="4387739"/>
            <a:ext cx="2967460" cy="222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313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45204</TotalTime>
  <Words>220</Words>
  <Application>Microsoft Macintosh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Al Nile</vt:lpstr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16</cp:revision>
  <dcterms:created xsi:type="dcterms:W3CDTF">2025-09-23T19:32:54Z</dcterms:created>
  <dcterms:modified xsi:type="dcterms:W3CDTF">2026-01-13T00:18:10Z</dcterms:modified>
</cp:coreProperties>
</file>