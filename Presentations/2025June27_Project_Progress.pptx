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5" r:id="rId2"/>
    <p:sldId id="276" r:id="rId3"/>
    <p:sldId id="410" r:id="rId4"/>
    <p:sldId id="409" r:id="rId5"/>
    <p:sldId id="390" r:id="rId6"/>
    <p:sldId id="257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C16B-B390-456C-8015-A62188E2F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5DD27-0A81-42C0-A4D4-77A51EF57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DC76C-981B-4FFC-B0B6-519A9268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3D9D8-6A7E-4F59-83AD-1FD9B370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A2818-3E72-4BBF-803B-827CEF4B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0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CA64-6A28-4617-963C-00A8A601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79B8-A2DD-452F-A47F-D0FA36FF6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5C21-8842-4E01-97CC-5091B03B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F0F8-8815-4F6A-B4DA-E56E4EE6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5ACF2-90F9-4175-B20F-D38730CA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0F9E-00DB-4948-9621-3E6A1F4D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B4F56-6926-4E05-A871-419D0ADE2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C7CC9-5C58-465D-B42D-5994BA42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0C4F4-0900-4AC1-8455-B5398D67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D2BD-6DCC-4B16-9979-878F76C8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7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5BF3-667F-48DA-8F5A-79574A5B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3DCA-0BA8-4592-9D0F-135A3E2F6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DA24C-C2EF-4D13-8FCD-F042E5799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185D0-A0A4-454C-8002-043F68B8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E0913-200B-458B-ACE4-53832C5D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84D93-780B-4725-BE3A-60138B3C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5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F7009-2382-4066-8245-F61310B0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000CF-78CB-457E-AE7A-D26186B8C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4BDA8-DE16-4030-B67D-28C96A33C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7EFEE-513C-4AF1-96C3-56C38D53D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C0D8B-DFB9-4242-952C-35F07C0D7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C5B70-CFFA-4F43-84F0-887CE1CD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E642C-57F7-4E4A-9B89-98FA49F1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C3ABB-8DB9-4821-9B87-1DA369CB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7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F7879-B859-43EE-AEE2-052FA9B9B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946CE-E8FD-47AB-BBD7-43FDC891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A0766-E8EA-400D-BAAC-6D392CFD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6EEA6-98AD-48F6-9A6F-87E40192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1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16223-65D9-4EB4-981A-B10CB3EF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AB035-EBB0-46B4-9B04-2716D38C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26339-2232-47BC-A5B0-C7FC723C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A264-B447-4AA6-AF65-50127762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7529F-7095-449D-A45B-F938DD5CF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D9FA0-3114-4D11-82EE-FA383A305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7D7BB-D27C-43E5-8E19-D929A6E2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477E7-A9C1-49BB-9294-1D8E1ED0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12EC3-B504-47C7-A585-A3322E69A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7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C350-5EC5-4FD1-8CF4-382CBCB13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1494A-17B0-4290-9B37-34F2823ED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A14EB-E388-43FB-B71F-4E57BED2C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D7877-9CB0-4459-8F87-931DA6A0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A531F-F7C5-4D58-845E-5595772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A74CB-82DD-4DED-A77C-81D501C2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6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1A1A-BCB8-4DDB-96CF-06D0F8AF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64CE1-C881-4F85-BFD2-59DF308FE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BD5F9-E3A1-4E3C-9F3F-586FC54E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60779-FC1B-4D8F-BF1F-3ABF3F61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46FCA-3716-41F1-98BC-02439E38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1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1BB00-EEB4-4DC7-8B1A-05576EC74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1E7C7-CC43-461E-A91C-CA04E7258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CD459-8E2F-4BF9-853E-D787F2E3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EF6E6-8AF0-4C9D-899C-13B6F180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893D3-4AA2-4DEA-BF58-C5D83D29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66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16784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A7746-95E4-4BE3-8172-FF255241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CF3F7-21DC-458E-BCC3-05CBB2E12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CBB6E-A017-451F-8D6A-11DD69524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7A8F1-1E78-4C98-B279-1C1C9EDADF1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AD569-414C-47B7-96CB-23E9CAF0D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3F876-7AB1-4F26-AB82-158E7DC28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F9323-F627-49BE-80E6-67F1F12E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0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17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55B1AA-429A-47A6-8907-27999002F792}"/>
              </a:ext>
            </a:extLst>
          </p:cNvPr>
          <p:cNvSpPr/>
          <p:nvPr/>
        </p:nvSpPr>
        <p:spPr>
          <a:xfrm>
            <a:off x="60384" y="45442"/>
            <a:ext cx="63317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Looking through a hot (emissive) window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F0C3C9-CA32-4B0F-9519-EB9B79CEBBBD}"/>
              </a:ext>
            </a:extLst>
          </p:cNvPr>
          <p:cNvSpPr/>
          <p:nvPr/>
        </p:nvSpPr>
        <p:spPr>
          <a:xfrm>
            <a:off x="477329" y="709756"/>
            <a:ext cx="53656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Why look through a hot window?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insulated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Spacecraft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Why is it hard to look through a hot window?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Kirchoff</a:t>
            </a:r>
            <a:r>
              <a:rPr lang="en-US" dirty="0"/>
              <a:t> law (absorption=emission)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Absorption increases with temperature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CD38E67-115F-4440-A6ED-496624E8E62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82"/>
          <a:stretch/>
        </p:blipFill>
        <p:spPr bwMode="auto">
          <a:xfrm>
            <a:off x="4859698" y="3257550"/>
            <a:ext cx="2650592" cy="322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6C113C2-8E28-4D49-9739-CEE1E111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013" y="3476081"/>
            <a:ext cx="4096730" cy="3112377"/>
          </a:xfrm>
          <a:prstGeom prst="rect">
            <a:avLst/>
          </a:prstGeom>
        </p:spPr>
      </p:pic>
      <p:pic>
        <p:nvPicPr>
          <p:cNvPr id="22" name="Picture 5" descr="Picture 5">
            <a:extLst>
              <a:ext uri="{FF2B5EF4-FFF2-40B4-BE49-F238E27FC236}">
                <a16:creationId xmlns:a16="http://schemas.microsoft.com/office/drawing/2014/main" id="{FD5EF63E-871E-41B5-88C1-7DE6FA091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rcRect t="31109"/>
          <a:stretch>
            <a:fillRect/>
          </a:stretch>
        </p:blipFill>
        <p:spPr>
          <a:xfrm>
            <a:off x="8119201" y="10929"/>
            <a:ext cx="3923542" cy="32466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Picture 7" descr="Picture 7">
            <a:extLst>
              <a:ext uri="{FF2B5EF4-FFF2-40B4-BE49-F238E27FC236}">
                <a16:creationId xmlns:a16="http://schemas.microsoft.com/office/drawing/2014/main" id="{E2D48EE3-869C-4D67-A453-EF78CD22F1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06663" y="1085131"/>
            <a:ext cx="3090413" cy="126576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C67EF7EC-B7CC-4E74-B3BE-B58C4E750DC1}"/>
              </a:ext>
            </a:extLst>
          </p:cNvPr>
          <p:cNvGrpSpPr>
            <a:grpSpLocks noChangeAspect="1"/>
          </p:cNvGrpSpPr>
          <p:nvPr/>
        </p:nvGrpSpPr>
        <p:grpSpPr>
          <a:xfrm>
            <a:off x="293619" y="2983475"/>
            <a:ext cx="4342849" cy="1610403"/>
            <a:chOff x="6697425" y="45442"/>
            <a:chExt cx="5494575" cy="221004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516D8F3-FFAB-4F8F-BBFB-89F91531F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97425" y="45442"/>
              <a:ext cx="5494575" cy="221004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9446F08-DAAA-420F-AB7F-737D61B074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3683" t="72074" r="18245" b="7885"/>
            <a:stretch/>
          </p:blipFill>
          <p:spPr>
            <a:xfrm flipH="1">
              <a:off x="10215758" y="1628645"/>
              <a:ext cx="992981" cy="442913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DA772450-36D4-4B5D-8BEF-88A045E73F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27" y="4731857"/>
            <a:ext cx="4044831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55B1AA-429A-47A6-8907-27999002F792}"/>
              </a:ext>
            </a:extLst>
          </p:cNvPr>
          <p:cNvSpPr/>
          <p:nvPr/>
        </p:nvSpPr>
        <p:spPr>
          <a:xfrm>
            <a:off x="60384" y="45442"/>
            <a:ext cx="6133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Spatial </a:t>
            </a:r>
            <a:r>
              <a:rPr lang="en-US" sz="2800" b="1" dirty="0" err="1"/>
              <a:t>Kramers-Kronig</a:t>
            </a:r>
            <a:r>
              <a:rPr lang="en-US" sz="2800" b="1" dirty="0"/>
              <a:t> </a:t>
            </a:r>
            <a:r>
              <a:rPr lang="en-US" sz="2800" b="1" dirty="0" err="1"/>
              <a:t>Metawindow</a:t>
            </a:r>
            <a:endParaRPr lang="en-US" sz="2800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F0C3C9-CA32-4B0F-9519-EB9B79CEBBBD}"/>
              </a:ext>
            </a:extLst>
          </p:cNvPr>
          <p:cNvSpPr/>
          <p:nvPr/>
        </p:nvSpPr>
        <p:spPr>
          <a:xfrm>
            <a:off x="564115" y="851720"/>
            <a:ext cx="90232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spatial </a:t>
            </a:r>
            <a:r>
              <a:rPr lang="en-US" dirty="0" err="1"/>
              <a:t>Kramers-Kronig</a:t>
            </a:r>
            <a:r>
              <a:rPr lang="en-US" dirty="0"/>
              <a:t> (KK) </a:t>
            </a:r>
            <a:r>
              <a:rPr lang="en-US" dirty="0" err="1"/>
              <a:t>metawindow</a:t>
            </a:r>
            <a:r>
              <a:rPr lang="en-US" dirty="0"/>
              <a:t> (MW) is capable of redirecting its own emission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Broadband zero reflectivity for any incident angle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6E0B323-C655-4B01-9065-B9252A8E63B9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6"/>
          <a:stretch/>
        </p:blipFill>
        <p:spPr bwMode="auto">
          <a:xfrm>
            <a:off x="5166621" y="3221189"/>
            <a:ext cx="3142779" cy="300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7847157-6699-40D3-B52A-68785E32C9C8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83"/>
          <a:stretch/>
        </p:blipFill>
        <p:spPr bwMode="auto">
          <a:xfrm>
            <a:off x="8384820" y="3221189"/>
            <a:ext cx="3222594" cy="300629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25D63FE-8ADD-42A8-A384-2DE2D9F080D6}"/>
              </a:ext>
            </a:extLst>
          </p:cNvPr>
          <p:cNvSpPr/>
          <p:nvPr/>
        </p:nvSpPr>
        <p:spPr>
          <a:xfrm>
            <a:off x="5087978" y="1799696"/>
            <a:ext cx="6633713" cy="4460410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239E70-8426-43D5-8A53-EC63B14D91B8}"/>
              </a:ext>
            </a:extLst>
          </p:cNvPr>
          <p:cNvSpPr/>
          <p:nvPr/>
        </p:nvSpPr>
        <p:spPr>
          <a:xfrm>
            <a:off x="5224018" y="1767306"/>
            <a:ext cx="6361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Intuition: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KK in frequency enforces temporal causality (waves </a:t>
            </a:r>
            <a:r>
              <a:rPr lang="en-US" i="1" u="sng" dirty="0"/>
              <a:t>only</a:t>
            </a:r>
            <a:r>
              <a:rPr lang="en-US" dirty="0"/>
              <a:t> move forward in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KK in space enforces momentum causality (waves </a:t>
            </a:r>
            <a:r>
              <a:rPr lang="en-US" i="1" u="sng" dirty="0"/>
              <a:t>only</a:t>
            </a:r>
            <a:r>
              <a:rPr lang="en-US" dirty="0"/>
              <a:t> move forward in space) 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FD45715-3362-4EA8-A981-467F7BBDD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657" y="1767306"/>
            <a:ext cx="1867511" cy="222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3262C2-078A-4B59-A8A5-C0B945CCA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962" y="4327413"/>
            <a:ext cx="2264463" cy="190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9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0F9577C-CA54-4590-844E-2D559CF47FB5}"/>
              </a:ext>
            </a:extLst>
          </p:cNvPr>
          <p:cNvSpPr/>
          <p:nvPr/>
        </p:nvSpPr>
        <p:spPr>
          <a:xfrm>
            <a:off x="186219" y="133899"/>
            <a:ext cx="114111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Calculation of Transmittance, Reflectance, Absorbance Using TMM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5F6CE4-D28E-42F7-8FC0-899B60D61D2F}"/>
              </a:ext>
            </a:extLst>
          </p:cNvPr>
          <p:cNvGrpSpPr>
            <a:grpSpLocks noChangeAspect="1"/>
          </p:cNvGrpSpPr>
          <p:nvPr/>
        </p:nvGrpSpPr>
        <p:grpSpPr>
          <a:xfrm>
            <a:off x="3840480" y="3077505"/>
            <a:ext cx="4370146" cy="3646596"/>
            <a:chOff x="3325362" y="1117087"/>
            <a:chExt cx="5541275" cy="46238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983B0E-E3D3-4D6D-A15A-4ADD983A9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362" y="1117087"/>
              <a:ext cx="5541275" cy="46238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DB3726-442E-45B8-8B47-4C6897DBA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3874" y="2200872"/>
              <a:ext cx="1097282" cy="1563627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9C45C0-A092-4447-941E-2BEBD5BD5417}"/>
              </a:ext>
            </a:extLst>
          </p:cNvPr>
          <p:cNvGrpSpPr>
            <a:grpSpLocks noChangeAspect="1"/>
          </p:cNvGrpSpPr>
          <p:nvPr/>
        </p:nvGrpSpPr>
        <p:grpSpPr>
          <a:xfrm>
            <a:off x="8351521" y="807647"/>
            <a:ext cx="3654261" cy="2980383"/>
            <a:chOff x="186219" y="966479"/>
            <a:chExt cx="5669292" cy="46238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29BE269-6819-4703-802F-29957E15A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219" y="966479"/>
              <a:ext cx="5669292" cy="46238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751D0DA-0162-4DA3-9D81-F1381F9F9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7432" y="1275084"/>
              <a:ext cx="1264923" cy="91440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8F91AB-8310-4D04-AFAF-85C652030477}"/>
              </a:ext>
            </a:extLst>
          </p:cNvPr>
          <p:cNvGrpSpPr>
            <a:grpSpLocks noChangeAspect="1"/>
          </p:cNvGrpSpPr>
          <p:nvPr/>
        </p:nvGrpSpPr>
        <p:grpSpPr>
          <a:xfrm>
            <a:off x="186219" y="807647"/>
            <a:ext cx="3654262" cy="2980384"/>
            <a:chOff x="6095999" y="966480"/>
            <a:chExt cx="5669292" cy="46238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FC3646-CDAD-4AEE-857D-2A772B312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5999" y="966480"/>
              <a:ext cx="5669292" cy="46238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EE720EF-9023-4B92-BD16-BDEB23A1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9902" y="1288532"/>
              <a:ext cx="1264923" cy="91440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C4FF4F-BF3B-46F3-84FF-DBE243A61A7E}"/>
                  </a:ext>
                </a:extLst>
              </p:cNvPr>
              <p:cNvSpPr/>
              <p:nvPr/>
            </p:nvSpPr>
            <p:spPr>
              <a:xfrm>
                <a:off x="4683595" y="1242790"/>
                <a:ext cx="2416431" cy="1275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sz="2000" dirty="0" err="1"/>
                  <a:t>n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2.7</a:t>
                </a:r>
              </a:p>
              <a:p>
                <a:pPr algn="ctr"/>
                <a:r>
                  <a:rPr lang="en-US" sz="2000" dirty="0" err="1"/>
                  <a:t>ε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n</a:t>
                </a:r>
                <a:r>
                  <a:rPr lang="en-US" sz="2000" baseline="-25000" dirty="0"/>
                  <a:t>b</a:t>
                </a:r>
                <a:r>
                  <a:rPr lang="en-US" sz="2000" baseline="30000" dirty="0"/>
                  <a:t>2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C4FF4F-BF3B-46F3-84FF-DBE243A61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95" y="1242790"/>
                <a:ext cx="2416431" cy="1275349"/>
              </a:xfrm>
              <a:prstGeom prst="rect">
                <a:avLst/>
              </a:prstGeom>
              <a:blipFill>
                <a:blip r:embed="rId7"/>
                <a:stretch>
                  <a:fillRect b="-7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5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ED79D9-BC7D-4261-B45E-9BE2698D05A0}"/>
              </a:ext>
            </a:extLst>
          </p:cNvPr>
          <p:cNvSpPr/>
          <p:nvPr/>
        </p:nvSpPr>
        <p:spPr>
          <a:xfrm>
            <a:off x="8271106" y="597741"/>
            <a:ext cx="2952750" cy="15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3B6D3-836A-41AE-BB33-F834F4B3DFAD}"/>
              </a:ext>
            </a:extLst>
          </p:cNvPr>
          <p:cNvSpPr/>
          <p:nvPr/>
        </p:nvSpPr>
        <p:spPr>
          <a:xfrm>
            <a:off x="8271106" y="3711712"/>
            <a:ext cx="2952750" cy="1524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A4399-4BE3-46C0-91BD-123FADCCD411}"/>
              </a:ext>
            </a:extLst>
          </p:cNvPr>
          <p:cNvSpPr/>
          <p:nvPr/>
        </p:nvSpPr>
        <p:spPr>
          <a:xfrm>
            <a:off x="6718898" y="1026451"/>
            <a:ext cx="1552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Spatial KK 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979970-F3FA-4D6B-8003-0247DFD377A7}"/>
              </a:ext>
            </a:extLst>
          </p:cNvPr>
          <p:cNvSpPr/>
          <p:nvPr/>
        </p:nvSpPr>
        <p:spPr>
          <a:xfrm>
            <a:off x="6718898" y="4198276"/>
            <a:ext cx="1552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Bulk 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197FDC-F6D5-4FC2-9D2E-EB8E11E2B6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882" t="2210" r="7573" b="2695"/>
          <a:stretch/>
        </p:blipFill>
        <p:spPr>
          <a:xfrm>
            <a:off x="8271106" y="597741"/>
            <a:ext cx="2952750" cy="15239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D205771-4621-4339-84EA-EB72D567DA32}"/>
                  </a:ext>
                </a:extLst>
              </p:cNvPr>
              <p:cNvSpPr/>
              <p:nvPr/>
            </p:nvSpPr>
            <p:spPr>
              <a:xfrm>
                <a:off x="8579860" y="657119"/>
                <a:ext cx="9401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51A4D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51A4D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51A4DB"/>
                              </a:solidFill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51A4D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51A4DB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51A4D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51A4DB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D205771-4621-4339-84EA-EB72D567D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860" y="657119"/>
                <a:ext cx="940194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DA5A73-E7E4-421B-9349-BB87BFAE28F5}"/>
                  </a:ext>
                </a:extLst>
              </p:cNvPr>
              <p:cNvSpPr/>
              <p:nvPr/>
            </p:nvSpPr>
            <p:spPr>
              <a:xfrm>
                <a:off x="8271106" y="1752408"/>
                <a:ext cx="9321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E89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89A78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89A78"/>
                              </a:solidFill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E89A7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E89A78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E89A7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E89A78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DA5A73-E7E4-421B-9349-BB87BFAE2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106" y="1752408"/>
                <a:ext cx="93217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C6D8F7-15A0-457F-96AF-17A727DE61C6}"/>
                  </a:ext>
                </a:extLst>
              </p:cNvPr>
              <p:cNvSpPr/>
              <p:nvPr/>
            </p:nvSpPr>
            <p:spPr>
              <a:xfrm>
                <a:off x="8338698" y="4382942"/>
                <a:ext cx="2817566" cy="7605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C6D8F7-15A0-457F-96AF-17A727DE61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698" y="4382942"/>
                <a:ext cx="2817566" cy="7605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A0ED6C-D059-49AB-9654-F3805607EACF}"/>
              </a:ext>
            </a:extLst>
          </p:cNvPr>
          <p:cNvCxnSpPr>
            <a:cxnSpLocks/>
          </p:cNvCxnSpPr>
          <p:nvPr/>
        </p:nvCxnSpPr>
        <p:spPr>
          <a:xfrm>
            <a:off x="8271106" y="1397841"/>
            <a:ext cx="295275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282F9D-3EAB-4120-9663-24CBB4262791}"/>
                  </a:ext>
                </a:extLst>
              </p:cNvPr>
              <p:cNvSpPr/>
              <p:nvPr/>
            </p:nvSpPr>
            <p:spPr>
              <a:xfrm>
                <a:off x="11223856" y="1161993"/>
                <a:ext cx="665503" cy="3954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282F9D-3EAB-4120-9663-24CBB42627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856" y="1161993"/>
                <a:ext cx="665503" cy="395493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6F7E6B-4517-46ED-8FD8-C0D08123C250}"/>
              </a:ext>
            </a:extLst>
          </p:cNvPr>
          <p:cNvCxnSpPr>
            <a:cxnSpLocks/>
          </p:cNvCxnSpPr>
          <p:nvPr/>
        </p:nvCxnSpPr>
        <p:spPr>
          <a:xfrm flipH="1">
            <a:off x="8271106" y="2261201"/>
            <a:ext cx="29527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276F2CB-D60E-49A1-B6C6-C3F901F3F3D5}"/>
                  </a:ext>
                </a:extLst>
              </p:cNvPr>
              <p:cNvSpPr/>
              <p:nvPr/>
            </p:nvSpPr>
            <p:spPr>
              <a:xfrm>
                <a:off x="9414729" y="2357588"/>
                <a:ext cx="580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276F2CB-D60E-49A1-B6C6-C3F901F3F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4729" y="2357588"/>
                <a:ext cx="58035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5061FD-0362-49D2-9939-AB697566849B}"/>
              </a:ext>
            </a:extLst>
          </p:cNvPr>
          <p:cNvCxnSpPr>
            <a:cxnSpLocks/>
          </p:cNvCxnSpPr>
          <p:nvPr/>
        </p:nvCxnSpPr>
        <p:spPr>
          <a:xfrm flipH="1">
            <a:off x="8271106" y="3581042"/>
            <a:ext cx="29527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C79EB12-ED31-455C-97FE-02AFEF3A6DDB}"/>
                  </a:ext>
                </a:extLst>
              </p:cNvPr>
              <p:cNvSpPr/>
              <p:nvPr/>
            </p:nvSpPr>
            <p:spPr>
              <a:xfrm>
                <a:off x="9414729" y="3145680"/>
                <a:ext cx="580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C79EB12-ED31-455C-97FE-02AFEF3A6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4729" y="3145680"/>
                <a:ext cx="58035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6F5C92-56D7-4262-BD0D-FE95283C48CF}"/>
                  </a:ext>
                </a:extLst>
              </p:cNvPr>
              <p:cNvSpPr txBox="1"/>
              <p:nvPr/>
            </p:nvSpPr>
            <p:spPr>
              <a:xfrm>
                <a:off x="8446910" y="6151613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6F5C92-56D7-4262-BD0D-FE95283C4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10" y="6151613"/>
                <a:ext cx="2367507" cy="276999"/>
              </a:xfrm>
              <a:prstGeom prst="rect">
                <a:avLst/>
              </a:prstGeom>
              <a:blipFill>
                <a:blip r:embed="rId9"/>
                <a:stretch>
                  <a:fillRect l="-1031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911CEB-E56D-4DD7-9F21-B8E1EB01E82F}"/>
                  </a:ext>
                </a:extLst>
              </p:cNvPr>
              <p:cNvSpPr txBox="1"/>
              <p:nvPr/>
            </p:nvSpPr>
            <p:spPr>
              <a:xfrm>
                <a:off x="8518725" y="5522114"/>
                <a:ext cx="2295692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avg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911CEB-E56D-4DD7-9F21-B8E1EB01E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725" y="5522114"/>
                <a:ext cx="2295692" cy="4060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5C27E8D-342E-4947-A018-E5C72B784FB0}"/>
              </a:ext>
            </a:extLst>
          </p:cNvPr>
          <p:cNvSpPr/>
          <p:nvPr/>
        </p:nvSpPr>
        <p:spPr>
          <a:xfrm>
            <a:off x="6779282" y="3145680"/>
            <a:ext cx="5036076" cy="3436470"/>
          </a:xfrm>
          <a:prstGeom prst="rect">
            <a:avLst/>
          </a:prstGeom>
          <a:noFill/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5EBE15-DBA7-49E3-A018-0B08BC828176}"/>
              </a:ext>
            </a:extLst>
          </p:cNvPr>
          <p:cNvSpPr/>
          <p:nvPr/>
        </p:nvSpPr>
        <p:spPr>
          <a:xfrm>
            <a:off x="6779282" y="504233"/>
            <a:ext cx="5036076" cy="222268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3BAE81-A698-490A-9A10-24E43DEBEB7C}"/>
              </a:ext>
            </a:extLst>
          </p:cNvPr>
          <p:cNvSpPr/>
          <p:nvPr/>
        </p:nvSpPr>
        <p:spPr>
          <a:xfrm>
            <a:off x="186219" y="133899"/>
            <a:ext cx="6133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Figure of Merit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EB668B-300C-492C-877E-A04C7D0C52CD}"/>
                  </a:ext>
                </a:extLst>
              </p:cNvPr>
              <p:cNvSpPr txBox="1"/>
              <p:nvPr/>
            </p:nvSpPr>
            <p:spPr>
              <a:xfrm>
                <a:off x="1563653" y="2072446"/>
                <a:ext cx="3601434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Old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EB668B-300C-492C-877E-A04C7D0C5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653" y="2072446"/>
                <a:ext cx="3601434" cy="9396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157E4B4-8B41-4312-9741-AA5A3FACCB21}"/>
              </a:ext>
            </a:extLst>
          </p:cNvPr>
          <p:cNvSpPr txBox="1"/>
          <p:nvPr/>
        </p:nvSpPr>
        <p:spPr>
          <a:xfrm>
            <a:off x="302641" y="899900"/>
            <a:ext cx="6172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used the following figure-of-merit to compare our KK meta-window with an equivalently lossy bulk window: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27EB7F-7890-4A54-98F8-7E6A44D6D687}"/>
              </a:ext>
            </a:extLst>
          </p:cNvPr>
          <p:cNvSpPr txBox="1"/>
          <p:nvPr/>
        </p:nvSpPr>
        <p:spPr>
          <a:xfrm>
            <a:off x="302641" y="3388546"/>
            <a:ext cx="62157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 factor of integrated transmission to avoid good SNR but diminishing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when looking at FOM enhancement                (FOM</a:t>
            </a:r>
            <a:r>
              <a:rPr lang="en-US" baseline="-25000" dirty="0"/>
              <a:t>KK</a:t>
            </a:r>
            <a:r>
              <a:rPr lang="en-US" dirty="0"/>
              <a:t> / </a:t>
            </a:r>
            <a:r>
              <a:rPr lang="en-US" dirty="0" err="1"/>
              <a:t>FOM</a:t>
            </a:r>
            <a:r>
              <a:rPr lang="en-US" baseline="-25000" dirty="0" err="1"/>
              <a:t>bulk</a:t>
            </a:r>
            <a:r>
              <a:rPr lang="en-US" dirty="0"/>
              <a:t>), transmittance dropped out. Use new FOM: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3A3BE79-22A1-4DB7-A3CB-97813470BCAC}"/>
                  </a:ext>
                </a:extLst>
              </p:cNvPr>
              <p:cNvSpPr/>
              <p:nvPr/>
            </p:nvSpPr>
            <p:spPr>
              <a:xfrm>
                <a:off x="1409434" y="4980845"/>
                <a:ext cx="4519196" cy="9772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𝒯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m:rPr>
                                  <m:nor/>
                                </m:rPr>
                                <a:rPr lang="en-US" b="0" i="0" baseline="-25000" smtClean="0">
                                  <a:latin typeface="Cambria Math" panose="02040503050406030204" pitchFamily="18" charset="0"/>
                                </a:rPr>
                                <m:t>LR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𝑅𝐿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3A3BE79-22A1-4DB7-A3CB-97813470B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434" y="4980845"/>
                <a:ext cx="4519196" cy="97725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CB7B23D-852F-4542-9522-86F31BBB96BC}"/>
              </a:ext>
            </a:extLst>
          </p:cNvPr>
          <p:cNvSpPr txBox="1"/>
          <p:nvPr/>
        </p:nvSpPr>
        <p:spPr>
          <a:xfrm>
            <a:off x="1176085" y="5284806"/>
            <a:ext cx="85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FOM = 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CFED1998-39CF-449C-A5BE-723B3B1268C2}"/>
              </a:ext>
            </a:extLst>
          </p:cNvPr>
          <p:cNvSpPr/>
          <p:nvPr/>
        </p:nvSpPr>
        <p:spPr>
          <a:xfrm rot="16200000">
            <a:off x="2388245" y="5417069"/>
            <a:ext cx="179629" cy="12616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8E49CF21-953F-4140-A4C7-5F835B136955}"/>
              </a:ext>
            </a:extLst>
          </p:cNvPr>
          <p:cNvSpPr/>
          <p:nvPr/>
        </p:nvSpPr>
        <p:spPr>
          <a:xfrm rot="16200000">
            <a:off x="3868703" y="5417068"/>
            <a:ext cx="179629" cy="12616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6DC637-3ACB-43AE-90EB-D3BB35F237E7}"/>
              </a:ext>
            </a:extLst>
          </p:cNvPr>
          <p:cNvSpPr txBox="1"/>
          <p:nvPr/>
        </p:nvSpPr>
        <p:spPr>
          <a:xfrm>
            <a:off x="2324563" y="6242527"/>
            <a:ext cx="5027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T</a:t>
            </a:r>
            <a:r>
              <a:rPr lang="en-US" sz="1600" baseline="-25000" dirty="0" err="1"/>
              <a:t>avg</a:t>
            </a:r>
            <a:r>
              <a:rPr lang="en-US" sz="1600" dirty="0"/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88D259-0D20-4021-81AF-D69B834D6B44}"/>
              </a:ext>
            </a:extLst>
          </p:cNvPr>
          <p:cNvSpPr txBox="1"/>
          <p:nvPr/>
        </p:nvSpPr>
        <p:spPr>
          <a:xfrm>
            <a:off x="3108904" y="6272410"/>
            <a:ext cx="1897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emission asymmetry</a:t>
            </a:r>
          </a:p>
        </p:txBody>
      </p:sp>
    </p:spTree>
    <p:extLst>
      <p:ext uri="{BB962C8B-B14F-4D97-AF65-F5344CB8AC3E}">
        <p14:creationId xmlns:p14="http://schemas.microsoft.com/office/powerpoint/2010/main" val="114446829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3487F18-D627-454F-8D82-9DAFAA75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353" y="75050"/>
            <a:ext cx="4154503" cy="3353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76DA30-7DCB-4352-BFE3-D610C092B690}"/>
                  </a:ext>
                </a:extLst>
              </p:cNvPr>
              <p:cNvSpPr txBox="1"/>
              <p:nvPr/>
            </p:nvSpPr>
            <p:spPr>
              <a:xfrm>
                <a:off x="7528696" y="215617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76DA30-7DCB-4352-BFE3-D610C092B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696" y="215617"/>
                <a:ext cx="3323859" cy="9396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C3CD106-9245-4616-8411-F386FFA81BD0}"/>
                  </a:ext>
                </a:extLst>
              </p:cNvPr>
              <p:cNvSpPr/>
              <p:nvPr/>
            </p:nvSpPr>
            <p:spPr>
              <a:xfrm>
                <a:off x="7982409" y="1274879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C3CD106-9245-4616-8411-F386FFA81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09" y="1274879"/>
                <a:ext cx="2416431" cy="6836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E4DE70-BEC5-4DDF-BE01-AC2861330845}"/>
                  </a:ext>
                </a:extLst>
              </p:cNvPr>
              <p:cNvSpPr txBox="1"/>
              <p:nvPr/>
            </p:nvSpPr>
            <p:spPr>
              <a:xfrm>
                <a:off x="7982409" y="2747379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E4DE70-BEC5-4DDF-BE01-AC2861330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09" y="2747379"/>
                <a:ext cx="2367507" cy="276999"/>
              </a:xfrm>
              <a:prstGeom prst="rect">
                <a:avLst/>
              </a:prstGeom>
              <a:blipFill>
                <a:blip r:embed="rId5"/>
                <a:stretch>
                  <a:fillRect l="-102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5689F7B-0FD2-4F00-B811-F6547305F324}"/>
                  </a:ext>
                </a:extLst>
              </p:cNvPr>
              <p:cNvSpPr txBox="1"/>
              <p:nvPr/>
            </p:nvSpPr>
            <p:spPr>
              <a:xfrm>
                <a:off x="7982409" y="2221660"/>
                <a:ext cx="2558714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nary>
                            <m:naryPr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5689F7B-0FD2-4F00-B811-F6547305F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09" y="2221660"/>
                <a:ext cx="2558714" cy="40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ADE3BB8-6925-412C-B3BC-FC9F272574CA}"/>
              </a:ext>
            </a:extLst>
          </p:cNvPr>
          <p:cNvSpPr/>
          <p:nvPr/>
        </p:nvSpPr>
        <p:spPr>
          <a:xfrm>
            <a:off x="8539993" y="4122719"/>
            <a:ext cx="35075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enhancement happens for large A &amp; small x</a:t>
            </a:r>
            <a:r>
              <a:rPr lang="en-US" baseline="-25000" dirty="0"/>
              <a:t>0, </a:t>
            </a:r>
            <a:r>
              <a:rPr lang="en-US" dirty="0"/>
              <a:t>but </a:t>
            </a:r>
            <a:r>
              <a:rPr lang="en-US" dirty="0" err="1"/>
              <a:t>FoM</a:t>
            </a:r>
            <a:r>
              <a:rPr lang="en-US" dirty="0"/>
              <a:t> is terrible there (too lossy)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Regions of good absolute </a:t>
            </a:r>
            <a:r>
              <a:rPr lang="en-US" dirty="0" err="1"/>
              <a:t>FoMs</a:t>
            </a:r>
            <a:r>
              <a:rPr lang="en-US" dirty="0"/>
              <a:t> show low enhancement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5C9B53-91DC-43AE-94DF-BB3DA49905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7605" y="3566160"/>
            <a:ext cx="4081678" cy="3291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4F3E5B-B72F-4E7D-81BC-29D3D52152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515" y="3566160"/>
            <a:ext cx="3959380" cy="329184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5979CAB-537E-44CE-8F62-953ECB85C009}"/>
              </a:ext>
            </a:extLst>
          </p:cNvPr>
          <p:cNvSpPr/>
          <p:nvPr/>
        </p:nvSpPr>
        <p:spPr>
          <a:xfrm>
            <a:off x="2888411" y="2839674"/>
            <a:ext cx="45719" cy="46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6F9C61-FCF9-4130-B779-A121C415FF80}"/>
              </a:ext>
            </a:extLst>
          </p:cNvPr>
          <p:cNvCxnSpPr>
            <a:cxnSpLocks/>
          </p:cNvCxnSpPr>
          <p:nvPr/>
        </p:nvCxnSpPr>
        <p:spPr>
          <a:xfrm flipV="1">
            <a:off x="2397975" y="2886514"/>
            <a:ext cx="490436" cy="6066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3D0A25-336E-469C-B75A-2615882F11CC}"/>
              </a:ext>
            </a:extLst>
          </p:cNvPr>
          <p:cNvCxnSpPr>
            <a:cxnSpLocks/>
          </p:cNvCxnSpPr>
          <p:nvPr/>
        </p:nvCxnSpPr>
        <p:spPr>
          <a:xfrm flipH="1" flipV="1">
            <a:off x="3195587" y="313348"/>
            <a:ext cx="3437875" cy="325281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ECE8C41-A948-47FD-9973-78A874023E64}"/>
              </a:ext>
            </a:extLst>
          </p:cNvPr>
          <p:cNvSpPr/>
          <p:nvPr/>
        </p:nvSpPr>
        <p:spPr>
          <a:xfrm>
            <a:off x="3149868" y="266508"/>
            <a:ext cx="45719" cy="46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615B8A-EA00-4840-95BD-B847A9918D0A}"/>
              </a:ext>
            </a:extLst>
          </p:cNvPr>
          <p:cNvSpPr/>
          <p:nvPr/>
        </p:nvSpPr>
        <p:spPr>
          <a:xfrm>
            <a:off x="56277" y="75050"/>
            <a:ext cx="6133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Old FOM Calc.</a:t>
            </a:r>
          </a:p>
        </p:txBody>
      </p:sp>
    </p:spTree>
    <p:extLst>
      <p:ext uri="{BB962C8B-B14F-4D97-AF65-F5344CB8AC3E}">
        <p14:creationId xmlns:p14="http://schemas.microsoft.com/office/powerpoint/2010/main" val="1904616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E239507-001F-4BC6-B86E-19F0E4DC8BA3}"/>
              </a:ext>
            </a:extLst>
          </p:cNvPr>
          <p:cNvGrpSpPr>
            <a:grpSpLocks noChangeAspect="1"/>
          </p:cNvGrpSpPr>
          <p:nvPr/>
        </p:nvGrpSpPr>
        <p:grpSpPr>
          <a:xfrm>
            <a:off x="3105385" y="78409"/>
            <a:ext cx="3885447" cy="3350591"/>
            <a:chOff x="2119626" y="0"/>
            <a:chExt cx="7952747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690597-8169-4787-85B2-C5190AA48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9626" y="0"/>
              <a:ext cx="7952747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8B77DA-FF8F-4CA7-8622-394F529E5C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96" t="6191" r="5137" b="7258"/>
            <a:stretch/>
          </p:blipFill>
          <p:spPr>
            <a:xfrm>
              <a:off x="3205907" y="577936"/>
              <a:ext cx="1740665" cy="1234451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F0957A-91DE-45BB-A4EE-553EAFB81799}"/>
              </a:ext>
            </a:extLst>
          </p:cNvPr>
          <p:cNvGrpSpPr>
            <a:grpSpLocks noChangeAspect="1"/>
          </p:cNvGrpSpPr>
          <p:nvPr/>
        </p:nvGrpSpPr>
        <p:grpSpPr>
          <a:xfrm>
            <a:off x="7214532" y="78409"/>
            <a:ext cx="3893932" cy="3350592"/>
            <a:chOff x="2110946" y="0"/>
            <a:chExt cx="7970108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47703A-C9D5-42E9-955A-B00E26094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0946" y="0"/>
              <a:ext cx="7970108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6F977D-1BDC-411D-BBDD-46DD7F9EAF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846" t="7978" r="5754" b="10001"/>
            <a:stretch/>
          </p:blipFill>
          <p:spPr>
            <a:xfrm>
              <a:off x="3187546" y="586717"/>
              <a:ext cx="1770043" cy="1173101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117325E-2673-433E-AA93-8394307F6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792" y="3454317"/>
            <a:ext cx="4015411" cy="33505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F420BE-AD13-433F-9FCA-58AB56D68AA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554" t="3199" r="7055" b="3638"/>
          <a:stretch/>
        </p:blipFill>
        <p:spPr>
          <a:xfrm>
            <a:off x="11117633" y="4142546"/>
            <a:ext cx="863268" cy="174187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2B26E51-97FE-407E-A4BB-1705CBF8AEDF}"/>
              </a:ext>
            </a:extLst>
          </p:cNvPr>
          <p:cNvGrpSpPr>
            <a:grpSpLocks noChangeAspect="1"/>
          </p:cNvGrpSpPr>
          <p:nvPr/>
        </p:nvGrpSpPr>
        <p:grpSpPr>
          <a:xfrm>
            <a:off x="3068896" y="3401229"/>
            <a:ext cx="3885447" cy="3456771"/>
            <a:chOff x="2241768" y="0"/>
            <a:chExt cx="7708464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A151B77-A922-4D72-9F86-C0B3EA2DB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41768" y="0"/>
              <a:ext cx="7708464" cy="6858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789297-B704-4409-8BE9-318CFA96E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6199" t="19831" r="6733" b="21952"/>
            <a:stretch/>
          </p:blipFill>
          <p:spPr>
            <a:xfrm>
              <a:off x="8167618" y="644063"/>
              <a:ext cx="1483606" cy="826659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EB7F81-F756-4923-BE77-88921F05213F}"/>
              </a:ext>
            </a:extLst>
          </p:cNvPr>
          <p:cNvCxnSpPr/>
          <p:nvPr/>
        </p:nvCxnSpPr>
        <p:spPr>
          <a:xfrm flipV="1">
            <a:off x="5155897" y="360769"/>
            <a:ext cx="0" cy="253666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964AB9-D483-49A0-908D-24BEDC41D2D8}"/>
              </a:ext>
            </a:extLst>
          </p:cNvPr>
          <p:cNvCxnSpPr/>
          <p:nvPr/>
        </p:nvCxnSpPr>
        <p:spPr>
          <a:xfrm flipV="1">
            <a:off x="9263351" y="360769"/>
            <a:ext cx="0" cy="253666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1866B5-DDFE-474C-BC5D-81332FE7637F}"/>
              </a:ext>
            </a:extLst>
          </p:cNvPr>
          <p:cNvSpPr txBox="1"/>
          <p:nvPr/>
        </p:nvSpPr>
        <p:spPr>
          <a:xfrm>
            <a:off x="471348" y="4285561"/>
            <a:ext cx="235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constant RI over wavelength = 3.5um: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BEC47-A6A5-413F-BF4C-BA7D08E8988D}"/>
              </a:ext>
            </a:extLst>
          </p:cNvPr>
          <p:cNvSpPr txBox="1"/>
          <p:nvPr/>
        </p:nvSpPr>
        <p:spPr>
          <a:xfrm>
            <a:off x="10755" y="3197253"/>
            <a:ext cx="362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d_list (um) = [0.2, 0.1, 0.02, 0.1, 0.2] 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09B0A-DE6E-43F3-A8E8-EA8482E5EE91}"/>
              </a:ext>
            </a:extLst>
          </p:cNvPr>
          <p:cNvSpPr txBox="1"/>
          <p:nvPr/>
        </p:nvSpPr>
        <p:spPr>
          <a:xfrm>
            <a:off x="4361256" y="3706344"/>
            <a:ext cx="794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graphite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FEABA7-4FCA-4ECF-96FF-84D54B6DCE6B}"/>
              </a:ext>
            </a:extLst>
          </p:cNvPr>
          <p:cNvSpPr txBox="1"/>
          <p:nvPr/>
        </p:nvSpPr>
        <p:spPr>
          <a:xfrm>
            <a:off x="4539430" y="4210137"/>
            <a:ext cx="643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silicon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B47E39-226B-40D7-8278-6B17CC99DE3B}"/>
              </a:ext>
            </a:extLst>
          </p:cNvPr>
          <p:cNvSpPr txBox="1"/>
          <p:nvPr/>
        </p:nvSpPr>
        <p:spPr>
          <a:xfrm>
            <a:off x="5212580" y="5525520"/>
            <a:ext cx="540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silica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C35D2C-29B9-4733-9144-63C50309AF78}"/>
              </a:ext>
            </a:extLst>
          </p:cNvPr>
          <p:cNvSpPr txBox="1"/>
          <p:nvPr/>
        </p:nvSpPr>
        <p:spPr>
          <a:xfrm>
            <a:off x="3942205" y="4859049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236D8F-8FBB-41E8-B59A-1206EDFEFF07}"/>
              </a:ext>
            </a:extLst>
          </p:cNvPr>
          <p:cNvSpPr txBox="1"/>
          <p:nvPr/>
        </p:nvSpPr>
        <p:spPr>
          <a:xfrm>
            <a:off x="6022264" y="4859594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ZnS</a:t>
            </a:r>
          </a:p>
        </p:txBody>
      </p:sp>
    </p:spTree>
    <p:extLst>
      <p:ext uri="{BB962C8B-B14F-4D97-AF65-F5344CB8AC3E}">
        <p14:creationId xmlns:p14="http://schemas.microsoft.com/office/powerpoint/2010/main" val="315164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D28216-6024-4173-B6FE-8840607731A7}"/>
              </a:ext>
            </a:extLst>
          </p:cNvPr>
          <p:cNvSpPr txBox="1"/>
          <p:nvPr/>
        </p:nvSpPr>
        <p:spPr>
          <a:xfrm>
            <a:off x="329609" y="179581"/>
            <a:ext cx="6445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Coating on a Window for Asymmetric Absorption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1BD010-62CE-485E-BA2F-84B9427F5592}"/>
              </a:ext>
            </a:extLst>
          </p:cNvPr>
          <p:cNvSpPr/>
          <p:nvPr/>
        </p:nvSpPr>
        <p:spPr>
          <a:xfrm>
            <a:off x="2205167" y="1382522"/>
            <a:ext cx="2593777" cy="34424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BE304F-0467-4D3B-AD37-E455FDB71C25}"/>
              </a:ext>
            </a:extLst>
          </p:cNvPr>
          <p:cNvGrpSpPr/>
          <p:nvPr/>
        </p:nvGrpSpPr>
        <p:grpSpPr>
          <a:xfrm>
            <a:off x="3041052" y="2657719"/>
            <a:ext cx="3835543" cy="347832"/>
            <a:chOff x="1905243" y="2294124"/>
            <a:chExt cx="3835543" cy="3478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F180B2-75BF-4067-9396-7BE189D322CB}"/>
                </a:ext>
              </a:extLst>
            </p:cNvPr>
            <p:cNvSpPr/>
            <p:nvPr/>
          </p:nvSpPr>
          <p:spPr>
            <a:xfrm>
              <a:off x="1905243" y="2294124"/>
              <a:ext cx="914400" cy="34783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7904FF-05BF-4983-853A-CC6336743FB9}"/>
                </a:ext>
              </a:extLst>
            </p:cNvPr>
            <p:cNvSpPr/>
            <p:nvPr/>
          </p:nvSpPr>
          <p:spPr>
            <a:xfrm>
              <a:off x="2984969" y="2294124"/>
              <a:ext cx="914400" cy="34424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A09E34-E0EA-4C66-B077-738C204231D1}"/>
                </a:ext>
              </a:extLst>
            </p:cNvPr>
            <p:cNvSpPr/>
            <p:nvPr/>
          </p:nvSpPr>
          <p:spPr>
            <a:xfrm>
              <a:off x="2819643" y="2294124"/>
              <a:ext cx="152709" cy="34424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6660E2-E7FD-4821-96F1-81EFEB021475}"/>
                </a:ext>
              </a:extLst>
            </p:cNvPr>
            <p:cNvSpPr/>
            <p:nvPr/>
          </p:nvSpPr>
          <p:spPr>
            <a:xfrm>
              <a:off x="3911986" y="2294124"/>
              <a:ext cx="1828800" cy="3442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BB53A0-C18E-494F-88AC-54D8777A9444}"/>
              </a:ext>
            </a:extLst>
          </p:cNvPr>
          <p:cNvSpPr/>
          <p:nvPr/>
        </p:nvSpPr>
        <p:spPr>
          <a:xfrm>
            <a:off x="4806115" y="1382522"/>
            <a:ext cx="152709" cy="344242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D9285C-0DA4-4165-B10B-1FE37731DEA1}"/>
              </a:ext>
            </a:extLst>
          </p:cNvPr>
          <p:cNvSpPr/>
          <p:nvPr/>
        </p:nvSpPr>
        <p:spPr>
          <a:xfrm>
            <a:off x="4720857" y="1244009"/>
            <a:ext cx="340242" cy="584791"/>
          </a:xfrm>
          <a:prstGeom prst="ellipse">
            <a:avLst/>
          </a:prstGeom>
          <a:noFill/>
          <a:ln w="190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E69BFF-5D88-41B1-B860-299DF9145313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2945220" y="1828800"/>
            <a:ext cx="1945758" cy="50528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243AD6-9503-46BD-B065-DAB11F6345A7}"/>
              </a:ext>
            </a:extLst>
          </p:cNvPr>
          <p:cNvCxnSpPr>
            <a:cxnSpLocks/>
            <a:endCxn id="13" idx="4"/>
          </p:cNvCxnSpPr>
          <p:nvPr/>
        </p:nvCxnSpPr>
        <p:spPr>
          <a:xfrm flipH="1" flipV="1">
            <a:off x="4890978" y="1828800"/>
            <a:ext cx="2094614" cy="50528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36B29FF-91DD-47EA-AE8B-80AA5813B7C1}"/>
              </a:ext>
            </a:extLst>
          </p:cNvPr>
          <p:cNvSpPr/>
          <p:nvPr/>
        </p:nvSpPr>
        <p:spPr>
          <a:xfrm>
            <a:off x="2934587" y="2339163"/>
            <a:ext cx="4051005" cy="99946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0F8C1-6E3D-4AC4-ABE9-67DF20E5D46C}"/>
              </a:ext>
            </a:extLst>
          </p:cNvPr>
          <p:cNvSpPr txBox="1"/>
          <p:nvPr/>
        </p:nvSpPr>
        <p:spPr>
          <a:xfrm>
            <a:off x="3371435" y="1046870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079E45-2759-4189-8CD5-EAE54DD90504}"/>
              </a:ext>
            </a:extLst>
          </p:cNvPr>
          <p:cNvSpPr txBox="1"/>
          <p:nvPr/>
        </p:nvSpPr>
        <p:spPr>
          <a:xfrm>
            <a:off x="3371435" y="2331345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(2)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DF4073-7BF8-41BF-BF27-C9D74412DA57}"/>
              </a:ext>
            </a:extLst>
          </p:cNvPr>
          <p:cNvSpPr txBox="1"/>
          <p:nvPr/>
        </p:nvSpPr>
        <p:spPr>
          <a:xfrm>
            <a:off x="3825138" y="2981963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4E0D85-E685-4D28-B12A-31F444CB1C57}"/>
              </a:ext>
            </a:extLst>
          </p:cNvPr>
          <p:cNvSpPr txBox="1"/>
          <p:nvPr/>
        </p:nvSpPr>
        <p:spPr>
          <a:xfrm>
            <a:off x="4379736" y="2331345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(4)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B531D3-A275-4EF1-BEBE-1B2E4B7629BE}"/>
              </a:ext>
            </a:extLst>
          </p:cNvPr>
          <p:cNvSpPr txBox="1"/>
          <p:nvPr/>
        </p:nvSpPr>
        <p:spPr>
          <a:xfrm>
            <a:off x="5755247" y="2999123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(5)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F00454-D045-400A-AD2A-485F23D628CA}"/>
              </a:ext>
            </a:extLst>
          </p:cNvPr>
          <p:cNvSpPr txBox="1"/>
          <p:nvPr/>
        </p:nvSpPr>
        <p:spPr>
          <a:xfrm>
            <a:off x="564209" y="1046870"/>
            <a:ext cx="93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B5AC4D-BBCD-4EDB-9CBD-13619595CD1C}"/>
              </a:ext>
            </a:extLst>
          </p:cNvPr>
          <p:cNvSpPr txBox="1"/>
          <p:nvPr/>
        </p:nvSpPr>
        <p:spPr>
          <a:xfrm>
            <a:off x="5769686" y="1050905"/>
            <a:ext cx="87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027D529-E3D0-4869-8097-7630A81021B6}"/>
              </a:ext>
            </a:extLst>
          </p:cNvPr>
          <p:cNvCxnSpPr>
            <a:cxnSpLocks/>
          </p:cNvCxnSpPr>
          <p:nvPr/>
        </p:nvCxnSpPr>
        <p:spPr>
          <a:xfrm>
            <a:off x="1496580" y="1263435"/>
            <a:ext cx="608667" cy="1509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754868-26B2-4800-BD71-41E441FC1568}"/>
              </a:ext>
            </a:extLst>
          </p:cNvPr>
          <p:cNvCxnSpPr>
            <a:cxnSpLocks/>
          </p:cNvCxnSpPr>
          <p:nvPr/>
        </p:nvCxnSpPr>
        <p:spPr>
          <a:xfrm flipH="1">
            <a:off x="5105430" y="1267470"/>
            <a:ext cx="664256" cy="1806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8D80EBA-6C9D-41E2-9D36-D6FFF4B0EFBC}"/>
              </a:ext>
            </a:extLst>
          </p:cNvPr>
          <p:cNvGraphicFramePr>
            <a:graphicFrameLocks noGrp="1"/>
          </p:cNvGraphicFramePr>
          <p:nvPr/>
        </p:nvGraphicFramePr>
        <p:xfrm>
          <a:off x="7949015" y="911634"/>
          <a:ext cx="3383271" cy="31779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27757">
                  <a:extLst>
                    <a:ext uri="{9D8B030D-6E8A-4147-A177-3AD203B41FA5}">
                      <a16:colId xmlns:a16="http://schemas.microsoft.com/office/drawing/2014/main" val="3195450066"/>
                    </a:ext>
                  </a:extLst>
                </a:gridCol>
                <a:gridCol w="1127757">
                  <a:extLst>
                    <a:ext uri="{9D8B030D-6E8A-4147-A177-3AD203B41FA5}">
                      <a16:colId xmlns:a16="http://schemas.microsoft.com/office/drawing/2014/main" val="2621671764"/>
                    </a:ext>
                  </a:extLst>
                </a:gridCol>
                <a:gridCol w="1127757">
                  <a:extLst>
                    <a:ext uri="{9D8B030D-6E8A-4147-A177-3AD203B41FA5}">
                      <a16:colId xmlns:a16="http://schemas.microsoft.com/office/drawing/2014/main" val="601739832"/>
                    </a:ext>
                  </a:extLst>
                </a:gridCol>
              </a:tblGrid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Thickness (</a:t>
                      </a:r>
                      <a:r>
                        <a:rPr lang="en-US" sz="1500" dirty="0" err="1"/>
                        <a:t>μm</a:t>
                      </a:r>
                      <a:r>
                        <a:rPr lang="en-US" sz="15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14652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Zinc Sulfide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602258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Silicon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204931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Graphite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036487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Silica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63387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Zinc Sulfide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933671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8F9639FE-E69B-4CA1-A913-D14B0E564AC8}"/>
              </a:ext>
            </a:extLst>
          </p:cNvPr>
          <p:cNvGrpSpPr>
            <a:grpSpLocks noChangeAspect="1"/>
          </p:cNvGrpSpPr>
          <p:nvPr/>
        </p:nvGrpSpPr>
        <p:grpSpPr>
          <a:xfrm>
            <a:off x="3683726" y="3709641"/>
            <a:ext cx="3557837" cy="2968778"/>
            <a:chOff x="1986625" y="0"/>
            <a:chExt cx="8218750" cy="685800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F54A8A9-7E64-4040-AA2D-E7FFBDCDD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6625" y="0"/>
              <a:ext cx="8218750" cy="68580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9EB1514-5215-477E-BB33-D55668EDE9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441" t="8298" r="11317" b="10984"/>
            <a:stretch/>
          </p:blipFill>
          <p:spPr>
            <a:xfrm>
              <a:off x="8143570" y="552986"/>
              <a:ext cx="1652754" cy="1420897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85FE75F-9EDA-4E16-8BFC-25E032F407F9}"/>
              </a:ext>
            </a:extLst>
          </p:cNvPr>
          <p:cNvSpPr txBox="1"/>
          <p:nvPr/>
        </p:nvSpPr>
        <p:spPr>
          <a:xfrm>
            <a:off x="384937" y="4979012"/>
            <a:ext cx="2656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dirty="0"/>
              <a:t>arrows signify direction of incident light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0586169-27D9-4E89-BB5A-1BFF15EEE04D}"/>
              </a:ext>
            </a:extLst>
          </p:cNvPr>
          <p:cNvCxnSpPr/>
          <p:nvPr/>
        </p:nvCxnSpPr>
        <p:spPr>
          <a:xfrm>
            <a:off x="1882302" y="4137950"/>
            <a:ext cx="60089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27DC05-0BDD-4C09-BD5F-AA7F7C8B6D20}"/>
              </a:ext>
            </a:extLst>
          </p:cNvPr>
          <p:cNvCxnSpPr>
            <a:cxnSpLocks/>
          </p:cNvCxnSpPr>
          <p:nvPr/>
        </p:nvCxnSpPr>
        <p:spPr>
          <a:xfrm flipH="1">
            <a:off x="892697" y="4137950"/>
            <a:ext cx="567239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25183C3-330F-4828-B8FE-C76B7DE41BB2}"/>
              </a:ext>
            </a:extLst>
          </p:cNvPr>
          <p:cNvSpPr txBox="1"/>
          <p:nvPr/>
        </p:nvSpPr>
        <p:spPr>
          <a:xfrm>
            <a:off x="1979005" y="429137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DA0D49-417B-4205-A146-37E736E96964}"/>
              </a:ext>
            </a:extLst>
          </p:cNvPr>
          <p:cNvSpPr txBox="1"/>
          <p:nvPr/>
        </p:nvSpPr>
        <p:spPr>
          <a:xfrm>
            <a:off x="1075035" y="429137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RL</a:t>
            </a:r>
          </a:p>
        </p:txBody>
      </p:sp>
    </p:spTree>
    <p:extLst>
      <p:ext uri="{BB962C8B-B14F-4D97-AF65-F5344CB8AC3E}">
        <p14:creationId xmlns:p14="http://schemas.microsoft.com/office/powerpoint/2010/main" val="130886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366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4</cp:revision>
  <dcterms:created xsi:type="dcterms:W3CDTF">2025-06-27T20:18:19Z</dcterms:created>
  <dcterms:modified xsi:type="dcterms:W3CDTF">2025-06-27T20:50:41Z</dcterms:modified>
</cp:coreProperties>
</file>