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A595-F16B-4B80-B4EA-EE8183922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EBE7D-0871-42AF-B90F-2706E5BB9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8DB0B-FD85-4ECF-A14A-FB9CE649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1ACBD-39EF-4073-99DD-0080DBFB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D813C-F7DA-4A9A-925A-D38AC743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5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D0C05-2F5B-4AD4-BE5B-E9B2597D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FBF9-7C05-41FB-A313-D2EFC74A0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1E76B-4C3F-4A89-9526-EBFBD0B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8B623-771A-4625-A1AC-3213D020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25053-5A72-4A07-875B-518C0EB7A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88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5922-0FE0-4EDC-805C-164F9B289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64D06-D0EF-4DBD-A8E3-35966F5EF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5A8D-077B-47E4-95B2-526F548E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014E-83BE-4AC9-9C08-74E8DEC8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2740-2A98-4594-892C-2CEF29C2C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1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CF09-3F97-4ED6-8039-E303405C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A45F-B959-47FB-9B7D-612926874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5C6BC-ABFB-4DBC-8DCF-B7D4C69E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3E98D-CE8E-4EB6-A89F-9006A765C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4F048-3043-4B77-8215-1AF73BED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8D8C1-14BD-43A9-AF7F-1E8AAFBE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5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4A0D-AABF-4186-AE94-FCF275B7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DE3B0-DB16-4364-BEFB-CE661FA26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087A8-73F8-445A-B771-012AB704A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2C09C-353B-4CF3-9241-D55035E4D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487AF3-8B8E-4940-95F6-075AD1F2C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775326-0022-4797-A2CA-176EE592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39E5A-C89F-465F-ACB2-4586C273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D2650-385F-4E80-9992-2B4765AA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0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D55C-76C1-47D7-82F3-7E95AD23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054CC-C549-402B-A33C-4D9361EB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2F699-3CA0-44E4-A0B1-1D99F71B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5EAE2-E22E-4055-AD0F-68125CDD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6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F3DBB-E082-4C40-9824-DB7B25AE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1A05E-7635-46D8-AE85-29F2E4E1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8DB68-48AC-4C20-A715-DD0CCC6E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3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D9FC2-45F1-461B-AF65-4371817D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D4C8-6846-4A93-8D58-CB2662F65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4F661-D814-4D98-AB2E-51031438A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68472-E873-42B9-893A-618A05A4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CD8FF-30D2-44FC-8EDB-B054175C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ACAC0-6629-4154-A856-4590E907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0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2E58-27EF-4B4B-A68F-5F9E09F3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F2007-258E-4149-8D9F-01EADC292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AE54-337F-4DB8-B49A-F2767DC02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BF790-C969-405A-955F-1176562C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2108C-E5A6-443B-82B0-FB68151E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890E-5790-47BA-9EDB-24346524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6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60B9-CB73-408C-AFBD-900FA880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2C9F1-1B45-4461-9E2D-D7063D592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3DFB6-9436-4067-89A5-0B165ECE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4BD57-E44C-4734-BAE1-CEAE9328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C7D42-1B08-4852-A084-E74599A4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4A0E14-F4E3-4932-AC5F-BF788C7DA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96809-86CC-4AD8-9DE9-AE0E9E26D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A3A42-F3DF-461F-9E02-6B63FA5E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B1FFC-F0EF-4562-8B32-7204B830D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843D9-59D6-46F6-A635-9C035056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5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FB9CA-6FE6-4B56-85AA-C2C260C85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D47CC-BCA7-45F1-B1DE-60DDCA558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A002A-A2CB-4615-998F-F3A1F2201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B7804-0DA4-4A34-9810-8D84D9F958C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71B7-78B0-48EF-8A67-F6EE058C5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C717C-F228-4C0A-AC56-466598073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CE367-C63F-41AB-ACB3-5899AED50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1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CCE90F-B2BC-4B22-9BCE-FC5F47A27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682" y="77990"/>
            <a:ext cx="3763283" cy="3232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175655-07E2-4693-BD6F-593197184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079" y="3429000"/>
            <a:ext cx="3763284" cy="3232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E500E2-4F87-4EA2-8665-65072F3A7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079" y="77990"/>
            <a:ext cx="3763285" cy="3232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93A761-9FC1-43BE-81A8-5303364C2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679" y="3429000"/>
            <a:ext cx="3763286" cy="323267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06A5E2B-AEB9-44DF-A823-3E0B1F0BDB10}"/>
              </a:ext>
            </a:extLst>
          </p:cNvPr>
          <p:cNvGrpSpPr/>
          <p:nvPr/>
        </p:nvGrpSpPr>
        <p:grpSpPr>
          <a:xfrm>
            <a:off x="465973" y="3150962"/>
            <a:ext cx="3835543" cy="1021350"/>
            <a:chOff x="380779" y="2755643"/>
            <a:chExt cx="3835543" cy="102135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DBE304F-0467-4D3B-AD37-E455FDB71C25}"/>
                </a:ext>
              </a:extLst>
            </p:cNvPr>
            <p:cNvGrpSpPr/>
            <p:nvPr/>
          </p:nvGrpSpPr>
          <p:grpSpPr>
            <a:xfrm>
              <a:off x="380779" y="3094197"/>
              <a:ext cx="3835543" cy="347832"/>
              <a:chOff x="1905243" y="2294124"/>
              <a:chExt cx="3835543" cy="347832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7F180B2-75BF-4067-9396-7BE189D322CB}"/>
                  </a:ext>
                </a:extLst>
              </p:cNvPr>
              <p:cNvSpPr/>
              <p:nvPr/>
            </p:nvSpPr>
            <p:spPr>
              <a:xfrm>
                <a:off x="1905243" y="2294124"/>
                <a:ext cx="914400" cy="347832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F7904FF-05BF-4983-853A-CC6336743FB9}"/>
                  </a:ext>
                </a:extLst>
              </p:cNvPr>
              <p:cNvSpPr/>
              <p:nvPr/>
            </p:nvSpPr>
            <p:spPr>
              <a:xfrm>
                <a:off x="2984969" y="2294124"/>
                <a:ext cx="914400" cy="34424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A09E34-E0EA-4C66-B077-738C204231D1}"/>
                  </a:ext>
                </a:extLst>
              </p:cNvPr>
              <p:cNvSpPr/>
              <p:nvPr/>
            </p:nvSpPr>
            <p:spPr>
              <a:xfrm>
                <a:off x="2819643" y="2294124"/>
                <a:ext cx="152709" cy="344242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46660E2-E7FD-4821-96F1-81EFEB021475}"/>
                  </a:ext>
                </a:extLst>
              </p:cNvPr>
              <p:cNvSpPr/>
              <p:nvPr/>
            </p:nvSpPr>
            <p:spPr>
              <a:xfrm>
                <a:off x="3911986" y="2294124"/>
                <a:ext cx="1828800" cy="34424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sp>
          <p:nvSpPr>
            <p:cNvPr id="16" name="TextBox 23">
              <a:extLst>
                <a:ext uri="{FF2B5EF4-FFF2-40B4-BE49-F238E27FC236}">
                  <a16:creationId xmlns:a16="http://schemas.microsoft.com/office/drawing/2014/main" id="{E2079E45-2759-4189-8CD5-EAE54DD90504}"/>
                </a:ext>
              </a:extLst>
            </p:cNvPr>
            <p:cNvSpPr txBox="1"/>
            <p:nvPr/>
          </p:nvSpPr>
          <p:spPr>
            <a:xfrm>
              <a:off x="484496" y="2755643"/>
              <a:ext cx="7222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/>
                <a:t>silicon</a:t>
              </a:r>
            </a:p>
          </p:txBody>
        </p:sp>
        <p:sp>
          <p:nvSpPr>
            <p:cNvPr id="17" name="TextBox 24">
              <a:extLst>
                <a:ext uri="{FF2B5EF4-FFF2-40B4-BE49-F238E27FC236}">
                  <a16:creationId xmlns:a16="http://schemas.microsoft.com/office/drawing/2014/main" id="{79DF4073-7BF8-41BF-BF27-C9D74412DA57}"/>
                </a:ext>
              </a:extLst>
            </p:cNvPr>
            <p:cNvSpPr txBox="1"/>
            <p:nvPr/>
          </p:nvSpPr>
          <p:spPr>
            <a:xfrm>
              <a:off x="939261" y="3413070"/>
              <a:ext cx="894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/>
                <a:t>graphite</a:t>
              </a:r>
            </a:p>
          </p:txBody>
        </p:sp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444E0D85-E685-4D28-B12A-31F444CB1C57}"/>
                </a:ext>
              </a:extLst>
            </p:cNvPr>
            <p:cNvSpPr txBox="1"/>
            <p:nvPr/>
          </p:nvSpPr>
          <p:spPr>
            <a:xfrm>
              <a:off x="1624259" y="2755643"/>
              <a:ext cx="6018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/>
                <a:t>silica</a:t>
              </a:r>
            </a:p>
          </p:txBody>
        </p:sp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FEB531D3-A275-4EF1-BEBE-1B2E4B7629BE}"/>
                </a:ext>
              </a:extLst>
            </p:cNvPr>
            <p:cNvSpPr txBox="1"/>
            <p:nvPr/>
          </p:nvSpPr>
          <p:spPr>
            <a:xfrm>
              <a:off x="2499458" y="3438439"/>
              <a:ext cx="16433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600" b="1" dirty="0"/>
                <a:t>Zinc Sulfide (ZnS)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ACF8DCA-8C80-42B3-AC84-3DFED2A99B31}"/>
              </a:ext>
            </a:extLst>
          </p:cNvPr>
          <p:cNvSpPr txBox="1"/>
          <p:nvPr/>
        </p:nvSpPr>
        <p:spPr>
          <a:xfrm>
            <a:off x="154154" y="92952"/>
            <a:ext cx="42946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s</a:t>
            </a:r>
            <a:r>
              <a:rPr lang="en-US" sz="1600"/>
              <a:t>ensitivity </a:t>
            </a:r>
            <a:r>
              <a:rPr lang="en-US" sz="1600" dirty="0"/>
              <a:t>analysis of length of each layer in coating </a:t>
            </a:r>
            <a:r>
              <a:rPr lang="en-US" sz="1600"/>
              <a:t>was performed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change of ±20% in </a:t>
            </a:r>
            <a:r>
              <a:rPr lang="en-US" sz="1600" b="1" dirty="0"/>
              <a:t>silicon</a:t>
            </a:r>
            <a:r>
              <a:rPr lang="en-US" sz="1600" dirty="0"/>
              <a:t> and </a:t>
            </a:r>
            <a:r>
              <a:rPr lang="en-US" sz="1600" b="1" dirty="0"/>
              <a:t>silica</a:t>
            </a:r>
            <a:r>
              <a:rPr lang="en-US" sz="1600" dirty="0"/>
              <a:t> layers did not affect transmittance, reflectance, and absorbance (TRA) much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increasing length of </a:t>
            </a:r>
            <a:r>
              <a:rPr lang="en-US" sz="1600" b="1" dirty="0"/>
              <a:t>graphite</a:t>
            </a:r>
            <a:r>
              <a:rPr lang="en-US" sz="1600" dirty="0"/>
              <a:t> layer caused transmittance to decrease and, equivalently, absorbance to increase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change of ±20% in </a:t>
            </a:r>
            <a:r>
              <a:rPr lang="en-US" sz="1600" b="1" dirty="0"/>
              <a:t>Zinc Sulfide</a:t>
            </a:r>
            <a:r>
              <a:rPr lang="en-US" sz="1600" dirty="0"/>
              <a:t> layer saw more drastic changes, especially at smaller values. still comfortable within ±10%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516321-608D-4DCE-A858-29A7EB82C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991" y="4553328"/>
            <a:ext cx="1332088" cy="1620707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53F8D86-E9C5-4ED9-8DF4-37AC51CE2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628008"/>
              </p:ext>
            </p:extLst>
          </p:nvPr>
        </p:nvGraphicFramePr>
        <p:xfrm>
          <a:off x="528356" y="4301962"/>
          <a:ext cx="240373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868">
                  <a:extLst>
                    <a:ext uri="{9D8B030D-6E8A-4147-A177-3AD203B41FA5}">
                      <a16:colId xmlns:a16="http://schemas.microsoft.com/office/drawing/2014/main" val="3945174437"/>
                    </a:ext>
                  </a:extLst>
                </a:gridCol>
                <a:gridCol w="1201868">
                  <a:extLst>
                    <a:ext uri="{9D8B030D-6E8A-4147-A177-3AD203B41FA5}">
                      <a16:colId xmlns:a16="http://schemas.microsoft.com/office/drawing/2014/main" val="4034071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Length (nm)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2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Silicon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269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Graphite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85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10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548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23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96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10</cp:revision>
  <dcterms:created xsi:type="dcterms:W3CDTF">2025-04-17T04:52:07Z</dcterms:created>
  <dcterms:modified xsi:type="dcterms:W3CDTF">2025-04-17T05:39:10Z</dcterms:modified>
</cp:coreProperties>
</file>