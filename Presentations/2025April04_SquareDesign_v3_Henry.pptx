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>
        <p:scale>
          <a:sx n="90" d="100"/>
          <a:sy n="90" d="100"/>
        </p:scale>
        <p:origin x="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6A288-76E6-4B28-A2E2-99818A7A1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2A39D-9CE7-4793-8783-F0DD5740D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3E939-6987-457B-B940-95C0C84F4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50C6-035A-49D9-ADAD-582B4044061D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3D289-4D66-4A79-93B5-AA65FAF1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81381-A9EF-41C2-A1B6-AA364607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CD53-BE64-43C4-9F34-BB442A630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00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BE431-F0ED-48A5-96D0-709F12A7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E7365-F455-4EF4-BD39-9E6679A3E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7D360-D0B1-4EC8-830F-B2D485445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50C6-035A-49D9-ADAD-582B4044061D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3C360-2444-463A-BDFD-F08981761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5BC89-7497-4A82-8434-5239C5927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CD53-BE64-43C4-9F34-BB442A630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49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19077-5ED1-496A-A9E0-A877736B7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F3DF8-E0C2-4F9C-BC1C-273F32E3F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92359-7AC6-4688-9E86-E4FDCF173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50C6-035A-49D9-ADAD-582B4044061D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F4C3D-E367-4DD9-B73D-43BC2364F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E55AC-CA6D-4F34-8BA0-07CAC6E44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CD53-BE64-43C4-9F34-BB442A630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07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0DD45-973F-4225-915C-7DABF460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5D97B-83C8-410F-8E99-00DD674A4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3A2F8-5698-48BB-860C-6B20C1851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542DF-A29E-4D6B-93FA-D7EE46B64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50C6-035A-49D9-ADAD-582B4044061D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804FC-28FB-42A0-B912-92256F2FE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0C9CF-5EA8-4C2E-A769-CB967405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CD53-BE64-43C4-9F34-BB442A630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0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83DC0-08B6-43F6-95E9-8E4404F30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5158F-B847-4C09-AF89-939E39EC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BA151-5DE7-4F2D-AD15-387B674B6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8EF863-4953-4B67-8436-20D3E81CA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32A777-1AA5-4914-AFC5-23A3A492B4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EEF02-C7D9-439C-8237-8FACA399E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50C6-035A-49D9-ADAD-582B4044061D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685805-76B1-4714-8C2E-9A6418093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1820B7-176E-421D-95D0-06DCAC92B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CD53-BE64-43C4-9F34-BB442A630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3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73440-CB6F-465B-801C-F4940FFC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C27B80-56BE-451D-BA31-FFB5995A4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50C6-035A-49D9-ADAD-582B4044061D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9F97C3-793D-4E90-9FEE-A685CFCAA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A327A-09F7-477E-AAAD-F5FCA0D3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CD53-BE64-43C4-9F34-BB442A630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60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02CC53-7E89-47B9-A1E4-A8A3336BB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50C6-035A-49D9-ADAD-582B4044061D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FF8F7-6C6C-44A9-A793-FFA50A0E5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28D9F-B5E7-441A-B2EB-C89FEA00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CD53-BE64-43C4-9F34-BB442A630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9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DE072-A45C-4572-891C-3106E3FDE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3C3A6-8C57-4851-9371-1E4485515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5CCEF6-84E4-414D-841E-725C7284B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12F3F-B0BF-4ACC-BE4E-EE758C0CA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50C6-035A-49D9-ADAD-582B4044061D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AC4B6-4327-4BDC-BF80-261F763C5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EB052-9A32-4BA4-9708-9C7901B0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CD53-BE64-43C4-9F34-BB442A630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56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F076C-D559-4BFE-AAE0-5617ED0B3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6438C5-308B-4053-918E-4FA640D30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33B88-5D80-4D19-BB18-08397E7CE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4C6B6-BE2C-4028-A338-6C39D0BC1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50C6-035A-49D9-ADAD-582B4044061D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A6C8E-0E92-485D-8C36-5C1E4C61F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579E9-CBE6-4DD3-81B0-89C0D16CF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CD53-BE64-43C4-9F34-BB442A630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45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836B2-C0D0-45F6-A9FA-0E4C6A5B0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D53E1-7C72-429A-A11D-80B4B5800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0F1F1-7C90-4F55-8D65-D3EC4F849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50C6-035A-49D9-ADAD-582B4044061D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CA61E-358C-4456-9E25-48B8593B0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6B20C-3161-4B52-ACBB-06EC89559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CD53-BE64-43C4-9F34-BB442A630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55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218579-3B10-46C6-9CCD-7C7257986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65486A-E116-45ED-BDFB-D210159EB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23DFF-9803-4FE5-BE2A-E675D528D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50C6-035A-49D9-ADAD-582B4044061D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09048-11E7-466F-A498-1472505F9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FC558-D595-4C40-A54C-2D519C254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CD53-BE64-43C4-9F34-BB442A630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942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782D11-F81D-4D92-8DB5-A9E01A57F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42D5A-A532-4100-8237-885C1ACF3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B46FF-63DE-4E0B-918B-65B2B473D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750C6-035A-49D9-ADAD-582B4044061D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2F2EE-FD08-46F3-A66E-B9B55CBB9B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78C7B-782E-4207-8656-8EBDE1EE4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CCD53-BE64-43C4-9F34-BB442A630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4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3CD2C9-BADF-4BC0-8422-CC7350DAD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18" y="768230"/>
            <a:ext cx="4722813" cy="37603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5173A9-C431-4995-817B-BF7DE639C69C}"/>
              </a:ext>
            </a:extLst>
          </p:cNvPr>
          <p:cNvSpPr txBox="1"/>
          <p:nvPr/>
        </p:nvSpPr>
        <p:spPr>
          <a:xfrm>
            <a:off x="329609" y="193178"/>
            <a:ext cx="8652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Approximated losses from ZnS data (2mm thick, normal incidence)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C24E11-CEC3-461D-BD20-46E8D7B86889}"/>
              </a:ext>
            </a:extLst>
          </p:cNvPr>
          <p:cNvSpPr txBox="1"/>
          <p:nvPr/>
        </p:nvSpPr>
        <p:spPr>
          <a:xfrm>
            <a:off x="3601778" y="4642009"/>
            <a:ext cx="498844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since transmittance increases with wavelength, </a:t>
            </a:r>
            <a:r>
              <a:rPr lang="en-US" dirty="0" err="1"/>
              <a:t>im</a:t>
            </a:r>
            <a:r>
              <a:rPr lang="en-US" dirty="0"/>
              <a:t>(n) needs to decrease in this region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try form </a:t>
            </a:r>
            <a:r>
              <a:rPr lang="en-US" b="1" dirty="0"/>
              <a:t>k(λ) = m(</a:t>
            </a:r>
            <a:r>
              <a:rPr lang="el-GR" b="1" dirty="0"/>
              <a:t>λ</a:t>
            </a:r>
            <a:r>
              <a:rPr lang="en-US" b="1" dirty="0"/>
              <a:t> – 2[um]) + b </a:t>
            </a:r>
            <a:r>
              <a:rPr lang="en-US" dirty="0"/>
              <a:t>(m &lt; 0 , b &gt; 0)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Find ‘m’ and ‘b‘ empirically to match transmittance data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6513CC-B2B2-4332-B5DC-B2B4E0218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764275"/>
            <a:ext cx="4722813" cy="376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701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094019B-F069-47BE-BA22-85DF0CE0F6E9}"/>
              </a:ext>
            </a:extLst>
          </p:cNvPr>
          <p:cNvGrpSpPr>
            <a:grpSpLocks noChangeAspect="1"/>
          </p:cNvGrpSpPr>
          <p:nvPr/>
        </p:nvGrpSpPr>
        <p:grpSpPr>
          <a:xfrm>
            <a:off x="5903278" y="1816646"/>
            <a:ext cx="5408096" cy="3999709"/>
            <a:chOff x="1459572" y="0"/>
            <a:chExt cx="9272856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CED1B54-F5B1-43BD-9F71-3D0344947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59572" y="0"/>
              <a:ext cx="9272856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40DD178-38F2-4FBA-93A0-F704A39A88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8749" b="20507"/>
            <a:stretch/>
          </p:blipFill>
          <p:spPr>
            <a:xfrm>
              <a:off x="3391786" y="233915"/>
              <a:ext cx="2247540" cy="1137685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35173A9-C431-4995-817B-BF7DE639C69C}"/>
              </a:ext>
            </a:extLst>
          </p:cNvPr>
          <p:cNvSpPr txBox="1"/>
          <p:nvPr/>
        </p:nvSpPr>
        <p:spPr>
          <a:xfrm>
            <a:off x="329609" y="179581"/>
            <a:ext cx="4694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Approximated losses from ZnS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F7BFFC-6A39-41A0-BB4F-A1E632AE42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22" y="1697827"/>
            <a:ext cx="4798596" cy="39997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C24E11-CEC3-461D-BD20-46E8D7B86889}"/>
              </a:ext>
            </a:extLst>
          </p:cNvPr>
          <p:cNvSpPr txBox="1"/>
          <p:nvPr/>
        </p:nvSpPr>
        <p:spPr>
          <a:xfrm>
            <a:off x="4549348" y="774497"/>
            <a:ext cx="30933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k(λ) = </a:t>
            </a:r>
            <a:r>
              <a:rPr lang="en-US" b="1" dirty="0"/>
              <a:t>m</a:t>
            </a:r>
            <a:r>
              <a:rPr lang="en-US" dirty="0"/>
              <a:t>(</a:t>
            </a:r>
            <a:r>
              <a:rPr lang="el-GR" dirty="0"/>
              <a:t>λ</a:t>
            </a:r>
            <a:r>
              <a:rPr lang="en-US" dirty="0"/>
              <a:t> – 2[um]) + </a:t>
            </a:r>
            <a:r>
              <a:rPr lang="en-US" b="1" dirty="0"/>
              <a:t>b</a:t>
            </a:r>
            <a:r>
              <a:rPr lang="en-US" dirty="0"/>
              <a:t> , with </a:t>
            </a:r>
          </a:p>
          <a:p>
            <a:pPr>
              <a:spcAft>
                <a:spcPts val="600"/>
              </a:spcAft>
            </a:pPr>
            <a:r>
              <a:rPr lang="en-US" b="1" dirty="0"/>
              <a:t>m = -3 x 10</a:t>
            </a:r>
            <a:r>
              <a:rPr lang="en-US" b="1" baseline="30000" dirty="0"/>
              <a:t>-7</a:t>
            </a:r>
            <a:r>
              <a:rPr lang="en-US" b="1" dirty="0"/>
              <a:t> </a:t>
            </a:r>
            <a:r>
              <a:rPr lang="en-US" dirty="0"/>
              <a:t>and</a:t>
            </a:r>
            <a:r>
              <a:rPr lang="en-US" b="1" dirty="0"/>
              <a:t> b = 1.5 x 10</a:t>
            </a:r>
            <a:r>
              <a:rPr lang="en-US" b="1" baseline="30000" dirty="0"/>
              <a:t>-6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510476-76E9-4E02-BABC-FBB9854113D1}"/>
              </a:ext>
            </a:extLst>
          </p:cNvPr>
          <p:cNvSpPr txBox="1"/>
          <p:nvPr/>
        </p:nvSpPr>
        <p:spPr>
          <a:xfrm>
            <a:off x="7030180" y="5952778"/>
            <a:ext cx="3321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Ignore feature close to 2 microns</a:t>
            </a:r>
          </a:p>
        </p:txBody>
      </p:sp>
    </p:spTree>
    <p:extLst>
      <p:ext uri="{BB962C8B-B14F-4D97-AF65-F5344CB8AC3E}">
        <p14:creationId xmlns:p14="http://schemas.microsoft.com/office/powerpoint/2010/main" val="4173684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7AAAE2-EB51-4115-92CA-CC93721BB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90" y="757468"/>
            <a:ext cx="4722527" cy="38763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6E848F-AEDA-492A-8FBC-C0BA6E51F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595" y="725347"/>
            <a:ext cx="4645544" cy="38763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400294-B4EE-4E96-8A96-EB902BD17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206" y="1280564"/>
            <a:ext cx="1206863" cy="220587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2CF6DEB-CFAA-48AB-8AF7-A2A64DE5E0D2}"/>
              </a:ext>
            </a:extLst>
          </p:cNvPr>
          <p:cNvGrpSpPr>
            <a:grpSpLocks noChangeAspect="1"/>
          </p:cNvGrpSpPr>
          <p:nvPr/>
        </p:nvGrpSpPr>
        <p:grpSpPr>
          <a:xfrm>
            <a:off x="3338180" y="5140813"/>
            <a:ext cx="4282016" cy="347832"/>
            <a:chOff x="156386" y="1665051"/>
            <a:chExt cx="4282016" cy="34783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1C82F5-AE0D-4894-9654-27F56E9F4529}"/>
                </a:ext>
              </a:extLst>
            </p:cNvPr>
            <p:cNvSpPr/>
            <p:nvPr/>
          </p:nvSpPr>
          <p:spPr>
            <a:xfrm>
              <a:off x="156386" y="1665643"/>
              <a:ext cx="699247" cy="34424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A2C136D-E6E6-4BED-AE56-89B95525EF6F}"/>
                </a:ext>
              </a:extLst>
            </p:cNvPr>
            <p:cNvSpPr/>
            <p:nvPr/>
          </p:nvSpPr>
          <p:spPr>
            <a:xfrm>
              <a:off x="3739155" y="1665052"/>
              <a:ext cx="699247" cy="34424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06ECD40-57BE-4A66-983B-C0AA66AAFADE}"/>
                </a:ext>
              </a:extLst>
            </p:cNvPr>
            <p:cNvSpPr/>
            <p:nvPr/>
          </p:nvSpPr>
          <p:spPr>
            <a:xfrm>
              <a:off x="862804" y="1665054"/>
              <a:ext cx="1647313" cy="34424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71B1A99-4DC0-4D92-84D5-2FC0F4D4A353}"/>
                </a:ext>
              </a:extLst>
            </p:cNvPr>
            <p:cNvSpPr/>
            <p:nvPr/>
          </p:nvSpPr>
          <p:spPr>
            <a:xfrm>
              <a:off x="2517288" y="1665051"/>
              <a:ext cx="319143" cy="34783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6C5E3BC-3789-40B0-84C6-1912966A292B}"/>
                </a:ext>
              </a:extLst>
            </p:cNvPr>
            <p:cNvSpPr/>
            <p:nvPr/>
          </p:nvSpPr>
          <p:spPr>
            <a:xfrm>
              <a:off x="2981969" y="1665053"/>
              <a:ext cx="319143" cy="34424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878723C-890D-484F-94E4-35AE77EBCB4A}"/>
                </a:ext>
              </a:extLst>
            </p:cNvPr>
            <p:cNvSpPr/>
            <p:nvPr/>
          </p:nvSpPr>
          <p:spPr>
            <a:xfrm>
              <a:off x="2829260" y="1665052"/>
              <a:ext cx="152709" cy="34424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11F2021-59A2-4FA7-86C7-08A522DA6884}"/>
                </a:ext>
              </a:extLst>
            </p:cNvPr>
            <p:cNvSpPr/>
            <p:nvPr/>
          </p:nvSpPr>
          <p:spPr>
            <a:xfrm>
              <a:off x="3301113" y="1665054"/>
              <a:ext cx="438042" cy="34424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748AFD2-45E9-402C-9CFE-DD86D693DF23}"/>
              </a:ext>
            </a:extLst>
          </p:cNvPr>
          <p:cNvSpPr txBox="1"/>
          <p:nvPr/>
        </p:nvSpPr>
        <p:spPr>
          <a:xfrm>
            <a:off x="2739567" y="4771346"/>
            <a:ext cx="58381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F96038-5794-4482-9B78-872F8ECF4E9C}"/>
              </a:ext>
            </a:extLst>
          </p:cNvPr>
          <p:cNvSpPr txBox="1"/>
          <p:nvPr/>
        </p:nvSpPr>
        <p:spPr>
          <a:xfrm>
            <a:off x="7632079" y="4771346"/>
            <a:ext cx="58381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9D33F6-A09E-40B7-9491-C463DA1C30F6}"/>
              </a:ext>
            </a:extLst>
          </p:cNvPr>
          <p:cNvSpPr/>
          <p:nvPr/>
        </p:nvSpPr>
        <p:spPr>
          <a:xfrm>
            <a:off x="4220618" y="5847761"/>
            <a:ext cx="28566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dirty="0"/>
              <a:t>thicknesses (</a:t>
            </a:r>
            <a:r>
              <a:rPr lang="el-GR" dirty="0"/>
              <a:t>μ</a:t>
            </a:r>
            <a:r>
              <a:rPr lang="da-DK" dirty="0"/>
              <a:t>m) </a:t>
            </a:r>
          </a:p>
          <a:p>
            <a:pPr algn="ctr"/>
            <a:r>
              <a:rPr lang="da-DK" dirty="0"/>
              <a:t>[300, 0.1, 0.02, 0.1, 0.2]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C640CF-C26B-4614-848F-749AB7217F19}"/>
              </a:ext>
            </a:extLst>
          </p:cNvPr>
          <p:cNvSpPr txBox="1"/>
          <p:nvPr/>
        </p:nvSpPr>
        <p:spPr>
          <a:xfrm>
            <a:off x="4606145" y="5438871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</a:t>
            </a:r>
            <a:r>
              <a:rPr lang="en-US" baseline="-25000" dirty="0" err="1"/>
              <a:t>ZnS</a:t>
            </a:r>
            <a:endParaRPr lang="en-US" baseline="-25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005C28-9D21-47C9-8BAE-B865C5FD1535}"/>
              </a:ext>
            </a:extLst>
          </p:cNvPr>
          <p:cNvSpPr txBox="1"/>
          <p:nvPr/>
        </p:nvSpPr>
        <p:spPr>
          <a:xfrm>
            <a:off x="6440747" y="5426267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</a:t>
            </a:r>
            <a:r>
              <a:rPr lang="en-US" baseline="-25000" dirty="0" err="1"/>
              <a:t>ZnS</a:t>
            </a:r>
            <a:endParaRPr lang="en-US" baseline="-25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3D1296-DFFF-4663-873D-90809F6E5790}"/>
              </a:ext>
            </a:extLst>
          </p:cNvPr>
          <p:cNvSpPr txBox="1"/>
          <p:nvPr/>
        </p:nvSpPr>
        <p:spPr>
          <a:xfrm>
            <a:off x="5648951" y="4771402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</a:t>
            </a:r>
            <a:r>
              <a:rPr lang="en-US" baseline="-25000" dirty="0" err="1"/>
              <a:t>Si</a:t>
            </a:r>
            <a:endParaRPr lang="en-US" baseline="-25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9A7B8D-504F-4AC4-B5C8-6AE24732DB26}"/>
              </a:ext>
            </a:extLst>
          </p:cNvPr>
          <p:cNvSpPr txBox="1"/>
          <p:nvPr/>
        </p:nvSpPr>
        <p:spPr>
          <a:xfrm>
            <a:off x="5887835" y="5438871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</a:t>
            </a:r>
            <a:r>
              <a:rPr lang="en-US" baseline="-25000" dirty="0" err="1"/>
              <a:t>C</a:t>
            </a:r>
            <a:endParaRPr lang="en-US" baseline="-25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60C044-985B-4B87-B084-5CB4FE391FBC}"/>
              </a:ext>
            </a:extLst>
          </p:cNvPr>
          <p:cNvSpPr txBox="1"/>
          <p:nvPr/>
        </p:nvSpPr>
        <p:spPr>
          <a:xfrm>
            <a:off x="6028129" y="477140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  <a:r>
              <a:rPr lang="en-US" baseline="-25000" dirty="0"/>
              <a:t>SiO2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D0803E-C01D-4030-9D8C-D75AB3D98A6C}"/>
              </a:ext>
            </a:extLst>
          </p:cNvPr>
          <p:cNvSpPr txBox="1"/>
          <p:nvPr/>
        </p:nvSpPr>
        <p:spPr>
          <a:xfrm>
            <a:off x="8393926" y="4956068"/>
            <a:ext cx="17011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 </a:t>
            </a:r>
            <a:r>
              <a:rPr lang="el-GR" dirty="0"/>
              <a:t>λ</a:t>
            </a:r>
            <a:r>
              <a:rPr lang="en-US" dirty="0"/>
              <a:t> = 2.8</a:t>
            </a:r>
            <a:r>
              <a:rPr lang="el-GR" dirty="0"/>
              <a:t>μ</a:t>
            </a:r>
            <a:r>
              <a:rPr lang="en-US" dirty="0"/>
              <a:t>m:</a:t>
            </a:r>
          </a:p>
          <a:p>
            <a:r>
              <a:rPr lang="en-US" dirty="0" err="1"/>
              <a:t>n</a:t>
            </a:r>
            <a:r>
              <a:rPr lang="en-US" baseline="-25000" dirty="0" err="1"/>
              <a:t>ZnS</a:t>
            </a:r>
            <a:r>
              <a:rPr lang="en-US" dirty="0"/>
              <a:t> = 2.25</a:t>
            </a:r>
          </a:p>
          <a:p>
            <a:r>
              <a:rPr lang="en-US" dirty="0" err="1"/>
              <a:t>n</a:t>
            </a:r>
            <a:r>
              <a:rPr lang="en-US" baseline="-25000" dirty="0" err="1"/>
              <a:t>Si</a:t>
            </a:r>
            <a:r>
              <a:rPr lang="en-US" dirty="0"/>
              <a:t> = 3.56</a:t>
            </a:r>
          </a:p>
          <a:p>
            <a:r>
              <a:rPr lang="en-US" dirty="0" err="1"/>
              <a:t>n</a:t>
            </a:r>
            <a:r>
              <a:rPr lang="en-US" baseline="-25000" dirty="0" err="1"/>
              <a:t>C</a:t>
            </a:r>
            <a:r>
              <a:rPr lang="en-US" dirty="0"/>
              <a:t> = 4.53 + 3.64i</a:t>
            </a:r>
          </a:p>
          <a:p>
            <a:r>
              <a:rPr lang="en-US" dirty="0"/>
              <a:t>n</a:t>
            </a:r>
            <a:r>
              <a:rPr lang="en-US" baseline="-25000" dirty="0"/>
              <a:t>SiO2</a:t>
            </a:r>
            <a:r>
              <a:rPr lang="en-US" dirty="0"/>
              <a:t> = 1.42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AA999A-DA06-4569-AB85-2814002A0A23}"/>
              </a:ext>
            </a:extLst>
          </p:cNvPr>
          <p:cNvSpPr txBox="1"/>
          <p:nvPr/>
        </p:nvSpPr>
        <p:spPr>
          <a:xfrm>
            <a:off x="329609" y="179581"/>
            <a:ext cx="8700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Adding losses to 300</a:t>
            </a:r>
            <a:r>
              <a:rPr lang="el-GR" sz="2400" b="1" dirty="0"/>
              <a:t>μ</a:t>
            </a:r>
            <a:r>
              <a:rPr lang="en-US" sz="2400" b="1" dirty="0"/>
              <a:t>m </a:t>
            </a:r>
            <a:r>
              <a:rPr lang="en-US" sz="2400" b="1"/>
              <a:t>bulk yields </a:t>
            </a:r>
            <a:r>
              <a:rPr lang="en-US" sz="2400" b="1" dirty="0"/>
              <a:t>0.1% change in transmittance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D9CF17-EE84-48CC-B70D-336C561F8B89}"/>
              </a:ext>
            </a:extLst>
          </p:cNvPr>
          <p:cNvSpPr txBox="1"/>
          <p:nvPr/>
        </p:nvSpPr>
        <p:spPr>
          <a:xfrm>
            <a:off x="1083096" y="5178056"/>
            <a:ext cx="137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Final design:</a:t>
            </a:r>
          </a:p>
        </p:txBody>
      </p:sp>
    </p:spTree>
    <p:extLst>
      <p:ext uri="{BB962C8B-B14F-4D97-AF65-F5344CB8AC3E}">
        <p14:creationId xmlns:p14="http://schemas.microsoft.com/office/powerpoint/2010/main" val="3337549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167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Lakhanpal</dc:creator>
  <cp:lastModifiedBy>Kunal Lakhanpal</cp:lastModifiedBy>
  <cp:revision>35</cp:revision>
  <dcterms:created xsi:type="dcterms:W3CDTF">2025-04-04T08:06:13Z</dcterms:created>
  <dcterms:modified xsi:type="dcterms:W3CDTF">2025-04-04T09:58:03Z</dcterms:modified>
</cp:coreProperties>
</file>