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0" r:id="rId2"/>
    <p:sldId id="258" r:id="rId3"/>
    <p:sldId id="257" r:id="rId4"/>
    <p:sldId id="264" r:id="rId5"/>
    <p:sldId id="256" r:id="rId6"/>
    <p:sldId id="262"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69" autoAdjust="0"/>
    <p:restoredTop sz="94660"/>
  </p:normalViewPr>
  <p:slideViewPr>
    <p:cSldViewPr snapToGrid="0">
      <p:cViewPr varScale="1">
        <p:scale>
          <a:sx n="90" d="100"/>
          <a:sy n="90" d="100"/>
        </p:scale>
        <p:origin x="126" y="9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BE3A8-FA97-4983-B988-907E65553D6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978BE100-1EB4-4F72-94FD-B275BF29283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36190A9-BB4A-4C61-8D62-BDB3A770016A}"/>
              </a:ext>
            </a:extLst>
          </p:cNvPr>
          <p:cNvSpPr>
            <a:spLocks noGrp="1"/>
          </p:cNvSpPr>
          <p:nvPr>
            <p:ph type="dt" sz="half" idx="10"/>
          </p:nvPr>
        </p:nvSpPr>
        <p:spPr/>
        <p:txBody>
          <a:bodyPr/>
          <a:lstStyle/>
          <a:p>
            <a:fld id="{AACD9737-2A58-4307-B133-F316509D9087}" type="datetimeFigureOut">
              <a:rPr lang="en-US" smtClean="0"/>
              <a:t>1/17/2025</a:t>
            </a:fld>
            <a:endParaRPr lang="en-US"/>
          </a:p>
        </p:txBody>
      </p:sp>
      <p:sp>
        <p:nvSpPr>
          <p:cNvPr id="5" name="Footer Placeholder 4">
            <a:extLst>
              <a:ext uri="{FF2B5EF4-FFF2-40B4-BE49-F238E27FC236}">
                <a16:creationId xmlns:a16="http://schemas.microsoft.com/office/drawing/2014/main" id="{D6FB6674-B557-4A8C-BB8E-90F7D864F6D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36E8D25-CB60-47F8-B36F-B3A04B360E35}"/>
              </a:ext>
            </a:extLst>
          </p:cNvPr>
          <p:cNvSpPr>
            <a:spLocks noGrp="1"/>
          </p:cNvSpPr>
          <p:nvPr>
            <p:ph type="sldNum" sz="quarter" idx="12"/>
          </p:nvPr>
        </p:nvSpPr>
        <p:spPr/>
        <p:txBody>
          <a:bodyPr/>
          <a:lstStyle/>
          <a:p>
            <a:fld id="{13AB9FF1-890A-4005-924B-F95B978C189E}" type="slidenum">
              <a:rPr lang="en-US" smtClean="0"/>
              <a:t>‹#›</a:t>
            </a:fld>
            <a:endParaRPr lang="en-US"/>
          </a:p>
        </p:txBody>
      </p:sp>
    </p:spTree>
    <p:extLst>
      <p:ext uri="{BB962C8B-B14F-4D97-AF65-F5344CB8AC3E}">
        <p14:creationId xmlns:p14="http://schemas.microsoft.com/office/powerpoint/2010/main" val="12350577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41289-5AEF-412B-9349-A4F98D109A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D489100-947B-4BF2-BB4F-400FC44C2AFE}"/>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E49B2D-430C-4A6C-B3D8-A944484FFE9D}"/>
              </a:ext>
            </a:extLst>
          </p:cNvPr>
          <p:cNvSpPr>
            <a:spLocks noGrp="1"/>
          </p:cNvSpPr>
          <p:nvPr>
            <p:ph type="dt" sz="half" idx="10"/>
          </p:nvPr>
        </p:nvSpPr>
        <p:spPr/>
        <p:txBody>
          <a:bodyPr/>
          <a:lstStyle/>
          <a:p>
            <a:fld id="{AACD9737-2A58-4307-B133-F316509D9087}" type="datetimeFigureOut">
              <a:rPr lang="en-US" smtClean="0"/>
              <a:t>1/17/2025</a:t>
            </a:fld>
            <a:endParaRPr lang="en-US"/>
          </a:p>
        </p:txBody>
      </p:sp>
      <p:sp>
        <p:nvSpPr>
          <p:cNvPr id="5" name="Footer Placeholder 4">
            <a:extLst>
              <a:ext uri="{FF2B5EF4-FFF2-40B4-BE49-F238E27FC236}">
                <a16:creationId xmlns:a16="http://schemas.microsoft.com/office/drawing/2014/main" id="{BBA91C97-2A1E-441C-9060-D70B4E1E739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063B15-CD41-4CB9-B469-E8C117358AE9}"/>
              </a:ext>
            </a:extLst>
          </p:cNvPr>
          <p:cNvSpPr>
            <a:spLocks noGrp="1"/>
          </p:cNvSpPr>
          <p:nvPr>
            <p:ph type="sldNum" sz="quarter" idx="12"/>
          </p:nvPr>
        </p:nvSpPr>
        <p:spPr/>
        <p:txBody>
          <a:bodyPr/>
          <a:lstStyle/>
          <a:p>
            <a:fld id="{13AB9FF1-890A-4005-924B-F95B978C189E}" type="slidenum">
              <a:rPr lang="en-US" smtClean="0"/>
              <a:t>‹#›</a:t>
            </a:fld>
            <a:endParaRPr lang="en-US"/>
          </a:p>
        </p:txBody>
      </p:sp>
    </p:spTree>
    <p:extLst>
      <p:ext uri="{BB962C8B-B14F-4D97-AF65-F5344CB8AC3E}">
        <p14:creationId xmlns:p14="http://schemas.microsoft.com/office/powerpoint/2010/main" val="10044664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1CBFA-FD0A-4CF5-9B3C-2117D264EBD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E94896A-05F4-4B3B-AE3D-08D366E7C7C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87206BC6-92F4-4B8F-9CFD-FB819BA39CA9}"/>
              </a:ext>
            </a:extLst>
          </p:cNvPr>
          <p:cNvSpPr>
            <a:spLocks noGrp="1"/>
          </p:cNvSpPr>
          <p:nvPr>
            <p:ph type="dt" sz="half" idx="10"/>
          </p:nvPr>
        </p:nvSpPr>
        <p:spPr/>
        <p:txBody>
          <a:bodyPr/>
          <a:lstStyle/>
          <a:p>
            <a:fld id="{AACD9737-2A58-4307-B133-F316509D9087}" type="datetimeFigureOut">
              <a:rPr lang="en-US" smtClean="0"/>
              <a:t>1/17/2025</a:t>
            </a:fld>
            <a:endParaRPr lang="en-US"/>
          </a:p>
        </p:txBody>
      </p:sp>
      <p:sp>
        <p:nvSpPr>
          <p:cNvPr id="5" name="Footer Placeholder 4">
            <a:extLst>
              <a:ext uri="{FF2B5EF4-FFF2-40B4-BE49-F238E27FC236}">
                <a16:creationId xmlns:a16="http://schemas.microsoft.com/office/drawing/2014/main" id="{B7DF8B4C-92F4-470B-9811-43C5E343A11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737B64-2C7B-4E9B-943A-5307F628749E}"/>
              </a:ext>
            </a:extLst>
          </p:cNvPr>
          <p:cNvSpPr>
            <a:spLocks noGrp="1"/>
          </p:cNvSpPr>
          <p:nvPr>
            <p:ph type="sldNum" sz="quarter" idx="12"/>
          </p:nvPr>
        </p:nvSpPr>
        <p:spPr/>
        <p:txBody>
          <a:bodyPr/>
          <a:lstStyle/>
          <a:p>
            <a:fld id="{13AB9FF1-890A-4005-924B-F95B978C189E}" type="slidenum">
              <a:rPr lang="en-US" smtClean="0"/>
              <a:t>‹#›</a:t>
            </a:fld>
            <a:endParaRPr lang="en-US"/>
          </a:p>
        </p:txBody>
      </p:sp>
    </p:spTree>
    <p:extLst>
      <p:ext uri="{BB962C8B-B14F-4D97-AF65-F5344CB8AC3E}">
        <p14:creationId xmlns:p14="http://schemas.microsoft.com/office/powerpoint/2010/main" val="2453325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4D6E69-156E-4D01-A042-62486BAEF1D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39485A-0409-4EC2-BFC1-B69D205F2AC0}"/>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DED373-EDAC-4EEF-9452-2D6620113F23}"/>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7035B90-EE67-47E0-9453-ED99CD79B952}"/>
              </a:ext>
            </a:extLst>
          </p:cNvPr>
          <p:cNvSpPr>
            <a:spLocks noGrp="1"/>
          </p:cNvSpPr>
          <p:nvPr>
            <p:ph type="dt" sz="half" idx="10"/>
          </p:nvPr>
        </p:nvSpPr>
        <p:spPr/>
        <p:txBody>
          <a:bodyPr/>
          <a:lstStyle/>
          <a:p>
            <a:fld id="{AACD9737-2A58-4307-B133-F316509D9087}" type="datetimeFigureOut">
              <a:rPr lang="en-US" smtClean="0"/>
              <a:t>1/17/2025</a:t>
            </a:fld>
            <a:endParaRPr lang="en-US"/>
          </a:p>
        </p:txBody>
      </p:sp>
      <p:sp>
        <p:nvSpPr>
          <p:cNvPr id="6" name="Footer Placeholder 5">
            <a:extLst>
              <a:ext uri="{FF2B5EF4-FFF2-40B4-BE49-F238E27FC236}">
                <a16:creationId xmlns:a16="http://schemas.microsoft.com/office/drawing/2014/main" id="{78CA6110-ABB8-4493-9376-9C83E99F9B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A0180A5-189F-4D2D-91AB-FC7839C793F7}"/>
              </a:ext>
            </a:extLst>
          </p:cNvPr>
          <p:cNvSpPr>
            <a:spLocks noGrp="1"/>
          </p:cNvSpPr>
          <p:nvPr>
            <p:ph type="sldNum" sz="quarter" idx="12"/>
          </p:nvPr>
        </p:nvSpPr>
        <p:spPr/>
        <p:txBody>
          <a:bodyPr/>
          <a:lstStyle/>
          <a:p>
            <a:fld id="{13AB9FF1-890A-4005-924B-F95B978C189E}" type="slidenum">
              <a:rPr lang="en-US" smtClean="0"/>
              <a:t>‹#›</a:t>
            </a:fld>
            <a:endParaRPr lang="en-US"/>
          </a:p>
        </p:txBody>
      </p:sp>
    </p:spTree>
    <p:extLst>
      <p:ext uri="{BB962C8B-B14F-4D97-AF65-F5344CB8AC3E}">
        <p14:creationId xmlns:p14="http://schemas.microsoft.com/office/powerpoint/2010/main" val="685098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2FC1D-3C2F-4076-8C35-57A8191278F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F62A17F-D1C7-49DC-B2D7-3BE5E1FC31F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77C26102-5B7D-4EB2-82B0-2D7716032554}"/>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F64A7D2-2E4B-415C-8053-3ACBAFD187F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751CBF0-6DBE-47A1-96A0-136495475D21}"/>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C50270A-A1CD-481D-B6C9-B303FA50F0B2}"/>
              </a:ext>
            </a:extLst>
          </p:cNvPr>
          <p:cNvSpPr>
            <a:spLocks noGrp="1"/>
          </p:cNvSpPr>
          <p:nvPr>
            <p:ph type="dt" sz="half" idx="10"/>
          </p:nvPr>
        </p:nvSpPr>
        <p:spPr/>
        <p:txBody>
          <a:bodyPr/>
          <a:lstStyle/>
          <a:p>
            <a:fld id="{AACD9737-2A58-4307-B133-F316509D9087}" type="datetimeFigureOut">
              <a:rPr lang="en-US" smtClean="0"/>
              <a:t>1/17/2025</a:t>
            </a:fld>
            <a:endParaRPr lang="en-US"/>
          </a:p>
        </p:txBody>
      </p:sp>
      <p:sp>
        <p:nvSpPr>
          <p:cNvPr id="8" name="Footer Placeholder 7">
            <a:extLst>
              <a:ext uri="{FF2B5EF4-FFF2-40B4-BE49-F238E27FC236}">
                <a16:creationId xmlns:a16="http://schemas.microsoft.com/office/drawing/2014/main" id="{E095311E-9949-4606-8001-230A1B82ECB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8B93DFF0-C708-49CE-9E4F-A10C0C390B7C}"/>
              </a:ext>
            </a:extLst>
          </p:cNvPr>
          <p:cNvSpPr>
            <a:spLocks noGrp="1"/>
          </p:cNvSpPr>
          <p:nvPr>
            <p:ph type="sldNum" sz="quarter" idx="12"/>
          </p:nvPr>
        </p:nvSpPr>
        <p:spPr/>
        <p:txBody>
          <a:bodyPr/>
          <a:lstStyle/>
          <a:p>
            <a:fld id="{13AB9FF1-890A-4005-924B-F95B978C189E}" type="slidenum">
              <a:rPr lang="en-US" smtClean="0"/>
              <a:t>‹#›</a:t>
            </a:fld>
            <a:endParaRPr lang="en-US"/>
          </a:p>
        </p:txBody>
      </p:sp>
    </p:spTree>
    <p:extLst>
      <p:ext uri="{BB962C8B-B14F-4D97-AF65-F5344CB8AC3E}">
        <p14:creationId xmlns:p14="http://schemas.microsoft.com/office/powerpoint/2010/main" val="32244963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8BB20-1D1D-45A6-918E-82B9C1455D5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5A44569-AA0F-47EF-B221-35CC8EA72DE2}"/>
              </a:ext>
            </a:extLst>
          </p:cNvPr>
          <p:cNvSpPr>
            <a:spLocks noGrp="1"/>
          </p:cNvSpPr>
          <p:nvPr>
            <p:ph type="dt" sz="half" idx="10"/>
          </p:nvPr>
        </p:nvSpPr>
        <p:spPr/>
        <p:txBody>
          <a:bodyPr/>
          <a:lstStyle/>
          <a:p>
            <a:fld id="{AACD9737-2A58-4307-B133-F316509D9087}" type="datetimeFigureOut">
              <a:rPr lang="en-US" smtClean="0"/>
              <a:t>1/17/2025</a:t>
            </a:fld>
            <a:endParaRPr lang="en-US"/>
          </a:p>
        </p:txBody>
      </p:sp>
      <p:sp>
        <p:nvSpPr>
          <p:cNvPr id="4" name="Footer Placeholder 3">
            <a:extLst>
              <a:ext uri="{FF2B5EF4-FFF2-40B4-BE49-F238E27FC236}">
                <a16:creationId xmlns:a16="http://schemas.microsoft.com/office/drawing/2014/main" id="{16871922-D22E-460E-A14A-1F8318FE7FA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558E655-6F8C-46F9-9BF9-EEF72037B03A}"/>
              </a:ext>
            </a:extLst>
          </p:cNvPr>
          <p:cNvSpPr>
            <a:spLocks noGrp="1"/>
          </p:cNvSpPr>
          <p:nvPr>
            <p:ph type="sldNum" sz="quarter" idx="12"/>
          </p:nvPr>
        </p:nvSpPr>
        <p:spPr/>
        <p:txBody>
          <a:bodyPr/>
          <a:lstStyle/>
          <a:p>
            <a:fld id="{13AB9FF1-890A-4005-924B-F95B978C189E}" type="slidenum">
              <a:rPr lang="en-US" smtClean="0"/>
              <a:t>‹#›</a:t>
            </a:fld>
            <a:endParaRPr lang="en-US"/>
          </a:p>
        </p:txBody>
      </p:sp>
    </p:spTree>
    <p:extLst>
      <p:ext uri="{BB962C8B-B14F-4D97-AF65-F5344CB8AC3E}">
        <p14:creationId xmlns:p14="http://schemas.microsoft.com/office/powerpoint/2010/main" val="17359704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D2B8B7-881C-4EC6-A00D-754AF18B1CAB}"/>
              </a:ext>
            </a:extLst>
          </p:cNvPr>
          <p:cNvSpPr>
            <a:spLocks noGrp="1"/>
          </p:cNvSpPr>
          <p:nvPr>
            <p:ph type="dt" sz="half" idx="10"/>
          </p:nvPr>
        </p:nvSpPr>
        <p:spPr/>
        <p:txBody>
          <a:bodyPr/>
          <a:lstStyle/>
          <a:p>
            <a:fld id="{AACD9737-2A58-4307-B133-F316509D9087}" type="datetimeFigureOut">
              <a:rPr lang="en-US" smtClean="0"/>
              <a:t>1/17/2025</a:t>
            </a:fld>
            <a:endParaRPr lang="en-US"/>
          </a:p>
        </p:txBody>
      </p:sp>
      <p:sp>
        <p:nvSpPr>
          <p:cNvPr id="3" name="Footer Placeholder 2">
            <a:extLst>
              <a:ext uri="{FF2B5EF4-FFF2-40B4-BE49-F238E27FC236}">
                <a16:creationId xmlns:a16="http://schemas.microsoft.com/office/drawing/2014/main" id="{E00C53BB-243B-4E0C-9CD8-81DEDD038CF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006C192-A3B9-4222-A308-D8F8B5B81455}"/>
              </a:ext>
            </a:extLst>
          </p:cNvPr>
          <p:cNvSpPr>
            <a:spLocks noGrp="1"/>
          </p:cNvSpPr>
          <p:nvPr>
            <p:ph type="sldNum" sz="quarter" idx="12"/>
          </p:nvPr>
        </p:nvSpPr>
        <p:spPr/>
        <p:txBody>
          <a:bodyPr/>
          <a:lstStyle/>
          <a:p>
            <a:fld id="{13AB9FF1-890A-4005-924B-F95B978C189E}" type="slidenum">
              <a:rPr lang="en-US" smtClean="0"/>
              <a:t>‹#›</a:t>
            </a:fld>
            <a:endParaRPr lang="en-US"/>
          </a:p>
        </p:txBody>
      </p:sp>
    </p:spTree>
    <p:extLst>
      <p:ext uri="{BB962C8B-B14F-4D97-AF65-F5344CB8AC3E}">
        <p14:creationId xmlns:p14="http://schemas.microsoft.com/office/powerpoint/2010/main" val="1639050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B0F849-12E8-47CE-8BC9-1E5C3BA0F8C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A4083CA-C462-42FD-90EF-C8122C63B3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D7207DC-B522-4E27-A260-51FCEA966F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960017B-0796-4DB9-84F6-125AB16CDABA}"/>
              </a:ext>
            </a:extLst>
          </p:cNvPr>
          <p:cNvSpPr>
            <a:spLocks noGrp="1"/>
          </p:cNvSpPr>
          <p:nvPr>
            <p:ph type="dt" sz="half" idx="10"/>
          </p:nvPr>
        </p:nvSpPr>
        <p:spPr/>
        <p:txBody>
          <a:bodyPr/>
          <a:lstStyle/>
          <a:p>
            <a:fld id="{AACD9737-2A58-4307-B133-F316509D9087}" type="datetimeFigureOut">
              <a:rPr lang="en-US" smtClean="0"/>
              <a:t>1/17/2025</a:t>
            </a:fld>
            <a:endParaRPr lang="en-US"/>
          </a:p>
        </p:txBody>
      </p:sp>
      <p:sp>
        <p:nvSpPr>
          <p:cNvPr id="6" name="Footer Placeholder 5">
            <a:extLst>
              <a:ext uri="{FF2B5EF4-FFF2-40B4-BE49-F238E27FC236}">
                <a16:creationId xmlns:a16="http://schemas.microsoft.com/office/drawing/2014/main" id="{56359A89-611D-4491-8020-E5433FF3E5B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201F537-80B1-43D7-82F5-3C6EE1D6E682}"/>
              </a:ext>
            </a:extLst>
          </p:cNvPr>
          <p:cNvSpPr>
            <a:spLocks noGrp="1"/>
          </p:cNvSpPr>
          <p:nvPr>
            <p:ph type="sldNum" sz="quarter" idx="12"/>
          </p:nvPr>
        </p:nvSpPr>
        <p:spPr/>
        <p:txBody>
          <a:bodyPr/>
          <a:lstStyle/>
          <a:p>
            <a:fld id="{13AB9FF1-890A-4005-924B-F95B978C189E}" type="slidenum">
              <a:rPr lang="en-US" smtClean="0"/>
              <a:t>‹#›</a:t>
            </a:fld>
            <a:endParaRPr lang="en-US"/>
          </a:p>
        </p:txBody>
      </p:sp>
    </p:spTree>
    <p:extLst>
      <p:ext uri="{BB962C8B-B14F-4D97-AF65-F5344CB8AC3E}">
        <p14:creationId xmlns:p14="http://schemas.microsoft.com/office/powerpoint/2010/main" val="33666517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00EE3-B045-471F-8EA6-BA8481ACC99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23250B1-D914-4407-BA9C-85C3A8FEB6D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1833AD8-6487-4B3C-A801-431207BC89B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B423FEF-8D71-48FD-A296-6FC75A6AD1DB}"/>
              </a:ext>
            </a:extLst>
          </p:cNvPr>
          <p:cNvSpPr>
            <a:spLocks noGrp="1"/>
          </p:cNvSpPr>
          <p:nvPr>
            <p:ph type="dt" sz="half" idx="10"/>
          </p:nvPr>
        </p:nvSpPr>
        <p:spPr/>
        <p:txBody>
          <a:bodyPr/>
          <a:lstStyle/>
          <a:p>
            <a:fld id="{AACD9737-2A58-4307-B133-F316509D9087}" type="datetimeFigureOut">
              <a:rPr lang="en-US" smtClean="0"/>
              <a:t>1/17/2025</a:t>
            </a:fld>
            <a:endParaRPr lang="en-US"/>
          </a:p>
        </p:txBody>
      </p:sp>
      <p:sp>
        <p:nvSpPr>
          <p:cNvPr id="6" name="Footer Placeholder 5">
            <a:extLst>
              <a:ext uri="{FF2B5EF4-FFF2-40B4-BE49-F238E27FC236}">
                <a16:creationId xmlns:a16="http://schemas.microsoft.com/office/drawing/2014/main" id="{B9D3BB04-0A39-49C4-98CA-BAB126625A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37087F8-7BDB-491D-BB1D-AF847EDA3BDC}"/>
              </a:ext>
            </a:extLst>
          </p:cNvPr>
          <p:cNvSpPr>
            <a:spLocks noGrp="1"/>
          </p:cNvSpPr>
          <p:nvPr>
            <p:ph type="sldNum" sz="quarter" idx="12"/>
          </p:nvPr>
        </p:nvSpPr>
        <p:spPr/>
        <p:txBody>
          <a:bodyPr/>
          <a:lstStyle/>
          <a:p>
            <a:fld id="{13AB9FF1-890A-4005-924B-F95B978C189E}" type="slidenum">
              <a:rPr lang="en-US" smtClean="0"/>
              <a:t>‹#›</a:t>
            </a:fld>
            <a:endParaRPr lang="en-US"/>
          </a:p>
        </p:txBody>
      </p:sp>
    </p:spTree>
    <p:extLst>
      <p:ext uri="{BB962C8B-B14F-4D97-AF65-F5344CB8AC3E}">
        <p14:creationId xmlns:p14="http://schemas.microsoft.com/office/powerpoint/2010/main" val="4584395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DCF1E-6C86-44F2-8F9B-5BF097134D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4E90DE4-21E5-4A2B-895C-21BA435C087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24ECA3-781D-467C-B736-8B503959E9AF}"/>
              </a:ext>
            </a:extLst>
          </p:cNvPr>
          <p:cNvSpPr>
            <a:spLocks noGrp="1"/>
          </p:cNvSpPr>
          <p:nvPr>
            <p:ph type="dt" sz="half" idx="10"/>
          </p:nvPr>
        </p:nvSpPr>
        <p:spPr/>
        <p:txBody>
          <a:bodyPr/>
          <a:lstStyle/>
          <a:p>
            <a:fld id="{AACD9737-2A58-4307-B133-F316509D9087}" type="datetimeFigureOut">
              <a:rPr lang="en-US" smtClean="0"/>
              <a:t>1/17/2025</a:t>
            </a:fld>
            <a:endParaRPr lang="en-US"/>
          </a:p>
        </p:txBody>
      </p:sp>
      <p:sp>
        <p:nvSpPr>
          <p:cNvPr id="5" name="Footer Placeholder 4">
            <a:extLst>
              <a:ext uri="{FF2B5EF4-FFF2-40B4-BE49-F238E27FC236}">
                <a16:creationId xmlns:a16="http://schemas.microsoft.com/office/drawing/2014/main" id="{3F0B152E-5765-4C67-8CE1-625070E3CE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5047E9-5518-4D1B-AF46-6E2A7E22AB78}"/>
              </a:ext>
            </a:extLst>
          </p:cNvPr>
          <p:cNvSpPr>
            <a:spLocks noGrp="1"/>
          </p:cNvSpPr>
          <p:nvPr>
            <p:ph type="sldNum" sz="quarter" idx="12"/>
          </p:nvPr>
        </p:nvSpPr>
        <p:spPr/>
        <p:txBody>
          <a:bodyPr/>
          <a:lstStyle/>
          <a:p>
            <a:fld id="{13AB9FF1-890A-4005-924B-F95B978C189E}" type="slidenum">
              <a:rPr lang="en-US" smtClean="0"/>
              <a:t>‹#›</a:t>
            </a:fld>
            <a:endParaRPr lang="en-US"/>
          </a:p>
        </p:txBody>
      </p:sp>
    </p:spTree>
    <p:extLst>
      <p:ext uri="{BB962C8B-B14F-4D97-AF65-F5344CB8AC3E}">
        <p14:creationId xmlns:p14="http://schemas.microsoft.com/office/powerpoint/2010/main" val="12502027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31A76B7-40C4-4A23-9C0B-714CDFF092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B721B01-A367-4BD8-AAEA-3DA648CC8009}"/>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D79939-59C3-466B-AA43-DF86579E1ED9}"/>
              </a:ext>
            </a:extLst>
          </p:cNvPr>
          <p:cNvSpPr>
            <a:spLocks noGrp="1"/>
          </p:cNvSpPr>
          <p:nvPr>
            <p:ph type="dt" sz="half" idx="10"/>
          </p:nvPr>
        </p:nvSpPr>
        <p:spPr/>
        <p:txBody>
          <a:bodyPr/>
          <a:lstStyle/>
          <a:p>
            <a:fld id="{AACD9737-2A58-4307-B133-F316509D9087}" type="datetimeFigureOut">
              <a:rPr lang="en-US" smtClean="0"/>
              <a:t>1/17/2025</a:t>
            </a:fld>
            <a:endParaRPr lang="en-US"/>
          </a:p>
        </p:txBody>
      </p:sp>
      <p:sp>
        <p:nvSpPr>
          <p:cNvPr id="5" name="Footer Placeholder 4">
            <a:extLst>
              <a:ext uri="{FF2B5EF4-FFF2-40B4-BE49-F238E27FC236}">
                <a16:creationId xmlns:a16="http://schemas.microsoft.com/office/drawing/2014/main" id="{2FBDF53C-EB96-4608-8857-AB22DF54C7A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2E57A6-F254-48B6-B63F-A4792A02665C}"/>
              </a:ext>
            </a:extLst>
          </p:cNvPr>
          <p:cNvSpPr>
            <a:spLocks noGrp="1"/>
          </p:cNvSpPr>
          <p:nvPr>
            <p:ph type="sldNum" sz="quarter" idx="12"/>
          </p:nvPr>
        </p:nvSpPr>
        <p:spPr/>
        <p:txBody>
          <a:bodyPr/>
          <a:lstStyle/>
          <a:p>
            <a:fld id="{13AB9FF1-890A-4005-924B-F95B978C189E}" type="slidenum">
              <a:rPr lang="en-US" smtClean="0"/>
              <a:t>‹#›</a:t>
            </a:fld>
            <a:endParaRPr lang="en-US"/>
          </a:p>
        </p:txBody>
      </p:sp>
    </p:spTree>
    <p:extLst>
      <p:ext uri="{BB962C8B-B14F-4D97-AF65-F5344CB8AC3E}">
        <p14:creationId xmlns:p14="http://schemas.microsoft.com/office/powerpoint/2010/main" val="6202672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786ACA3-A4B6-4894-A79A-F25A89FC5BA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706E0A3-FC87-41FD-8221-183D92FCF0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3AF0B5-9DDB-488C-989C-F37425BDFD3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ACD9737-2A58-4307-B133-F316509D9087}" type="datetimeFigureOut">
              <a:rPr lang="en-US" smtClean="0"/>
              <a:t>1/17/2025</a:t>
            </a:fld>
            <a:endParaRPr lang="en-US"/>
          </a:p>
        </p:txBody>
      </p:sp>
      <p:sp>
        <p:nvSpPr>
          <p:cNvPr id="5" name="Footer Placeholder 4">
            <a:extLst>
              <a:ext uri="{FF2B5EF4-FFF2-40B4-BE49-F238E27FC236}">
                <a16:creationId xmlns:a16="http://schemas.microsoft.com/office/drawing/2014/main" id="{666BEC06-F2CF-4B85-9C11-A03BCE2C4BA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8BBA120-482B-4435-9C0A-39FBB5B0CD6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AB9FF1-890A-4005-924B-F95B978C189E}" type="slidenum">
              <a:rPr lang="en-US" smtClean="0"/>
              <a:t>‹#›</a:t>
            </a:fld>
            <a:endParaRPr lang="en-US"/>
          </a:p>
        </p:txBody>
      </p:sp>
    </p:spTree>
    <p:extLst>
      <p:ext uri="{BB962C8B-B14F-4D97-AF65-F5344CB8AC3E}">
        <p14:creationId xmlns:p14="http://schemas.microsoft.com/office/powerpoint/2010/main" val="230283280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image" Target="../media/image17.png"/><Relationship Id="rId26" Type="http://schemas.openxmlformats.org/officeDocument/2006/relationships/image" Target="../media/image25.png"/><Relationship Id="rId3" Type="http://schemas.openxmlformats.org/officeDocument/2006/relationships/tags" Target="../tags/tag3.xml"/><Relationship Id="rId21" Type="http://schemas.openxmlformats.org/officeDocument/2006/relationships/image" Target="../media/image20.png"/><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1.xml"/><Relationship Id="rId25" Type="http://schemas.openxmlformats.org/officeDocument/2006/relationships/image" Target="../media/image24.png"/><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19.png"/><Relationship Id="rId29" Type="http://schemas.openxmlformats.org/officeDocument/2006/relationships/image" Target="../media/image28.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24" Type="http://schemas.openxmlformats.org/officeDocument/2006/relationships/image" Target="../media/image23.png"/><Relationship Id="rId32" Type="http://schemas.openxmlformats.org/officeDocument/2006/relationships/image" Target="../media/image31.png"/><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image" Target="../media/image22.png"/><Relationship Id="rId28" Type="http://schemas.openxmlformats.org/officeDocument/2006/relationships/image" Target="../media/image27.png"/><Relationship Id="rId10" Type="http://schemas.openxmlformats.org/officeDocument/2006/relationships/tags" Target="../tags/tag10.xml"/><Relationship Id="rId19" Type="http://schemas.openxmlformats.org/officeDocument/2006/relationships/image" Target="../media/image18.png"/><Relationship Id="rId31" Type="http://schemas.openxmlformats.org/officeDocument/2006/relationships/image" Target="../media/image30.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image" Target="../media/image21.png"/><Relationship Id="rId27" Type="http://schemas.openxmlformats.org/officeDocument/2006/relationships/image" Target="../media/image26.png"/><Relationship Id="rId30" Type="http://schemas.openxmlformats.org/officeDocument/2006/relationships/image" Target="../media/image29.png"/></Relationships>
</file>

<file path=ppt/slides/_rels/slide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4.png"/></Relationships>
</file>

<file path=ppt/slides/_rels/slide7.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4C0DAF26-76BE-4420-8712-137231A39E56}"/>
              </a:ext>
            </a:extLst>
          </p:cNvPr>
          <p:cNvGrpSpPr/>
          <p:nvPr/>
        </p:nvGrpSpPr>
        <p:grpSpPr>
          <a:xfrm>
            <a:off x="1387737" y="1108688"/>
            <a:ext cx="8986222" cy="1290918"/>
            <a:chOff x="2259106" y="2398955"/>
            <a:chExt cx="8986222" cy="1290918"/>
          </a:xfrm>
        </p:grpSpPr>
        <p:sp>
          <p:nvSpPr>
            <p:cNvPr id="4" name="Rectangle 3">
              <a:extLst>
                <a:ext uri="{FF2B5EF4-FFF2-40B4-BE49-F238E27FC236}">
                  <a16:creationId xmlns:a16="http://schemas.microsoft.com/office/drawing/2014/main" id="{75AD6D80-53D4-4177-900D-EF2F1CF69687}"/>
                </a:ext>
              </a:extLst>
            </p:cNvPr>
            <p:cNvSpPr/>
            <p:nvPr/>
          </p:nvSpPr>
          <p:spPr>
            <a:xfrm>
              <a:off x="2259106" y="2398955"/>
              <a:ext cx="1452282" cy="1290918"/>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Rectangle 4">
              <a:extLst>
                <a:ext uri="{FF2B5EF4-FFF2-40B4-BE49-F238E27FC236}">
                  <a16:creationId xmlns:a16="http://schemas.microsoft.com/office/drawing/2014/main" id="{E13C7B8B-EEAC-4E16-96F6-607E93100C00}"/>
                </a:ext>
              </a:extLst>
            </p:cNvPr>
            <p:cNvSpPr/>
            <p:nvPr/>
          </p:nvSpPr>
          <p:spPr>
            <a:xfrm>
              <a:off x="6752217" y="2398955"/>
              <a:ext cx="1452282" cy="1290918"/>
            </a:xfrm>
            <a:prstGeom prst="rect">
              <a:avLst/>
            </a:prstGeom>
            <a:solidFill>
              <a:schemeClr val="accent1">
                <a:lumMod val="40000"/>
                <a:lumOff val="6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BBA76B7C-1499-4413-ABA6-411A810D771F}"/>
                </a:ext>
              </a:extLst>
            </p:cNvPr>
            <p:cNvSpPr/>
            <p:nvPr/>
          </p:nvSpPr>
          <p:spPr>
            <a:xfrm>
              <a:off x="8204499" y="2398955"/>
              <a:ext cx="3040829" cy="1290918"/>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A8D1184-9798-4617-8F6E-370C8BCAA29E}"/>
                </a:ext>
              </a:extLst>
            </p:cNvPr>
            <p:cNvSpPr/>
            <p:nvPr/>
          </p:nvSpPr>
          <p:spPr>
            <a:xfrm>
              <a:off x="3711388" y="2398955"/>
              <a:ext cx="3040829" cy="1290918"/>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Content Placeholder 8">
            <a:extLst>
              <a:ext uri="{FF2B5EF4-FFF2-40B4-BE49-F238E27FC236}">
                <a16:creationId xmlns:a16="http://schemas.microsoft.com/office/drawing/2014/main" id="{A92FF460-8E4B-48DC-9E88-52662773BA1D}"/>
              </a:ext>
            </a:extLst>
          </p:cNvPr>
          <p:cNvPicPr>
            <a:picLocks noGrp="1" noChangeAspect="1"/>
          </p:cNvPicPr>
          <p:nvPr>
            <p:ph idx="1"/>
          </p:nvPr>
        </p:nvPicPr>
        <p:blipFill>
          <a:blip r:embed="rId2"/>
          <a:stretch>
            <a:fillRect/>
          </a:stretch>
        </p:blipFill>
        <p:spPr>
          <a:xfrm>
            <a:off x="1476484" y="1342787"/>
            <a:ext cx="1290978" cy="762851"/>
          </a:xfrm>
          <a:prstGeom prst="rect">
            <a:avLst/>
          </a:prstGeom>
        </p:spPr>
      </p:pic>
      <p:sp>
        <p:nvSpPr>
          <p:cNvPr id="10" name="Rectangle 9">
            <a:extLst>
              <a:ext uri="{FF2B5EF4-FFF2-40B4-BE49-F238E27FC236}">
                <a16:creationId xmlns:a16="http://schemas.microsoft.com/office/drawing/2014/main" id="{84194AE4-7AB2-4109-A604-131E07F9B1EB}"/>
              </a:ext>
            </a:extLst>
          </p:cNvPr>
          <p:cNvSpPr/>
          <p:nvPr/>
        </p:nvSpPr>
        <p:spPr>
          <a:xfrm>
            <a:off x="2333718" y="1421542"/>
            <a:ext cx="198729" cy="2143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5F54F8C-F055-4EA7-8807-AFFF24CB9ACA}"/>
              </a:ext>
            </a:extLst>
          </p:cNvPr>
          <p:cNvSpPr/>
          <p:nvPr/>
        </p:nvSpPr>
        <p:spPr>
          <a:xfrm>
            <a:off x="1576499" y="1724212"/>
            <a:ext cx="336737" cy="226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Content Placeholder 8">
            <a:extLst>
              <a:ext uri="{FF2B5EF4-FFF2-40B4-BE49-F238E27FC236}">
                <a16:creationId xmlns:a16="http://schemas.microsoft.com/office/drawing/2014/main" id="{F9F86C8A-88A0-401A-87DC-DB9DAA7FD968}"/>
              </a:ext>
            </a:extLst>
          </p:cNvPr>
          <p:cNvPicPr>
            <a:picLocks noChangeAspect="1"/>
          </p:cNvPicPr>
          <p:nvPr/>
        </p:nvPicPr>
        <p:blipFill>
          <a:blip r:embed="rId2"/>
          <a:stretch>
            <a:fillRect/>
          </a:stretch>
        </p:blipFill>
        <p:spPr>
          <a:xfrm>
            <a:off x="5964163" y="1359003"/>
            <a:ext cx="1290978" cy="762851"/>
          </a:xfrm>
          <a:prstGeom prst="rect">
            <a:avLst/>
          </a:prstGeom>
        </p:spPr>
      </p:pic>
      <p:sp>
        <p:nvSpPr>
          <p:cNvPr id="13" name="Rectangle 12">
            <a:extLst>
              <a:ext uri="{FF2B5EF4-FFF2-40B4-BE49-F238E27FC236}">
                <a16:creationId xmlns:a16="http://schemas.microsoft.com/office/drawing/2014/main" id="{0FF2F71A-1508-45C6-BD17-1E60510B0137}"/>
              </a:ext>
            </a:extLst>
          </p:cNvPr>
          <p:cNvSpPr/>
          <p:nvPr/>
        </p:nvSpPr>
        <p:spPr>
          <a:xfrm>
            <a:off x="6821397" y="1437758"/>
            <a:ext cx="198729" cy="2143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3A43841-C76F-4EFC-9A5E-E78FBA95E4AC}"/>
              </a:ext>
            </a:extLst>
          </p:cNvPr>
          <p:cNvSpPr/>
          <p:nvPr/>
        </p:nvSpPr>
        <p:spPr>
          <a:xfrm>
            <a:off x="6064178" y="1740428"/>
            <a:ext cx="336737" cy="22677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6" name="Straight Arrow Connector 25">
            <a:extLst>
              <a:ext uri="{FF2B5EF4-FFF2-40B4-BE49-F238E27FC236}">
                <a16:creationId xmlns:a16="http://schemas.microsoft.com/office/drawing/2014/main" id="{13662243-89FB-4C6E-A78B-72A7DEA6A9FA}"/>
              </a:ext>
            </a:extLst>
          </p:cNvPr>
          <p:cNvCxnSpPr>
            <a:cxnSpLocks/>
          </p:cNvCxnSpPr>
          <p:nvPr/>
        </p:nvCxnSpPr>
        <p:spPr>
          <a:xfrm flipH="1">
            <a:off x="1387737" y="2798447"/>
            <a:ext cx="8986223" cy="12012"/>
          </a:xfrm>
          <a:prstGeom prst="straightConnector1">
            <a:avLst/>
          </a:prstGeom>
          <a:ln w="38100">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031444C1-91B0-4717-B12D-61252768C9AD}"/>
                  </a:ext>
                </a:extLst>
              </p:cNvPr>
              <p:cNvSpPr/>
              <p:nvPr/>
            </p:nvSpPr>
            <p:spPr>
              <a:xfrm>
                <a:off x="5673987" y="2395337"/>
                <a:ext cx="580352"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tx1"/>
                              </a:solidFill>
                              <a:latin typeface="Cambria Math" panose="02040503050406030204" pitchFamily="18" charset="0"/>
                            </a:rPr>
                          </m:ctrlPr>
                        </m:sSubPr>
                        <m:e>
                          <m:r>
                            <a:rPr lang="en-US" b="0" i="1" smtClean="0">
                              <a:solidFill>
                                <a:schemeClr val="tx1"/>
                              </a:solidFill>
                              <a:latin typeface="Cambria Math" panose="02040503050406030204" pitchFamily="18" charset="0"/>
                            </a:rPr>
                            <m:t>𝑡</m:t>
                          </m:r>
                        </m:e>
                        <m:sub>
                          <m:r>
                            <m:rPr>
                              <m:sty m:val="p"/>
                            </m:rPr>
                            <a:rPr lang="en-US" b="0" i="0" smtClean="0">
                              <a:solidFill>
                                <a:schemeClr val="tx1"/>
                              </a:solidFill>
                              <a:latin typeface="Cambria Math" panose="02040503050406030204" pitchFamily="18" charset="0"/>
                            </a:rPr>
                            <m:t>MS</m:t>
                          </m:r>
                        </m:sub>
                      </m:sSub>
                    </m:oMath>
                  </m:oMathPara>
                </a14:m>
                <a:endParaRPr lang="en-US" dirty="0">
                  <a:solidFill>
                    <a:schemeClr val="tx1"/>
                  </a:solidFill>
                </a:endParaRPr>
              </a:p>
            </p:txBody>
          </p:sp>
        </mc:Choice>
        <mc:Fallback xmlns="">
          <p:sp>
            <p:nvSpPr>
              <p:cNvPr id="27" name="Rectangle 26">
                <a:extLst>
                  <a:ext uri="{FF2B5EF4-FFF2-40B4-BE49-F238E27FC236}">
                    <a16:creationId xmlns:a16="http://schemas.microsoft.com/office/drawing/2014/main" id="{031444C1-91B0-4717-B12D-61252768C9AD}"/>
                  </a:ext>
                </a:extLst>
              </p:cNvPr>
              <p:cNvSpPr>
                <a:spLocks noRot="1" noChangeAspect="1" noMove="1" noResize="1" noEditPoints="1" noAdjustHandles="1" noChangeArrowheads="1" noChangeShapeType="1" noTextEdit="1"/>
              </p:cNvSpPr>
              <p:nvPr/>
            </p:nvSpPr>
            <p:spPr>
              <a:xfrm>
                <a:off x="5673987" y="2395337"/>
                <a:ext cx="580352" cy="369332"/>
              </a:xfrm>
              <a:prstGeom prst="rect">
                <a:avLst/>
              </a:prstGeom>
              <a:blipFill>
                <a:blip r:embed="rId3"/>
                <a:stretch>
                  <a:fillRect/>
                </a:stretch>
              </a:blipFill>
            </p:spPr>
            <p:txBody>
              <a:bodyPr/>
              <a:lstStyle/>
              <a:p>
                <a:r>
                  <a:rPr lang="en-US">
                    <a:noFill/>
                  </a:rPr>
                  <a:t> </a:t>
                </a:r>
              </a:p>
            </p:txBody>
          </p:sp>
        </mc:Fallback>
      </mc:AlternateContent>
      <p:sp>
        <p:nvSpPr>
          <p:cNvPr id="29" name="Rectangle 28">
            <a:extLst>
              <a:ext uri="{FF2B5EF4-FFF2-40B4-BE49-F238E27FC236}">
                <a16:creationId xmlns:a16="http://schemas.microsoft.com/office/drawing/2014/main" id="{4CB2CA75-4256-4214-BAE3-B187B1215FA9}"/>
              </a:ext>
            </a:extLst>
          </p:cNvPr>
          <p:cNvSpPr/>
          <p:nvPr/>
        </p:nvSpPr>
        <p:spPr>
          <a:xfrm>
            <a:off x="1387737" y="3006965"/>
            <a:ext cx="8986222" cy="1290918"/>
          </a:xfrm>
          <a:prstGeom prst="rect">
            <a:avLst/>
          </a:prstGeom>
          <a:solidFill>
            <a:schemeClr val="accent4">
              <a:lumMod val="20000"/>
              <a:lumOff val="80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2" name="Rectangle 31">
                <a:extLst>
                  <a:ext uri="{FF2B5EF4-FFF2-40B4-BE49-F238E27FC236}">
                    <a16:creationId xmlns:a16="http://schemas.microsoft.com/office/drawing/2014/main" id="{6CA45872-74E3-4927-88F9-F2C86F5522BC}"/>
                  </a:ext>
                </a:extLst>
              </p:cNvPr>
              <p:cNvSpPr/>
              <p:nvPr/>
            </p:nvSpPr>
            <p:spPr>
              <a:xfrm>
                <a:off x="4472065" y="3285877"/>
                <a:ext cx="2817566" cy="76059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smtClean="0">
                              <a:solidFill>
                                <a:schemeClr val="tx1"/>
                              </a:solidFill>
                              <a:latin typeface="Cambria Math" panose="02040503050406030204" pitchFamily="18" charset="0"/>
                            </a:rPr>
                            <m:t>𝜅</m:t>
                          </m:r>
                        </m:e>
                        <m:sub>
                          <m:r>
                            <m:rPr>
                              <m:sty m:val="p"/>
                            </m:rPr>
                            <a:rPr lang="en-US" b="0" i="0" smtClean="0">
                              <a:latin typeface="Cambria Math" panose="02040503050406030204" pitchFamily="18" charset="0"/>
                            </a:rPr>
                            <m:t>avg</m:t>
                          </m:r>
                        </m:sub>
                      </m:sSub>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m:rPr>
                                  <m:sty m:val="p"/>
                                </m:rPr>
                                <a:rPr lang="en-US" b="0" i="0" smtClean="0">
                                  <a:latin typeface="Cambria Math" panose="02040503050406030204" pitchFamily="18" charset="0"/>
                                </a:rPr>
                                <m:t>MS</m:t>
                              </m:r>
                            </m:sub>
                          </m:sSub>
                        </m:den>
                      </m:f>
                      <m:nary>
                        <m:naryPr>
                          <m:ctrlPr>
                            <a:rPr lang="en-US" i="1">
                              <a:latin typeface="Cambria Math" panose="02040503050406030204" pitchFamily="18" charset="0"/>
                            </a:rPr>
                          </m:ctrlPr>
                        </m:naryPr>
                        <m:sub>
                          <m:sSub>
                            <m:sSubPr>
                              <m:ctrlPr>
                                <a:rPr lang="en-US" i="1">
                                  <a:latin typeface="Cambria Math" panose="02040503050406030204" pitchFamily="18" charset="0"/>
                                </a:rPr>
                              </m:ctrlPr>
                            </m:sSubPr>
                            <m:e>
                              <m:r>
                                <a:rPr lang="en-US" i="1">
                                  <a:latin typeface="Cambria Math" panose="02040503050406030204" pitchFamily="18" charset="0"/>
                                </a:rPr>
                                <m:t>−</m:t>
                              </m:r>
                              <m:r>
                                <a:rPr lang="en-US" i="1">
                                  <a:latin typeface="Cambria Math" panose="02040503050406030204" pitchFamily="18" charset="0"/>
                                </a:rPr>
                                <m:t>𝑡</m:t>
                              </m:r>
                            </m:e>
                            <m:sub>
                              <m:r>
                                <m:rPr>
                                  <m:sty m:val="p"/>
                                </m:rPr>
                                <a:rPr lang="en-US">
                                  <a:latin typeface="Cambria Math" panose="02040503050406030204" pitchFamily="18" charset="0"/>
                                </a:rPr>
                                <m:t>MS</m:t>
                              </m:r>
                            </m:sub>
                          </m:sSub>
                          <m:r>
                            <a:rPr lang="en-US" i="1">
                              <a:latin typeface="Cambria Math" panose="02040503050406030204" pitchFamily="18" charset="0"/>
                            </a:rPr>
                            <m:t>/2</m:t>
                          </m:r>
                        </m:sub>
                        <m:sup>
                          <m:sSub>
                            <m:sSubPr>
                              <m:ctrlPr>
                                <a:rPr lang="en-US" i="1">
                                  <a:latin typeface="Cambria Math" panose="02040503050406030204" pitchFamily="18" charset="0"/>
                                </a:rPr>
                              </m:ctrlPr>
                            </m:sSubPr>
                            <m:e>
                              <m:r>
                                <a:rPr lang="en-US" i="1">
                                  <a:latin typeface="Cambria Math" panose="02040503050406030204" pitchFamily="18" charset="0"/>
                                </a:rPr>
                                <m:t>𝑡</m:t>
                              </m:r>
                            </m:e>
                            <m:sub>
                              <m:r>
                                <m:rPr>
                                  <m:sty m:val="p"/>
                                </m:rPr>
                                <a:rPr lang="en-US">
                                  <a:latin typeface="Cambria Math" panose="02040503050406030204" pitchFamily="18" charset="0"/>
                                </a:rPr>
                                <m:t>MS</m:t>
                              </m:r>
                            </m:sub>
                          </m:sSub>
                          <m:r>
                            <a:rPr lang="en-US" i="1">
                              <a:latin typeface="Cambria Math" panose="02040503050406030204" pitchFamily="18" charset="0"/>
                            </a:rPr>
                            <m:t>/2</m:t>
                          </m:r>
                        </m:sup>
                        <m:e>
                          <m:sSub>
                            <m:sSubPr>
                              <m:ctrlPr>
                                <a:rPr lang="en-US" i="1">
                                  <a:latin typeface="Cambria Math" panose="02040503050406030204" pitchFamily="18" charset="0"/>
                                </a:rPr>
                              </m:ctrlPr>
                            </m:sSubPr>
                            <m:e>
                              <m:r>
                                <a:rPr lang="en-US" i="1">
                                  <a:latin typeface="Cambria Math" panose="02040503050406030204" pitchFamily="18" charset="0"/>
                                </a:rPr>
                                <m:t>𝜅</m:t>
                              </m:r>
                            </m:e>
                            <m:sub>
                              <m:r>
                                <m:rPr>
                                  <m:sty m:val="p"/>
                                </m:rPr>
                                <a:rPr lang="en-US">
                                  <a:latin typeface="Cambria Math" panose="02040503050406030204" pitchFamily="18" charset="0"/>
                                </a:rPr>
                                <m:t>i</m:t>
                              </m:r>
                            </m:sub>
                          </m:sSub>
                          <m:d>
                            <m:dPr>
                              <m:ctrlPr>
                                <a:rPr lang="en-US" i="1">
                                  <a:latin typeface="Cambria Math" panose="02040503050406030204" pitchFamily="18" charset="0"/>
                                </a:rPr>
                              </m:ctrlPr>
                            </m:dPr>
                            <m:e>
                              <m:r>
                                <a:rPr lang="en-US" i="1">
                                  <a:latin typeface="Cambria Math" panose="02040503050406030204" pitchFamily="18" charset="0"/>
                                </a:rPr>
                                <m:t>𝑥</m:t>
                              </m:r>
                            </m:e>
                          </m:d>
                          <m:r>
                            <a:rPr lang="en-US" i="1">
                              <a:latin typeface="Cambria Math" panose="02040503050406030204" pitchFamily="18" charset="0"/>
                            </a:rPr>
                            <m:t>𝑑𝑥</m:t>
                          </m:r>
                        </m:e>
                      </m:nary>
                    </m:oMath>
                  </m:oMathPara>
                </a14:m>
                <a:endParaRPr lang="en-US" dirty="0"/>
              </a:p>
            </p:txBody>
          </p:sp>
        </mc:Choice>
        <mc:Fallback xmlns="">
          <p:sp>
            <p:nvSpPr>
              <p:cNvPr id="32" name="Rectangle 31">
                <a:extLst>
                  <a:ext uri="{FF2B5EF4-FFF2-40B4-BE49-F238E27FC236}">
                    <a16:creationId xmlns:a16="http://schemas.microsoft.com/office/drawing/2014/main" id="{6CA45872-74E3-4927-88F9-F2C86F5522BC}"/>
                  </a:ext>
                </a:extLst>
              </p:cNvPr>
              <p:cNvSpPr>
                <a:spLocks noRot="1" noChangeAspect="1" noMove="1" noResize="1" noEditPoints="1" noAdjustHandles="1" noChangeArrowheads="1" noChangeShapeType="1" noTextEdit="1"/>
              </p:cNvSpPr>
              <p:nvPr/>
            </p:nvSpPr>
            <p:spPr>
              <a:xfrm>
                <a:off x="4472065" y="3285877"/>
                <a:ext cx="2817566" cy="760593"/>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2293C1B1-5C60-4D07-81D2-C7BF8F2F7DBB}"/>
                  </a:ext>
                </a:extLst>
              </p:cNvPr>
              <p:cNvSpPr txBox="1"/>
              <p:nvPr/>
            </p:nvSpPr>
            <p:spPr>
              <a:xfrm>
                <a:off x="7812209" y="5466463"/>
                <a:ext cx="2367507"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i="1" smtClean="0">
                              <a:latin typeface="Cambria Math" panose="02040503050406030204" pitchFamily="18" charset="0"/>
                            </a:rPr>
                            <m:t>𝜀</m:t>
                          </m:r>
                        </m:e>
                        <m:sub>
                          <m:r>
                            <m:rPr>
                              <m:sty m:val="p"/>
                            </m:rPr>
                            <a:rPr lang="en-US" b="0" i="0" smtClean="0">
                              <a:latin typeface="Cambria Math" panose="02040503050406030204" pitchFamily="18" charset="0"/>
                            </a:rPr>
                            <m:t>Bulk</m:t>
                          </m:r>
                        </m:sub>
                      </m:sSub>
                      <m:d>
                        <m:dPr>
                          <m:ctrlPr>
                            <a:rPr lang="en-US" i="1">
                              <a:latin typeface="Cambria Math" panose="02040503050406030204" pitchFamily="18" charset="0"/>
                            </a:rPr>
                          </m:ctrlPr>
                        </m:dPr>
                        <m:e>
                          <m:r>
                            <a:rPr lang="en-US" i="1">
                              <a:latin typeface="Cambria Math" panose="02040503050406030204" pitchFamily="18" charset="0"/>
                            </a:rPr>
                            <m:t>𝜆</m:t>
                          </m:r>
                        </m:e>
                      </m:d>
                      <m:r>
                        <a:rPr lang="en-US" b="0" i="0" smtClean="0">
                          <a:latin typeface="Cambria Math" panose="02040503050406030204" pitchFamily="18" charset="0"/>
                        </a:rPr>
                        <m:t>=1−</m:t>
                      </m:r>
                      <m:sSub>
                        <m:sSubPr>
                          <m:ctrlPr>
                            <a:rPr lang="en-US" i="1">
                              <a:latin typeface="Cambria Math" panose="02040503050406030204" pitchFamily="18" charset="0"/>
                            </a:rPr>
                          </m:ctrlPr>
                        </m:sSubPr>
                        <m:e>
                          <m:r>
                            <a:rPr lang="en-US" i="1">
                              <a:latin typeface="Cambria Math" panose="02040503050406030204" pitchFamily="18" charset="0"/>
                            </a:rPr>
                            <m:t>𝑇</m:t>
                          </m:r>
                        </m:e>
                        <m:sub>
                          <m:r>
                            <m:rPr>
                              <m:sty m:val="p"/>
                            </m:rPr>
                            <a:rPr lang="en-US">
                              <a:latin typeface="Cambria Math" panose="02040503050406030204" pitchFamily="18" charset="0"/>
                            </a:rPr>
                            <m:t>Bulk</m:t>
                          </m:r>
                        </m:sub>
                      </m:sSub>
                      <m:d>
                        <m:dPr>
                          <m:ctrlPr>
                            <a:rPr lang="en-US" i="1">
                              <a:latin typeface="Cambria Math" panose="02040503050406030204" pitchFamily="18" charset="0"/>
                            </a:rPr>
                          </m:ctrlPr>
                        </m:dPr>
                        <m:e>
                          <m:r>
                            <a:rPr lang="en-US" i="1">
                              <a:latin typeface="Cambria Math" panose="02040503050406030204" pitchFamily="18" charset="0"/>
                            </a:rPr>
                            <m:t>𝜆</m:t>
                          </m:r>
                        </m:e>
                      </m:d>
                    </m:oMath>
                  </m:oMathPara>
                </a14:m>
                <a:endParaRPr lang="en-US" i="1" dirty="0"/>
              </a:p>
            </p:txBody>
          </p:sp>
        </mc:Choice>
        <mc:Fallback xmlns="">
          <p:sp>
            <p:nvSpPr>
              <p:cNvPr id="33" name="TextBox 32">
                <a:extLst>
                  <a:ext uri="{FF2B5EF4-FFF2-40B4-BE49-F238E27FC236}">
                    <a16:creationId xmlns:a16="http://schemas.microsoft.com/office/drawing/2014/main" id="{2293C1B1-5C60-4D07-81D2-C7BF8F2F7DBB}"/>
                  </a:ext>
                </a:extLst>
              </p:cNvPr>
              <p:cNvSpPr txBox="1">
                <a:spLocks noRot="1" noChangeAspect="1" noMove="1" noResize="1" noEditPoints="1" noAdjustHandles="1" noChangeArrowheads="1" noChangeShapeType="1" noTextEdit="1"/>
              </p:cNvSpPr>
              <p:nvPr/>
            </p:nvSpPr>
            <p:spPr>
              <a:xfrm>
                <a:off x="7812209" y="5466463"/>
                <a:ext cx="2367507" cy="276999"/>
              </a:xfrm>
              <a:prstGeom prst="rect">
                <a:avLst/>
              </a:prstGeom>
              <a:blipFill>
                <a:blip r:embed="rId5"/>
                <a:stretch>
                  <a:fillRect l="-1031" b="-1777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TextBox 33">
                <a:extLst>
                  <a:ext uri="{FF2B5EF4-FFF2-40B4-BE49-F238E27FC236}">
                    <a16:creationId xmlns:a16="http://schemas.microsoft.com/office/drawing/2014/main" id="{6CE51C68-E5E0-4F21-81A8-10F454354DE1}"/>
                  </a:ext>
                </a:extLst>
              </p:cNvPr>
              <p:cNvSpPr txBox="1"/>
              <p:nvPr/>
            </p:nvSpPr>
            <p:spPr>
              <a:xfrm>
                <a:off x="7884024" y="4836964"/>
                <a:ext cx="2295692" cy="4060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𝑇</m:t>
                          </m:r>
                        </m:e>
                        <m:sub>
                          <m:r>
                            <m:rPr>
                              <m:sty m:val="p"/>
                            </m:rPr>
                            <a:rPr lang="en-US" b="0" i="0" smtClean="0">
                              <a:latin typeface="Cambria Math" panose="02040503050406030204" pitchFamily="18" charset="0"/>
                            </a:rPr>
                            <m:t>Bulk</m:t>
                          </m:r>
                        </m:sub>
                      </m:sSub>
                      <m:d>
                        <m:dPr>
                          <m:ctrlPr>
                            <a:rPr lang="en-US" i="1">
                              <a:latin typeface="Cambria Math" panose="02040503050406030204" pitchFamily="18" charset="0"/>
                            </a:rPr>
                          </m:ctrlPr>
                        </m:dPr>
                        <m:e>
                          <m:r>
                            <a:rPr lang="en-US" i="1">
                              <a:latin typeface="Cambria Math" panose="02040503050406030204" pitchFamily="18" charset="0"/>
                            </a:rPr>
                            <m:t>𝜆</m:t>
                          </m:r>
                        </m:e>
                      </m:d>
                      <m:r>
                        <a:rPr lang="en-US" b="0" i="0"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4</m:t>
                              </m:r>
                              <m:r>
                                <a:rPr lang="en-US" b="0" i="1" smtClean="0">
                                  <a:latin typeface="Cambria Math" panose="02040503050406030204" pitchFamily="18" charset="0"/>
                                </a:rPr>
                                <m:t>𝜋</m:t>
                              </m:r>
                            </m:num>
                            <m:den>
                              <m:r>
                                <a:rPr lang="en-US" b="0" i="1" smtClean="0">
                                  <a:latin typeface="Cambria Math" panose="02040503050406030204" pitchFamily="18" charset="0"/>
                                </a:rPr>
                                <m:t>𝜆</m:t>
                              </m:r>
                            </m:den>
                          </m:f>
                          <m:sSub>
                            <m:sSubPr>
                              <m:ctrlPr>
                                <a:rPr lang="en-US" b="0" i="1" smtClean="0">
                                  <a:latin typeface="Cambria Math" panose="02040503050406030204" pitchFamily="18" charset="0"/>
                                </a:rPr>
                              </m:ctrlPr>
                            </m:sSubPr>
                            <m:e>
                              <m:r>
                                <a:rPr lang="en-US" b="0" i="1" smtClean="0">
                                  <a:latin typeface="Cambria Math" panose="02040503050406030204" pitchFamily="18" charset="0"/>
                                </a:rPr>
                                <m:t>𝜅</m:t>
                              </m:r>
                            </m:e>
                            <m:sub>
                              <m:r>
                                <m:rPr>
                                  <m:sty m:val="p"/>
                                </m:rPr>
                                <a:rPr lang="en-US" b="0" i="0" smtClean="0">
                                  <a:latin typeface="Cambria Math" panose="02040503050406030204" pitchFamily="18" charset="0"/>
                                </a:rPr>
                                <m:t>avg</m:t>
                              </m:r>
                            </m:sub>
                          </m:sSub>
                          <m:sSub>
                            <m:sSubPr>
                              <m:ctrlPr>
                                <a:rPr lang="en-US" b="0" i="1" smtClean="0">
                                  <a:latin typeface="Cambria Math" panose="02040503050406030204" pitchFamily="18" charset="0"/>
                                </a:rPr>
                              </m:ctrlPr>
                            </m:sSubPr>
                            <m:e>
                              <m:r>
                                <a:rPr lang="en-US" b="0" i="1" smtClean="0">
                                  <a:latin typeface="Cambria Math" panose="02040503050406030204" pitchFamily="18" charset="0"/>
                                </a:rPr>
                                <m:t>𝑡</m:t>
                              </m:r>
                            </m:e>
                            <m:sub>
                              <m:r>
                                <m:rPr>
                                  <m:sty m:val="p"/>
                                </m:rPr>
                                <a:rPr lang="en-US" b="0" i="0" smtClean="0">
                                  <a:latin typeface="Cambria Math" panose="02040503050406030204" pitchFamily="18" charset="0"/>
                                </a:rPr>
                                <m:t>MS</m:t>
                              </m:r>
                            </m:sub>
                          </m:sSub>
                        </m:sup>
                      </m:sSup>
                    </m:oMath>
                  </m:oMathPara>
                </a14:m>
                <a:endParaRPr lang="en-US" i="1" dirty="0"/>
              </a:p>
            </p:txBody>
          </p:sp>
        </mc:Choice>
        <mc:Fallback xmlns="">
          <p:sp>
            <p:nvSpPr>
              <p:cNvPr id="34" name="TextBox 33">
                <a:extLst>
                  <a:ext uri="{FF2B5EF4-FFF2-40B4-BE49-F238E27FC236}">
                    <a16:creationId xmlns:a16="http://schemas.microsoft.com/office/drawing/2014/main" id="{6CE51C68-E5E0-4F21-81A8-10F454354DE1}"/>
                  </a:ext>
                </a:extLst>
              </p:cNvPr>
              <p:cNvSpPr txBox="1">
                <a:spLocks noRot="1" noChangeAspect="1" noMove="1" noResize="1" noEditPoints="1" noAdjustHandles="1" noChangeArrowheads="1" noChangeShapeType="1" noTextEdit="1"/>
              </p:cNvSpPr>
              <p:nvPr/>
            </p:nvSpPr>
            <p:spPr>
              <a:xfrm>
                <a:off x="7884024" y="4836964"/>
                <a:ext cx="2295692" cy="406073"/>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A018C3E2-0816-421C-9383-31175861D737}"/>
                  </a:ext>
                </a:extLst>
              </p:cNvPr>
              <p:cNvSpPr txBox="1"/>
              <p:nvPr/>
            </p:nvSpPr>
            <p:spPr>
              <a:xfrm>
                <a:off x="1563653" y="4786709"/>
                <a:ext cx="3323859" cy="93961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b="0" i="0" smtClean="0">
                          <a:latin typeface="Cambria Math" panose="02040503050406030204" pitchFamily="18" charset="0"/>
                        </a:rPr>
                        <m:t>FoM</m:t>
                      </m:r>
                      <m:r>
                        <a:rPr lang="en-US" b="0" i="0"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nary>
                                    <m:naryPr>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sup>
                                    <m:e>
                                      <m:r>
                                        <a:rPr lang="en-US" b="0" i="1" smtClean="0">
                                          <a:latin typeface="Cambria Math" panose="02040503050406030204" pitchFamily="18" charset="0"/>
                                        </a:rPr>
                                        <m:t>𝒯</m:t>
                                      </m:r>
                                      <m:d>
                                        <m:dPr>
                                          <m:ctrlPr>
                                            <a:rPr lang="en-US" b="0" i="1" smtClean="0">
                                              <a:latin typeface="Cambria Math" panose="02040503050406030204" pitchFamily="18" charset="0"/>
                                            </a:rPr>
                                          </m:ctrlPr>
                                        </m:dPr>
                                        <m:e>
                                          <m:r>
                                            <a:rPr lang="en-US" b="0" i="1" smtClean="0">
                                              <a:latin typeface="Cambria Math" panose="02040503050406030204" pitchFamily="18" charset="0"/>
                                            </a:rPr>
                                            <m:t>𝜆</m:t>
                                          </m:r>
                                        </m:e>
                                      </m:d>
                                      <m:r>
                                        <a:rPr lang="en-US" b="0" i="1" smtClean="0">
                                          <a:latin typeface="Cambria Math" panose="02040503050406030204" pitchFamily="18" charset="0"/>
                                        </a:rPr>
                                        <m:t>𝑑</m:t>
                                      </m:r>
                                      <m:r>
                                        <a:rPr lang="en-US" b="0" i="1" smtClean="0">
                                          <a:latin typeface="Cambria Math" panose="02040503050406030204" pitchFamily="18" charset="0"/>
                                        </a:rPr>
                                        <m:t>𝜆</m:t>
                                      </m:r>
                                      <m:r>
                                        <a:rPr lang="en-US" b="0" i="1" smtClean="0">
                                          <a:latin typeface="Cambria Math" panose="02040503050406030204" pitchFamily="18" charset="0"/>
                                        </a:rPr>
                                        <m:t>)</m:t>
                                      </m:r>
                                    </m:e>
                                  </m:nary>
                                </m:e>
                              </m:d>
                            </m:e>
                            <m:sup>
                              <m:r>
                                <a:rPr lang="en-US" b="0" i="1" smtClean="0">
                                  <a:latin typeface="Cambria Math" panose="02040503050406030204" pitchFamily="18" charset="0"/>
                                </a:rPr>
                                <m:t>2</m:t>
                              </m:r>
                            </m:sup>
                          </m:sSup>
                        </m:num>
                        <m:den>
                          <m:nary>
                            <m:naryPr>
                              <m:ctrlPr>
                                <a:rPr lang="en-US" b="0" i="1" smtClean="0">
                                  <a:latin typeface="Cambria Math" panose="02040503050406030204" pitchFamily="18" charset="0"/>
                                </a:rPr>
                              </m:ctrlPr>
                            </m:naryPr>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sub>
                            <m:sup>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sup>
                            <m:e>
                              <m:r>
                                <a:rPr lang="en-US" b="0" i="1" smtClean="0">
                                  <a:latin typeface="Cambria Math" panose="02040503050406030204" pitchFamily="18" charset="0"/>
                                </a:rPr>
                                <m:t>𝜀</m:t>
                              </m:r>
                              <m:d>
                                <m:dPr>
                                  <m:ctrlPr>
                                    <a:rPr lang="en-US" b="0" i="1" smtClean="0">
                                      <a:latin typeface="Cambria Math" panose="02040503050406030204" pitchFamily="18" charset="0"/>
                                    </a:rPr>
                                  </m:ctrlPr>
                                </m:dPr>
                                <m:e>
                                  <m:r>
                                    <a:rPr lang="en-US" b="0" i="1" smtClean="0">
                                      <a:latin typeface="Cambria Math" panose="02040503050406030204" pitchFamily="18" charset="0"/>
                                    </a:rPr>
                                    <m:t>𝜆</m:t>
                                  </m:r>
                                </m:e>
                              </m:d>
                              <m:r>
                                <a:rPr lang="en-US" b="0" i="1" smtClean="0">
                                  <a:latin typeface="Cambria Math" panose="02040503050406030204" pitchFamily="18" charset="0"/>
                                </a:rPr>
                                <m:t>𝑑</m:t>
                              </m:r>
                              <m:r>
                                <a:rPr lang="en-US" b="0" i="1" smtClean="0">
                                  <a:latin typeface="Cambria Math" panose="02040503050406030204" pitchFamily="18" charset="0"/>
                                </a:rPr>
                                <m:t>𝜆</m:t>
                              </m:r>
                            </m:e>
                          </m:nary>
                        </m:den>
                      </m:f>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2</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𝜆</m:t>
                              </m:r>
                            </m:e>
                            <m:sub>
                              <m:r>
                                <a:rPr lang="en-US" b="0" i="1" smtClean="0">
                                  <a:latin typeface="Cambria Math" panose="02040503050406030204" pitchFamily="18" charset="0"/>
                                </a:rPr>
                                <m:t>1</m:t>
                              </m:r>
                            </m:sub>
                          </m:sSub>
                        </m:den>
                      </m:f>
                    </m:oMath>
                  </m:oMathPara>
                </a14:m>
                <a:endParaRPr lang="en-US" dirty="0"/>
              </a:p>
            </p:txBody>
          </p:sp>
        </mc:Choice>
        <mc:Fallback xmlns="">
          <p:sp>
            <p:nvSpPr>
              <p:cNvPr id="35" name="TextBox 34">
                <a:extLst>
                  <a:ext uri="{FF2B5EF4-FFF2-40B4-BE49-F238E27FC236}">
                    <a16:creationId xmlns:a16="http://schemas.microsoft.com/office/drawing/2014/main" id="{A018C3E2-0816-421C-9383-31175861D737}"/>
                  </a:ext>
                </a:extLst>
              </p:cNvPr>
              <p:cNvSpPr txBox="1">
                <a:spLocks noRot="1" noChangeAspect="1" noMove="1" noResize="1" noEditPoints="1" noAdjustHandles="1" noChangeArrowheads="1" noChangeShapeType="1" noTextEdit="1"/>
              </p:cNvSpPr>
              <p:nvPr/>
            </p:nvSpPr>
            <p:spPr>
              <a:xfrm>
                <a:off x="1563653" y="4786709"/>
                <a:ext cx="3323859" cy="939616"/>
              </a:xfrm>
              <a:prstGeom prst="rect">
                <a:avLst/>
              </a:prstGeom>
              <a:blipFill>
                <a:blip r:embed="rId7"/>
                <a:stretch>
                  <a:fillRect/>
                </a:stretch>
              </a:blipFill>
            </p:spPr>
            <p:txBody>
              <a:bodyPr/>
              <a:lstStyle/>
              <a:p>
                <a:r>
                  <a:rPr lang="en-US">
                    <a:noFill/>
                  </a:rPr>
                  <a:t> </a:t>
                </a:r>
              </a:p>
            </p:txBody>
          </p:sp>
        </mc:Fallback>
      </mc:AlternateContent>
      <p:sp>
        <p:nvSpPr>
          <p:cNvPr id="36" name="TextBox 35">
            <a:extLst>
              <a:ext uri="{FF2B5EF4-FFF2-40B4-BE49-F238E27FC236}">
                <a16:creationId xmlns:a16="http://schemas.microsoft.com/office/drawing/2014/main" id="{6171E14B-6A5D-4C67-BE5A-71E0F30D172A}"/>
              </a:ext>
            </a:extLst>
          </p:cNvPr>
          <p:cNvSpPr txBox="1"/>
          <p:nvPr/>
        </p:nvSpPr>
        <p:spPr>
          <a:xfrm>
            <a:off x="744781" y="1281979"/>
            <a:ext cx="538930" cy="707886"/>
          </a:xfrm>
          <a:prstGeom prst="rect">
            <a:avLst/>
          </a:prstGeom>
          <a:noFill/>
        </p:spPr>
        <p:txBody>
          <a:bodyPr wrap="none" rtlCol="0">
            <a:spAutoFit/>
          </a:bodyPr>
          <a:lstStyle/>
          <a:p>
            <a:r>
              <a:rPr lang="en-US" sz="4000" dirty="0"/>
              <a:t>…</a:t>
            </a:r>
          </a:p>
        </p:txBody>
      </p:sp>
      <p:sp>
        <p:nvSpPr>
          <p:cNvPr id="37" name="TextBox 36">
            <a:extLst>
              <a:ext uri="{FF2B5EF4-FFF2-40B4-BE49-F238E27FC236}">
                <a16:creationId xmlns:a16="http://schemas.microsoft.com/office/drawing/2014/main" id="{66C55963-6226-4567-BD83-9D2BE7B93C90}"/>
              </a:ext>
            </a:extLst>
          </p:cNvPr>
          <p:cNvSpPr txBox="1"/>
          <p:nvPr/>
        </p:nvSpPr>
        <p:spPr>
          <a:xfrm>
            <a:off x="10472216" y="3134087"/>
            <a:ext cx="538930" cy="707886"/>
          </a:xfrm>
          <a:prstGeom prst="rect">
            <a:avLst/>
          </a:prstGeom>
          <a:noFill/>
        </p:spPr>
        <p:txBody>
          <a:bodyPr wrap="none" rtlCol="0">
            <a:spAutoFit/>
          </a:bodyPr>
          <a:lstStyle/>
          <a:p>
            <a:r>
              <a:rPr lang="en-US" sz="4000" dirty="0"/>
              <a:t>…</a:t>
            </a:r>
          </a:p>
        </p:txBody>
      </p:sp>
      <p:sp>
        <p:nvSpPr>
          <p:cNvPr id="38" name="TextBox 37">
            <a:extLst>
              <a:ext uri="{FF2B5EF4-FFF2-40B4-BE49-F238E27FC236}">
                <a16:creationId xmlns:a16="http://schemas.microsoft.com/office/drawing/2014/main" id="{A4D8170F-4BB9-4646-B6B9-BBC540BA767C}"/>
              </a:ext>
            </a:extLst>
          </p:cNvPr>
          <p:cNvSpPr txBox="1"/>
          <p:nvPr/>
        </p:nvSpPr>
        <p:spPr>
          <a:xfrm>
            <a:off x="744781" y="3134087"/>
            <a:ext cx="538930" cy="707886"/>
          </a:xfrm>
          <a:prstGeom prst="rect">
            <a:avLst/>
          </a:prstGeom>
          <a:noFill/>
        </p:spPr>
        <p:txBody>
          <a:bodyPr wrap="none" rtlCol="0">
            <a:spAutoFit/>
          </a:bodyPr>
          <a:lstStyle/>
          <a:p>
            <a:r>
              <a:rPr lang="en-US" sz="4000" dirty="0"/>
              <a:t>…</a:t>
            </a:r>
          </a:p>
        </p:txBody>
      </p:sp>
      <p:sp>
        <p:nvSpPr>
          <p:cNvPr id="39" name="TextBox 38">
            <a:extLst>
              <a:ext uri="{FF2B5EF4-FFF2-40B4-BE49-F238E27FC236}">
                <a16:creationId xmlns:a16="http://schemas.microsoft.com/office/drawing/2014/main" id="{11F386A0-4CA6-4C4B-8B1B-0A1B79372EE6}"/>
              </a:ext>
            </a:extLst>
          </p:cNvPr>
          <p:cNvSpPr txBox="1"/>
          <p:nvPr/>
        </p:nvSpPr>
        <p:spPr>
          <a:xfrm>
            <a:off x="10472216" y="1281979"/>
            <a:ext cx="538930" cy="707886"/>
          </a:xfrm>
          <a:prstGeom prst="rect">
            <a:avLst/>
          </a:prstGeom>
          <a:noFill/>
        </p:spPr>
        <p:txBody>
          <a:bodyPr wrap="none" rtlCol="0">
            <a:spAutoFit/>
          </a:bodyPr>
          <a:lstStyle/>
          <a:p>
            <a:r>
              <a:rPr lang="en-US" sz="4000" dirty="0"/>
              <a:t>…</a:t>
            </a:r>
          </a:p>
        </p:txBody>
      </p:sp>
      <p:sp>
        <p:nvSpPr>
          <p:cNvPr id="42" name="Left Brace 41">
            <a:extLst>
              <a:ext uri="{FF2B5EF4-FFF2-40B4-BE49-F238E27FC236}">
                <a16:creationId xmlns:a16="http://schemas.microsoft.com/office/drawing/2014/main" id="{A8C7CE91-E6BD-42A8-83B2-F4CB6D7C0C71}"/>
              </a:ext>
            </a:extLst>
          </p:cNvPr>
          <p:cNvSpPr/>
          <p:nvPr/>
        </p:nvSpPr>
        <p:spPr>
          <a:xfrm rot="5400000">
            <a:off x="3447546" y="-1442916"/>
            <a:ext cx="373491" cy="4493110"/>
          </a:xfrm>
          <a:prstGeom prst="leftBrace">
            <a:avLst/>
          </a:prstGeom>
          <a:noFill/>
          <a:ln w="1905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3" name="TextBox 42">
            <a:extLst>
              <a:ext uri="{FF2B5EF4-FFF2-40B4-BE49-F238E27FC236}">
                <a16:creationId xmlns:a16="http://schemas.microsoft.com/office/drawing/2014/main" id="{B90DD01A-BB5E-45F7-AD34-A4D8C2834981}"/>
              </a:ext>
            </a:extLst>
          </p:cNvPr>
          <p:cNvSpPr txBox="1"/>
          <p:nvPr/>
        </p:nvSpPr>
        <p:spPr>
          <a:xfrm>
            <a:off x="3210745" y="135984"/>
            <a:ext cx="847091" cy="369332"/>
          </a:xfrm>
          <a:prstGeom prst="rect">
            <a:avLst/>
          </a:prstGeom>
          <a:noFill/>
        </p:spPr>
        <p:txBody>
          <a:bodyPr wrap="none" rtlCol="0">
            <a:spAutoFit/>
          </a:bodyPr>
          <a:lstStyle/>
          <a:p>
            <a:r>
              <a:rPr lang="en-US" dirty="0"/>
              <a:t>1 Stack</a:t>
            </a:r>
          </a:p>
        </p:txBody>
      </p:sp>
    </p:spTree>
    <p:extLst>
      <p:ext uri="{BB962C8B-B14F-4D97-AF65-F5344CB8AC3E}">
        <p14:creationId xmlns:p14="http://schemas.microsoft.com/office/powerpoint/2010/main" val="31333861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173654C-CB4D-4840-AB8D-6B9C3944CA92}"/>
              </a:ext>
            </a:extLst>
          </p:cNvPr>
          <p:cNvPicPr>
            <a:picLocks noChangeAspect="1"/>
          </p:cNvPicPr>
          <p:nvPr/>
        </p:nvPicPr>
        <p:blipFill>
          <a:blip r:embed="rId2"/>
          <a:stretch>
            <a:fillRect/>
          </a:stretch>
        </p:blipFill>
        <p:spPr>
          <a:xfrm>
            <a:off x="608749" y="42532"/>
            <a:ext cx="5870876" cy="4227030"/>
          </a:xfrm>
          <a:prstGeom prst="rect">
            <a:avLst/>
          </a:prstGeom>
        </p:spPr>
      </p:pic>
      <p:pic>
        <p:nvPicPr>
          <p:cNvPr id="7" name="Picture 6">
            <a:extLst>
              <a:ext uri="{FF2B5EF4-FFF2-40B4-BE49-F238E27FC236}">
                <a16:creationId xmlns:a16="http://schemas.microsoft.com/office/drawing/2014/main" id="{A1FF7AB6-5941-4FE9-B151-3EFF6D4A40AE}"/>
              </a:ext>
            </a:extLst>
          </p:cNvPr>
          <p:cNvPicPr>
            <a:picLocks noChangeAspect="1"/>
          </p:cNvPicPr>
          <p:nvPr/>
        </p:nvPicPr>
        <p:blipFill rotWithShape="1">
          <a:blip r:embed="rId3"/>
          <a:srcRect b="37423"/>
          <a:stretch/>
        </p:blipFill>
        <p:spPr>
          <a:xfrm>
            <a:off x="165586" y="4324863"/>
            <a:ext cx="7586546" cy="2182263"/>
          </a:xfrm>
          <a:prstGeom prst="rect">
            <a:avLst/>
          </a:prstGeom>
        </p:spPr>
      </p:pic>
      <p:pic>
        <p:nvPicPr>
          <p:cNvPr id="8" name="Picture 7">
            <a:extLst>
              <a:ext uri="{FF2B5EF4-FFF2-40B4-BE49-F238E27FC236}">
                <a16:creationId xmlns:a16="http://schemas.microsoft.com/office/drawing/2014/main" id="{9353FA1F-7732-464A-A534-1FE0B8932A16}"/>
              </a:ext>
            </a:extLst>
          </p:cNvPr>
          <p:cNvPicPr>
            <a:picLocks noChangeAspect="1"/>
          </p:cNvPicPr>
          <p:nvPr/>
        </p:nvPicPr>
        <p:blipFill>
          <a:blip r:embed="rId4"/>
          <a:stretch>
            <a:fillRect/>
          </a:stretch>
        </p:blipFill>
        <p:spPr>
          <a:xfrm>
            <a:off x="8103308" y="411187"/>
            <a:ext cx="3630115" cy="2796170"/>
          </a:xfrm>
          <a:prstGeom prst="rect">
            <a:avLst/>
          </a:prstGeom>
        </p:spPr>
      </p:pic>
      <p:pic>
        <p:nvPicPr>
          <p:cNvPr id="9" name="Picture 8">
            <a:extLst>
              <a:ext uri="{FF2B5EF4-FFF2-40B4-BE49-F238E27FC236}">
                <a16:creationId xmlns:a16="http://schemas.microsoft.com/office/drawing/2014/main" id="{0C65305E-A942-4429-8D84-07D07D839BA8}"/>
              </a:ext>
            </a:extLst>
          </p:cNvPr>
          <p:cNvPicPr>
            <a:picLocks noChangeAspect="1"/>
          </p:cNvPicPr>
          <p:nvPr/>
        </p:nvPicPr>
        <p:blipFill>
          <a:blip r:embed="rId5"/>
          <a:stretch>
            <a:fillRect/>
          </a:stretch>
        </p:blipFill>
        <p:spPr>
          <a:xfrm>
            <a:off x="8122575" y="3479580"/>
            <a:ext cx="3591579" cy="2796170"/>
          </a:xfrm>
          <a:prstGeom prst="rect">
            <a:avLst/>
          </a:prstGeom>
        </p:spPr>
      </p:pic>
    </p:spTree>
    <p:extLst>
      <p:ext uri="{BB962C8B-B14F-4D97-AF65-F5344CB8AC3E}">
        <p14:creationId xmlns:p14="http://schemas.microsoft.com/office/powerpoint/2010/main" val="6590357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9B2C4D-299B-4336-B7E7-D9BEA94BCEE0}"/>
              </a:ext>
            </a:extLst>
          </p:cNvPr>
          <p:cNvSpPr txBox="1"/>
          <p:nvPr/>
        </p:nvSpPr>
        <p:spPr>
          <a:xfrm>
            <a:off x="731365" y="168372"/>
            <a:ext cx="3218253" cy="369332"/>
          </a:xfrm>
          <a:prstGeom prst="rect">
            <a:avLst/>
          </a:prstGeom>
          <a:noFill/>
        </p:spPr>
        <p:txBody>
          <a:bodyPr wrap="none" rtlCol="0">
            <a:spAutoFit/>
          </a:bodyPr>
          <a:lstStyle/>
          <a:p>
            <a:r>
              <a:rPr lang="en-US" dirty="0"/>
              <a:t>Computational (TMM software):</a:t>
            </a:r>
          </a:p>
        </p:txBody>
      </p:sp>
      <p:sp>
        <p:nvSpPr>
          <p:cNvPr id="5" name="TextBox 4">
            <a:extLst>
              <a:ext uri="{FF2B5EF4-FFF2-40B4-BE49-F238E27FC236}">
                <a16:creationId xmlns:a16="http://schemas.microsoft.com/office/drawing/2014/main" id="{BEFA9D80-D80B-42AB-9C23-25FBFA2AEB86}"/>
              </a:ext>
            </a:extLst>
          </p:cNvPr>
          <p:cNvSpPr txBox="1"/>
          <p:nvPr/>
        </p:nvSpPr>
        <p:spPr>
          <a:xfrm>
            <a:off x="7967330" y="168372"/>
            <a:ext cx="1666675" cy="369332"/>
          </a:xfrm>
          <a:prstGeom prst="rect">
            <a:avLst/>
          </a:prstGeom>
          <a:noFill/>
        </p:spPr>
        <p:txBody>
          <a:bodyPr wrap="none" rtlCol="0">
            <a:spAutoFit/>
          </a:bodyPr>
          <a:lstStyle/>
          <a:p>
            <a:r>
              <a:rPr lang="en-US" dirty="0"/>
              <a:t>Semi-analytical:</a:t>
            </a:r>
          </a:p>
        </p:txBody>
      </p:sp>
      <p:pic>
        <p:nvPicPr>
          <p:cNvPr id="6" name="Picture 5">
            <a:extLst>
              <a:ext uri="{FF2B5EF4-FFF2-40B4-BE49-F238E27FC236}">
                <a16:creationId xmlns:a16="http://schemas.microsoft.com/office/drawing/2014/main" id="{5F0A24FA-5876-4F12-A941-C25EEDE12BE0}"/>
              </a:ext>
            </a:extLst>
          </p:cNvPr>
          <p:cNvPicPr>
            <a:picLocks noChangeAspect="1"/>
          </p:cNvPicPr>
          <p:nvPr/>
        </p:nvPicPr>
        <p:blipFill>
          <a:blip r:embed="rId2"/>
          <a:stretch>
            <a:fillRect/>
          </a:stretch>
        </p:blipFill>
        <p:spPr>
          <a:xfrm>
            <a:off x="209263" y="749876"/>
            <a:ext cx="3836048" cy="2925471"/>
          </a:xfrm>
          <a:prstGeom prst="rect">
            <a:avLst/>
          </a:prstGeom>
        </p:spPr>
      </p:pic>
      <p:pic>
        <p:nvPicPr>
          <p:cNvPr id="7" name="Picture 6">
            <a:extLst>
              <a:ext uri="{FF2B5EF4-FFF2-40B4-BE49-F238E27FC236}">
                <a16:creationId xmlns:a16="http://schemas.microsoft.com/office/drawing/2014/main" id="{45F63DC1-B827-45AB-A6DC-5BB3948C94CF}"/>
              </a:ext>
            </a:extLst>
          </p:cNvPr>
          <p:cNvPicPr>
            <a:picLocks noChangeAspect="1"/>
          </p:cNvPicPr>
          <p:nvPr/>
        </p:nvPicPr>
        <p:blipFill>
          <a:blip r:embed="rId3"/>
          <a:stretch>
            <a:fillRect/>
          </a:stretch>
        </p:blipFill>
        <p:spPr>
          <a:xfrm>
            <a:off x="209262" y="3719149"/>
            <a:ext cx="3836049" cy="2970479"/>
          </a:xfrm>
          <a:prstGeom prst="rect">
            <a:avLst/>
          </a:prstGeom>
        </p:spPr>
      </p:pic>
      <p:pic>
        <p:nvPicPr>
          <p:cNvPr id="9" name="Picture 8">
            <a:extLst>
              <a:ext uri="{FF2B5EF4-FFF2-40B4-BE49-F238E27FC236}">
                <a16:creationId xmlns:a16="http://schemas.microsoft.com/office/drawing/2014/main" id="{8C10D244-1CA9-4301-AF63-6DA4187BC16C}"/>
              </a:ext>
            </a:extLst>
          </p:cNvPr>
          <p:cNvPicPr>
            <a:picLocks noChangeAspect="1"/>
          </p:cNvPicPr>
          <p:nvPr/>
        </p:nvPicPr>
        <p:blipFill rotWithShape="1">
          <a:blip r:embed="rId4">
            <a:extLst>
              <a:ext uri="{28A0092B-C50C-407E-A947-70E740481C1C}">
                <a14:useLocalDpi xmlns:a14="http://schemas.microsoft.com/office/drawing/2010/main" val="0"/>
              </a:ext>
            </a:extLst>
          </a:blip>
          <a:srcRect l="4246" t="5615" r="11677"/>
          <a:stretch/>
        </p:blipFill>
        <p:spPr>
          <a:xfrm>
            <a:off x="6977400" y="3719148"/>
            <a:ext cx="3528104" cy="2970480"/>
          </a:xfrm>
          <a:prstGeom prst="rect">
            <a:avLst/>
          </a:prstGeom>
        </p:spPr>
      </p:pic>
      <p:pic>
        <p:nvPicPr>
          <p:cNvPr id="13" name="Picture 12">
            <a:extLst>
              <a:ext uri="{FF2B5EF4-FFF2-40B4-BE49-F238E27FC236}">
                <a16:creationId xmlns:a16="http://schemas.microsoft.com/office/drawing/2014/main" id="{B1464C31-9CF1-4C75-B7FE-BF139D68F910}"/>
              </a:ext>
            </a:extLst>
          </p:cNvPr>
          <p:cNvPicPr>
            <a:picLocks noChangeAspect="1"/>
          </p:cNvPicPr>
          <p:nvPr/>
        </p:nvPicPr>
        <p:blipFill rotWithShape="1">
          <a:blip r:embed="rId5">
            <a:extLst>
              <a:ext uri="{28A0092B-C50C-407E-A947-70E740481C1C}">
                <a14:useLocalDpi xmlns:a14="http://schemas.microsoft.com/office/drawing/2010/main" val="0"/>
              </a:ext>
            </a:extLst>
          </a:blip>
          <a:srcRect l="3497" t="5357" r="9450"/>
          <a:stretch/>
        </p:blipFill>
        <p:spPr>
          <a:xfrm>
            <a:off x="6977400" y="713860"/>
            <a:ext cx="3632009" cy="2961487"/>
          </a:xfrm>
          <a:prstGeom prst="rect">
            <a:avLst/>
          </a:prstGeom>
        </p:spPr>
      </p:pic>
      <p:cxnSp>
        <p:nvCxnSpPr>
          <p:cNvPr id="20" name="Straight Connector 19">
            <a:extLst>
              <a:ext uri="{FF2B5EF4-FFF2-40B4-BE49-F238E27FC236}">
                <a16:creationId xmlns:a16="http://schemas.microsoft.com/office/drawing/2014/main" id="{A2463B85-BFA5-423D-9211-6A8B9EE8B169}"/>
              </a:ext>
            </a:extLst>
          </p:cNvPr>
          <p:cNvCxnSpPr/>
          <p:nvPr/>
        </p:nvCxnSpPr>
        <p:spPr>
          <a:xfrm>
            <a:off x="5534260" y="705699"/>
            <a:ext cx="0" cy="593929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7042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A9B2C4D-299B-4336-B7E7-D9BEA94BCEE0}"/>
              </a:ext>
            </a:extLst>
          </p:cNvPr>
          <p:cNvSpPr txBox="1"/>
          <p:nvPr/>
        </p:nvSpPr>
        <p:spPr>
          <a:xfrm>
            <a:off x="731365" y="168372"/>
            <a:ext cx="3218253" cy="369332"/>
          </a:xfrm>
          <a:prstGeom prst="rect">
            <a:avLst/>
          </a:prstGeom>
          <a:noFill/>
        </p:spPr>
        <p:txBody>
          <a:bodyPr wrap="none" rtlCol="0">
            <a:spAutoFit/>
          </a:bodyPr>
          <a:lstStyle/>
          <a:p>
            <a:r>
              <a:rPr lang="en-US" dirty="0"/>
              <a:t>Computational (TMM software):</a:t>
            </a:r>
          </a:p>
        </p:txBody>
      </p:sp>
      <p:sp>
        <p:nvSpPr>
          <p:cNvPr id="5" name="TextBox 4">
            <a:extLst>
              <a:ext uri="{FF2B5EF4-FFF2-40B4-BE49-F238E27FC236}">
                <a16:creationId xmlns:a16="http://schemas.microsoft.com/office/drawing/2014/main" id="{BEFA9D80-D80B-42AB-9C23-25FBFA2AEB86}"/>
              </a:ext>
            </a:extLst>
          </p:cNvPr>
          <p:cNvSpPr txBox="1"/>
          <p:nvPr/>
        </p:nvSpPr>
        <p:spPr>
          <a:xfrm>
            <a:off x="7967330" y="168372"/>
            <a:ext cx="1666675" cy="369332"/>
          </a:xfrm>
          <a:prstGeom prst="rect">
            <a:avLst/>
          </a:prstGeom>
          <a:noFill/>
        </p:spPr>
        <p:txBody>
          <a:bodyPr wrap="none" rtlCol="0">
            <a:spAutoFit/>
          </a:bodyPr>
          <a:lstStyle/>
          <a:p>
            <a:r>
              <a:rPr lang="en-US" dirty="0"/>
              <a:t>Semi-analytical:</a:t>
            </a:r>
          </a:p>
        </p:txBody>
      </p:sp>
      <p:pic>
        <p:nvPicPr>
          <p:cNvPr id="6" name="Picture 5">
            <a:extLst>
              <a:ext uri="{FF2B5EF4-FFF2-40B4-BE49-F238E27FC236}">
                <a16:creationId xmlns:a16="http://schemas.microsoft.com/office/drawing/2014/main" id="{5F0A24FA-5876-4F12-A941-C25EEDE12BE0}"/>
              </a:ext>
            </a:extLst>
          </p:cNvPr>
          <p:cNvPicPr>
            <a:picLocks noChangeAspect="1"/>
          </p:cNvPicPr>
          <p:nvPr/>
        </p:nvPicPr>
        <p:blipFill>
          <a:blip r:embed="rId2"/>
          <a:stretch>
            <a:fillRect/>
          </a:stretch>
        </p:blipFill>
        <p:spPr>
          <a:xfrm>
            <a:off x="209263" y="749876"/>
            <a:ext cx="3836048" cy="2925471"/>
          </a:xfrm>
          <a:prstGeom prst="rect">
            <a:avLst/>
          </a:prstGeom>
        </p:spPr>
      </p:pic>
      <p:pic>
        <p:nvPicPr>
          <p:cNvPr id="7" name="Picture 6">
            <a:extLst>
              <a:ext uri="{FF2B5EF4-FFF2-40B4-BE49-F238E27FC236}">
                <a16:creationId xmlns:a16="http://schemas.microsoft.com/office/drawing/2014/main" id="{45F63DC1-B827-45AB-A6DC-5BB3948C94CF}"/>
              </a:ext>
            </a:extLst>
          </p:cNvPr>
          <p:cNvPicPr>
            <a:picLocks noChangeAspect="1"/>
          </p:cNvPicPr>
          <p:nvPr/>
        </p:nvPicPr>
        <p:blipFill>
          <a:blip r:embed="rId3"/>
          <a:stretch>
            <a:fillRect/>
          </a:stretch>
        </p:blipFill>
        <p:spPr>
          <a:xfrm>
            <a:off x="209262" y="3719149"/>
            <a:ext cx="3836049" cy="2970479"/>
          </a:xfrm>
          <a:prstGeom prst="rect">
            <a:avLst/>
          </a:prstGeom>
        </p:spPr>
      </p:pic>
      <p:pic>
        <p:nvPicPr>
          <p:cNvPr id="9" name="Picture 8">
            <a:extLst>
              <a:ext uri="{FF2B5EF4-FFF2-40B4-BE49-F238E27FC236}">
                <a16:creationId xmlns:a16="http://schemas.microsoft.com/office/drawing/2014/main" id="{8C10D244-1CA9-4301-AF63-6DA4187BC16C}"/>
              </a:ext>
            </a:extLst>
          </p:cNvPr>
          <p:cNvPicPr>
            <a:picLocks noChangeAspect="1"/>
          </p:cNvPicPr>
          <p:nvPr/>
        </p:nvPicPr>
        <p:blipFill rotWithShape="1">
          <a:blip r:embed="rId4">
            <a:extLst>
              <a:ext uri="{28A0092B-C50C-407E-A947-70E740481C1C}">
                <a14:useLocalDpi xmlns:a14="http://schemas.microsoft.com/office/drawing/2010/main" val="0"/>
              </a:ext>
            </a:extLst>
          </a:blip>
          <a:srcRect l="4246" t="5615" r="11677"/>
          <a:stretch/>
        </p:blipFill>
        <p:spPr>
          <a:xfrm>
            <a:off x="4542531" y="3719148"/>
            <a:ext cx="3528104" cy="2970480"/>
          </a:xfrm>
          <a:prstGeom prst="rect">
            <a:avLst/>
          </a:prstGeom>
        </p:spPr>
      </p:pic>
      <p:pic>
        <p:nvPicPr>
          <p:cNvPr id="13" name="Picture 12">
            <a:extLst>
              <a:ext uri="{FF2B5EF4-FFF2-40B4-BE49-F238E27FC236}">
                <a16:creationId xmlns:a16="http://schemas.microsoft.com/office/drawing/2014/main" id="{B1464C31-9CF1-4C75-B7FE-BF139D68F910}"/>
              </a:ext>
            </a:extLst>
          </p:cNvPr>
          <p:cNvPicPr>
            <a:picLocks noChangeAspect="1"/>
          </p:cNvPicPr>
          <p:nvPr/>
        </p:nvPicPr>
        <p:blipFill rotWithShape="1">
          <a:blip r:embed="rId5">
            <a:extLst>
              <a:ext uri="{28A0092B-C50C-407E-A947-70E740481C1C}">
                <a14:useLocalDpi xmlns:a14="http://schemas.microsoft.com/office/drawing/2010/main" val="0"/>
              </a:ext>
            </a:extLst>
          </a:blip>
          <a:srcRect l="3497" t="5357" r="9450"/>
          <a:stretch/>
        </p:blipFill>
        <p:spPr>
          <a:xfrm>
            <a:off x="4542531" y="713860"/>
            <a:ext cx="3632009" cy="2961487"/>
          </a:xfrm>
          <a:prstGeom prst="rect">
            <a:avLst/>
          </a:prstGeom>
        </p:spPr>
      </p:pic>
      <p:pic>
        <p:nvPicPr>
          <p:cNvPr id="14" name="Picture 13">
            <a:extLst>
              <a:ext uri="{FF2B5EF4-FFF2-40B4-BE49-F238E27FC236}">
                <a16:creationId xmlns:a16="http://schemas.microsoft.com/office/drawing/2014/main" id="{3FFFE84C-C605-450A-90B8-0FA81D961566}"/>
              </a:ext>
            </a:extLst>
          </p:cNvPr>
          <p:cNvPicPr>
            <a:picLocks noChangeAspect="1"/>
          </p:cNvPicPr>
          <p:nvPr/>
        </p:nvPicPr>
        <p:blipFill rotWithShape="1">
          <a:blip r:embed="rId6">
            <a:extLst>
              <a:ext uri="{28A0092B-C50C-407E-A947-70E740481C1C}">
                <a14:useLocalDpi xmlns:a14="http://schemas.microsoft.com/office/drawing/2010/main" val="0"/>
              </a:ext>
            </a:extLst>
          </a:blip>
          <a:srcRect l="5184" t="7907" r="11840" b="5312"/>
          <a:stretch/>
        </p:blipFill>
        <p:spPr>
          <a:xfrm>
            <a:off x="8289563" y="3609080"/>
            <a:ext cx="3681891" cy="3080548"/>
          </a:xfrm>
          <a:prstGeom prst="rect">
            <a:avLst/>
          </a:prstGeom>
        </p:spPr>
      </p:pic>
      <p:pic>
        <p:nvPicPr>
          <p:cNvPr id="18" name="Picture 17">
            <a:extLst>
              <a:ext uri="{FF2B5EF4-FFF2-40B4-BE49-F238E27FC236}">
                <a16:creationId xmlns:a16="http://schemas.microsoft.com/office/drawing/2014/main" id="{2CB4721C-5F58-4A36-8E92-845D2BD20CC6}"/>
              </a:ext>
            </a:extLst>
          </p:cNvPr>
          <p:cNvPicPr>
            <a:picLocks noChangeAspect="1"/>
          </p:cNvPicPr>
          <p:nvPr/>
        </p:nvPicPr>
        <p:blipFill rotWithShape="1">
          <a:blip r:embed="rId7">
            <a:extLst>
              <a:ext uri="{28A0092B-C50C-407E-A947-70E740481C1C}">
                <a14:useLocalDpi xmlns:a14="http://schemas.microsoft.com/office/drawing/2010/main" val="0"/>
              </a:ext>
            </a:extLst>
          </a:blip>
          <a:srcRect t="6102" r="7589"/>
          <a:stretch/>
        </p:blipFill>
        <p:spPr>
          <a:xfrm>
            <a:off x="8314096" y="878492"/>
            <a:ext cx="3501270" cy="2668238"/>
          </a:xfrm>
          <a:prstGeom prst="rect">
            <a:avLst/>
          </a:prstGeom>
        </p:spPr>
      </p:pic>
      <p:cxnSp>
        <p:nvCxnSpPr>
          <p:cNvPr id="20" name="Straight Connector 19">
            <a:extLst>
              <a:ext uri="{FF2B5EF4-FFF2-40B4-BE49-F238E27FC236}">
                <a16:creationId xmlns:a16="http://schemas.microsoft.com/office/drawing/2014/main" id="{A2463B85-BFA5-423D-9211-6A8B9EE8B169}"/>
              </a:ext>
            </a:extLst>
          </p:cNvPr>
          <p:cNvCxnSpPr/>
          <p:nvPr/>
        </p:nvCxnSpPr>
        <p:spPr>
          <a:xfrm>
            <a:off x="4343400" y="705699"/>
            <a:ext cx="0" cy="5939296"/>
          </a:xfrm>
          <a:prstGeom prst="line">
            <a:avLst/>
          </a:prstGeom>
          <a:ln w="28575">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488879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a:extLst>
              <a:ext uri="{FF2B5EF4-FFF2-40B4-BE49-F238E27FC236}">
                <a16:creationId xmlns:a16="http://schemas.microsoft.com/office/drawing/2014/main" id="{F9E1662E-1EEE-4CEC-985E-13A4178F9343}"/>
              </a:ext>
            </a:extLst>
          </p:cNvPr>
          <p:cNvCxnSpPr>
            <a:cxnSpLocks/>
          </p:cNvCxnSpPr>
          <p:nvPr/>
        </p:nvCxnSpPr>
        <p:spPr>
          <a:xfrm flipV="1">
            <a:off x="1168396" y="2477410"/>
            <a:ext cx="0" cy="2398295"/>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BD13FA89-F92D-4841-9642-0C68C67BE030}"/>
              </a:ext>
            </a:extLst>
          </p:cNvPr>
          <p:cNvCxnSpPr>
            <a:cxnSpLocks/>
          </p:cNvCxnSpPr>
          <p:nvPr/>
        </p:nvCxnSpPr>
        <p:spPr>
          <a:xfrm>
            <a:off x="1168396" y="4875705"/>
            <a:ext cx="3240505" cy="0"/>
          </a:xfrm>
          <a:prstGeom prst="straightConnector1">
            <a:avLst/>
          </a:prstGeom>
          <a:ln w="158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Freeform: Shape 10">
            <a:extLst>
              <a:ext uri="{FF2B5EF4-FFF2-40B4-BE49-F238E27FC236}">
                <a16:creationId xmlns:a16="http://schemas.microsoft.com/office/drawing/2014/main" id="{9FD1B677-F881-449D-887E-3FCB0418F1A8}"/>
              </a:ext>
            </a:extLst>
          </p:cNvPr>
          <p:cNvSpPr/>
          <p:nvPr/>
        </p:nvSpPr>
        <p:spPr>
          <a:xfrm>
            <a:off x="1216522" y="2830336"/>
            <a:ext cx="3039979" cy="1941686"/>
          </a:xfrm>
          <a:custGeom>
            <a:avLst/>
            <a:gdLst>
              <a:gd name="connsiteX0" fmla="*/ 0 w 3039979"/>
              <a:gd name="connsiteY0" fmla="*/ 0 h 1941686"/>
              <a:gd name="connsiteX1" fmla="*/ 24063 w 3039979"/>
              <a:gd name="connsiteY1" fmla="*/ 64169 h 1941686"/>
              <a:gd name="connsiteX2" fmla="*/ 32084 w 3039979"/>
              <a:gd name="connsiteY2" fmla="*/ 96253 h 1941686"/>
              <a:gd name="connsiteX3" fmla="*/ 56147 w 3039979"/>
              <a:gd name="connsiteY3" fmla="*/ 168442 h 1941686"/>
              <a:gd name="connsiteX4" fmla="*/ 72189 w 3039979"/>
              <a:gd name="connsiteY4" fmla="*/ 216569 h 1941686"/>
              <a:gd name="connsiteX5" fmla="*/ 80210 w 3039979"/>
              <a:gd name="connsiteY5" fmla="*/ 240632 h 1941686"/>
              <a:gd name="connsiteX6" fmla="*/ 144379 w 3039979"/>
              <a:gd name="connsiteY6" fmla="*/ 336884 h 1941686"/>
              <a:gd name="connsiteX7" fmla="*/ 160421 w 3039979"/>
              <a:gd name="connsiteY7" fmla="*/ 360948 h 1941686"/>
              <a:gd name="connsiteX8" fmla="*/ 224589 w 3039979"/>
              <a:gd name="connsiteY8" fmla="*/ 433137 h 1941686"/>
              <a:gd name="connsiteX9" fmla="*/ 304800 w 3039979"/>
              <a:gd name="connsiteY9" fmla="*/ 465221 h 1941686"/>
              <a:gd name="connsiteX10" fmla="*/ 360947 w 3039979"/>
              <a:gd name="connsiteY10" fmla="*/ 481263 h 1941686"/>
              <a:gd name="connsiteX11" fmla="*/ 417095 w 3039979"/>
              <a:gd name="connsiteY11" fmla="*/ 513348 h 1941686"/>
              <a:gd name="connsiteX12" fmla="*/ 425116 w 3039979"/>
              <a:gd name="connsiteY12" fmla="*/ 537411 h 1941686"/>
              <a:gd name="connsiteX13" fmla="*/ 441158 w 3039979"/>
              <a:gd name="connsiteY13" fmla="*/ 561474 h 1941686"/>
              <a:gd name="connsiteX14" fmla="*/ 465221 w 3039979"/>
              <a:gd name="connsiteY14" fmla="*/ 633663 h 1941686"/>
              <a:gd name="connsiteX15" fmla="*/ 505326 w 3039979"/>
              <a:gd name="connsiteY15" fmla="*/ 681790 h 1941686"/>
              <a:gd name="connsiteX16" fmla="*/ 545432 w 3039979"/>
              <a:gd name="connsiteY16" fmla="*/ 729916 h 1941686"/>
              <a:gd name="connsiteX17" fmla="*/ 561474 w 3039979"/>
              <a:gd name="connsiteY17" fmla="*/ 778042 h 1941686"/>
              <a:gd name="connsiteX18" fmla="*/ 601579 w 3039979"/>
              <a:gd name="connsiteY18" fmla="*/ 818148 h 1941686"/>
              <a:gd name="connsiteX19" fmla="*/ 665747 w 3039979"/>
              <a:gd name="connsiteY19" fmla="*/ 898358 h 1941686"/>
              <a:gd name="connsiteX20" fmla="*/ 689810 w 3039979"/>
              <a:gd name="connsiteY20" fmla="*/ 922421 h 1941686"/>
              <a:gd name="connsiteX21" fmla="*/ 705853 w 3039979"/>
              <a:gd name="connsiteY21" fmla="*/ 938463 h 1941686"/>
              <a:gd name="connsiteX22" fmla="*/ 786063 w 3039979"/>
              <a:gd name="connsiteY22" fmla="*/ 986590 h 1941686"/>
              <a:gd name="connsiteX23" fmla="*/ 810126 w 3039979"/>
              <a:gd name="connsiteY23" fmla="*/ 1010653 h 1941686"/>
              <a:gd name="connsiteX24" fmla="*/ 826168 w 3039979"/>
              <a:gd name="connsiteY24" fmla="*/ 1034716 h 1941686"/>
              <a:gd name="connsiteX25" fmla="*/ 850232 w 3039979"/>
              <a:gd name="connsiteY25" fmla="*/ 1042737 h 1941686"/>
              <a:gd name="connsiteX26" fmla="*/ 922421 w 3039979"/>
              <a:gd name="connsiteY26" fmla="*/ 1082842 h 1941686"/>
              <a:gd name="connsiteX27" fmla="*/ 938463 w 3039979"/>
              <a:gd name="connsiteY27" fmla="*/ 1106905 h 1941686"/>
              <a:gd name="connsiteX28" fmla="*/ 978568 w 3039979"/>
              <a:gd name="connsiteY28" fmla="*/ 1138990 h 1941686"/>
              <a:gd name="connsiteX29" fmla="*/ 1002632 w 3039979"/>
              <a:gd name="connsiteY29" fmla="*/ 1147011 h 1941686"/>
              <a:gd name="connsiteX30" fmla="*/ 1026695 w 3039979"/>
              <a:gd name="connsiteY30" fmla="*/ 1171074 h 1941686"/>
              <a:gd name="connsiteX31" fmla="*/ 1074821 w 3039979"/>
              <a:gd name="connsiteY31" fmla="*/ 1203158 h 1941686"/>
              <a:gd name="connsiteX32" fmla="*/ 1130968 w 3039979"/>
              <a:gd name="connsiteY32" fmla="*/ 1251284 h 1941686"/>
              <a:gd name="connsiteX33" fmla="*/ 1155032 w 3039979"/>
              <a:gd name="connsiteY33" fmla="*/ 1267326 h 1941686"/>
              <a:gd name="connsiteX34" fmla="*/ 1179095 w 3039979"/>
              <a:gd name="connsiteY34" fmla="*/ 1275348 h 1941686"/>
              <a:gd name="connsiteX35" fmla="*/ 1203158 w 3039979"/>
              <a:gd name="connsiteY35" fmla="*/ 1291390 h 1941686"/>
              <a:gd name="connsiteX36" fmla="*/ 1227221 w 3039979"/>
              <a:gd name="connsiteY36" fmla="*/ 1299411 h 1941686"/>
              <a:gd name="connsiteX37" fmla="*/ 1251284 w 3039979"/>
              <a:gd name="connsiteY37" fmla="*/ 1315453 h 1941686"/>
              <a:gd name="connsiteX38" fmla="*/ 1299410 w 3039979"/>
              <a:gd name="connsiteY38" fmla="*/ 1355558 h 1941686"/>
              <a:gd name="connsiteX39" fmla="*/ 1331495 w 3039979"/>
              <a:gd name="connsiteY39" fmla="*/ 1363579 h 1941686"/>
              <a:gd name="connsiteX40" fmla="*/ 1379621 w 3039979"/>
              <a:gd name="connsiteY40" fmla="*/ 1387642 h 1941686"/>
              <a:gd name="connsiteX41" fmla="*/ 1427747 w 3039979"/>
              <a:gd name="connsiteY41" fmla="*/ 1419726 h 1941686"/>
              <a:gd name="connsiteX42" fmla="*/ 1443789 w 3039979"/>
              <a:gd name="connsiteY42" fmla="*/ 1435769 h 1941686"/>
              <a:gd name="connsiteX43" fmla="*/ 1467853 w 3039979"/>
              <a:gd name="connsiteY43" fmla="*/ 1443790 h 1941686"/>
              <a:gd name="connsiteX44" fmla="*/ 1499937 w 3039979"/>
              <a:gd name="connsiteY44" fmla="*/ 1459832 h 1941686"/>
              <a:gd name="connsiteX45" fmla="*/ 1524000 w 3039979"/>
              <a:gd name="connsiteY45" fmla="*/ 1467853 h 1941686"/>
              <a:gd name="connsiteX46" fmla="*/ 1548063 w 3039979"/>
              <a:gd name="connsiteY46" fmla="*/ 1483895 h 1941686"/>
              <a:gd name="connsiteX47" fmla="*/ 1580147 w 3039979"/>
              <a:gd name="connsiteY47" fmla="*/ 1499937 h 1941686"/>
              <a:gd name="connsiteX48" fmla="*/ 1604210 w 3039979"/>
              <a:gd name="connsiteY48" fmla="*/ 1515979 h 1941686"/>
              <a:gd name="connsiteX49" fmla="*/ 1636295 w 3039979"/>
              <a:gd name="connsiteY49" fmla="*/ 1532021 h 1941686"/>
              <a:gd name="connsiteX50" fmla="*/ 1660358 w 3039979"/>
              <a:gd name="connsiteY50" fmla="*/ 1540042 h 1941686"/>
              <a:gd name="connsiteX51" fmla="*/ 1708484 w 3039979"/>
              <a:gd name="connsiteY51" fmla="*/ 1572126 h 1941686"/>
              <a:gd name="connsiteX52" fmla="*/ 1724526 w 3039979"/>
              <a:gd name="connsiteY52" fmla="*/ 1588169 h 1941686"/>
              <a:gd name="connsiteX53" fmla="*/ 1748589 w 3039979"/>
              <a:gd name="connsiteY53" fmla="*/ 1596190 h 1941686"/>
              <a:gd name="connsiteX54" fmla="*/ 1780674 w 3039979"/>
              <a:gd name="connsiteY54" fmla="*/ 1604211 h 1941686"/>
              <a:gd name="connsiteX55" fmla="*/ 1820779 w 3039979"/>
              <a:gd name="connsiteY55" fmla="*/ 1612232 h 1941686"/>
              <a:gd name="connsiteX56" fmla="*/ 1860884 w 3039979"/>
              <a:gd name="connsiteY56" fmla="*/ 1628274 h 1941686"/>
              <a:gd name="connsiteX57" fmla="*/ 1949116 w 3039979"/>
              <a:gd name="connsiteY57" fmla="*/ 1644316 h 1941686"/>
              <a:gd name="connsiteX58" fmla="*/ 1997242 w 3039979"/>
              <a:gd name="connsiteY58" fmla="*/ 1660358 h 1941686"/>
              <a:gd name="connsiteX59" fmla="*/ 2061410 w 3039979"/>
              <a:gd name="connsiteY59" fmla="*/ 1676400 h 1941686"/>
              <a:gd name="connsiteX60" fmla="*/ 2093495 w 3039979"/>
              <a:gd name="connsiteY60" fmla="*/ 1684421 h 1941686"/>
              <a:gd name="connsiteX61" fmla="*/ 2141621 w 3039979"/>
              <a:gd name="connsiteY61" fmla="*/ 1700463 h 1941686"/>
              <a:gd name="connsiteX62" fmla="*/ 2189747 w 3039979"/>
              <a:gd name="connsiteY62" fmla="*/ 1716505 h 1941686"/>
              <a:gd name="connsiteX63" fmla="*/ 2213810 w 3039979"/>
              <a:gd name="connsiteY63" fmla="*/ 1724526 h 1941686"/>
              <a:gd name="connsiteX64" fmla="*/ 2294021 w 3039979"/>
              <a:gd name="connsiteY64" fmla="*/ 1748590 h 1941686"/>
              <a:gd name="connsiteX65" fmla="*/ 2318084 w 3039979"/>
              <a:gd name="connsiteY65" fmla="*/ 1764632 h 1941686"/>
              <a:gd name="connsiteX66" fmla="*/ 2382253 w 3039979"/>
              <a:gd name="connsiteY66" fmla="*/ 1788695 h 1941686"/>
              <a:gd name="connsiteX67" fmla="*/ 2430379 w 3039979"/>
              <a:gd name="connsiteY67" fmla="*/ 1820779 h 1941686"/>
              <a:gd name="connsiteX68" fmla="*/ 2454442 w 3039979"/>
              <a:gd name="connsiteY68" fmla="*/ 1836821 h 1941686"/>
              <a:gd name="connsiteX69" fmla="*/ 2486526 w 3039979"/>
              <a:gd name="connsiteY69" fmla="*/ 1844842 h 1941686"/>
              <a:gd name="connsiteX70" fmla="*/ 2510589 w 3039979"/>
              <a:gd name="connsiteY70" fmla="*/ 1860884 h 1941686"/>
              <a:gd name="connsiteX71" fmla="*/ 2662989 w 3039979"/>
              <a:gd name="connsiteY71" fmla="*/ 1892969 h 1941686"/>
              <a:gd name="connsiteX72" fmla="*/ 2735179 w 3039979"/>
              <a:gd name="connsiteY72" fmla="*/ 1909011 h 1941686"/>
              <a:gd name="connsiteX73" fmla="*/ 2855495 w 3039979"/>
              <a:gd name="connsiteY73" fmla="*/ 1917032 h 1941686"/>
              <a:gd name="connsiteX74" fmla="*/ 2927684 w 3039979"/>
              <a:gd name="connsiteY74" fmla="*/ 1925053 h 1941686"/>
              <a:gd name="connsiteX75" fmla="*/ 2999874 w 3039979"/>
              <a:gd name="connsiteY75" fmla="*/ 1941095 h 1941686"/>
              <a:gd name="connsiteX76" fmla="*/ 3039979 w 3039979"/>
              <a:gd name="connsiteY76" fmla="*/ 1941095 h 1941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039979" h="1941686">
                <a:moveTo>
                  <a:pt x="0" y="0"/>
                </a:moveTo>
                <a:cubicBezTo>
                  <a:pt x="8478" y="21196"/>
                  <a:pt x="17775" y="42160"/>
                  <a:pt x="24063" y="64169"/>
                </a:cubicBezTo>
                <a:cubicBezTo>
                  <a:pt x="27091" y="74769"/>
                  <a:pt x="28916" y="85694"/>
                  <a:pt x="32084" y="96253"/>
                </a:cubicBezTo>
                <a:lnTo>
                  <a:pt x="56147" y="168442"/>
                </a:lnTo>
                <a:lnTo>
                  <a:pt x="72189" y="216569"/>
                </a:lnTo>
                <a:cubicBezTo>
                  <a:pt x="74863" y="224590"/>
                  <a:pt x="75520" y="233597"/>
                  <a:pt x="80210" y="240632"/>
                </a:cubicBezTo>
                <a:lnTo>
                  <a:pt x="144379" y="336884"/>
                </a:lnTo>
                <a:lnTo>
                  <a:pt x="160421" y="360948"/>
                </a:lnTo>
                <a:cubicBezTo>
                  <a:pt x="175706" y="383876"/>
                  <a:pt x="201043" y="425289"/>
                  <a:pt x="224589" y="433137"/>
                </a:cubicBezTo>
                <a:cubicBezTo>
                  <a:pt x="334129" y="469650"/>
                  <a:pt x="222187" y="429815"/>
                  <a:pt x="304800" y="465221"/>
                </a:cubicBezTo>
                <a:cubicBezTo>
                  <a:pt x="350042" y="484610"/>
                  <a:pt x="306683" y="460914"/>
                  <a:pt x="360947" y="481263"/>
                </a:cubicBezTo>
                <a:cubicBezTo>
                  <a:pt x="384213" y="489987"/>
                  <a:pt x="397145" y="500047"/>
                  <a:pt x="417095" y="513348"/>
                </a:cubicBezTo>
                <a:cubicBezTo>
                  <a:pt x="419769" y="521369"/>
                  <a:pt x="421335" y="529849"/>
                  <a:pt x="425116" y="537411"/>
                </a:cubicBezTo>
                <a:cubicBezTo>
                  <a:pt x="429427" y="546033"/>
                  <a:pt x="437450" y="552575"/>
                  <a:pt x="441158" y="561474"/>
                </a:cubicBezTo>
                <a:cubicBezTo>
                  <a:pt x="450914" y="584888"/>
                  <a:pt x="451151" y="612558"/>
                  <a:pt x="465221" y="633663"/>
                </a:cubicBezTo>
                <a:cubicBezTo>
                  <a:pt x="505050" y="693406"/>
                  <a:pt x="453860" y="620030"/>
                  <a:pt x="505326" y="681790"/>
                </a:cubicBezTo>
                <a:cubicBezTo>
                  <a:pt x="561148" y="748778"/>
                  <a:pt x="475146" y="659633"/>
                  <a:pt x="545432" y="729916"/>
                </a:cubicBezTo>
                <a:cubicBezTo>
                  <a:pt x="550779" y="745958"/>
                  <a:pt x="549517" y="766085"/>
                  <a:pt x="561474" y="778042"/>
                </a:cubicBezTo>
                <a:cubicBezTo>
                  <a:pt x="574842" y="791411"/>
                  <a:pt x="593124" y="801238"/>
                  <a:pt x="601579" y="818148"/>
                </a:cubicBezTo>
                <a:cubicBezTo>
                  <a:pt x="627767" y="870524"/>
                  <a:pt x="609166" y="841777"/>
                  <a:pt x="665747" y="898358"/>
                </a:cubicBezTo>
                <a:lnTo>
                  <a:pt x="689810" y="922421"/>
                </a:lnTo>
                <a:cubicBezTo>
                  <a:pt x="695158" y="927768"/>
                  <a:pt x="699089" y="935081"/>
                  <a:pt x="705853" y="938463"/>
                </a:cubicBezTo>
                <a:cubicBezTo>
                  <a:pt x="731173" y="951123"/>
                  <a:pt x="766702" y="967229"/>
                  <a:pt x="786063" y="986590"/>
                </a:cubicBezTo>
                <a:cubicBezTo>
                  <a:pt x="794084" y="994611"/>
                  <a:pt x="802864" y="1001939"/>
                  <a:pt x="810126" y="1010653"/>
                </a:cubicBezTo>
                <a:cubicBezTo>
                  <a:pt x="816297" y="1018059"/>
                  <a:pt x="818640" y="1028694"/>
                  <a:pt x="826168" y="1034716"/>
                </a:cubicBezTo>
                <a:cubicBezTo>
                  <a:pt x="832770" y="1039998"/>
                  <a:pt x="842211" y="1040063"/>
                  <a:pt x="850232" y="1042737"/>
                </a:cubicBezTo>
                <a:cubicBezTo>
                  <a:pt x="905393" y="1079511"/>
                  <a:pt x="880067" y="1068724"/>
                  <a:pt x="922421" y="1082842"/>
                </a:cubicBezTo>
                <a:cubicBezTo>
                  <a:pt x="927768" y="1090863"/>
                  <a:pt x="932441" y="1099377"/>
                  <a:pt x="938463" y="1106905"/>
                </a:cubicBezTo>
                <a:cubicBezTo>
                  <a:pt x="948411" y="1119341"/>
                  <a:pt x="964669" y="1132041"/>
                  <a:pt x="978568" y="1138990"/>
                </a:cubicBezTo>
                <a:cubicBezTo>
                  <a:pt x="986131" y="1142771"/>
                  <a:pt x="994611" y="1144337"/>
                  <a:pt x="1002632" y="1147011"/>
                </a:cubicBezTo>
                <a:cubicBezTo>
                  <a:pt x="1010653" y="1155032"/>
                  <a:pt x="1017741" y="1164110"/>
                  <a:pt x="1026695" y="1171074"/>
                </a:cubicBezTo>
                <a:cubicBezTo>
                  <a:pt x="1041914" y="1182911"/>
                  <a:pt x="1061188" y="1189525"/>
                  <a:pt x="1074821" y="1203158"/>
                </a:cubicBezTo>
                <a:cubicBezTo>
                  <a:pt x="1103970" y="1232307"/>
                  <a:pt x="1094956" y="1225561"/>
                  <a:pt x="1130968" y="1251284"/>
                </a:cubicBezTo>
                <a:cubicBezTo>
                  <a:pt x="1138813" y="1256887"/>
                  <a:pt x="1146409" y="1263015"/>
                  <a:pt x="1155032" y="1267326"/>
                </a:cubicBezTo>
                <a:cubicBezTo>
                  <a:pt x="1162594" y="1271107"/>
                  <a:pt x="1171533" y="1271567"/>
                  <a:pt x="1179095" y="1275348"/>
                </a:cubicBezTo>
                <a:cubicBezTo>
                  <a:pt x="1187717" y="1279659"/>
                  <a:pt x="1194536" y="1287079"/>
                  <a:pt x="1203158" y="1291390"/>
                </a:cubicBezTo>
                <a:cubicBezTo>
                  <a:pt x="1210720" y="1295171"/>
                  <a:pt x="1219659" y="1295630"/>
                  <a:pt x="1227221" y="1299411"/>
                </a:cubicBezTo>
                <a:cubicBezTo>
                  <a:pt x="1235843" y="1303722"/>
                  <a:pt x="1243878" y="1309282"/>
                  <a:pt x="1251284" y="1315453"/>
                </a:cubicBezTo>
                <a:cubicBezTo>
                  <a:pt x="1271689" y="1332457"/>
                  <a:pt x="1274810" y="1345015"/>
                  <a:pt x="1299410" y="1355558"/>
                </a:cubicBezTo>
                <a:cubicBezTo>
                  <a:pt x="1309543" y="1359901"/>
                  <a:pt x="1320800" y="1360905"/>
                  <a:pt x="1331495" y="1363579"/>
                </a:cubicBezTo>
                <a:cubicBezTo>
                  <a:pt x="1438320" y="1434795"/>
                  <a:pt x="1279996" y="1332295"/>
                  <a:pt x="1379621" y="1387642"/>
                </a:cubicBezTo>
                <a:cubicBezTo>
                  <a:pt x="1396475" y="1397005"/>
                  <a:pt x="1414114" y="1406092"/>
                  <a:pt x="1427747" y="1419726"/>
                </a:cubicBezTo>
                <a:cubicBezTo>
                  <a:pt x="1433094" y="1425074"/>
                  <a:pt x="1437304" y="1431878"/>
                  <a:pt x="1443789" y="1435769"/>
                </a:cubicBezTo>
                <a:cubicBezTo>
                  <a:pt x="1451039" y="1440119"/>
                  <a:pt x="1460081" y="1440459"/>
                  <a:pt x="1467853" y="1443790"/>
                </a:cubicBezTo>
                <a:cubicBezTo>
                  <a:pt x="1478843" y="1448500"/>
                  <a:pt x="1488947" y="1455122"/>
                  <a:pt x="1499937" y="1459832"/>
                </a:cubicBezTo>
                <a:cubicBezTo>
                  <a:pt x="1507708" y="1463163"/>
                  <a:pt x="1516438" y="1464072"/>
                  <a:pt x="1524000" y="1467853"/>
                </a:cubicBezTo>
                <a:cubicBezTo>
                  <a:pt x="1532622" y="1472164"/>
                  <a:pt x="1539693" y="1479112"/>
                  <a:pt x="1548063" y="1483895"/>
                </a:cubicBezTo>
                <a:cubicBezTo>
                  <a:pt x="1558445" y="1489827"/>
                  <a:pt x="1569765" y="1494005"/>
                  <a:pt x="1580147" y="1499937"/>
                </a:cubicBezTo>
                <a:cubicBezTo>
                  <a:pt x="1588517" y="1504720"/>
                  <a:pt x="1595840" y="1511196"/>
                  <a:pt x="1604210" y="1515979"/>
                </a:cubicBezTo>
                <a:cubicBezTo>
                  <a:pt x="1614592" y="1521911"/>
                  <a:pt x="1625304" y="1527311"/>
                  <a:pt x="1636295" y="1532021"/>
                </a:cubicBezTo>
                <a:cubicBezTo>
                  <a:pt x="1644066" y="1535351"/>
                  <a:pt x="1652967" y="1535936"/>
                  <a:pt x="1660358" y="1540042"/>
                </a:cubicBezTo>
                <a:cubicBezTo>
                  <a:pt x="1677212" y="1549405"/>
                  <a:pt x="1694851" y="1558492"/>
                  <a:pt x="1708484" y="1572126"/>
                </a:cubicBezTo>
                <a:cubicBezTo>
                  <a:pt x="1713831" y="1577474"/>
                  <a:pt x="1718041" y="1584278"/>
                  <a:pt x="1724526" y="1588169"/>
                </a:cubicBezTo>
                <a:cubicBezTo>
                  <a:pt x="1731776" y="1592519"/>
                  <a:pt x="1740459" y="1593867"/>
                  <a:pt x="1748589" y="1596190"/>
                </a:cubicBezTo>
                <a:cubicBezTo>
                  <a:pt x="1759189" y="1599219"/>
                  <a:pt x="1769912" y="1601820"/>
                  <a:pt x="1780674" y="1604211"/>
                </a:cubicBezTo>
                <a:cubicBezTo>
                  <a:pt x="1793982" y="1607168"/>
                  <a:pt x="1807721" y="1608315"/>
                  <a:pt x="1820779" y="1612232"/>
                </a:cubicBezTo>
                <a:cubicBezTo>
                  <a:pt x="1834570" y="1616369"/>
                  <a:pt x="1847093" y="1624137"/>
                  <a:pt x="1860884" y="1628274"/>
                </a:cubicBezTo>
                <a:cubicBezTo>
                  <a:pt x="1874898" y="1632478"/>
                  <a:pt x="1937691" y="1642412"/>
                  <a:pt x="1949116" y="1644316"/>
                </a:cubicBezTo>
                <a:cubicBezTo>
                  <a:pt x="1965158" y="1649663"/>
                  <a:pt x="1980661" y="1657042"/>
                  <a:pt x="1997242" y="1660358"/>
                </a:cubicBezTo>
                <a:cubicBezTo>
                  <a:pt x="2078785" y="1676667"/>
                  <a:pt x="2003857" y="1659956"/>
                  <a:pt x="2061410" y="1676400"/>
                </a:cubicBezTo>
                <a:cubicBezTo>
                  <a:pt x="2072010" y="1679429"/>
                  <a:pt x="2082936" y="1681253"/>
                  <a:pt x="2093495" y="1684421"/>
                </a:cubicBezTo>
                <a:cubicBezTo>
                  <a:pt x="2109692" y="1689280"/>
                  <a:pt x="2125579" y="1695116"/>
                  <a:pt x="2141621" y="1700463"/>
                </a:cubicBezTo>
                <a:lnTo>
                  <a:pt x="2189747" y="1716505"/>
                </a:lnTo>
                <a:cubicBezTo>
                  <a:pt x="2197768" y="1719179"/>
                  <a:pt x="2205608" y="1722475"/>
                  <a:pt x="2213810" y="1724526"/>
                </a:cubicBezTo>
                <a:cubicBezTo>
                  <a:pt x="2231743" y="1729010"/>
                  <a:pt x="2282307" y="1740780"/>
                  <a:pt x="2294021" y="1748590"/>
                </a:cubicBezTo>
                <a:cubicBezTo>
                  <a:pt x="2302042" y="1753937"/>
                  <a:pt x="2309223" y="1760835"/>
                  <a:pt x="2318084" y="1764632"/>
                </a:cubicBezTo>
                <a:cubicBezTo>
                  <a:pt x="2384714" y="1793188"/>
                  <a:pt x="2315419" y="1748595"/>
                  <a:pt x="2382253" y="1788695"/>
                </a:cubicBezTo>
                <a:cubicBezTo>
                  <a:pt x="2398786" y="1798614"/>
                  <a:pt x="2414337" y="1810084"/>
                  <a:pt x="2430379" y="1820779"/>
                </a:cubicBezTo>
                <a:cubicBezTo>
                  <a:pt x="2438400" y="1826126"/>
                  <a:pt x="2445090" y="1834483"/>
                  <a:pt x="2454442" y="1836821"/>
                </a:cubicBezTo>
                <a:lnTo>
                  <a:pt x="2486526" y="1844842"/>
                </a:lnTo>
                <a:cubicBezTo>
                  <a:pt x="2494547" y="1850189"/>
                  <a:pt x="2501691" y="1857176"/>
                  <a:pt x="2510589" y="1860884"/>
                </a:cubicBezTo>
                <a:cubicBezTo>
                  <a:pt x="2582566" y="1890875"/>
                  <a:pt x="2584769" y="1885147"/>
                  <a:pt x="2662989" y="1892969"/>
                </a:cubicBezTo>
                <a:cubicBezTo>
                  <a:pt x="2687052" y="1898316"/>
                  <a:pt x="2710719" y="1905954"/>
                  <a:pt x="2735179" y="1909011"/>
                </a:cubicBezTo>
                <a:cubicBezTo>
                  <a:pt x="2775063" y="1913996"/>
                  <a:pt x="2815439" y="1913694"/>
                  <a:pt x="2855495" y="1917032"/>
                </a:cubicBezTo>
                <a:cubicBezTo>
                  <a:pt x="2879622" y="1919043"/>
                  <a:pt x="2903621" y="1922379"/>
                  <a:pt x="2927684" y="1925053"/>
                </a:cubicBezTo>
                <a:cubicBezTo>
                  <a:pt x="2945549" y="1929519"/>
                  <a:pt x="2982901" y="1939398"/>
                  <a:pt x="2999874" y="1941095"/>
                </a:cubicBezTo>
                <a:cubicBezTo>
                  <a:pt x="3013176" y="1942425"/>
                  <a:pt x="3026611" y="1941095"/>
                  <a:pt x="3039979" y="1941095"/>
                </a:cubicBezTo>
              </a:path>
            </a:pathLst>
          </a:custGeom>
          <a:noFill/>
          <a:ln w="25400">
            <a:solidFill>
              <a:schemeClr val="accent1">
                <a:lumMod val="20000"/>
                <a:lumOff val="8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924CCA0-0776-4F6C-91E5-01A6725B7505}"/>
              </a:ext>
            </a:extLst>
          </p:cNvPr>
          <p:cNvSpPr/>
          <p:nvPr/>
        </p:nvSpPr>
        <p:spPr>
          <a:xfrm>
            <a:off x="1235572" y="2841365"/>
            <a:ext cx="3007895" cy="1645266"/>
          </a:xfrm>
          <a:custGeom>
            <a:avLst/>
            <a:gdLst>
              <a:gd name="connsiteX0" fmla="*/ 0 w 3007895"/>
              <a:gd name="connsiteY0" fmla="*/ 0 h 1645266"/>
              <a:gd name="connsiteX1" fmla="*/ 32084 w 3007895"/>
              <a:gd name="connsiteY1" fmla="*/ 112295 h 1645266"/>
              <a:gd name="connsiteX2" fmla="*/ 48126 w 3007895"/>
              <a:gd name="connsiteY2" fmla="*/ 160421 h 1645266"/>
              <a:gd name="connsiteX3" fmla="*/ 56147 w 3007895"/>
              <a:gd name="connsiteY3" fmla="*/ 192505 h 1645266"/>
              <a:gd name="connsiteX4" fmla="*/ 72189 w 3007895"/>
              <a:gd name="connsiteY4" fmla="*/ 272716 h 1645266"/>
              <a:gd name="connsiteX5" fmla="*/ 88232 w 3007895"/>
              <a:gd name="connsiteY5" fmla="*/ 288758 h 1645266"/>
              <a:gd name="connsiteX6" fmla="*/ 96253 w 3007895"/>
              <a:gd name="connsiteY6" fmla="*/ 312821 h 1645266"/>
              <a:gd name="connsiteX7" fmla="*/ 128337 w 3007895"/>
              <a:gd name="connsiteY7" fmla="*/ 360947 h 1645266"/>
              <a:gd name="connsiteX8" fmla="*/ 192505 w 3007895"/>
              <a:gd name="connsiteY8" fmla="*/ 433137 h 1645266"/>
              <a:gd name="connsiteX9" fmla="*/ 240632 w 3007895"/>
              <a:gd name="connsiteY9" fmla="*/ 449179 h 1645266"/>
              <a:gd name="connsiteX10" fmla="*/ 304800 w 3007895"/>
              <a:gd name="connsiteY10" fmla="*/ 465221 h 1645266"/>
              <a:gd name="connsiteX11" fmla="*/ 352926 w 3007895"/>
              <a:gd name="connsiteY11" fmla="*/ 481263 h 1645266"/>
              <a:gd name="connsiteX12" fmla="*/ 417095 w 3007895"/>
              <a:gd name="connsiteY12" fmla="*/ 489284 h 1645266"/>
              <a:gd name="connsiteX13" fmla="*/ 433137 w 3007895"/>
              <a:gd name="connsiteY13" fmla="*/ 545432 h 1645266"/>
              <a:gd name="connsiteX14" fmla="*/ 449179 w 3007895"/>
              <a:gd name="connsiteY14" fmla="*/ 593558 h 1645266"/>
              <a:gd name="connsiteX15" fmla="*/ 457200 w 3007895"/>
              <a:gd name="connsiteY15" fmla="*/ 617621 h 1645266"/>
              <a:gd name="connsiteX16" fmla="*/ 465221 w 3007895"/>
              <a:gd name="connsiteY16" fmla="*/ 641684 h 1645266"/>
              <a:gd name="connsiteX17" fmla="*/ 489284 w 3007895"/>
              <a:gd name="connsiteY17" fmla="*/ 673769 h 1645266"/>
              <a:gd name="connsiteX18" fmla="*/ 521368 w 3007895"/>
              <a:gd name="connsiteY18" fmla="*/ 721895 h 1645266"/>
              <a:gd name="connsiteX19" fmla="*/ 537410 w 3007895"/>
              <a:gd name="connsiteY19" fmla="*/ 770021 h 1645266"/>
              <a:gd name="connsiteX20" fmla="*/ 545432 w 3007895"/>
              <a:gd name="connsiteY20" fmla="*/ 794084 h 1645266"/>
              <a:gd name="connsiteX21" fmla="*/ 585537 w 3007895"/>
              <a:gd name="connsiteY21" fmla="*/ 850232 h 1645266"/>
              <a:gd name="connsiteX22" fmla="*/ 617621 w 3007895"/>
              <a:gd name="connsiteY22" fmla="*/ 898358 h 1645266"/>
              <a:gd name="connsiteX23" fmla="*/ 641684 w 3007895"/>
              <a:gd name="connsiteY23" fmla="*/ 906379 h 1645266"/>
              <a:gd name="connsiteX24" fmla="*/ 697832 w 3007895"/>
              <a:gd name="connsiteY24" fmla="*/ 922421 h 1645266"/>
              <a:gd name="connsiteX25" fmla="*/ 721895 w 3007895"/>
              <a:gd name="connsiteY25" fmla="*/ 938463 h 1645266"/>
              <a:gd name="connsiteX26" fmla="*/ 745958 w 3007895"/>
              <a:gd name="connsiteY26" fmla="*/ 946484 h 1645266"/>
              <a:gd name="connsiteX27" fmla="*/ 778042 w 3007895"/>
              <a:gd name="connsiteY27" fmla="*/ 962526 h 1645266"/>
              <a:gd name="connsiteX28" fmla="*/ 794084 w 3007895"/>
              <a:gd name="connsiteY28" fmla="*/ 978569 h 1645266"/>
              <a:gd name="connsiteX29" fmla="*/ 850232 w 3007895"/>
              <a:gd name="connsiteY29" fmla="*/ 1042737 h 1645266"/>
              <a:gd name="connsiteX30" fmla="*/ 922421 w 3007895"/>
              <a:gd name="connsiteY30" fmla="*/ 1090863 h 1645266"/>
              <a:gd name="connsiteX31" fmla="*/ 946484 w 3007895"/>
              <a:gd name="connsiteY31" fmla="*/ 1106905 h 1645266"/>
              <a:gd name="connsiteX32" fmla="*/ 970547 w 3007895"/>
              <a:gd name="connsiteY32" fmla="*/ 1122947 h 1645266"/>
              <a:gd name="connsiteX33" fmla="*/ 1010653 w 3007895"/>
              <a:gd name="connsiteY33" fmla="*/ 1163053 h 1645266"/>
              <a:gd name="connsiteX34" fmla="*/ 1034716 w 3007895"/>
              <a:gd name="connsiteY34" fmla="*/ 1187116 h 1645266"/>
              <a:gd name="connsiteX35" fmla="*/ 1082842 w 3007895"/>
              <a:gd name="connsiteY35" fmla="*/ 1219200 h 1645266"/>
              <a:gd name="connsiteX36" fmla="*/ 1106905 w 3007895"/>
              <a:gd name="connsiteY36" fmla="*/ 1235242 h 1645266"/>
              <a:gd name="connsiteX37" fmla="*/ 1155032 w 3007895"/>
              <a:gd name="connsiteY37" fmla="*/ 1275347 h 1645266"/>
              <a:gd name="connsiteX38" fmla="*/ 1179095 w 3007895"/>
              <a:gd name="connsiteY38" fmla="*/ 1283369 h 1645266"/>
              <a:gd name="connsiteX39" fmla="*/ 1227221 w 3007895"/>
              <a:gd name="connsiteY39" fmla="*/ 1315453 h 1645266"/>
              <a:gd name="connsiteX40" fmla="*/ 1251284 w 3007895"/>
              <a:gd name="connsiteY40" fmla="*/ 1331495 h 1645266"/>
              <a:gd name="connsiteX41" fmla="*/ 1299410 w 3007895"/>
              <a:gd name="connsiteY41" fmla="*/ 1355558 h 1645266"/>
              <a:gd name="connsiteX42" fmla="*/ 1323474 w 3007895"/>
              <a:gd name="connsiteY42" fmla="*/ 1363579 h 1645266"/>
              <a:gd name="connsiteX43" fmla="*/ 1347537 w 3007895"/>
              <a:gd name="connsiteY43" fmla="*/ 1379621 h 1645266"/>
              <a:gd name="connsiteX44" fmla="*/ 1395663 w 3007895"/>
              <a:gd name="connsiteY44" fmla="*/ 1395663 h 1645266"/>
              <a:gd name="connsiteX45" fmla="*/ 1419726 w 3007895"/>
              <a:gd name="connsiteY45" fmla="*/ 1403684 h 1645266"/>
              <a:gd name="connsiteX46" fmla="*/ 1499937 w 3007895"/>
              <a:gd name="connsiteY46" fmla="*/ 1435769 h 1645266"/>
              <a:gd name="connsiteX47" fmla="*/ 1556084 w 3007895"/>
              <a:gd name="connsiteY47" fmla="*/ 1443790 h 1645266"/>
              <a:gd name="connsiteX48" fmla="*/ 1604210 w 3007895"/>
              <a:gd name="connsiteY48" fmla="*/ 1459832 h 1645266"/>
              <a:gd name="connsiteX49" fmla="*/ 1628274 w 3007895"/>
              <a:gd name="connsiteY49" fmla="*/ 1475874 h 1645266"/>
              <a:gd name="connsiteX50" fmla="*/ 1676400 w 3007895"/>
              <a:gd name="connsiteY50" fmla="*/ 1491916 h 1645266"/>
              <a:gd name="connsiteX51" fmla="*/ 1724526 w 3007895"/>
              <a:gd name="connsiteY51" fmla="*/ 1507958 h 1645266"/>
              <a:gd name="connsiteX52" fmla="*/ 1748589 w 3007895"/>
              <a:gd name="connsiteY52" fmla="*/ 1515979 h 1645266"/>
              <a:gd name="connsiteX53" fmla="*/ 1820779 w 3007895"/>
              <a:gd name="connsiteY53" fmla="*/ 1532021 h 1645266"/>
              <a:gd name="connsiteX54" fmla="*/ 1892968 w 3007895"/>
              <a:gd name="connsiteY54" fmla="*/ 1540042 h 1645266"/>
              <a:gd name="connsiteX55" fmla="*/ 1981200 w 3007895"/>
              <a:gd name="connsiteY55" fmla="*/ 1556084 h 1645266"/>
              <a:gd name="connsiteX56" fmla="*/ 2109537 w 3007895"/>
              <a:gd name="connsiteY56" fmla="*/ 1572126 h 1645266"/>
              <a:gd name="connsiteX57" fmla="*/ 2302042 w 3007895"/>
              <a:gd name="connsiteY57" fmla="*/ 1604211 h 1645266"/>
              <a:gd name="connsiteX58" fmla="*/ 2366210 w 3007895"/>
              <a:gd name="connsiteY58" fmla="*/ 1612232 h 1645266"/>
              <a:gd name="connsiteX59" fmla="*/ 2502568 w 3007895"/>
              <a:gd name="connsiteY59" fmla="*/ 1620253 h 1645266"/>
              <a:gd name="connsiteX60" fmla="*/ 2646947 w 3007895"/>
              <a:gd name="connsiteY60" fmla="*/ 1636295 h 1645266"/>
              <a:gd name="connsiteX61" fmla="*/ 2719137 w 3007895"/>
              <a:gd name="connsiteY61" fmla="*/ 1644316 h 1645266"/>
              <a:gd name="connsiteX62" fmla="*/ 3007895 w 3007895"/>
              <a:gd name="connsiteY62" fmla="*/ 1644316 h 16452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007895" h="1645266">
                <a:moveTo>
                  <a:pt x="0" y="0"/>
                </a:moveTo>
                <a:cubicBezTo>
                  <a:pt x="44048" y="73413"/>
                  <a:pt x="10650" y="5125"/>
                  <a:pt x="32084" y="112295"/>
                </a:cubicBezTo>
                <a:cubicBezTo>
                  <a:pt x="35400" y="128876"/>
                  <a:pt x="44025" y="144016"/>
                  <a:pt x="48126" y="160421"/>
                </a:cubicBezTo>
                <a:cubicBezTo>
                  <a:pt x="50800" y="171116"/>
                  <a:pt x="54175" y="181659"/>
                  <a:pt x="56147" y="192505"/>
                </a:cubicBezTo>
                <a:cubicBezTo>
                  <a:pt x="58081" y="203145"/>
                  <a:pt x="61446" y="254812"/>
                  <a:pt x="72189" y="272716"/>
                </a:cubicBezTo>
                <a:cubicBezTo>
                  <a:pt x="76080" y="279201"/>
                  <a:pt x="82884" y="283411"/>
                  <a:pt x="88232" y="288758"/>
                </a:cubicBezTo>
                <a:cubicBezTo>
                  <a:pt x="90906" y="296779"/>
                  <a:pt x="92147" y="305430"/>
                  <a:pt x="96253" y="312821"/>
                </a:cubicBezTo>
                <a:cubicBezTo>
                  <a:pt x="105616" y="329675"/>
                  <a:pt x="117642" y="344905"/>
                  <a:pt x="128337" y="360947"/>
                </a:cubicBezTo>
                <a:cubicBezTo>
                  <a:pt x="143623" y="383877"/>
                  <a:pt x="168955" y="425287"/>
                  <a:pt x="192505" y="433137"/>
                </a:cubicBezTo>
                <a:cubicBezTo>
                  <a:pt x="208547" y="438484"/>
                  <a:pt x="224227" y="445078"/>
                  <a:pt x="240632" y="449179"/>
                </a:cubicBezTo>
                <a:cubicBezTo>
                  <a:pt x="262021" y="454526"/>
                  <a:pt x="283884" y="458249"/>
                  <a:pt x="304800" y="465221"/>
                </a:cubicBezTo>
                <a:cubicBezTo>
                  <a:pt x="320842" y="470568"/>
                  <a:pt x="336147" y="479166"/>
                  <a:pt x="352926" y="481263"/>
                </a:cubicBezTo>
                <a:lnTo>
                  <a:pt x="417095" y="489284"/>
                </a:lnTo>
                <a:cubicBezTo>
                  <a:pt x="444051" y="570151"/>
                  <a:pt x="402922" y="444715"/>
                  <a:pt x="433137" y="545432"/>
                </a:cubicBezTo>
                <a:cubicBezTo>
                  <a:pt x="437996" y="561629"/>
                  <a:pt x="443832" y="577516"/>
                  <a:pt x="449179" y="593558"/>
                </a:cubicBezTo>
                <a:lnTo>
                  <a:pt x="457200" y="617621"/>
                </a:lnTo>
                <a:cubicBezTo>
                  <a:pt x="459874" y="625642"/>
                  <a:pt x="460148" y="634920"/>
                  <a:pt x="465221" y="641684"/>
                </a:cubicBezTo>
                <a:lnTo>
                  <a:pt x="489284" y="673769"/>
                </a:lnTo>
                <a:cubicBezTo>
                  <a:pt x="515820" y="753377"/>
                  <a:pt x="471299" y="631770"/>
                  <a:pt x="521368" y="721895"/>
                </a:cubicBezTo>
                <a:cubicBezTo>
                  <a:pt x="529580" y="736677"/>
                  <a:pt x="532062" y="753979"/>
                  <a:pt x="537410" y="770021"/>
                </a:cubicBezTo>
                <a:cubicBezTo>
                  <a:pt x="540084" y="778042"/>
                  <a:pt x="540742" y="787049"/>
                  <a:pt x="545432" y="794084"/>
                </a:cubicBezTo>
                <a:cubicBezTo>
                  <a:pt x="597586" y="872315"/>
                  <a:pt x="515894" y="750741"/>
                  <a:pt x="585537" y="850232"/>
                </a:cubicBezTo>
                <a:cubicBezTo>
                  <a:pt x="596593" y="866027"/>
                  <a:pt x="599330" y="892261"/>
                  <a:pt x="617621" y="898358"/>
                </a:cubicBezTo>
                <a:cubicBezTo>
                  <a:pt x="625642" y="901032"/>
                  <a:pt x="633554" y="904056"/>
                  <a:pt x="641684" y="906379"/>
                </a:cubicBezTo>
                <a:cubicBezTo>
                  <a:pt x="712195" y="926525"/>
                  <a:pt x="640128" y="903187"/>
                  <a:pt x="697832" y="922421"/>
                </a:cubicBezTo>
                <a:cubicBezTo>
                  <a:pt x="705853" y="927768"/>
                  <a:pt x="713273" y="934152"/>
                  <a:pt x="721895" y="938463"/>
                </a:cubicBezTo>
                <a:cubicBezTo>
                  <a:pt x="729457" y="942244"/>
                  <a:pt x="738187" y="943153"/>
                  <a:pt x="745958" y="946484"/>
                </a:cubicBezTo>
                <a:cubicBezTo>
                  <a:pt x="756948" y="951194"/>
                  <a:pt x="767347" y="957179"/>
                  <a:pt x="778042" y="962526"/>
                </a:cubicBezTo>
                <a:cubicBezTo>
                  <a:pt x="783389" y="967874"/>
                  <a:pt x="789360" y="972664"/>
                  <a:pt x="794084" y="978569"/>
                </a:cubicBezTo>
                <a:cubicBezTo>
                  <a:pt x="818311" y="1008853"/>
                  <a:pt x="807825" y="1014466"/>
                  <a:pt x="850232" y="1042737"/>
                </a:cubicBezTo>
                <a:lnTo>
                  <a:pt x="922421" y="1090863"/>
                </a:lnTo>
                <a:lnTo>
                  <a:pt x="946484" y="1106905"/>
                </a:lnTo>
                <a:cubicBezTo>
                  <a:pt x="954505" y="1112252"/>
                  <a:pt x="963730" y="1116130"/>
                  <a:pt x="970547" y="1122947"/>
                </a:cubicBezTo>
                <a:lnTo>
                  <a:pt x="1010653" y="1163053"/>
                </a:lnTo>
                <a:cubicBezTo>
                  <a:pt x="1018674" y="1171074"/>
                  <a:pt x="1025278" y="1180824"/>
                  <a:pt x="1034716" y="1187116"/>
                </a:cubicBezTo>
                <a:lnTo>
                  <a:pt x="1082842" y="1219200"/>
                </a:lnTo>
                <a:cubicBezTo>
                  <a:pt x="1090863" y="1224547"/>
                  <a:pt x="1100088" y="1228425"/>
                  <a:pt x="1106905" y="1235242"/>
                </a:cubicBezTo>
                <a:cubicBezTo>
                  <a:pt x="1124647" y="1252984"/>
                  <a:pt x="1132695" y="1264178"/>
                  <a:pt x="1155032" y="1275347"/>
                </a:cubicBezTo>
                <a:cubicBezTo>
                  <a:pt x="1162594" y="1279128"/>
                  <a:pt x="1171704" y="1279263"/>
                  <a:pt x="1179095" y="1283369"/>
                </a:cubicBezTo>
                <a:cubicBezTo>
                  <a:pt x="1195949" y="1292732"/>
                  <a:pt x="1211179" y="1304758"/>
                  <a:pt x="1227221" y="1315453"/>
                </a:cubicBezTo>
                <a:cubicBezTo>
                  <a:pt x="1235242" y="1320800"/>
                  <a:pt x="1242139" y="1328447"/>
                  <a:pt x="1251284" y="1331495"/>
                </a:cubicBezTo>
                <a:cubicBezTo>
                  <a:pt x="1311770" y="1351657"/>
                  <a:pt x="1237210" y="1324459"/>
                  <a:pt x="1299410" y="1355558"/>
                </a:cubicBezTo>
                <a:cubicBezTo>
                  <a:pt x="1306973" y="1359339"/>
                  <a:pt x="1315453" y="1360905"/>
                  <a:pt x="1323474" y="1363579"/>
                </a:cubicBezTo>
                <a:cubicBezTo>
                  <a:pt x="1331495" y="1368926"/>
                  <a:pt x="1338728" y="1375706"/>
                  <a:pt x="1347537" y="1379621"/>
                </a:cubicBezTo>
                <a:cubicBezTo>
                  <a:pt x="1362989" y="1386489"/>
                  <a:pt x="1379621" y="1390316"/>
                  <a:pt x="1395663" y="1395663"/>
                </a:cubicBezTo>
                <a:cubicBezTo>
                  <a:pt x="1403684" y="1398337"/>
                  <a:pt x="1412164" y="1399903"/>
                  <a:pt x="1419726" y="1403684"/>
                </a:cubicBezTo>
                <a:cubicBezTo>
                  <a:pt x="1444506" y="1416074"/>
                  <a:pt x="1472186" y="1431805"/>
                  <a:pt x="1499937" y="1435769"/>
                </a:cubicBezTo>
                <a:lnTo>
                  <a:pt x="1556084" y="1443790"/>
                </a:lnTo>
                <a:cubicBezTo>
                  <a:pt x="1572126" y="1449137"/>
                  <a:pt x="1590140" y="1450452"/>
                  <a:pt x="1604210" y="1459832"/>
                </a:cubicBezTo>
                <a:cubicBezTo>
                  <a:pt x="1612231" y="1465179"/>
                  <a:pt x="1619465" y="1471959"/>
                  <a:pt x="1628274" y="1475874"/>
                </a:cubicBezTo>
                <a:cubicBezTo>
                  <a:pt x="1643726" y="1482742"/>
                  <a:pt x="1660358" y="1486569"/>
                  <a:pt x="1676400" y="1491916"/>
                </a:cubicBezTo>
                <a:lnTo>
                  <a:pt x="1724526" y="1507958"/>
                </a:lnTo>
                <a:cubicBezTo>
                  <a:pt x="1732547" y="1510632"/>
                  <a:pt x="1740387" y="1513928"/>
                  <a:pt x="1748589" y="1515979"/>
                </a:cubicBezTo>
                <a:cubicBezTo>
                  <a:pt x="1771940" y="1521817"/>
                  <a:pt x="1797021" y="1528627"/>
                  <a:pt x="1820779" y="1532021"/>
                </a:cubicBezTo>
                <a:cubicBezTo>
                  <a:pt x="1844747" y="1535445"/>
                  <a:pt x="1868905" y="1537368"/>
                  <a:pt x="1892968" y="1540042"/>
                </a:cubicBezTo>
                <a:cubicBezTo>
                  <a:pt x="1942056" y="1556404"/>
                  <a:pt x="1896980" y="1543127"/>
                  <a:pt x="1981200" y="1556084"/>
                </a:cubicBezTo>
                <a:cubicBezTo>
                  <a:pt x="2100909" y="1574501"/>
                  <a:pt x="1898019" y="1552897"/>
                  <a:pt x="2109537" y="1572126"/>
                </a:cubicBezTo>
                <a:cubicBezTo>
                  <a:pt x="2187091" y="1591515"/>
                  <a:pt x="2164991" y="1587080"/>
                  <a:pt x="2302042" y="1604211"/>
                </a:cubicBezTo>
                <a:cubicBezTo>
                  <a:pt x="2323431" y="1606885"/>
                  <a:pt x="2344723" y="1610513"/>
                  <a:pt x="2366210" y="1612232"/>
                </a:cubicBezTo>
                <a:cubicBezTo>
                  <a:pt x="2411596" y="1615863"/>
                  <a:pt x="2457115" y="1617579"/>
                  <a:pt x="2502568" y="1620253"/>
                </a:cubicBezTo>
                <a:cubicBezTo>
                  <a:pt x="2602489" y="1634527"/>
                  <a:pt x="2517179" y="1623318"/>
                  <a:pt x="2646947" y="1636295"/>
                </a:cubicBezTo>
                <a:cubicBezTo>
                  <a:pt x="2671038" y="1638704"/>
                  <a:pt x="2694932" y="1643778"/>
                  <a:pt x="2719137" y="1644316"/>
                </a:cubicBezTo>
                <a:cubicBezTo>
                  <a:pt x="2815366" y="1646454"/>
                  <a:pt x="2911642" y="1644316"/>
                  <a:pt x="3007895" y="1644316"/>
                </a:cubicBezTo>
              </a:path>
            </a:pathLst>
          </a:custGeom>
          <a:noFill/>
          <a:ln w="2540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736EA4D6-CD57-458C-A172-17D0AF4D74FB}"/>
              </a:ext>
            </a:extLst>
          </p:cNvPr>
          <p:cNvSpPr/>
          <p:nvPr/>
        </p:nvSpPr>
        <p:spPr>
          <a:xfrm>
            <a:off x="1224543" y="2853898"/>
            <a:ext cx="3009900" cy="1420394"/>
          </a:xfrm>
          <a:custGeom>
            <a:avLst/>
            <a:gdLst>
              <a:gd name="connsiteX0" fmla="*/ 0 w 3009900"/>
              <a:gd name="connsiteY0" fmla="*/ 0 h 1420394"/>
              <a:gd name="connsiteX1" fmla="*/ 47625 w 3009900"/>
              <a:gd name="connsiteY1" fmla="*/ 142875 h 1420394"/>
              <a:gd name="connsiteX2" fmla="*/ 66675 w 3009900"/>
              <a:gd name="connsiteY2" fmla="*/ 171450 h 1420394"/>
              <a:gd name="connsiteX3" fmla="*/ 76200 w 3009900"/>
              <a:gd name="connsiteY3" fmla="*/ 200025 h 1420394"/>
              <a:gd name="connsiteX4" fmla="*/ 114300 w 3009900"/>
              <a:gd name="connsiteY4" fmla="*/ 257175 h 1420394"/>
              <a:gd name="connsiteX5" fmla="*/ 142875 w 3009900"/>
              <a:gd name="connsiteY5" fmla="*/ 314325 h 1420394"/>
              <a:gd name="connsiteX6" fmla="*/ 171450 w 3009900"/>
              <a:gd name="connsiteY6" fmla="*/ 342900 h 1420394"/>
              <a:gd name="connsiteX7" fmla="*/ 190500 w 3009900"/>
              <a:gd name="connsiteY7" fmla="*/ 371475 h 1420394"/>
              <a:gd name="connsiteX8" fmla="*/ 247650 w 3009900"/>
              <a:gd name="connsiteY8" fmla="*/ 409575 h 1420394"/>
              <a:gd name="connsiteX9" fmla="*/ 314325 w 3009900"/>
              <a:gd name="connsiteY9" fmla="*/ 457200 h 1420394"/>
              <a:gd name="connsiteX10" fmla="*/ 400050 w 3009900"/>
              <a:gd name="connsiteY10" fmla="*/ 485775 h 1420394"/>
              <a:gd name="connsiteX11" fmla="*/ 428625 w 3009900"/>
              <a:gd name="connsiteY11" fmla="*/ 495300 h 1420394"/>
              <a:gd name="connsiteX12" fmla="*/ 466725 w 3009900"/>
              <a:gd name="connsiteY12" fmla="*/ 552450 h 1420394"/>
              <a:gd name="connsiteX13" fmla="*/ 476250 w 3009900"/>
              <a:gd name="connsiteY13" fmla="*/ 581025 h 1420394"/>
              <a:gd name="connsiteX14" fmla="*/ 514350 w 3009900"/>
              <a:gd name="connsiteY14" fmla="*/ 638175 h 1420394"/>
              <a:gd name="connsiteX15" fmla="*/ 561975 w 3009900"/>
              <a:gd name="connsiteY15" fmla="*/ 723900 h 1420394"/>
              <a:gd name="connsiteX16" fmla="*/ 647700 w 3009900"/>
              <a:gd name="connsiteY16" fmla="*/ 800100 h 1420394"/>
              <a:gd name="connsiteX17" fmla="*/ 666750 w 3009900"/>
              <a:gd name="connsiteY17" fmla="*/ 828675 h 1420394"/>
              <a:gd name="connsiteX18" fmla="*/ 723900 w 3009900"/>
              <a:gd name="connsiteY18" fmla="*/ 885825 h 1420394"/>
              <a:gd name="connsiteX19" fmla="*/ 771525 w 3009900"/>
              <a:gd name="connsiteY19" fmla="*/ 933450 h 1420394"/>
              <a:gd name="connsiteX20" fmla="*/ 819150 w 3009900"/>
              <a:gd name="connsiteY20" fmla="*/ 990600 h 1420394"/>
              <a:gd name="connsiteX21" fmla="*/ 876300 w 3009900"/>
              <a:gd name="connsiteY21" fmla="*/ 1009650 h 1420394"/>
              <a:gd name="connsiteX22" fmla="*/ 942975 w 3009900"/>
              <a:gd name="connsiteY22" fmla="*/ 1057275 h 1420394"/>
              <a:gd name="connsiteX23" fmla="*/ 971550 w 3009900"/>
              <a:gd name="connsiteY23" fmla="*/ 1085850 h 1420394"/>
              <a:gd name="connsiteX24" fmla="*/ 1000125 w 3009900"/>
              <a:gd name="connsiteY24" fmla="*/ 1104900 h 1420394"/>
              <a:gd name="connsiteX25" fmla="*/ 1057275 w 3009900"/>
              <a:gd name="connsiteY25" fmla="*/ 1162050 h 1420394"/>
              <a:gd name="connsiteX26" fmla="*/ 1114425 w 3009900"/>
              <a:gd name="connsiteY26" fmla="*/ 1181100 h 1420394"/>
              <a:gd name="connsiteX27" fmla="*/ 1143000 w 3009900"/>
              <a:gd name="connsiteY27" fmla="*/ 1200150 h 1420394"/>
              <a:gd name="connsiteX28" fmla="*/ 1200150 w 3009900"/>
              <a:gd name="connsiteY28" fmla="*/ 1219200 h 1420394"/>
              <a:gd name="connsiteX29" fmla="*/ 1257300 w 3009900"/>
              <a:gd name="connsiteY29" fmla="*/ 1257300 h 1420394"/>
              <a:gd name="connsiteX30" fmla="*/ 1285875 w 3009900"/>
              <a:gd name="connsiteY30" fmla="*/ 1266825 h 1420394"/>
              <a:gd name="connsiteX31" fmla="*/ 1314450 w 3009900"/>
              <a:gd name="connsiteY31" fmla="*/ 1285875 h 1420394"/>
              <a:gd name="connsiteX32" fmla="*/ 1400175 w 3009900"/>
              <a:gd name="connsiteY32" fmla="*/ 1304925 h 1420394"/>
              <a:gd name="connsiteX33" fmla="*/ 1543050 w 3009900"/>
              <a:gd name="connsiteY33" fmla="*/ 1323975 h 1420394"/>
              <a:gd name="connsiteX34" fmla="*/ 1581150 w 3009900"/>
              <a:gd name="connsiteY34" fmla="*/ 1333500 h 1420394"/>
              <a:gd name="connsiteX35" fmla="*/ 2066925 w 3009900"/>
              <a:gd name="connsiteY35" fmla="*/ 1352550 h 1420394"/>
              <a:gd name="connsiteX36" fmla="*/ 2276475 w 3009900"/>
              <a:gd name="connsiteY36" fmla="*/ 1371600 h 1420394"/>
              <a:gd name="connsiteX37" fmla="*/ 2476500 w 3009900"/>
              <a:gd name="connsiteY37" fmla="*/ 1390650 h 1420394"/>
              <a:gd name="connsiteX38" fmla="*/ 2619375 w 3009900"/>
              <a:gd name="connsiteY38" fmla="*/ 1409700 h 1420394"/>
              <a:gd name="connsiteX39" fmla="*/ 2686050 w 3009900"/>
              <a:gd name="connsiteY39" fmla="*/ 1419225 h 1420394"/>
              <a:gd name="connsiteX40" fmla="*/ 3009900 w 3009900"/>
              <a:gd name="connsiteY40" fmla="*/ 1419225 h 1420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009900" h="1420394">
                <a:moveTo>
                  <a:pt x="0" y="0"/>
                </a:moveTo>
                <a:cubicBezTo>
                  <a:pt x="71555" y="89444"/>
                  <a:pt x="14854" y="867"/>
                  <a:pt x="47625" y="142875"/>
                </a:cubicBezTo>
                <a:cubicBezTo>
                  <a:pt x="50199" y="154029"/>
                  <a:pt x="61555" y="161211"/>
                  <a:pt x="66675" y="171450"/>
                </a:cubicBezTo>
                <a:cubicBezTo>
                  <a:pt x="71165" y="180430"/>
                  <a:pt x="71324" y="191248"/>
                  <a:pt x="76200" y="200025"/>
                </a:cubicBezTo>
                <a:cubicBezTo>
                  <a:pt x="87319" y="220039"/>
                  <a:pt x="107060" y="235455"/>
                  <a:pt x="114300" y="257175"/>
                </a:cubicBezTo>
                <a:cubicBezTo>
                  <a:pt x="123846" y="285814"/>
                  <a:pt x="122359" y="289706"/>
                  <a:pt x="142875" y="314325"/>
                </a:cubicBezTo>
                <a:cubicBezTo>
                  <a:pt x="151499" y="324673"/>
                  <a:pt x="162826" y="332552"/>
                  <a:pt x="171450" y="342900"/>
                </a:cubicBezTo>
                <a:cubicBezTo>
                  <a:pt x="178779" y="351694"/>
                  <a:pt x="181885" y="363937"/>
                  <a:pt x="190500" y="371475"/>
                </a:cubicBezTo>
                <a:cubicBezTo>
                  <a:pt x="207730" y="386552"/>
                  <a:pt x="229334" y="395838"/>
                  <a:pt x="247650" y="409575"/>
                </a:cubicBezTo>
                <a:cubicBezTo>
                  <a:pt x="252767" y="413413"/>
                  <a:pt x="302929" y="452135"/>
                  <a:pt x="314325" y="457200"/>
                </a:cubicBezTo>
                <a:lnTo>
                  <a:pt x="400050" y="485775"/>
                </a:lnTo>
                <a:lnTo>
                  <a:pt x="428625" y="495300"/>
                </a:lnTo>
                <a:cubicBezTo>
                  <a:pt x="441325" y="514350"/>
                  <a:pt x="459485" y="530730"/>
                  <a:pt x="466725" y="552450"/>
                </a:cubicBezTo>
                <a:cubicBezTo>
                  <a:pt x="469900" y="561975"/>
                  <a:pt x="471374" y="572248"/>
                  <a:pt x="476250" y="581025"/>
                </a:cubicBezTo>
                <a:cubicBezTo>
                  <a:pt x="487369" y="601039"/>
                  <a:pt x="507110" y="616455"/>
                  <a:pt x="514350" y="638175"/>
                </a:cubicBezTo>
                <a:cubicBezTo>
                  <a:pt x="526328" y="674108"/>
                  <a:pt x="529223" y="691148"/>
                  <a:pt x="561975" y="723900"/>
                </a:cubicBezTo>
                <a:cubicBezTo>
                  <a:pt x="627220" y="789145"/>
                  <a:pt x="596709" y="766106"/>
                  <a:pt x="647700" y="800100"/>
                </a:cubicBezTo>
                <a:cubicBezTo>
                  <a:pt x="654050" y="809625"/>
                  <a:pt x="659145" y="820119"/>
                  <a:pt x="666750" y="828675"/>
                </a:cubicBezTo>
                <a:cubicBezTo>
                  <a:pt x="684648" y="848811"/>
                  <a:pt x="708956" y="863409"/>
                  <a:pt x="723900" y="885825"/>
                </a:cubicBezTo>
                <a:cubicBezTo>
                  <a:pt x="749300" y="923925"/>
                  <a:pt x="733425" y="908050"/>
                  <a:pt x="771525" y="933450"/>
                </a:cubicBezTo>
                <a:cubicBezTo>
                  <a:pt x="783382" y="951235"/>
                  <a:pt x="799737" y="979815"/>
                  <a:pt x="819150" y="990600"/>
                </a:cubicBezTo>
                <a:cubicBezTo>
                  <a:pt x="836703" y="1000352"/>
                  <a:pt x="859592" y="998511"/>
                  <a:pt x="876300" y="1009650"/>
                </a:cubicBezTo>
                <a:cubicBezTo>
                  <a:pt x="898915" y="1024727"/>
                  <a:pt x="922300" y="1039553"/>
                  <a:pt x="942975" y="1057275"/>
                </a:cubicBezTo>
                <a:cubicBezTo>
                  <a:pt x="953202" y="1066041"/>
                  <a:pt x="961202" y="1077226"/>
                  <a:pt x="971550" y="1085850"/>
                </a:cubicBezTo>
                <a:cubicBezTo>
                  <a:pt x="980344" y="1093179"/>
                  <a:pt x="991569" y="1097295"/>
                  <a:pt x="1000125" y="1104900"/>
                </a:cubicBezTo>
                <a:cubicBezTo>
                  <a:pt x="1020261" y="1122798"/>
                  <a:pt x="1031717" y="1153531"/>
                  <a:pt x="1057275" y="1162050"/>
                </a:cubicBezTo>
                <a:cubicBezTo>
                  <a:pt x="1076325" y="1168400"/>
                  <a:pt x="1097717" y="1169961"/>
                  <a:pt x="1114425" y="1181100"/>
                </a:cubicBezTo>
                <a:cubicBezTo>
                  <a:pt x="1123950" y="1187450"/>
                  <a:pt x="1132539" y="1195501"/>
                  <a:pt x="1143000" y="1200150"/>
                </a:cubicBezTo>
                <a:cubicBezTo>
                  <a:pt x="1161350" y="1208305"/>
                  <a:pt x="1183442" y="1208061"/>
                  <a:pt x="1200150" y="1219200"/>
                </a:cubicBezTo>
                <a:cubicBezTo>
                  <a:pt x="1219200" y="1231900"/>
                  <a:pt x="1235580" y="1250060"/>
                  <a:pt x="1257300" y="1257300"/>
                </a:cubicBezTo>
                <a:cubicBezTo>
                  <a:pt x="1266825" y="1260475"/>
                  <a:pt x="1276895" y="1262335"/>
                  <a:pt x="1285875" y="1266825"/>
                </a:cubicBezTo>
                <a:cubicBezTo>
                  <a:pt x="1296114" y="1271945"/>
                  <a:pt x="1304211" y="1280755"/>
                  <a:pt x="1314450" y="1285875"/>
                </a:cubicBezTo>
                <a:cubicBezTo>
                  <a:pt x="1338442" y="1297871"/>
                  <a:pt x="1377180" y="1300744"/>
                  <a:pt x="1400175" y="1304925"/>
                </a:cubicBezTo>
                <a:cubicBezTo>
                  <a:pt x="1496625" y="1322461"/>
                  <a:pt x="1397128" y="1309383"/>
                  <a:pt x="1543050" y="1323975"/>
                </a:cubicBezTo>
                <a:cubicBezTo>
                  <a:pt x="1555750" y="1327150"/>
                  <a:pt x="1568270" y="1331158"/>
                  <a:pt x="1581150" y="1333500"/>
                </a:cubicBezTo>
                <a:cubicBezTo>
                  <a:pt x="1735951" y="1361646"/>
                  <a:pt x="1937868" y="1349617"/>
                  <a:pt x="2066925" y="1352550"/>
                </a:cubicBezTo>
                <a:cubicBezTo>
                  <a:pt x="2136775" y="1358900"/>
                  <a:pt x="2206766" y="1363855"/>
                  <a:pt x="2276475" y="1371600"/>
                </a:cubicBezTo>
                <a:cubicBezTo>
                  <a:pt x="2400198" y="1385347"/>
                  <a:pt x="2333548" y="1378737"/>
                  <a:pt x="2476500" y="1390650"/>
                </a:cubicBezTo>
                <a:cubicBezTo>
                  <a:pt x="2544484" y="1413311"/>
                  <a:pt x="2483117" y="1395357"/>
                  <a:pt x="2619375" y="1409700"/>
                </a:cubicBezTo>
                <a:cubicBezTo>
                  <a:pt x="2641702" y="1412050"/>
                  <a:pt x="2663606" y="1418678"/>
                  <a:pt x="2686050" y="1419225"/>
                </a:cubicBezTo>
                <a:cubicBezTo>
                  <a:pt x="2793968" y="1421857"/>
                  <a:pt x="2901950" y="1419225"/>
                  <a:pt x="3009900" y="1419225"/>
                </a:cubicBezTo>
              </a:path>
            </a:pathLst>
          </a:custGeom>
          <a:noFill/>
          <a:ln w="254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36B9353-ED6C-489D-8548-AA625536982D}"/>
              </a:ext>
            </a:extLst>
          </p:cNvPr>
          <p:cNvSpPr/>
          <p:nvPr/>
        </p:nvSpPr>
        <p:spPr>
          <a:xfrm>
            <a:off x="1243593" y="2853898"/>
            <a:ext cx="2924175" cy="1304925"/>
          </a:xfrm>
          <a:custGeom>
            <a:avLst/>
            <a:gdLst>
              <a:gd name="connsiteX0" fmla="*/ 0 w 2924175"/>
              <a:gd name="connsiteY0" fmla="*/ 0 h 1304925"/>
              <a:gd name="connsiteX1" fmla="*/ 19050 w 2924175"/>
              <a:gd name="connsiteY1" fmla="*/ 76200 h 1304925"/>
              <a:gd name="connsiteX2" fmla="*/ 38100 w 2924175"/>
              <a:gd name="connsiteY2" fmla="*/ 114300 h 1304925"/>
              <a:gd name="connsiteX3" fmla="*/ 57150 w 2924175"/>
              <a:gd name="connsiteY3" fmla="*/ 171450 h 1304925"/>
              <a:gd name="connsiteX4" fmla="*/ 85725 w 2924175"/>
              <a:gd name="connsiteY4" fmla="*/ 228600 h 1304925"/>
              <a:gd name="connsiteX5" fmla="*/ 142875 w 2924175"/>
              <a:gd name="connsiteY5" fmla="*/ 266700 h 1304925"/>
              <a:gd name="connsiteX6" fmla="*/ 171450 w 2924175"/>
              <a:gd name="connsiteY6" fmla="*/ 285750 h 1304925"/>
              <a:gd name="connsiteX7" fmla="*/ 228600 w 2924175"/>
              <a:gd name="connsiteY7" fmla="*/ 342900 h 1304925"/>
              <a:gd name="connsiteX8" fmla="*/ 304800 w 2924175"/>
              <a:gd name="connsiteY8" fmla="*/ 428625 h 1304925"/>
              <a:gd name="connsiteX9" fmla="*/ 333375 w 2924175"/>
              <a:gd name="connsiteY9" fmla="*/ 447675 h 1304925"/>
              <a:gd name="connsiteX10" fmla="*/ 361950 w 2924175"/>
              <a:gd name="connsiteY10" fmla="*/ 457200 h 1304925"/>
              <a:gd name="connsiteX11" fmla="*/ 419100 w 2924175"/>
              <a:gd name="connsiteY11" fmla="*/ 485775 h 1304925"/>
              <a:gd name="connsiteX12" fmla="*/ 447675 w 2924175"/>
              <a:gd name="connsiteY12" fmla="*/ 514350 h 1304925"/>
              <a:gd name="connsiteX13" fmla="*/ 466725 w 2924175"/>
              <a:gd name="connsiteY13" fmla="*/ 542925 h 1304925"/>
              <a:gd name="connsiteX14" fmla="*/ 495300 w 2924175"/>
              <a:gd name="connsiteY14" fmla="*/ 581025 h 1304925"/>
              <a:gd name="connsiteX15" fmla="*/ 504825 w 2924175"/>
              <a:gd name="connsiteY15" fmla="*/ 609600 h 1304925"/>
              <a:gd name="connsiteX16" fmla="*/ 533400 w 2924175"/>
              <a:gd name="connsiteY16" fmla="*/ 638175 h 1304925"/>
              <a:gd name="connsiteX17" fmla="*/ 571500 w 2924175"/>
              <a:gd name="connsiteY17" fmla="*/ 695325 h 1304925"/>
              <a:gd name="connsiteX18" fmla="*/ 571500 w 2924175"/>
              <a:gd name="connsiteY18" fmla="*/ 695325 h 1304925"/>
              <a:gd name="connsiteX19" fmla="*/ 609600 w 2924175"/>
              <a:gd name="connsiteY19" fmla="*/ 762000 h 1304925"/>
              <a:gd name="connsiteX20" fmla="*/ 638175 w 2924175"/>
              <a:gd name="connsiteY20" fmla="*/ 790575 h 1304925"/>
              <a:gd name="connsiteX21" fmla="*/ 685800 w 2924175"/>
              <a:gd name="connsiteY21" fmla="*/ 847725 h 1304925"/>
              <a:gd name="connsiteX22" fmla="*/ 704850 w 2924175"/>
              <a:gd name="connsiteY22" fmla="*/ 904875 h 1304925"/>
              <a:gd name="connsiteX23" fmla="*/ 733425 w 2924175"/>
              <a:gd name="connsiteY23" fmla="*/ 962025 h 1304925"/>
              <a:gd name="connsiteX24" fmla="*/ 762000 w 2924175"/>
              <a:gd name="connsiteY24" fmla="*/ 971550 h 1304925"/>
              <a:gd name="connsiteX25" fmla="*/ 819150 w 2924175"/>
              <a:gd name="connsiteY25" fmla="*/ 1019175 h 1304925"/>
              <a:gd name="connsiteX26" fmla="*/ 885825 w 2924175"/>
              <a:gd name="connsiteY26" fmla="*/ 1038225 h 1304925"/>
              <a:gd name="connsiteX27" fmla="*/ 914400 w 2924175"/>
              <a:gd name="connsiteY27" fmla="*/ 1057275 h 1304925"/>
              <a:gd name="connsiteX28" fmla="*/ 942975 w 2924175"/>
              <a:gd name="connsiteY28" fmla="*/ 1066800 h 1304925"/>
              <a:gd name="connsiteX29" fmla="*/ 981075 w 2924175"/>
              <a:gd name="connsiteY29" fmla="*/ 1085850 h 1304925"/>
              <a:gd name="connsiteX30" fmla="*/ 1019175 w 2924175"/>
              <a:gd name="connsiteY30" fmla="*/ 1095375 h 1304925"/>
              <a:gd name="connsiteX31" fmla="*/ 1047750 w 2924175"/>
              <a:gd name="connsiteY31" fmla="*/ 1104900 h 1304925"/>
              <a:gd name="connsiteX32" fmla="*/ 1143000 w 2924175"/>
              <a:gd name="connsiteY32" fmla="*/ 1123950 h 1304925"/>
              <a:gd name="connsiteX33" fmla="*/ 1181100 w 2924175"/>
              <a:gd name="connsiteY33" fmla="*/ 1133475 h 1304925"/>
              <a:gd name="connsiteX34" fmla="*/ 1257300 w 2924175"/>
              <a:gd name="connsiteY34" fmla="*/ 1143000 h 1304925"/>
              <a:gd name="connsiteX35" fmla="*/ 1295400 w 2924175"/>
              <a:gd name="connsiteY35" fmla="*/ 1162050 h 1304925"/>
              <a:gd name="connsiteX36" fmla="*/ 1409700 w 2924175"/>
              <a:gd name="connsiteY36" fmla="*/ 1181100 h 1304925"/>
              <a:gd name="connsiteX37" fmla="*/ 1590675 w 2924175"/>
              <a:gd name="connsiteY37" fmla="*/ 1200150 h 1304925"/>
              <a:gd name="connsiteX38" fmla="*/ 1647825 w 2924175"/>
              <a:gd name="connsiteY38" fmla="*/ 1209675 h 1304925"/>
              <a:gd name="connsiteX39" fmla="*/ 1695450 w 2924175"/>
              <a:gd name="connsiteY39" fmla="*/ 1219200 h 1304925"/>
              <a:gd name="connsiteX40" fmla="*/ 1847850 w 2924175"/>
              <a:gd name="connsiteY40" fmla="*/ 1228725 h 1304925"/>
              <a:gd name="connsiteX41" fmla="*/ 2124075 w 2924175"/>
              <a:gd name="connsiteY41" fmla="*/ 1257300 h 1304925"/>
              <a:gd name="connsiteX42" fmla="*/ 2200275 w 2924175"/>
              <a:gd name="connsiteY42" fmla="*/ 1266825 h 1304925"/>
              <a:gd name="connsiteX43" fmla="*/ 2266950 w 2924175"/>
              <a:gd name="connsiteY43" fmla="*/ 1276350 h 1304925"/>
              <a:gd name="connsiteX44" fmla="*/ 2447925 w 2924175"/>
              <a:gd name="connsiteY44" fmla="*/ 1285875 h 1304925"/>
              <a:gd name="connsiteX45" fmla="*/ 2514600 w 2924175"/>
              <a:gd name="connsiteY45" fmla="*/ 1295400 h 1304925"/>
              <a:gd name="connsiteX46" fmla="*/ 2562225 w 2924175"/>
              <a:gd name="connsiteY46" fmla="*/ 1304925 h 1304925"/>
              <a:gd name="connsiteX47" fmla="*/ 2838450 w 2924175"/>
              <a:gd name="connsiteY47" fmla="*/ 1295400 h 1304925"/>
              <a:gd name="connsiteX48" fmla="*/ 2924175 w 2924175"/>
              <a:gd name="connsiteY48" fmla="*/ 1285875 h 1304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924175" h="1304925">
                <a:moveTo>
                  <a:pt x="0" y="0"/>
                </a:moveTo>
                <a:cubicBezTo>
                  <a:pt x="5591" y="27953"/>
                  <a:pt x="8067" y="50572"/>
                  <a:pt x="19050" y="76200"/>
                </a:cubicBezTo>
                <a:cubicBezTo>
                  <a:pt x="24643" y="89251"/>
                  <a:pt x="32827" y="101117"/>
                  <a:pt x="38100" y="114300"/>
                </a:cubicBezTo>
                <a:cubicBezTo>
                  <a:pt x="45558" y="132944"/>
                  <a:pt x="50800" y="152400"/>
                  <a:pt x="57150" y="171450"/>
                </a:cubicBezTo>
                <a:cubicBezTo>
                  <a:pt x="63944" y="191833"/>
                  <a:pt x="68347" y="213394"/>
                  <a:pt x="85725" y="228600"/>
                </a:cubicBezTo>
                <a:cubicBezTo>
                  <a:pt x="102955" y="243677"/>
                  <a:pt x="123825" y="254000"/>
                  <a:pt x="142875" y="266700"/>
                </a:cubicBezTo>
                <a:cubicBezTo>
                  <a:pt x="152400" y="273050"/>
                  <a:pt x="164581" y="276592"/>
                  <a:pt x="171450" y="285750"/>
                </a:cubicBezTo>
                <a:cubicBezTo>
                  <a:pt x="206894" y="333008"/>
                  <a:pt x="186816" y="315044"/>
                  <a:pt x="228600" y="342900"/>
                </a:cubicBezTo>
                <a:cubicBezTo>
                  <a:pt x="251505" y="377257"/>
                  <a:pt x="265653" y="402527"/>
                  <a:pt x="304800" y="428625"/>
                </a:cubicBezTo>
                <a:cubicBezTo>
                  <a:pt x="314325" y="434975"/>
                  <a:pt x="323136" y="442555"/>
                  <a:pt x="333375" y="447675"/>
                </a:cubicBezTo>
                <a:cubicBezTo>
                  <a:pt x="342355" y="452165"/>
                  <a:pt x="352970" y="452710"/>
                  <a:pt x="361950" y="457200"/>
                </a:cubicBezTo>
                <a:cubicBezTo>
                  <a:pt x="435808" y="494129"/>
                  <a:pt x="347276" y="461834"/>
                  <a:pt x="419100" y="485775"/>
                </a:cubicBezTo>
                <a:cubicBezTo>
                  <a:pt x="428625" y="495300"/>
                  <a:pt x="439051" y="504002"/>
                  <a:pt x="447675" y="514350"/>
                </a:cubicBezTo>
                <a:cubicBezTo>
                  <a:pt x="455004" y="523144"/>
                  <a:pt x="460071" y="533610"/>
                  <a:pt x="466725" y="542925"/>
                </a:cubicBezTo>
                <a:cubicBezTo>
                  <a:pt x="475952" y="555843"/>
                  <a:pt x="485775" y="568325"/>
                  <a:pt x="495300" y="581025"/>
                </a:cubicBezTo>
                <a:cubicBezTo>
                  <a:pt x="498475" y="590550"/>
                  <a:pt x="499256" y="601246"/>
                  <a:pt x="504825" y="609600"/>
                </a:cubicBezTo>
                <a:cubicBezTo>
                  <a:pt x="512297" y="620808"/>
                  <a:pt x="525130" y="627542"/>
                  <a:pt x="533400" y="638175"/>
                </a:cubicBezTo>
                <a:cubicBezTo>
                  <a:pt x="547456" y="656247"/>
                  <a:pt x="558800" y="676275"/>
                  <a:pt x="571500" y="695325"/>
                </a:cubicBezTo>
                <a:lnTo>
                  <a:pt x="571500" y="695325"/>
                </a:lnTo>
                <a:cubicBezTo>
                  <a:pt x="583145" y="718616"/>
                  <a:pt x="592771" y="741805"/>
                  <a:pt x="609600" y="762000"/>
                </a:cubicBezTo>
                <a:cubicBezTo>
                  <a:pt x="618224" y="772348"/>
                  <a:pt x="629551" y="780227"/>
                  <a:pt x="638175" y="790575"/>
                </a:cubicBezTo>
                <a:cubicBezTo>
                  <a:pt x="704480" y="870141"/>
                  <a:pt x="602318" y="764243"/>
                  <a:pt x="685800" y="847725"/>
                </a:cubicBezTo>
                <a:lnTo>
                  <a:pt x="704850" y="904875"/>
                </a:lnTo>
                <a:cubicBezTo>
                  <a:pt x="711125" y="923699"/>
                  <a:pt x="716639" y="948596"/>
                  <a:pt x="733425" y="962025"/>
                </a:cubicBezTo>
                <a:cubicBezTo>
                  <a:pt x="741265" y="968297"/>
                  <a:pt x="752475" y="968375"/>
                  <a:pt x="762000" y="971550"/>
                </a:cubicBezTo>
                <a:cubicBezTo>
                  <a:pt x="779164" y="988714"/>
                  <a:pt x="795943" y="1009229"/>
                  <a:pt x="819150" y="1019175"/>
                </a:cubicBezTo>
                <a:cubicBezTo>
                  <a:pt x="861876" y="1037486"/>
                  <a:pt x="848754" y="1019689"/>
                  <a:pt x="885825" y="1038225"/>
                </a:cubicBezTo>
                <a:cubicBezTo>
                  <a:pt x="896064" y="1043345"/>
                  <a:pt x="904161" y="1052155"/>
                  <a:pt x="914400" y="1057275"/>
                </a:cubicBezTo>
                <a:cubicBezTo>
                  <a:pt x="923380" y="1061765"/>
                  <a:pt x="933747" y="1062845"/>
                  <a:pt x="942975" y="1066800"/>
                </a:cubicBezTo>
                <a:cubicBezTo>
                  <a:pt x="956026" y="1072393"/>
                  <a:pt x="967780" y="1080864"/>
                  <a:pt x="981075" y="1085850"/>
                </a:cubicBezTo>
                <a:cubicBezTo>
                  <a:pt x="993332" y="1090447"/>
                  <a:pt x="1006588" y="1091779"/>
                  <a:pt x="1019175" y="1095375"/>
                </a:cubicBezTo>
                <a:cubicBezTo>
                  <a:pt x="1028829" y="1098133"/>
                  <a:pt x="1037967" y="1102642"/>
                  <a:pt x="1047750" y="1104900"/>
                </a:cubicBezTo>
                <a:cubicBezTo>
                  <a:pt x="1079300" y="1112181"/>
                  <a:pt x="1111588" y="1116097"/>
                  <a:pt x="1143000" y="1123950"/>
                </a:cubicBezTo>
                <a:cubicBezTo>
                  <a:pt x="1155700" y="1127125"/>
                  <a:pt x="1168187" y="1131323"/>
                  <a:pt x="1181100" y="1133475"/>
                </a:cubicBezTo>
                <a:cubicBezTo>
                  <a:pt x="1206349" y="1137683"/>
                  <a:pt x="1231900" y="1139825"/>
                  <a:pt x="1257300" y="1143000"/>
                </a:cubicBezTo>
                <a:cubicBezTo>
                  <a:pt x="1270000" y="1149350"/>
                  <a:pt x="1282105" y="1157064"/>
                  <a:pt x="1295400" y="1162050"/>
                </a:cubicBezTo>
                <a:cubicBezTo>
                  <a:pt x="1326867" y="1173850"/>
                  <a:pt x="1382040" y="1177642"/>
                  <a:pt x="1409700" y="1181100"/>
                </a:cubicBezTo>
                <a:cubicBezTo>
                  <a:pt x="1490317" y="1207972"/>
                  <a:pt x="1409221" y="1183654"/>
                  <a:pt x="1590675" y="1200150"/>
                </a:cubicBezTo>
                <a:cubicBezTo>
                  <a:pt x="1609908" y="1201898"/>
                  <a:pt x="1628824" y="1206220"/>
                  <a:pt x="1647825" y="1209675"/>
                </a:cubicBezTo>
                <a:cubicBezTo>
                  <a:pt x="1663753" y="1212571"/>
                  <a:pt x="1679334" y="1217665"/>
                  <a:pt x="1695450" y="1219200"/>
                </a:cubicBezTo>
                <a:cubicBezTo>
                  <a:pt x="1746120" y="1224026"/>
                  <a:pt x="1797050" y="1225550"/>
                  <a:pt x="1847850" y="1228725"/>
                </a:cubicBezTo>
                <a:cubicBezTo>
                  <a:pt x="1999704" y="1250418"/>
                  <a:pt x="1842974" y="1229190"/>
                  <a:pt x="2124075" y="1257300"/>
                </a:cubicBezTo>
                <a:cubicBezTo>
                  <a:pt x="2149546" y="1259847"/>
                  <a:pt x="2174902" y="1263442"/>
                  <a:pt x="2200275" y="1266825"/>
                </a:cubicBezTo>
                <a:cubicBezTo>
                  <a:pt x="2222529" y="1269792"/>
                  <a:pt x="2244565" y="1274628"/>
                  <a:pt x="2266950" y="1276350"/>
                </a:cubicBezTo>
                <a:cubicBezTo>
                  <a:pt x="2327181" y="1280983"/>
                  <a:pt x="2387600" y="1282700"/>
                  <a:pt x="2447925" y="1285875"/>
                </a:cubicBezTo>
                <a:cubicBezTo>
                  <a:pt x="2470150" y="1289050"/>
                  <a:pt x="2492455" y="1291709"/>
                  <a:pt x="2514600" y="1295400"/>
                </a:cubicBezTo>
                <a:cubicBezTo>
                  <a:pt x="2530569" y="1298062"/>
                  <a:pt x="2546036" y="1304925"/>
                  <a:pt x="2562225" y="1304925"/>
                </a:cubicBezTo>
                <a:cubicBezTo>
                  <a:pt x="2654355" y="1304925"/>
                  <a:pt x="2746375" y="1298575"/>
                  <a:pt x="2838450" y="1295400"/>
                </a:cubicBezTo>
                <a:lnTo>
                  <a:pt x="2924175" y="1285875"/>
                </a:lnTo>
              </a:path>
            </a:pathLst>
          </a:custGeom>
          <a:noFill/>
          <a:ln w="25400">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3" name="Picture 42" descr="\documentclass{article}&#10;\usepackage{amsmath}&#10;\pagestyle{empty}&#10;\begin{document}&#10;&#10;$\frac{T(\lambda)}{\varepsilon_L(\lambda)}$&#10;&#10;&#10;\end{document}" title="IguanaTex Picture Display">
            <a:extLst>
              <a:ext uri="{FF2B5EF4-FFF2-40B4-BE49-F238E27FC236}">
                <a16:creationId xmlns:a16="http://schemas.microsoft.com/office/drawing/2014/main" id="{C89C66A1-2B1C-4102-9020-291CAF9B7267}"/>
              </a:ext>
            </a:extLst>
          </p:cNvPr>
          <p:cNvPicPr>
            <a:picLocks noChangeAspect="1"/>
          </p:cNvPicPr>
          <p:nvPr>
            <p:custDataLst>
              <p:tags r:id="rId1"/>
            </p:custDataLst>
          </p:nvPr>
        </p:nvPicPr>
        <p:blipFill>
          <a:blip r:embed="rId18">
            <a:extLst>
              <a:ext uri="{28A0092B-C50C-407E-A947-70E740481C1C}">
                <a14:useLocalDpi xmlns:a14="http://schemas.microsoft.com/office/drawing/2010/main" val="0"/>
              </a:ext>
            </a:extLst>
          </a:blip>
          <a:stretch>
            <a:fillRect/>
          </a:stretch>
        </p:blipFill>
        <p:spPr>
          <a:xfrm>
            <a:off x="609803" y="2477411"/>
            <a:ext cx="507427" cy="387049"/>
          </a:xfrm>
          <a:prstGeom prst="rect">
            <a:avLst/>
          </a:prstGeom>
        </p:spPr>
      </p:pic>
      <p:pic>
        <p:nvPicPr>
          <p:cNvPr id="28" name="Picture 27" descr="\documentclass{article}&#10;\usepackage{amsmath}&#10;\pagestyle{empty}&#10;\begin{document}&#10;&#10;$2 \mu m$&#10;&#10;&#10;\end{document}" title="IguanaTex Picture Display">
            <a:extLst>
              <a:ext uri="{FF2B5EF4-FFF2-40B4-BE49-F238E27FC236}">
                <a16:creationId xmlns:a16="http://schemas.microsoft.com/office/drawing/2014/main" id="{A40294F5-A71F-46E0-81EF-6BA7728470C3}"/>
              </a:ext>
            </a:extLst>
          </p:cNvPr>
          <p:cNvPicPr>
            <a:picLocks noChangeAspect="1"/>
          </p:cNvPicPr>
          <p:nvPr>
            <p:custDataLst>
              <p:tags r:id="rId2"/>
            </p:custDataLst>
          </p:nvPr>
        </p:nvPicPr>
        <p:blipFill>
          <a:blip r:embed="rId19">
            <a:extLst>
              <a:ext uri="{28A0092B-C50C-407E-A947-70E740481C1C}">
                <a14:useLocalDpi xmlns:a14="http://schemas.microsoft.com/office/drawing/2010/main" val="0"/>
              </a:ext>
            </a:extLst>
          </a:blip>
          <a:stretch>
            <a:fillRect/>
          </a:stretch>
        </p:blipFill>
        <p:spPr>
          <a:xfrm>
            <a:off x="1031406" y="4993976"/>
            <a:ext cx="481524" cy="222476"/>
          </a:xfrm>
          <a:prstGeom prst="rect">
            <a:avLst/>
          </a:prstGeom>
        </p:spPr>
      </p:pic>
      <p:pic>
        <p:nvPicPr>
          <p:cNvPr id="31" name="Picture 30" descr="\documentclass{article}&#10;\usepackage{amsmath}&#10;\pagestyle{empty}&#10;\begin{document}&#10;&#10;$8 \mu m$&#10;&#10;&#10;\end{document}" title="IguanaTex Picture Display">
            <a:extLst>
              <a:ext uri="{FF2B5EF4-FFF2-40B4-BE49-F238E27FC236}">
                <a16:creationId xmlns:a16="http://schemas.microsoft.com/office/drawing/2014/main" id="{F65DE60E-31C7-46B4-BF4B-8A7F67D6D118}"/>
              </a:ext>
            </a:extLst>
          </p:cNvPr>
          <p:cNvPicPr>
            <a:picLocks noChangeAspect="1"/>
          </p:cNvPicPr>
          <p:nvPr>
            <p:custDataLst>
              <p:tags r:id="rId3"/>
            </p:custDataLst>
          </p:nvPr>
        </p:nvPicPr>
        <p:blipFill>
          <a:blip r:embed="rId20">
            <a:extLst>
              <a:ext uri="{28A0092B-C50C-407E-A947-70E740481C1C}">
                <a14:useLocalDpi xmlns:a14="http://schemas.microsoft.com/office/drawing/2010/main" val="0"/>
              </a:ext>
            </a:extLst>
          </a:blip>
          <a:stretch>
            <a:fillRect/>
          </a:stretch>
        </p:blipFill>
        <p:spPr>
          <a:xfrm>
            <a:off x="3925482" y="4993976"/>
            <a:ext cx="484572" cy="222476"/>
          </a:xfrm>
          <a:prstGeom prst="rect">
            <a:avLst/>
          </a:prstGeom>
        </p:spPr>
      </p:pic>
      <p:pic>
        <p:nvPicPr>
          <p:cNvPr id="153" name="Picture 152" descr="\documentclass{article}&#10;\usepackage{amsmath}&#10;\pagestyle{empty}&#10;\begin{document}&#10;&#10;$T(\lambda)=\frac{I_t(\lambda)}{I_0(\lambda)}$&#10;&#10;&#10;\end{document}" title="IguanaTex Picture Display">
            <a:extLst>
              <a:ext uri="{FF2B5EF4-FFF2-40B4-BE49-F238E27FC236}">
                <a16:creationId xmlns:a16="http://schemas.microsoft.com/office/drawing/2014/main" id="{973022CB-2F67-4271-9E75-B19D4CE7A56F}"/>
              </a:ext>
            </a:extLst>
          </p:cNvPr>
          <p:cNvPicPr>
            <a:picLocks noChangeAspect="1"/>
          </p:cNvPicPr>
          <p:nvPr>
            <p:custDataLst>
              <p:tags r:id="rId4"/>
            </p:custDataLst>
          </p:nvPr>
        </p:nvPicPr>
        <p:blipFill>
          <a:blip r:embed="rId21">
            <a:extLst>
              <a:ext uri="{28A0092B-C50C-407E-A947-70E740481C1C}">
                <a14:useLocalDpi xmlns:a14="http://schemas.microsoft.com/office/drawing/2010/main" val="0"/>
              </a:ext>
            </a:extLst>
          </a:blip>
          <a:stretch>
            <a:fillRect/>
          </a:stretch>
        </p:blipFill>
        <p:spPr>
          <a:xfrm>
            <a:off x="1054597" y="5823929"/>
            <a:ext cx="1357714" cy="387048"/>
          </a:xfrm>
          <a:prstGeom prst="rect">
            <a:avLst/>
          </a:prstGeom>
        </p:spPr>
      </p:pic>
      <p:pic>
        <p:nvPicPr>
          <p:cNvPr id="65" name="Picture 64" descr="\documentclass{article}&#10;\usepackage{amsmath}&#10;\pagestyle{empty}&#10;\begin{document}&#10;&#10;$I_0(\lambda)$&#10;&#10;&#10;\end{document}" title="IguanaTex Picture Display">
            <a:extLst>
              <a:ext uri="{FF2B5EF4-FFF2-40B4-BE49-F238E27FC236}">
                <a16:creationId xmlns:a16="http://schemas.microsoft.com/office/drawing/2014/main" id="{ADC28A43-A15C-4D66-930D-45BDDDC6E1EB}"/>
              </a:ext>
            </a:extLst>
          </p:cNvPr>
          <p:cNvPicPr>
            <a:picLocks noChangeAspect="1"/>
          </p:cNvPicPr>
          <p:nvPr>
            <p:custDataLst>
              <p:tags r:id="rId5"/>
            </p:custDataLst>
          </p:nvPr>
        </p:nvPicPr>
        <p:blipFill>
          <a:blip r:embed="rId22">
            <a:extLst>
              <a:ext uri="{28A0092B-C50C-407E-A947-70E740481C1C}">
                <a14:useLocalDpi xmlns:a14="http://schemas.microsoft.com/office/drawing/2010/main" val="0"/>
              </a:ext>
            </a:extLst>
          </a:blip>
          <a:stretch>
            <a:fillRect/>
          </a:stretch>
        </p:blipFill>
        <p:spPr>
          <a:xfrm>
            <a:off x="11191726" y="4260947"/>
            <a:ext cx="537905" cy="254476"/>
          </a:xfrm>
          <a:prstGeom prst="rect">
            <a:avLst/>
          </a:prstGeom>
        </p:spPr>
      </p:pic>
      <p:pic>
        <p:nvPicPr>
          <p:cNvPr id="59" name="Picture 58" descr="\documentclass{article}&#10;\usepackage{amsmath}&#10;\pagestyle{empty}&#10;\begin{document}&#10;&#10;$I_T(\lambda)$&#10;&#10;&#10;\end{document}" title="IguanaTex Picture Display">
            <a:extLst>
              <a:ext uri="{FF2B5EF4-FFF2-40B4-BE49-F238E27FC236}">
                <a16:creationId xmlns:a16="http://schemas.microsoft.com/office/drawing/2014/main" id="{00B90B2E-5A73-4B74-A164-53C4AD1B009B}"/>
              </a:ext>
            </a:extLst>
          </p:cNvPr>
          <p:cNvPicPr>
            <a:picLocks noChangeAspect="1"/>
          </p:cNvPicPr>
          <p:nvPr>
            <p:custDataLst>
              <p:tags r:id="rId6"/>
            </p:custDataLst>
          </p:nvPr>
        </p:nvPicPr>
        <p:blipFill>
          <a:blip r:embed="rId23">
            <a:extLst>
              <a:ext uri="{28A0092B-C50C-407E-A947-70E740481C1C}">
                <a14:useLocalDpi xmlns:a14="http://schemas.microsoft.com/office/drawing/2010/main" val="0"/>
              </a:ext>
            </a:extLst>
          </a:blip>
          <a:stretch>
            <a:fillRect/>
          </a:stretch>
        </p:blipFill>
        <p:spPr>
          <a:xfrm>
            <a:off x="6808800" y="4129335"/>
            <a:ext cx="583619" cy="254476"/>
          </a:xfrm>
          <a:prstGeom prst="rect">
            <a:avLst/>
          </a:prstGeom>
        </p:spPr>
      </p:pic>
      <p:sp>
        <p:nvSpPr>
          <p:cNvPr id="33" name="Rectangle 32">
            <a:extLst>
              <a:ext uri="{FF2B5EF4-FFF2-40B4-BE49-F238E27FC236}">
                <a16:creationId xmlns:a16="http://schemas.microsoft.com/office/drawing/2014/main" id="{04B52396-AAFA-467B-9180-6821D7D24E2F}"/>
              </a:ext>
            </a:extLst>
          </p:cNvPr>
          <p:cNvSpPr/>
          <p:nvPr/>
        </p:nvSpPr>
        <p:spPr>
          <a:xfrm>
            <a:off x="7833366" y="4145845"/>
            <a:ext cx="3335500" cy="698706"/>
          </a:xfrm>
          <a:prstGeom prst="rect">
            <a:avLst/>
          </a:prstGeom>
          <a:solidFill>
            <a:srgbClr val="DAE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Sapphire window</a:t>
            </a:r>
          </a:p>
        </p:txBody>
      </p:sp>
      <p:cxnSp>
        <p:nvCxnSpPr>
          <p:cNvPr id="41" name="Straight Arrow Connector 40">
            <a:extLst>
              <a:ext uri="{FF2B5EF4-FFF2-40B4-BE49-F238E27FC236}">
                <a16:creationId xmlns:a16="http://schemas.microsoft.com/office/drawing/2014/main" id="{A07E12AA-AA69-452F-92F4-62B28E2A8FFA}"/>
              </a:ext>
            </a:extLst>
          </p:cNvPr>
          <p:cNvCxnSpPr/>
          <p:nvPr/>
        </p:nvCxnSpPr>
        <p:spPr>
          <a:xfrm flipH="1">
            <a:off x="7444746" y="4234213"/>
            <a:ext cx="38862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1089E36B-6446-4A02-A612-543F2C48D568}"/>
              </a:ext>
            </a:extLst>
          </p:cNvPr>
          <p:cNvCxnSpPr/>
          <p:nvPr/>
        </p:nvCxnSpPr>
        <p:spPr>
          <a:xfrm flipH="1">
            <a:off x="11191726" y="4556047"/>
            <a:ext cx="38862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51" name="Picture 150" descr="\documentclass{article}&#10;\usepackage{amsmath}&#10;\pagestyle{empty}&#10;\begin{document}&#10;&#10;$I_{r,L}(\lambda)$&#10;&#10;&#10;\end{document}" title="IguanaTex Picture Display">
            <a:extLst>
              <a:ext uri="{FF2B5EF4-FFF2-40B4-BE49-F238E27FC236}">
                <a16:creationId xmlns:a16="http://schemas.microsoft.com/office/drawing/2014/main" id="{368799D2-3315-4F40-A73D-754600DBE0CB}"/>
              </a:ext>
            </a:extLst>
          </p:cNvPr>
          <p:cNvPicPr>
            <a:picLocks noChangeAspect="1"/>
          </p:cNvPicPr>
          <p:nvPr>
            <p:custDataLst>
              <p:tags r:id="rId7"/>
            </p:custDataLst>
          </p:nvPr>
        </p:nvPicPr>
        <p:blipFill>
          <a:blip r:embed="rId24">
            <a:extLst>
              <a:ext uri="{28A0092B-C50C-407E-A947-70E740481C1C}">
                <a14:useLocalDpi xmlns:a14="http://schemas.microsoft.com/office/drawing/2010/main" val="0"/>
              </a:ext>
            </a:extLst>
          </a:blip>
          <a:stretch>
            <a:fillRect/>
          </a:stretch>
        </p:blipFill>
        <p:spPr>
          <a:xfrm>
            <a:off x="6653419" y="4785966"/>
            <a:ext cx="723810" cy="263619"/>
          </a:xfrm>
          <a:prstGeom prst="rect">
            <a:avLst/>
          </a:prstGeom>
        </p:spPr>
      </p:pic>
      <p:pic>
        <p:nvPicPr>
          <p:cNvPr id="161" name="Picture 160" descr="\documentclass{article}&#10;\usepackage{amsmath}&#10;\pagestyle{empty}&#10;\begin{document}&#10;&#10;$R_L(\lambda)=\frac{I_{r,L}(\lambda)}{I_0(\lambda)}$&#10;&#10;&#10;\end{document}" title="IguanaTex Picture Display">
            <a:extLst>
              <a:ext uri="{FF2B5EF4-FFF2-40B4-BE49-F238E27FC236}">
                <a16:creationId xmlns:a16="http://schemas.microsoft.com/office/drawing/2014/main" id="{7CEFF07C-2314-4EF6-8965-AC2E6A90F2D7}"/>
              </a:ext>
            </a:extLst>
          </p:cNvPr>
          <p:cNvPicPr>
            <a:picLocks noChangeAspect="1"/>
          </p:cNvPicPr>
          <p:nvPr>
            <p:custDataLst>
              <p:tags r:id="rId8"/>
            </p:custDataLst>
          </p:nvPr>
        </p:nvPicPr>
        <p:blipFill>
          <a:blip r:embed="rId25">
            <a:extLst>
              <a:ext uri="{28A0092B-C50C-407E-A947-70E740481C1C}">
                <a14:useLocalDpi xmlns:a14="http://schemas.microsoft.com/office/drawing/2010/main" val="0"/>
              </a:ext>
            </a:extLst>
          </a:blip>
          <a:stretch>
            <a:fillRect/>
          </a:stretch>
        </p:blipFill>
        <p:spPr>
          <a:xfrm>
            <a:off x="2637070" y="5823929"/>
            <a:ext cx="1686857" cy="391619"/>
          </a:xfrm>
          <a:prstGeom prst="rect">
            <a:avLst/>
          </a:prstGeom>
        </p:spPr>
      </p:pic>
      <p:pic>
        <p:nvPicPr>
          <p:cNvPr id="159" name="Picture 158" descr="\documentclass{article}&#10;\usepackage{amsmath}&#10;\pagestyle{empty}&#10;\begin{document}&#10;&#10;$\varepsilon_L(\lambda)=1-T(\lambda)-R_L(\lambda)$&#10;&#10;&#10;\end{document}" title="IguanaTex Picture Display">
            <a:extLst>
              <a:ext uri="{FF2B5EF4-FFF2-40B4-BE49-F238E27FC236}">
                <a16:creationId xmlns:a16="http://schemas.microsoft.com/office/drawing/2014/main" id="{A562D483-27BF-49CA-80CB-35DB47CD6CEA}"/>
              </a:ext>
            </a:extLst>
          </p:cNvPr>
          <p:cNvPicPr>
            <a:picLocks noChangeAspect="1"/>
          </p:cNvPicPr>
          <p:nvPr>
            <p:custDataLst>
              <p:tags r:id="rId9"/>
            </p:custDataLst>
          </p:nvPr>
        </p:nvPicPr>
        <p:blipFill>
          <a:blip r:embed="rId26">
            <a:extLst>
              <a:ext uri="{28A0092B-C50C-407E-A947-70E740481C1C}">
                <a14:useLocalDpi xmlns:a14="http://schemas.microsoft.com/office/drawing/2010/main" val="0"/>
              </a:ext>
            </a:extLst>
          </a:blip>
          <a:stretch>
            <a:fillRect/>
          </a:stretch>
        </p:blipFill>
        <p:spPr>
          <a:xfrm>
            <a:off x="1139655" y="6427732"/>
            <a:ext cx="2880000" cy="254476"/>
          </a:xfrm>
          <a:prstGeom prst="rect">
            <a:avLst/>
          </a:prstGeom>
        </p:spPr>
      </p:pic>
      <p:sp>
        <p:nvSpPr>
          <p:cNvPr id="78" name="Rectangle 77">
            <a:extLst>
              <a:ext uri="{FF2B5EF4-FFF2-40B4-BE49-F238E27FC236}">
                <a16:creationId xmlns:a16="http://schemas.microsoft.com/office/drawing/2014/main" id="{8ECC48D7-E164-4B20-9E1B-F6CC186582B6}"/>
              </a:ext>
            </a:extLst>
          </p:cNvPr>
          <p:cNvSpPr/>
          <p:nvPr/>
        </p:nvSpPr>
        <p:spPr>
          <a:xfrm>
            <a:off x="7833366" y="3134609"/>
            <a:ext cx="3335500" cy="698706"/>
          </a:xfrm>
          <a:prstGeom prst="rect">
            <a:avLst/>
          </a:prstGeom>
          <a:solidFill>
            <a:srgbClr val="DAE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9" name="Straight Arrow Connector 78">
            <a:extLst>
              <a:ext uri="{FF2B5EF4-FFF2-40B4-BE49-F238E27FC236}">
                <a16:creationId xmlns:a16="http://schemas.microsoft.com/office/drawing/2014/main" id="{C15ACAB3-102A-47D0-AFFB-9A45B254C9B4}"/>
              </a:ext>
            </a:extLst>
          </p:cNvPr>
          <p:cNvCxnSpPr/>
          <p:nvPr/>
        </p:nvCxnSpPr>
        <p:spPr>
          <a:xfrm flipH="1">
            <a:off x="7444746" y="3483962"/>
            <a:ext cx="38862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D6FF6073-1980-44C2-9FC4-73C2A1DE2E8F}"/>
              </a:ext>
            </a:extLst>
          </p:cNvPr>
          <p:cNvCxnSpPr/>
          <p:nvPr/>
        </p:nvCxnSpPr>
        <p:spPr>
          <a:xfrm flipH="1">
            <a:off x="11191726" y="3495281"/>
            <a:ext cx="38862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Rectangle 36">
            <a:extLst>
              <a:ext uri="{FF2B5EF4-FFF2-40B4-BE49-F238E27FC236}">
                <a16:creationId xmlns:a16="http://schemas.microsoft.com/office/drawing/2014/main" id="{F7E76140-71F0-409E-A623-6EE2F56C5852}"/>
              </a:ext>
            </a:extLst>
          </p:cNvPr>
          <p:cNvSpPr/>
          <p:nvPr/>
        </p:nvSpPr>
        <p:spPr>
          <a:xfrm>
            <a:off x="9327169" y="3134609"/>
            <a:ext cx="347894" cy="69870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4" name="Straight Arrow Connector 83">
            <a:extLst>
              <a:ext uri="{FF2B5EF4-FFF2-40B4-BE49-F238E27FC236}">
                <a16:creationId xmlns:a16="http://schemas.microsoft.com/office/drawing/2014/main" id="{E12F9D9C-7668-4C21-94F6-34E0CC9C59F3}"/>
              </a:ext>
            </a:extLst>
          </p:cNvPr>
          <p:cNvCxnSpPr/>
          <p:nvPr/>
        </p:nvCxnSpPr>
        <p:spPr>
          <a:xfrm>
            <a:off x="7833366" y="5067300"/>
            <a:ext cx="3335500"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3" name="Picture 102" descr="\documentclass{article}&#10;\usepackage{amsmath}&#10;\pagestyle{empty}&#10;\begin{document}&#10;&#10;$L_W=5 mm$&#10;&#10;&#10;\end{document}" title="IguanaTex Picture Display">
            <a:extLst>
              <a:ext uri="{FF2B5EF4-FFF2-40B4-BE49-F238E27FC236}">
                <a16:creationId xmlns:a16="http://schemas.microsoft.com/office/drawing/2014/main" id="{F8064369-9764-4250-9E9A-128D2B631042}"/>
              </a:ext>
            </a:extLst>
          </p:cNvPr>
          <p:cNvPicPr>
            <a:picLocks noChangeAspect="1"/>
          </p:cNvPicPr>
          <p:nvPr>
            <p:custDataLst>
              <p:tags r:id="rId10"/>
            </p:custDataLst>
          </p:nvPr>
        </p:nvPicPr>
        <p:blipFill>
          <a:blip r:embed="rId27">
            <a:extLst>
              <a:ext uri="{28A0092B-C50C-407E-A947-70E740481C1C}">
                <a14:useLocalDpi xmlns:a14="http://schemas.microsoft.com/office/drawing/2010/main" val="0"/>
              </a:ext>
            </a:extLst>
          </a:blip>
          <a:stretch>
            <a:fillRect/>
          </a:stretch>
        </p:blipFill>
        <p:spPr>
          <a:xfrm>
            <a:off x="9010926" y="5168900"/>
            <a:ext cx="1293714" cy="213334"/>
          </a:xfrm>
          <a:prstGeom prst="rect">
            <a:avLst/>
          </a:prstGeom>
        </p:spPr>
      </p:pic>
      <p:pic>
        <p:nvPicPr>
          <p:cNvPr id="91" name="Picture 90" descr="\documentclass{article}&#10;\usepackage{amsmath}&#10;\pagestyle{empty}&#10;\begin{document}&#10;&#10;$N_{KK}=1$&#10;&#10;\end{document}" title="IguanaTex Picture Display">
            <a:extLst>
              <a:ext uri="{FF2B5EF4-FFF2-40B4-BE49-F238E27FC236}">
                <a16:creationId xmlns:a16="http://schemas.microsoft.com/office/drawing/2014/main" id="{9A91CADB-8CFD-4975-9B2C-6FC973E9B164}"/>
              </a:ext>
            </a:extLst>
          </p:cNvPr>
          <p:cNvPicPr>
            <a:picLocks noChangeAspect="1"/>
          </p:cNvPicPr>
          <p:nvPr>
            <p:custDataLst>
              <p:tags r:id="rId11"/>
            </p:custDataLst>
          </p:nvPr>
        </p:nvPicPr>
        <p:blipFill>
          <a:blip r:embed="rId28">
            <a:extLst>
              <a:ext uri="{28A0092B-C50C-407E-A947-70E740481C1C}">
                <a14:useLocalDpi xmlns:a14="http://schemas.microsoft.com/office/drawing/2010/main" val="0"/>
              </a:ext>
            </a:extLst>
          </a:blip>
          <a:stretch>
            <a:fillRect/>
          </a:stretch>
        </p:blipFill>
        <p:spPr>
          <a:xfrm>
            <a:off x="9752731" y="3405465"/>
            <a:ext cx="1016381" cy="210286"/>
          </a:xfrm>
          <a:prstGeom prst="rect">
            <a:avLst/>
          </a:prstGeom>
        </p:spPr>
      </p:pic>
      <p:grpSp>
        <p:nvGrpSpPr>
          <p:cNvPr id="92" name="Group 91">
            <a:extLst>
              <a:ext uri="{FF2B5EF4-FFF2-40B4-BE49-F238E27FC236}">
                <a16:creationId xmlns:a16="http://schemas.microsoft.com/office/drawing/2014/main" id="{DA83C691-D090-4908-A4B6-62B2D804AE7B}"/>
              </a:ext>
            </a:extLst>
          </p:cNvPr>
          <p:cNvGrpSpPr/>
          <p:nvPr/>
        </p:nvGrpSpPr>
        <p:grpSpPr>
          <a:xfrm>
            <a:off x="7444607" y="1894284"/>
            <a:ext cx="4135600" cy="698706"/>
            <a:chOff x="7444746" y="4145845"/>
            <a:chExt cx="4135600" cy="698706"/>
          </a:xfrm>
        </p:grpSpPr>
        <p:sp>
          <p:nvSpPr>
            <p:cNvPr id="93" name="Rectangle 92">
              <a:extLst>
                <a:ext uri="{FF2B5EF4-FFF2-40B4-BE49-F238E27FC236}">
                  <a16:creationId xmlns:a16="http://schemas.microsoft.com/office/drawing/2014/main" id="{27EE6FB7-9BF7-495C-90A1-032E0A8379F4}"/>
                </a:ext>
              </a:extLst>
            </p:cNvPr>
            <p:cNvSpPr/>
            <p:nvPr/>
          </p:nvSpPr>
          <p:spPr>
            <a:xfrm>
              <a:off x="7833366" y="4145845"/>
              <a:ext cx="3335500" cy="698706"/>
            </a:xfrm>
            <a:prstGeom prst="rect">
              <a:avLst/>
            </a:prstGeom>
            <a:solidFill>
              <a:srgbClr val="DAE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4" name="Straight Arrow Connector 93">
              <a:extLst>
                <a:ext uri="{FF2B5EF4-FFF2-40B4-BE49-F238E27FC236}">
                  <a16:creationId xmlns:a16="http://schemas.microsoft.com/office/drawing/2014/main" id="{FC721C73-922D-40A6-B49F-8D5D7C0FA7E0}"/>
                </a:ext>
              </a:extLst>
            </p:cNvPr>
            <p:cNvCxnSpPr/>
            <p:nvPr/>
          </p:nvCxnSpPr>
          <p:spPr>
            <a:xfrm flipH="1">
              <a:off x="7444746" y="4495198"/>
              <a:ext cx="38862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96" name="Straight Arrow Connector 95">
              <a:extLst>
                <a:ext uri="{FF2B5EF4-FFF2-40B4-BE49-F238E27FC236}">
                  <a16:creationId xmlns:a16="http://schemas.microsoft.com/office/drawing/2014/main" id="{BD38E733-E433-4D27-B2E4-0DF0581D3F1A}"/>
                </a:ext>
              </a:extLst>
            </p:cNvPr>
            <p:cNvCxnSpPr/>
            <p:nvPr/>
          </p:nvCxnSpPr>
          <p:spPr>
            <a:xfrm flipH="1">
              <a:off x="11191726" y="4477942"/>
              <a:ext cx="38862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sp>
        <p:nvSpPr>
          <p:cNvPr id="98" name="Rectangle 97">
            <a:extLst>
              <a:ext uri="{FF2B5EF4-FFF2-40B4-BE49-F238E27FC236}">
                <a16:creationId xmlns:a16="http://schemas.microsoft.com/office/drawing/2014/main" id="{1419C938-21C8-4998-98B1-14B6B1B9AF30}"/>
              </a:ext>
            </a:extLst>
          </p:cNvPr>
          <p:cNvSpPr/>
          <p:nvPr/>
        </p:nvSpPr>
        <p:spPr>
          <a:xfrm>
            <a:off x="10130693" y="1892621"/>
            <a:ext cx="347894" cy="69870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1" name="Picture 100" descr="\documentclass{article}&#10;\usepackage{amsmath}&#10;\pagestyle{empty}&#10;\begin{document}&#10;&#10;$N_{KK}=2$&#10;&#10;\end{document}" title="IguanaTex Picture Display">
            <a:extLst>
              <a:ext uri="{FF2B5EF4-FFF2-40B4-BE49-F238E27FC236}">
                <a16:creationId xmlns:a16="http://schemas.microsoft.com/office/drawing/2014/main" id="{C7A2FBDA-9105-4BFE-A5E2-FD3940CFEDC6}"/>
              </a:ext>
            </a:extLst>
          </p:cNvPr>
          <p:cNvPicPr>
            <a:picLocks noChangeAspect="1"/>
          </p:cNvPicPr>
          <p:nvPr>
            <p:custDataLst>
              <p:tags r:id="rId12"/>
            </p:custDataLst>
          </p:nvPr>
        </p:nvPicPr>
        <p:blipFill>
          <a:blip r:embed="rId29">
            <a:extLst>
              <a:ext uri="{28A0092B-C50C-407E-A947-70E740481C1C}">
                <a14:useLocalDpi xmlns:a14="http://schemas.microsoft.com/office/drawing/2010/main" val="0"/>
              </a:ext>
            </a:extLst>
          </a:blip>
          <a:stretch>
            <a:fillRect/>
          </a:stretch>
        </p:blipFill>
        <p:spPr>
          <a:xfrm>
            <a:off x="8954017" y="2117283"/>
            <a:ext cx="1024000" cy="210286"/>
          </a:xfrm>
          <a:prstGeom prst="rect">
            <a:avLst/>
          </a:prstGeom>
        </p:spPr>
      </p:pic>
      <p:sp>
        <p:nvSpPr>
          <p:cNvPr id="104" name="Rectangle 103">
            <a:extLst>
              <a:ext uri="{FF2B5EF4-FFF2-40B4-BE49-F238E27FC236}">
                <a16:creationId xmlns:a16="http://schemas.microsoft.com/office/drawing/2014/main" id="{EB8FCA7F-AF6D-464C-99F7-F8F7D50444AB}"/>
              </a:ext>
            </a:extLst>
          </p:cNvPr>
          <p:cNvSpPr/>
          <p:nvPr/>
        </p:nvSpPr>
        <p:spPr>
          <a:xfrm>
            <a:off x="9352844" y="5621027"/>
            <a:ext cx="347894" cy="69870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5" name="Straight Arrow Connector 104">
            <a:extLst>
              <a:ext uri="{FF2B5EF4-FFF2-40B4-BE49-F238E27FC236}">
                <a16:creationId xmlns:a16="http://schemas.microsoft.com/office/drawing/2014/main" id="{4BAE39C2-3F64-41EF-B811-5BE705007E84}"/>
              </a:ext>
            </a:extLst>
          </p:cNvPr>
          <p:cNvCxnSpPr>
            <a:cxnSpLocks/>
          </p:cNvCxnSpPr>
          <p:nvPr/>
        </p:nvCxnSpPr>
        <p:spPr>
          <a:xfrm>
            <a:off x="9343319" y="6441222"/>
            <a:ext cx="347894" cy="0"/>
          </a:xfrm>
          <a:prstGeom prst="straightConnector1">
            <a:avLst/>
          </a:prstGeom>
          <a:ln>
            <a:solidFill>
              <a:schemeClr val="tx1"/>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9" name="Picture 108" descr="\documentclass{article}&#10;\usepackage{amsmath}&#10;\pagestyle{empty}&#10;\begin{document}&#10;&#10;$L_{KK}=1\mu m$&#10;&#10;&#10;\end{document}" title="IguanaTex Picture Display">
            <a:extLst>
              <a:ext uri="{FF2B5EF4-FFF2-40B4-BE49-F238E27FC236}">
                <a16:creationId xmlns:a16="http://schemas.microsoft.com/office/drawing/2014/main" id="{EAA93232-09B8-4074-9D2C-7AA397B425CC}"/>
              </a:ext>
            </a:extLst>
          </p:cNvPr>
          <p:cNvPicPr>
            <a:picLocks noChangeAspect="1"/>
          </p:cNvPicPr>
          <p:nvPr>
            <p:custDataLst>
              <p:tags r:id="rId13"/>
            </p:custDataLst>
          </p:nvPr>
        </p:nvPicPr>
        <p:blipFill>
          <a:blip r:embed="rId30">
            <a:extLst>
              <a:ext uri="{28A0092B-C50C-407E-A947-70E740481C1C}">
                <a14:useLocalDpi xmlns:a14="http://schemas.microsoft.com/office/drawing/2010/main" val="0"/>
              </a:ext>
            </a:extLst>
          </a:blip>
          <a:stretch>
            <a:fillRect/>
          </a:stretch>
        </p:blipFill>
        <p:spPr>
          <a:xfrm>
            <a:off x="8841077" y="6507897"/>
            <a:ext cx="1371428" cy="227049"/>
          </a:xfrm>
          <a:prstGeom prst="rect">
            <a:avLst/>
          </a:prstGeom>
        </p:spPr>
      </p:pic>
      <p:sp>
        <p:nvSpPr>
          <p:cNvPr id="110" name="Rectangle 109">
            <a:extLst>
              <a:ext uri="{FF2B5EF4-FFF2-40B4-BE49-F238E27FC236}">
                <a16:creationId xmlns:a16="http://schemas.microsoft.com/office/drawing/2014/main" id="{01EA58BE-63D8-45BB-951F-F3FDECF5A356}"/>
              </a:ext>
            </a:extLst>
          </p:cNvPr>
          <p:cNvSpPr/>
          <p:nvPr/>
        </p:nvSpPr>
        <p:spPr>
          <a:xfrm>
            <a:off x="8493183" y="1892621"/>
            <a:ext cx="347894" cy="69870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1" name="Group 110">
            <a:extLst>
              <a:ext uri="{FF2B5EF4-FFF2-40B4-BE49-F238E27FC236}">
                <a16:creationId xmlns:a16="http://schemas.microsoft.com/office/drawing/2014/main" id="{E4E5F256-E1BC-4B09-86FA-AD3B83C72472}"/>
              </a:ext>
            </a:extLst>
          </p:cNvPr>
          <p:cNvGrpSpPr/>
          <p:nvPr/>
        </p:nvGrpSpPr>
        <p:grpSpPr>
          <a:xfrm>
            <a:off x="7438914" y="541183"/>
            <a:ext cx="4135600" cy="698706"/>
            <a:chOff x="7444746" y="4145845"/>
            <a:chExt cx="4135600" cy="698706"/>
          </a:xfrm>
        </p:grpSpPr>
        <p:sp>
          <p:nvSpPr>
            <p:cNvPr id="112" name="Rectangle 111">
              <a:extLst>
                <a:ext uri="{FF2B5EF4-FFF2-40B4-BE49-F238E27FC236}">
                  <a16:creationId xmlns:a16="http://schemas.microsoft.com/office/drawing/2014/main" id="{9FF9061E-0386-465A-BAFB-93E593AAD733}"/>
                </a:ext>
              </a:extLst>
            </p:cNvPr>
            <p:cNvSpPr/>
            <p:nvPr/>
          </p:nvSpPr>
          <p:spPr>
            <a:xfrm>
              <a:off x="7833366" y="4145845"/>
              <a:ext cx="3335500" cy="698706"/>
            </a:xfrm>
            <a:prstGeom prst="rect">
              <a:avLst/>
            </a:prstGeom>
            <a:solidFill>
              <a:srgbClr val="20386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3" name="Straight Arrow Connector 112">
              <a:extLst>
                <a:ext uri="{FF2B5EF4-FFF2-40B4-BE49-F238E27FC236}">
                  <a16:creationId xmlns:a16="http://schemas.microsoft.com/office/drawing/2014/main" id="{3195E582-30B9-4323-BBBA-F9A2C991B4F5}"/>
                </a:ext>
              </a:extLst>
            </p:cNvPr>
            <p:cNvCxnSpPr/>
            <p:nvPr/>
          </p:nvCxnSpPr>
          <p:spPr>
            <a:xfrm flipH="1">
              <a:off x="7444746" y="4495198"/>
              <a:ext cx="38862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15" name="Straight Arrow Connector 114">
              <a:extLst>
                <a:ext uri="{FF2B5EF4-FFF2-40B4-BE49-F238E27FC236}">
                  <a16:creationId xmlns:a16="http://schemas.microsoft.com/office/drawing/2014/main" id="{91173CD4-89B1-43C3-9063-C6B8E7F76428}"/>
                </a:ext>
              </a:extLst>
            </p:cNvPr>
            <p:cNvCxnSpPr/>
            <p:nvPr/>
          </p:nvCxnSpPr>
          <p:spPr>
            <a:xfrm flipH="1">
              <a:off x="11191726" y="4477942"/>
              <a:ext cx="38862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grpSp>
      <p:pic>
        <p:nvPicPr>
          <p:cNvPr id="133" name="Picture 132" descr="\documentclass{article}&#10;\usepackage{amsmath}&#10;\pagestyle{empty}&#10;\begin{document}&#10;&#10;$N_{KK}\approx \frac{L_W}{L_{KK}}$&#10;&#10;\end{document}" title="IguanaTex Picture Display">
            <a:extLst>
              <a:ext uri="{FF2B5EF4-FFF2-40B4-BE49-F238E27FC236}">
                <a16:creationId xmlns:a16="http://schemas.microsoft.com/office/drawing/2014/main" id="{D15009D4-96B8-4DE9-AB4A-AE7669F38A6D}"/>
              </a:ext>
            </a:extLst>
          </p:cNvPr>
          <p:cNvPicPr>
            <a:picLocks noChangeAspect="1"/>
          </p:cNvPicPr>
          <p:nvPr>
            <p:custDataLst>
              <p:tags r:id="rId14"/>
            </p:custDataLst>
          </p:nvPr>
        </p:nvPicPr>
        <p:blipFill>
          <a:blip r:embed="rId31">
            <a:extLst>
              <a:ext uri="{28A0092B-C50C-407E-A947-70E740481C1C}">
                <a14:useLocalDpi xmlns:a14="http://schemas.microsoft.com/office/drawing/2010/main" val="0"/>
              </a:ext>
            </a:extLst>
          </a:blip>
          <a:stretch>
            <a:fillRect/>
          </a:stretch>
        </p:blipFill>
        <p:spPr>
          <a:xfrm>
            <a:off x="8797379" y="714954"/>
            <a:ext cx="1395809" cy="338286"/>
          </a:xfrm>
          <a:prstGeom prst="rect">
            <a:avLst/>
          </a:prstGeom>
          <a:solidFill>
            <a:schemeClr val="bg1">
              <a:lumMod val="95000"/>
            </a:schemeClr>
          </a:solidFill>
          <a:ln>
            <a:noFill/>
          </a:ln>
        </p:spPr>
      </p:pic>
      <p:grpSp>
        <p:nvGrpSpPr>
          <p:cNvPr id="123" name="Group 122">
            <a:extLst>
              <a:ext uri="{FF2B5EF4-FFF2-40B4-BE49-F238E27FC236}">
                <a16:creationId xmlns:a16="http://schemas.microsoft.com/office/drawing/2014/main" id="{3F0DB76C-1631-427F-B889-243F128997DC}"/>
              </a:ext>
            </a:extLst>
          </p:cNvPr>
          <p:cNvGrpSpPr/>
          <p:nvPr/>
        </p:nvGrpSpPr>
        <p:grpSpPr>
          <a:xfrm>
            <a:off x="9481071" y="1341779"/>
            <a:ext cx="91440" cy="396240"/>
            <a:chOff x="4565468" y="1704975"/>
            <a:chExt cx="91440" cy="396240"/>
          </a:xfrm>
        </p:grpSpPr>
        <p:sp>
          <p:nvSpPr>
            <p:cNvPr id="120" name="Oval 119">
              <a:extLst>
                <a:ext uri="{FF2B5EF4-FFF2-40B4-BE49-F238E27FC236}">
                  <a16:creationId xmlns:a16="http://schemas.microsoft.com/office/drawing/2014/main" id="{174E3341-7D11-4ED6-AB41-F898DDC3983E}"/>
                </a:ext>
              </a:extLst>
            </p:cNvPr>
            <p:cNvSpPr/>
            <p:nvPr/>
          </p:nvSpPr>
          <p:spPr>
            <a:xfrm>
              <a:off x="4565468" y="1704975"/>
              <a:ext cx="91440" cy="914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1" name="Oval 120">
              <a:extLst>
                <a:ext uri="{FF2B5EF4-FFF2-40B4-BE49-F238E27FC236}">
                  <a16:creationId xmlns:a16="http://schemas.microsoft.com/office/drawing/2014/main" id="{616C3FCD-8675-4FFF-A5BF-3A3CE6C50E43}"/>
                </a:ext>
              </a:extLst>
            </p:cNvPr>
            <p:cNvSpPr/>
            <p:nvPr/>
          </p:nvSpPr>
          <p:spPr>
            <a:xfrm>
              <a:off x="4565468" y="1857375"/>
              <a:ext cx="91440" cy="914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2" name="Oval 121">
              <a:extLst>
                <a:ext uri="{FF2B5EF4-FFF2-40B4-BE49-F238E27FC236}">
                  <a16:creationId xmlns:a16="http://schemas.microsoft.com/office/drawing/2014/main" id="{77DDEEAA-44D5-44FB-B02D-6634F77C52FA}"/>
                </a:ext>
              </a:extLst>
            </p:cNvPr>
            <p:cNvSpPr/>
            <p:nvPr/>
          </p:nvSpPr>
          <p:spPr>
            <a:xfrm>
              <a:off x="4565468" y="2009775"/>
              <a:ext cx="91440" cy="9144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6" name="Rectangle 125">
            <a:extLst>
              <a:ext uri="{FF2B5EF4-FFF2-40B4-BE49-F238E27FC236}">
                <a16:creationId xmlns:a16="http://schemas.microsoft.com/office/drawing/2014/main" id="{30373521-B955-40A3-88DC-FF0E786978B8}"/>
              </a:ext>
            </a:extLst>
          </p:cNvPr>
          <p:cNvSpPr/>
          <p:nvPr/>
        </p:nvSpPr>
        <p:spPr>
          <a:xfrm>
            <a:off x="257755" y="2066932"/>
            <a:ext cx="4533900" cy="3489596"/>
          </a:xfrm>
          <a:prstGeom prst="rect">
            <a:avLst/>
          </a:prstGeom>
          <a:noFill/>
          <a:ln w="317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TextBox 126">
            <a:extLst>
              <a:ext uri="{FF2B5EF4-FFF2-40B4-BE49-F238E27FC236}">
                <a16:creationId xmlns:a16="http://schemas.microsoft.com/office/drawing/2014/main" id="{E2437BC7-D293-4215-9A05-A9BF5273C097}"/>
              </a:ext>
            </a:extLst>
          </p:cNvPr>
          <p:cNvSpPr txBox="1"/>
          <p:nvPr/>
        </p:nvSpPr>
        <p:spPr>
          <a:xfrm>
            <a:off x="272436" y="1687738"/>
            <a:ext cx="4694106" cy="369332"/>
          </a:xfrm>
          <a:prstGeom prst="rect">
            <a:avLst/>
          </a:prstGeom>
          <a:noFill/>
        </p:spPr>
        <p:txBody>
          <a:bodyPr wrap="none" rtlCol="0">
            <a:spAutoFit/>
          </a:bodyPr>
          <a:lstStyle/>
          <a:p>
            <a:r>
              <a:rPr lang="en-US" dirty="0">
                <a:solidFill>
                  <a:srgbClr val="FF0000"/>
                </a:solidFill>
              </a:rPr>
              <a:t>Type of plot we want as a final result (hopefully)</a:t>
            </a:r>
          </a:p>
        </p:txBody>
      </p:sp>
      <p:cxnSp>
        <p:nvCxnSpPr>
          <p:cNvPr id="129" name="Straight Arrow Connector 128">
            <a:extLst>
              <a:ext uri="{FF2B5EF4-FFF2-40B4-BE49-F238E27FC236}">
                <a16:creationId xmlns:a16="http://schemas.microsoft.com/office/drawing/2014/main" id="{766E78A3-5DA9-4FE0-B390-01791EE1A223}"/>
              </a:ext>
            </a:extLst>
          </p:cNvPr>
          <p:cNvCxnSpPr/>
          <p:nvPr/>
        </p:nvCxnSpPr>
        <p:spPr>
          <a:xfrm flipV="1">
            <a:off x="3210505" y="3790062"/>
            <a:ext cx="314325" cy="96337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31" name="Picture 130" descr="\documentclass{article}&#10;\usepackage{amsmath}&#10;\pagestyle{empty}&#10;\begin{document}&#10;&#10;$N_{KK}$ increasing&#10;&#10;&#10;\end{document}" title="IguanaTex Picture Display">
            <a:extLst>
              <a:ext uri="{FF2B5EF4-FFF2-40B4-BE49-F238E27FC236}">
                <a16:creationId xmlns:a16="http://schemas.microsoft.com/office/drawing/2014/main" id="{D73B90A8-F72A-41D1-92DE-AE77892E14E7}"/>
              </a:ext>
            </a:extLst>
          </p:cNvPr>
          <p:cNvPicPr>
            <a:picLocks noChangeAspect="1"/>
          </p:cNvPicPr>
          <p:nvPr>
            <p:custDataLst>
              <p:tags r:id="rId15"/>
            </p:custDataLst>
          </p:nvPr>
        </p:nvPicPr>
        <p:blipFill>
          <a:blip r:embed="rId32">
            <a:extLst>
              <a:ext uri="{28A0092B-C50C-407E-A947-70E740481C1C}">
                <a14:useLocalDpi xmlns:a14="http://schemas.microsoft.com/office/drawing/2010/main" val="0"/>
              </a:ext>
            </a:extLst>
          </a:blip>
          <a:stretch>
            <a:fillRect/>
          </a:stretch>
        </p:blipFill>
        <p:spPr>
          <a:xfrm>
            <a:off x="2645355" y="3514411"/>
            <a:ext cx="1750857" cy="224000"/>
          </a:xfrm>
          <a:prstGeom prst="rect">
            <a:avLst/>
          </a:prstGeom>
        </p:spPr>
      </p:pic>
      <p:sp>
        <p:nvSpPr>
          <p:cNvPr id="134" name="TextBox 133">
            <a:extLst>
              <a:ext uri="{FF2B5EF4-FFF2-40B4-BE49-F238E27FC236}">
                <a16:creationId xmlns:a16="http://schemas.microsoft.com/office/drawing/2014/main" id="{16F539F1-057C-4687-926E-C7FAA88183EB}"/>
              </a:ext>
            </a:extLst>
          </p:cNvPr>
          <p:cNvSpPr txBox="1"/>
          <p:nvPr/>
        </p:nvSpPr>
        <p:spPr>
          <a:xfrm>
            <a:off x="41854" y="26210"/>
            <a:ext cx="6705600" cy="1569660"/>
          </a:xfrm>
          <a:prstGeom prst="rect">
            <a:avLst/>
          </a:prstGeom>
          <a:noFill/>
        </p:spPr>
        <p:txBody>
          <a:bodyPr wrap="square" rtlCol="0">
            <a:spAutoFit/>
          </a:bodyPr>
          <a:lstStyle/>
          <a:p>
            <a:r>
              <a:rPr lang="en-US" sz="1600" dirty="0"/>
              <a:t>We want to see how a FIXED LENGTH sapphire window can be improved (using, as FOM, transmissivity divided by emissivity on one side) over the spectrum between 2 and 8 um.</a:t>
            </a:r>
          </a:p>
          <a:p>
            <a:r>
              <a:rPr lang="en-US" sz="1600" dirty="0"/>
              <a:t>The idea is that there could be a spectral region (at longer wavelengths, closer to the main phonon mode) where KKs can enhance the FOM, depending on their number.</a:t>
            </a:r>
          </a:p>
        </p:txBody>
      </p:sp>
      <p:sp>
        <p:nvSpPr>
          <p:cNvPr id="135" name="TextBox 134">
            <a:extLst>
              <a:ext uri="{FF2B5EF4-FFF2-40B4-BE49-F238E27FC236}">
                <a16:creationId xmlns:a16="http://schemas.microsoft.com/office/drawing/2014/main" id="{DE3B8CE1-9E09-43B3-96FA-9806F91CC439}"/>
              </a:ext>
            </a:extLst>
          </p:cNvPr>
          <p:cNvSpPr txBox="1"/>
          <p:nvPr/>
        </p:nvSpPr>
        <p:spPr>
          <a:xfrm>
            <a:off x="5078148" y="1727404"/>
            <a:ext cx="1997188" cy="1938992"/>
          </a:xfrm>
          <a:prstGeom prst="rect">
            <a:avLst/>
          </a:prstGeom>
          <a:noFill/>
          <a:ln>
            <a:solidFill>
              <a:schemeClr val="tx1"/>
            </a:solidFill>
          </a:ln>
        </p:spPr>
        <p:txBody>
          <a:bodyPr wrap="square" rtlCol="0">
            <a:spAutoFit/>
          </a:bodyPr>
          <a:lstStyle/>
          <a:p>
            <a:r>
              <a:rPr lang="en-US" sz="1200" i="1" dirty="0"/>
              <a:t>Add the KK one (or more ) at a time to understand how an increasing number of KKs (e.g., with symmetrical distribution within the bulk window) improves the FOM.</a:t>
            </a:r>
            <a:br>
              <a:rPr lang="en-US" sz="1200" i="1" dirty="0"/>
            </a:br>
            <a:br>
              <a:rPr lang="en-US" sz="1200" i="1" dirty="0"/>
            </a:br>
            <a:r>
              <a:rPr lang="en-US" sz="1200" i="1" dirty="0"/>
              <a:t>The detector is assumed to be on the Left (L) of the window.</a:t>
            </a:r>
          </a:p>
        </p:txBody>
      </p:sp>
      <p:cxnSp>
        <p:nvCxnSpPr>
          <p:cNvPr id="137" name="Straight Arrow Connector 136">
            <a:extLst>
              <a:ext uri="{FF2B5EF4-FFF2-40B4-BE49-F238E27FC236}">
                <a16:creationId xmlns:a16="http://schemas.microsoft.com/office/drawing/2014/main" id="{72CB3CC9-9F6D-4685-9E19-99B755B83C97}"/>
              </a:ext>
            </a:extLst>
          </p:cNvPr>
          <p:cNvCxnSpPr>
            <a:cxnSpLocks/>
            <a:stCxn id="138" idx="3"/>
          </p:cNvCxnSpPr>
          <p:nvPr/>
        </p:nvCxnSpPr>
        <p:spPr>
          <a:xfrm>
            <a:off x="7926452" y="5989652"/>
            <a:ext cx="1333306" cy="0"/>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8" name="TextBox 137">
            <a:extLst>
              <a:ext uri="{FF2B5EF4-FFF2-40B4-BE49-F238E27FC236}">
                <a16:creationId xmlns:a16="http://schemas.microsoft.com/office/drawing/2014/main" id="{0E181944-AB7A-4329-A49D-CDDFC41DD2DC}"/>
              </a:ext>
            </a:extLst>
          </p:cNvPr>
          <p:cNvSpPr txBox="1"/>
          <p:nvPr/>
        </p:nvSpPr>
        <p:spPr>
          <a:xfrm>
            <a:off x="5195785" y="5297154"/>
            <a:ext cx="2730667" cy="1384995"/>
          </a:xfrm>
          <a:prstGeom prst="rect">
            <a:avLst/>
          </a:prstGeom>
          <a:noFill/>
          <a:ln>
            <a:solidFill>
              <a:schemeClr val="tx1"/>
            </a:solidFill>
          </a:ln>
        </p:spPr>
        <p:txBody>
          <a:bodyPr wrap="square" rtlCol="0">
            <a:spAutoFit/>
          </a:bodyPr>
          <a:lstStyle/>
          <a:p>
            <a:r>
              <a:rPr lang="en-US" sz="1200" i="1" dirty="0"/>
              <a:t>Consider the dispersion of the sapphire across the spectrum and ensure that, at each wavelength, the total loss of the KK over its length equals the bulk sapphire over the same length. (You will have different KK permittivity profiles for different wavelengths)</a:t>
            </a:r>
          </a:p>
        </p:txBody>
      </p:sp>
      <p:cxnSp>
        <p:nvCxnSpPr>
          <p:cNvPr id="143" name="Straight Arrow Connector 142">
            <a:extLst>
              <a:ext uri="{FF2B5EF4-FFF2-40B4-BE49-F238E27FC236}">
                <a16:creationId xmlns:a16="http://schemas.microsoft.com/office/drawing/2014/main" id="{E85B75E5-D5B6-4E0A-A256-FE0A32C86C9B}"/>
              </a:ext>
            </a:extLst>
          </p:cNvPr>
          <p:cNvCxnSpPr>
            <a:cxnSpLocks/>
            <a:stCxn id="135" idx="3"/>
          </p:cNvCxnSpPr>
          <p:nvPr/>
        </p:nvCxnSpPr>
        <p:spPr>
          <a:xfrm>
            <a:off x="7075336" y="2696900"/>
            <a:ext cx="404130" cy="15255"/>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46" name="TextBox 145">
            <a:extLst>
              <a:ext uri="{FF2B5EF4-FFF2-40B4-BE49-F238E27FC236}">
                <a16:creationId xmlns:a16="http://schemas.microsoft.com/office/drawing/2014/main" id="{1BF81ABB-B5A3-4996-8F2A-96F1A080A030}"/>
              </a:ext>
            </a:extLst>
          </p:cNvPr>
          <p:cNvSpPr txBox="1"/>
          <p:nvPr/>
        </p:nvSpPr>
        <p:spPr>
          <a:xfrm>
            <a:off x="10376997" y="5457181"/>
            <a:ext cx="1726103" cy="1200329"/>
          </a:xfrm>
          <a:prstGeom prst="rect">
            <a:avLst/>
          </a:prstGeom>
          <a:noFill/>
          <a:ln>
            <a:solidFill>
              <a:schemeClr val="tx1"/>
            </a:solidFill>
          </a:ln>
        </p:spPr>
        <p:txBody>
          <a:bodyPr wrap="square" rtlCol="0">
            <a:spAutoFit/>
          </a:bodyPr>
          <a:lstStyle/>
          <a:p>
            <a:r>
              <a:rPr lang="en-US" sz="1200" i="1" dirty="0"/>
              <a:t>The length of the window (L_W) and the KK (L_KK) are indicative but I would start from these numbers. We can then change them.</a:t>
            </a:r>
          </a:p>
        </p:txBody>
      </p:sp>
      <p:grpSp>
        <p:nvGrpSpPr>
          <p:cNvPr id="163" name="Group 162">
            <a:extLst>
              <a:ext uri="{FF2B5EF4-FFF2-40B4-BE49-F238E27FC236}">
                <a16:creationId xmlns:a16="http://schemas.microsoft.com/office/drawing/2014/main" id="{62E50D2F-AD9E-4789-8AB6-B78D889EB405}"/>
              </a:ext>
            </a:extLst>
          </p:cNvPr>
          <p:cNvGrpSpPr/>
          <p:nvPr/>
        </p:nvGrpSpPr>
        <p:grpSpPr>
          <a:xfrm>
            <a:off x="7394587" y="4679290"/>
            <a:ext cx="428774" cy="141799"/>
            <a:chOff x="7394587" y="4679290"/>
            <a:chExt cx="428774" cy="141799"/>
          </a:xfrm>
        </p:grpSpPr>
        <p:cxnSp>
          <p:nvCxnSpPr>
            <p:cNvPr id="56" name="Straight Arrow Connector 55">
              <a:extLst>
                <a:ext uri="{FF2B5EF4-FFF2-40B4-BE49-F238E27FC236}">
                  <a16:creationId xmlns:a16="http://schemas.microsoft.com/office/drawing/2014/main" id="{9F891671-369F-475D-AE62-8301C6BFD16E}"/>
                </a:ext>
              </a:extLst>
            </p:cNvPr>
            <p:cNvCxnSpPr>
              <a:cxnSpLocks/>
            </p:cNvCxnSpPr>
            <p:nvPr/>
          </p:nvCxnSpPr>
          <p:spPr>
            <a:xfrm>
              <a:off x="7394587" y="4679290"/>
              <a:ext cx="428774" cy="0"/>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F9779DF0-2C53-45F3-92E8-0F8ADD925EA2}"/>
                </a:ext>
              </a:extLst>
            </p:cNvPr>
            <p:cNvCxnSpPr/>
            <p:nvPr/>
          </p:nvCxnSpPr>
          <p:spPr>
            <a:xfrm flipH="1">
              <a:off x="7396641" y="4821089"/>
              <a:ext cx="388620" cy="0"/>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grpSp>
      <p:pic>
        <p:nvPicPr>
          <p:cNvPr id="162" name="Picture 161" descr="\documentclass{article}&#10;\usepackage{amsmath}&#10;\pagestyle{empty}&#10;\begin{document}&#10;&#10;$I_0(\lambda)$&#10;&#10;&#10;\end{document}" title="IguanaTex Picture Display">
            <a:extLst>
              <a:ext uri="{FF2B5EF4-FFF2-40B4-BE49-F238E27FC236}">
                <a16:creationId xmlns:a16="http://schemas.microsoft.com/office/drawing/2014/main" id="{D59F38F6-4309-495C-90E2-24E4C5FA8A5B}"/>
              </a:ext>
            </a:extLst>
          </p:cNvPr>
          <p:cNvPicPr>
            <a:picLocks noChangeAspect="1"/>
          </p:cNvPicPr>
          <p:nvPr>
            <p:custDataLst>
              <p:tags r:id="rId16"/>
            </p:custDataLst>
          </p:nvPr>
        </p:nvPicPr>
        <p:blipFill>
          <a:blip r:embed="rId22">
            <a:extLst>
              <a:ext uri="{28A0092B-C50C-407E-A947-70E740481C1C}">
                <a14:useLocalDpi xmlns:a14="http://schemas.microsoft.com/office/drawing/2010/main" val="0"/>
              </a:ext>
            </a:extLst>
          </a:blip>
          <a:stretch>
            <a:fillRect/>
          </a:stretch>
        </p:blipFill>
        <p:spPr>
          <a:xfrm>
            <a:off x="6832199" y="4498881"/>
            <a:ext cx="537905" cy="254476"/>
          </a:xfrm>
          <a:prstGeom prst="rect">
            <a:avLst/>
          </a:prstGeom>
        </p:spPr>
      </p:pic>
    </p:spTree>
    <p:extLst>
      <p:ext uri="{BB962C8B-B14F-4D97-AF65-F5344CB8AC3E}">
        <p14:creationId xmlns:p14="http://schemas.microsoft.com/office/powerpoint/2010/main" val="12044960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66B3C6-9B13-4BC9-A0F0-C2AB03BD2190}"/>
              </a:ext>
            </a:extLst>
          </p:cNvPr>
          <p:cNvPicPr>
            <a:picLocks noChangeAspect="1"/>
          </p:cNvPicPr>
          <p:nvPr/>
        </p:nvPicPr>
        <p:blipFill rotWithShape="1">
          <a:blip r:embed="rId2">
            <a:extLst>
              <a:ext uri="{28A0092B-C50C-407E-A947-70E740481C1C}">
                <a14:useLocalDpi xmlns:a14="http://schemas.microsoft.com/office/drawing/2010/main" val="0"/>
              </a:ext>
            </a:extLst>
          </a:blip>
          <a:srcRect t="5559" r="8322"/>
          <a:stretch/>
        </p:blipFill>
        <p:spPr>
          <a:xfrm>
            <a:off x="855436" y="260499"/>
            <a:ext cx="4280090" cy="2955851"/>
          </a:xfrm>
          <a:prstGeom prst="rect">
            <a:avLst/>
          </a:prstGeom>
        </p:spPr>
      </p:pic>
      <p:pic>
        <p:nvPicPr>
          <p:cNvPr id="6" name="Picture 5">
            <a:extLst>
              <a:ext uri="{FF2B5EF4-FFF2-40B4-BE49-F238E27FC236}">
                <a16:creationId xmlns:a16="http://schemas.microsoft.com/office/drawing/2014/main" id="{B4B7755E-04BF-4E1F-9C59-A63BBBC1254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54570" y="260498"/>
            <a:ext cx="3941135" cy="2955851"/>
          </a:xfrm>
          <a:prstGeom prst="rect">
            <a:avLst/>
          </a:prstGeom>
        </p:spPr>
      </p:pic>
      <p:pic>
        <p:nvPicPr>
          <p:cNvPr id="8" name="Picture 7">
            <a:extLst>
              <a:ext uri="{FF2B5EF4-FFF2-40B4-BE49-F238E27FC236}">
                <a16:creationId xmlns:a16="http://schemas.microsoft.com/office/drawing/2014/main" id="{AF8C8609-4DA9-4493-95F6-4F4CDFE8BFE7}"/>
              </a:ext>
            </a:extLst>
          </p:cNvPr>
          <p:cNvPicPr>
            <a:picLocks noChangeAspect="1"/>
          </p:cNvPicPr>
          <p:nvPr/>
        </p:nvPicPr>
        <p:blipFill rotWithShape="1">
          <a:blip r:embed="rId4">
            <a:extLst>
              <a:ext uri="{28A0092B-C50C-407E-A947-70E740481C1C}">
                <a14:useLocalDpi xmlns:a14="http://schemas.microsoft.com/office/drawing/2010/main" val="0"/>
              </a:ext>
            </a:extLst>
          </a:blip>
          <a:srcRect t="6759" r="7001"/>
          <a:stretch/>
        </p:blipFill>
        <p:spPr>
          <a:xfrm>
            <a:off x="145322" y="3583171"/>
            <a:ext cx="4086436" cy="3072810"/>
          </a:xfrm>
          <a:prstGeom prst="rect">
            <a:avLst/>
          </a:prstGeom>
        </p:spPr>
      </p:pic>
      <p:pic>
        <p:nvPicPr>
          <p:cNvPr id="10" name="Picture 9">
            <a:extLst>
              <a:ext uri="{FF2B5EF4-FFF2-40B4-BE49-F238E27FC236}">
                <a16:creationId xmlns:a16="http://schemas.microsoft.com/office/drawing/2014/main" id="{83784F3D-9617-4864-B741-B5A6AB2FC270}"/>
              </a:ext>
            </a:extLst>
          </p:cNvPr>
          <p:cNvPicPr>
            <a:picLocks noChangeAspect="1"/>
          </p:cNvPicPr>
          <p:nvPr/>
        </p:nvPicPr>
        <p:blipFill rotWithShape="1">
          <a:blip r:embed="rId5">
            <a:extLst>
              <a:ext uri="{28A0092B-C50C-407E-A947-70E740481C1C}">
                <a14:useLocalDpi xmlns:a14="http://schemas.microsoft.com/office/drawing/2010/main" val="0"/>
              </a:ext>
            </a:extLst>
          </a:blip>
          <a:srcRect t="6516" r="8091"/>
          <a:stretch/>
        </p:blipFill>
        <p:spPr>
          <a:xfrm>
            <a:off x="4280419" y="3641650"/>
            <a:ext cx="3874752" cy="2955851"/>
          </a:xfrm>
          <a:prstGeom prst="rect">
            <a:avLst/>
          </a:prstGeom>
        </p:spPr>
      </p:pic>
      <p:pic>
        <p:nvPicPr>
          <p:cNvPr id="12" name="Picture 11">
            <a:extLst>
              <a:ext uri="{FF2B5EF4-FFF2-40B4-BE49-F238E27FC236}">
                <a16:creationId xmlns:a16="http://schemas.microsoft.com/office/drawing/2014/main" id="{270CBE03-C64E-488C-9011-C436DC5C1327}"/>
              </a:ext>
            </a:extLst>
          </p:cNvPr>
          <p:cNvPicPr>
            <a:picLocks noChangeAspect="1"/>
          </p:cNvPicPr>
          <p:nvPr/>
        </p:nvPicPr>
        <p:blipFill rotWithShape="1">
          <a:blip r:embed="rId6">
            <a:extLst>
              <a:ext uri="{28A0092B-C50C-407E-A947-70E740481C1C}">
                <a14:useLocalDpi xmlns:a14="http://schemas.microsoft.com/office/drawing/2010/main" val="0"/>
              </a:ext>
            </a:extLst>
          </a:blip>
          <a:srcRect l="1429" t="6274" r="8092"/>
          <a:stretch/>
        </p:blipFill>
        <p:spPr>
          <a:xfrm>
            <a:off x="8242046" y="3641649"/>
            <a:ext cx="3804632" cy="2955851"/>
          </a:xfrm>
          <a:prstGeom prst="rect">
            <a:avLst/>
          </a:prstGeom>
        </p:spPr>
      </p:pic>
      <p:cxnSp>
        <p:nvCxnSpPr>
          <p:cNvPr id="14" name="Straight Arrow Connector 13">
            <a:extLst>
              <a:ext uri="{FF2B5EF4-FFF2-40B4-BE49-F238E27FC236}">
                <a16:creationId xmlns:a16="http://schemas.microsoft.com/office/drawing/2014/main" id="{6F8595E7-B1E5-4883-BB9D-9E1C7E27C41B}"/>
              </a:ext>
            </a:extLst>
          </p:cNvPr>
          <p:cNvCxnSpPr/>
          <p:nvPr/>
        </p:nvCxnSpPr>
        <p:spPr>
          <a:xfrm>
            <a:off x="5539563" y="1743740"/>
            <a:ext cx="92503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F5AFF21D-AD0D-4197-9C27-F9A8DF090485}"/>
              </a:ext>
            </a:extLst>
          </p:cNvPr>
          <p:cNvSpPr txBox="1"/>
          <p:nvPr/>
        </p:nvSpPr>
        <p:spPr>
          <a:xfrm>
            <a:off x="5413616" y="1318439"/>
            <a:ext cx="1176925" cy="307777"/>
          </a:xfrm>
          <a:prstGeom prst="rect">
            <a:avLst/>
          </a:prstGeom>
          <a:noFill/>
        </p:spPr>
        <p:txBody>
          <a:bodyPr wrap="none" rtlCol="0">
            <a:spAutoFit/>
          </a:bodyPr>
          <a:lstStyle/>
          <a:p>
            <a:r>
              <a:rPr lang="en-US" sz="1400" dirty="0"/>
              <a:t>Fix x0 = 0.001</a:t>
            </a:r>
          </a:p>
        </p:txBody>
      </p:sp>
    </p:spTree>
    <p:extLst>
      <p:ext uri="{BB962C8B-B14F-4D97-AF65-F5344CB8AC3E}">
        <p14:creationId xmlns:p14="http://schemas.microsoft.com/office/powerpoint/2010/main" val="26895247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821C5E-501F-444E-909D-C72C5AF46225}"/>
              </a:ext>
            </a:extLst>
          </p:cNvPr>
          <p:cNvPicPr>
            <a:picLocks noChangeAspect="1"/>
          </p:cNvPicPr>
          <p:nvPr/>
        </p:nvPicPr>
        <p:blipFill rotWithShape="1">
          <a:blip r:embed="rId2">
            <a:extLst>
              <a:ext uri="{28A0092B-C50C-407E-A947-70E740481C1C}">
                <a14:useLocalDpi xmlns:a14="http://schemas.microsoft.com/office/drawing/2010/main" val="0"/>
              </a:ext>
            </a:extLst>
          </a:blip>
          <a:srcRect t="6045" r="8260"/>
          <a:stretch/>
        </p:blipFill>
        <p:spPr>
          <a:xfrm>
            <a:off x="1335030" y="0"/>
            <a:ext cx="3917453" cy="3009014"/>
          </a:xfrm>
          <a:prstGeom prst="rect">
            <a:avLst/>
          </a:prstGeom>
        </p:spPr>
      </p:pic>
      <p:pic>
        <p:nvPicPr>
          <p:cNvPr id="5" name="Picture 4">
            <a:extLst>
              <a:ext uri="{FF2B5EF4-FFF2-40B4-BE49-F238E27FC236}">
                <a16:creationId xmlns:a16="http://schemas.microsoft.com/office/drawing/2014/main" id="{93ACB5D9-DBCC-4FAC-B5C0-59FEF662B89B}"/>
              </a:ext>
            </a:extLst>
          </p:cNvPr>
          <p:cNvPicPr>
            <a:picLocks noChangeAspect="1"/>
          </p:cNvPicPr>
          <p:nvPr/>
        </p:nvPicPr>
        <p:blipFill rotWithShape="1">
          <a:blip r:embed="rId3">
            <a:extLst>
              <a:ext uri="{28A0092B-C50C-407E-A947-70E740481C1C}">
                <a14:useLocalDpi xmlns:a14="http://schemas.microsoft.com/office/drawing/2010/main" val="0"/>
              </a:ext>
            </a:extLst>
          </a:blip>
          <a:srcRect l="3215" t="5687" r="8261"/>
          <a:stretch/>
        </p:blipFill>
        <p:spPr>
          <a:xfrm>
            <a:off x="6096000" y="0"/>
            <a:ext cx="3917453" cy="3130168"/>
          </a:xfrm>
          <a:prstGeom prst="rect">
            <a:avLst/>
          </a:prstGeom>
        </p:spPr>
      </p:pic>
      <p:sp>
        <p:nvSpPr>
          <p:cNvPr id="6" name="TextBox 5">
            <a:extLst>
              <a:ext uri="{FF2B5EF4-FFF2-40B4-BE49-F238E27FC236}">
                <a16:creationId xmlns:a16="http://schemas.microsoft.com/office/drawing/2014/main" id="{EEE58BD1-6382-4982-9302-75D97F2E79AB}"/>
              </a:ext>
            </a:extLst>
          </p:cNvPr>
          <p:cNvSpPr txBox="1"/>
          <p:nvPr/>
        </p:nvSpPr>
        <p:spPr>
          <a:xfrm>
            <a:off x="1091657" y="3009014"/>
            <a:ext cx="9601201" cy="2862322"/>
          </a:xfrm>
          <a:prstGeom prst="rect">
            <a:avLst/>
          </a:prstGeom>
          <a:noFill/>
        </p:spPr>
        <p:txBody>
          <a:bodyPr wrap="square" rtlCol="0">
            <a:spAutoFit/>
          </a:bodyPr>
          <a:lstStyle/>
          <a:p>
            <a:r>
              <a:rPr lang="en-US" dirty="0"/>
              <a:t>Procedure:</a:t>
            </a:r>
          </a:p>
          <a:p>
            <a:r>
              <a:rPr lang="en-US" dirty="0"/>
              <a:t>1. Sweep over wavelengths and find amplitude A for corresponding losses </a:t>
            </a:r>
            <a:r>
              <a:rPr lang="en-US" dirty="0" err="1"/>
              <a:t>k_bulk</a:t>
            </a:r>
            <a:endParaRPr lang="en-US" dirty="0"/>
          </a:p>
          <a:p>
            <a:r>
              <a:rPr lang="en-US" dirty="0"/>
              <a:t>2. Generate KK list of refractive indices and thicknesses</a:t>
            </a:r>
          </a:p>
          <a:p>
            <a:r>
              <a:rPr lang="en-US" dirty="0"/>
              <a:t>3. Calculate TRA for single KK stack using TMM software</a:t>
            </a:r>
          </a:p>
          <a:p>
            <a:r>
              <a:rPr lang="en-US" dirty="0"/>
              <a:t>4. Sweep over number of stacks N, using semi-analytic approach to get </a:t>
            </a:r>
            <a:r>
              <a:rPr lang="en-US" dirty="0" err="1"/>
              <a:t>trans_KK</a:t>
            </a:r>
            <a:r>
              <a:rPr lang="en-US" dirty="0"/>
              <a:t> and </a:t>
            </a:r>
            <a:r>
              <a:rPr lang="en-US" dirty="0" err="1"/>
              <a:t>emiss_KK</a:t>
            </a:r>
            <a:endParaRPr lang="en-US" dirty="0"/>
          </a:p>
          <a:p>
            <a:r>
              <a:rPr lang="en-US" dirty="0"/>
              <a:t>5. Make remaining length bulk sapphire: </a:t>
            </a:r>
            <a:r>
              <a:rPr lang="en-US" dirty="0" err="1"/>
              <a:t>L_bulk</a:t>
            </a:r>
            <a:r>
              <a:rPr lang="en-US" dirty="0"/>
              <a:t> = </a:t>
            </a:r>
            <a:r>
              <a:rPr lang="en-US" dirty="0" err="1"/>
              <a:t>L_total</a:t>
            </a:r>
            <a:r>
              <a:rPr lang="en-US" dirty="0"/>
              <a:t> – N * </a:t>
            </a:r>
            <a:r>
              <a:rPr lang="en-US" dirty="0" err="1"/>
              <a:t>t_KK</a:t>
            </a:r>
            <a:endParaRPr lang="en-US" dirty="0"/>
          </a:p>
          <a:p>
            <a:r>
              <a:rPr lang="en-US" dirty="0"/>
              <a:t>6. Calculate </a:t>
            </a:r>
            <a:r>
              <a:rPr lang="en-US" dirty="0" err="1"/>
              <a:t>trans_bulk</a:t>
            </a:r>
            <a:r>
              <a:rPr lang="en-US" dirty="0"/>
              <a:t> and </a:t>
            </a:r>
            <a:r>
              <a:rPr lang="en-US" dirty="0" err="1"/>
              <a:t>emiss_bulk</a:t>
            </a:r>
            <a:r>
              <a:rPr lang="en-US" dirty="0"/>
              <a:t> from </a:t>
            </a:r>
            <a:r>
              <a:rPr lang="en-US" dirty="0" err="1"/>
              <a:t>L_bulk</a:t>
            </a:r>
            <a:r>
              <a:rPr lang="en-US" dirty="0"/>
              <a:t> and </a:t>
            </a:r>
            <a:r>
              <a:rPr lang="en-US" dirty="0" err="1"/>
              <a:t>k_bulk</a:t>
            </a:r>
            <a:r>
              <a:rPr lang="en-US" dirty="0"/>
              <a:t> using usual equations</a:t>
            </a:r>
          </a:p>
          <a:p>
            <a:r>
              <a:rPr lang="en-US" dirty="0"/>
              <a:t>7. Calculate TOTAL trans (</a:t>
            </a:r>
            <a:r>
              <a:rPr lang="en-US" dirty="0" err="1"/>
              <a:t>trans_KK</a:t>
            </a:r>
            <a:r>
              <a:rPr lang="en-US" dirty="0"/>
              <a:t>*</a:t>
            </a:r>
            <a:r>
              <a:rPr lang="en-US" dirty="0" err="1"/>
              <a:t>trans_bulk</a:t>
            </a:r>
            <a:r>
              <a:rPr lang="en-US" dirty="0"/>
              <a:t>) and total </a:t>
            </a:r>
            <a:r>
              <a:rPr lang="en-US" dirty="0" err="1"/>
              <a:t>emiss</a:t>
            </a:r>
            <a:r>
              <a:rPr lang="en-US" dirty="0"/>
              <a:t> (?) , either: </a:t>
            </a:r>
          </a:p>
          <a:p>
            <a:r>
              <a:rPr lang="en-US" dirty="0"/>
              <a:t>	a) </a:t>
            </a:r>
            <a:r>
              <a:rPr lang="en-US" dirty="0" err="1"/>
              <a:t>emiss_KK</a:t>
            </a:r>
            <a:r>
              <a:rPr lang="en-US" dirty="0"/>
              <a:t> * </a:t>
            </a:r>
            <a:r>
              <a:rPr lang="en-US" dirty="0" err="1"/>
              <a:t>trans_bulk</a:t>
            </a:r>
            <a:r>
              <a:rPr lang="en-US" dirty="0"/>
              <a:t> + </a:t>
            </a:r>
            <a:r>
              <a:rPr lang="en-US" dirty="0" err="1"/>
              <a:t>emiss_bulk</a:t>
            </a:r>
            <a:r>
              <a:rPr lang="en-US" dirty="0"/>
              <a:t>, or </a:t>
            </a:r>
          </a:p>
          <a:p>
            <a:r>
              <a:rPr lang="en-US" dirty="0"/>
              <a:t>	b) </a:t>
            </a:r>
            <a:r>
              <a:rPr lang="en-US" dirty="0" err="1"/>
              <a:t>emiss_bulk</a:t>
            </a:r>
            <a:r>
              <a:rPr lang="en-US" dirty="0"/>
              <a:t> * </a:t>
            </a:r>
            <a:r>
              <a:rPr lang="en-US" dirty="0" err="1"/>
              <a:t>trans_KK</a:t>
            </a:r>
            <a:r>
              <a:rPr lang="en-US" dirty="0"/>
              <a:t> + </a:t>
            </a:r>
            <a:r>
              <a:rPr lang="en-US" dirty="0" err="1"/>
              <a:t>emiss_KK</a:t>
            </a:r>
            <a:r>
              <a:rPr lang="en-US" dirty="0"/>
              <a:t>  </a:t>
            </a:r>
          </a:p>
        </p:txBody>
      </p:sp>
      <p:sp>
        <p:nvSpPr>
          <p:cNvPr id="8" name="Rectangle 7">
            <a:extLst>
              <a:ext uri="{FF2B5EF4-FFF2-40B4-BE49-F238E27FC236}">
                <a16:creationId xmlns:a16="http://schemas.microsoft.com/office/drawing/2014/main" id="{CE6689C6-9A73-4411-8FA0-FAC30313B18A}"/>
              </a:ext>
            </a:extLst>
          </p:cNvPr>
          <p:cNvSpPr/>
          <p:nvPr/>
        </p:nvSpPr>
        <p:spPr>
          <a:xfrm>
            <a:off x="2059748" y="5992490"/>
            <a:ext cx="3335500" cy="698706"/>
          </a:xfrm>
          <a:prstGeom prst="rect">
            <a:avLst/>
          </a:prstGeom>
          <a:solidFill>
            <a:srgbClr val="DAE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5F65D1D-FF8E-4417-8961-B642784D6132}"/>
              </a:ext>
            </a:extLst>
          </p:cNvPr>
          <p:cNvSpPr/>
          <p:nvPr/>
        </p:nvSpPr>
        <p:spPr>
          <a:xfrm>
            <a:off x="4346581" y="5992490"/>
            <a:ext cx="347894" cy="69870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4F153E1-2B22-4D39-8844-DBDCB9EA190C}"/>
              </a:ext>
            </a:extLst>
          </p:cNvPr>
          <p:cNvSpPr/>
          <p:nvPr/>
        </p:nvSpPr>
        <p:spPr>
          <a:xfrm>
            <a:off x="2709071" y="5992490"/>
            <a:ext cx="347894" cy="69870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79A2B4E-7734-4E9C-9445-B09964439D83}"/>
              </a:ext>
            </a:extLst>
          </p:cNvPr>
          <p:cNvSpPr/>
          <p:nvPr/>
        </p:nvSpPr>
        <p:spPr>
          <a:xfrm>
            <a:off x="6684864" y="5992490"/>
            <a:ext cx="3335500" cy="698706"/>
          </a:xfrm>
          <a:prstGeom prst="rect">
            <a:avLst/>
          </a:prstGeom>
          <a:solidFill>
            <a:srgbClr val="DAE3F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BBAFD7D-D2A1-43D0-A4C7-E297BD577973}"/>
              </a:ext>
            </a:extLst>
          </p:cNvPr>
          <p:cNvSpPr/>
          <p:nvPr/>
        </p:nvSpPr>
        <p:spPr>
          <a:xfrm>
            <a:off x="7068462" y="5992490"/>
            <a:ext cx="347894" cy="69870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F5101D0E-92C6-409C-85C2-FE7F074E4616}"/>
              </a:ext>
            </a:extLst>
          </p:cNvPr>
          <p:cNvSpPr/>
          <p:nvPr/>
        </p:nvSpPr>
        <p:spPr>
          <a:xfrm>
            <a:off x="6696237" y="5992490"/>
            <a:ext cx="347894" cy="698706"/>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3936903-EFD4-4E83-B493-C3CFC887A9A9}"/>
              </a:ext>
            </a:extLst>
          </p:cNvPr>
          <p:cNvSpPr txBox="1"/>
          <p:nvPr/>
        </p:nvSpPr>
        <p:spPr>
          <a:xfrm>
            <a:off x="5892258" y="6157177"/>
            <a:ext cx="407484" cy="369332"/>
          </a:xfrm>
          <a:prstGeom prst="rect">
            <a:avLst/>
          </a:prstGeom>
          <a:noFill/>
        </p:spPr>
        <p:txBody>
          <a:bodyPr wrap="none" rtlCol="0">
            <a:spAutoFit/>
          </a:bodyPr>
          <a:lstStyle/>
          <a:p>
            <a:r>
              <a:rPr lang="en-US" dirty="0"/>
              <a:t>=?</a:t>
            </a:r>
          </a:p>
        </p:txBody>
      </p:sp>
    </p:spTree>
    <p:extLst>
      <p:ext uri="{BB962C8B-B14F-4D97-AF65-F5344CB8AC3E}">
        <p14:creationId xmlns:p14="http://schemas.microsoft.com/office/powerpoint/2010/main" val="85117675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OUTPUTDPI" val="1200"/>
  <p:tag name="ORIGINALHEIGHT" val="190.4762"/>
  <p:tag name="ORIGINALWIDTH" val="249.7188"/>
  <p:tag name="OUTPUTTYPE" val="PNG"/>
  <p:tag name="IGUANATEXVERSION" val="162"/>
  <p:tag name="LATEXADDIN" val="\documentclass{article}&#10;\usepackage{amsmath}&#10;\pagestyle{empty}&#10;\begin{document}&#10;&#10;$\frac{T(\lambda)}{\varepsilon_L(\lambda)}$&#10;&#10;&#10;\end{document}"/>
  <p:tag name="IGUANATEXSIZE" val="20"/>
  <p:tag name="IGUANATEXCURSOR" val="111"/>
  <p:tag name="TRANSPARENCY" val="True"/>
  <p:tag name="COLORHEX" val="000000"/>
  <p:tag name="FILENAME" val=""/>
  <p:tag name="LATEXENGINEID" val="0"/>
  <p:tag name="TEMPFOLDER" val="C:\IguanaTex\"/>
  <p:tag name="LATEXFORMHEIGHT" val="320"/>
  <p:tag name="LATEXFORMWIDTH" val="385"/>
  <p:tag name="LATEXFORMWRAP" val="True"/>
  <p:tag name="BITMAPVECTOR" val="0"/>
</p:tagLst>
</file>

<file path=ppt/tags/tag2.xml><?xml version="1.0" encoding="utf-8"?>
<p:tagLst xmlns:a="http://schemas.openxmlformats.org/drawingml/2006/main" xmlns:r="http://schemas.openxmlformats.org/officeDocument/2006/relationships" xmlns:p="http://schemas.openxmlformats.org/presentationml/2006/main">
  <p:tag name="OUTPUTDPI" val="1200"/>
  <p:tag name="ORIGINALHEIGHT" val="109.4863"/>
  <p:tag name="ORIGINALWIDTH" val="236.9704"/>
  <p:tag name="OUTPUTTYPE" val="PNG"/>
  <p:tag name="IGUANATEXVERSION" val="162"/>
  <p:tag name="LATEXADDIN" val="\documentclass{article}&#10;\usepackage{amsmath}&#10;\pagestyle{empty}&#10;\begin{document}&#10;&#10;$2 \mu m$&#10;&#10;&#10;\end{document}"/>
  <p:tag name="IGUANATEXSIZE" val="20"/>
  <p:tag name="IGUANATEXCURSOR" val="90"/>
  <p:tag name="TRANSPARENCY" val="True"/>
  <p:tag name="COLORHEX" val="000000"/>
  <p:tag name="FILENAME" val=""/>
  <p:tag name="LATEXENGINEID" val="0"/>
  <p:tag name="TEMPFOLDER" val="C:\IguanaTex\"/>
  <p:tag name="LATEXFORMHEIGHT" val="320"/>
  <p:tag name="LATEXFORMWIDTH" val="385"/>
  <p:tag name="LATEXFORMWRAP" val="True"/>
  <p:tag name="BITMAPVECTOR" val="0"/>
</p:tagLst>
</file>

<file path=ppt/tags/tag3.xml><?xml version="1.0" encoding="utf-8"?>
<p:tagLst xmlns:a="http://schemas.openxmlformats.org/drawingml/2006/main" xmlns:r="http://schemas.openxmlformats.org/officeDocument/2006/relationships" xmlns:p="http://schemas.openxmlformats.org/presentationml/2006/main">
  <p:tag name="OUTPUTDPI" val="1200"/>
  <p:tag name="ORIGINALHEIGHT" val="109.4863"/>
  <p:tag name="ORIGINALWIDTH" val="238.4702"/>
  <p:tag name="OUTPUTTYPE" val="PNG"/>
  <p:tag name="IGUANATEXVERSION" val="162"/>
  <p:tag name="LATEXADDIN" val="\documentclass{article}&#10;\usepackage{amsmath}&#10;\pagestyle{empty}&#10;\begin{document}&#10;&#10;$8 \mu m$&#10;&#10;&#10;\end{document}"/>
  <p:tag name="IGUANATEXSIZE" val="20"/>
  <p:tag name="IGUANATEXCURSOR" val="83"/>
  <p:tag name="TRANSPARENCY" val="True"/>
  <p:tag name="COLORHEX" val="000000"/>
  <p:tag name="FILENAME" val=""/>
  <p:tag name="LATEXENGINEID" val="0"/>
  <p:tag name="TEMPFOLDER" val="C:\IguanaTex\"/>
  <p:tag name="LATEXFORMHEIGHT" val="320"/>
  <p:tag name="LATEXFORMWIDTH" val="385"/>
  <p:tag name="LATEXFORMWRAP" val="True"/>
  <p:tag name="BITMAPVECTOR" val="0"/>
</p:tagLst>
</file>

<file path=ppt/tags/tag4.xml><?xml version="1.0" encoding="utf-8"?>
<p:tagLst xmlns:a="http://schemas.openxmlformats.org/drawingml/2006/main" xmlns:r="http://schemas.openxmlformats.org/officeDocument/2006/relationships" xmlns:p="http://schemas.openxmlformats.org/presentationml/2006/main">
  <p:tag name="OUTPUTDPI" val="1200"/>
  <p:tag name="ORIGINALHEIGHT" val="190.4762"/>
  <p:tag name="ORIGINALWIDTH" val="668.1664"/>
  <p:tag name="OUTPUTTYPE" val="PNG"/>
  <p:tag name="IGUANATEXVERSION" val="162"/>
  <p:tag name="LATEXADDIN" val="\documentclass{article}&#10;\usepackage{amsmath}&#10;\pagestyle{empty}&#10;\begin{document}&#10;&#10;$T(\lambda)=\frac{I_t(\lambda)}{I_0(\lambda)}$&#10;&#10;&#10;\end{document}"/>
  <p:tag name="IGUANATEXSIZE" val="20"/>
  <p:tag name="IGUANATEXCURSOR" val="102"/>
  <p:tag name="TRANSPARENCY" val="True"/>
  <p:tag name="COLORHEX" val="000000"/>
  <p:tag name="FILENAME" val=""/>
  <p:tag name="LATEXENGINEID" val="0"/>
  <p:tag name="TEMPFOLDER" val="C:\IguanaTex\"/>
  <p:tag name="LATEXFORMHEIGHT" val="320"/>
  <p:tag name="LATEXFORMWIDTH" val="385"/>
  <p:tag name="LATEXFORMWRAP" val="True"/>
  <p:tag name="BITMAPVECTOR" val="0"/>
</p:tagLst>
</file>

<file path=ppt/tags/tag5.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64.7169"/>
  <p:tag name="OUTPUTTYPE" val="PNG"/>
  <p:tag name="IGUANATEXVERSION" val="162"/>
  <p:tag name="LATEXADDIN" val="\documentclass{article}&#10;\usepackage{amsmath}&#10;\pagestyle{empty}&#10;\begin{document}&#10;&#10;$I_0(\lambda)$&#10;&#10;&#10;\end{document}"/>
  <p:tag name="IGUANATEXSIZE" val="20"/>
  <p:tag name="IGUANATEXCURSOR" val="85"/>
  <p:tag name="TRANSPARENCY" val="True"/>
  <p:tag name="COLORHEX" val="000000"/>
  <p:tag name="FILENAME" val=""/>
  <p:tag name="LATEXENGINEID" val="0"/>
  <p:tag name="TEMPFOLDER" val="C:\IguanaTex\"/>
  <p:tag name="LATEXFORMHEIGHT" val="320"/>
  <p:tag name="LATEXFORMWIDTH" val="385"/>
  <p:tag name="LATEXFORMWRAP" val="True"/>
  <p:tag name="BITMAPVECTOR" val="0"/>
</p:tagLst>
</file>

<file path=ppt/tags/tag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87.2141"/>
  <p:tag name="OUTPUTTYPE" val="PNG"/>
  <p:tag name="IGUANATEXVERSION" val="162"/>
  <p:tag name="LATEXADDIN" val="\documentclass{article}&#10;\usepackage{amsmath}&#10;\pagestyle{empty}&#10;\begin{document}&#10;&#10;$I_T(\lambda)$&#10;&#10;&#10;\end{document}"/>
  <p:tag name="IGUANATEXSIZE" val="20"/>
  <p:tag name="IGUANATEXCURSOR" val="85"/>
  <p:tag name="TRANSPARENCY" val="True"/>
  <p:tag name="COLORHEX" val="000000"/>
  <p:tag name="FILENAME" val=""/>
  <p:tag name="LATEXENGINEID" val="0"/>
  <p:tag name="TEMPFOLDER" val="C:\IguanaTex\"/>
  <p:tag name="LATEXFORMHEIGHT" val="320"/>
  <p:tag name="LATEXFORMWIDTH" val="385"/>
  <p:tag name="LATEXFORMWRAP" val="True"/>
  <p:tag name="BITMAPVECTOR" val="0"/>
</p:tagLst>
</file>

<file path=ppt/tags/tag7.xml><?xml version="1.0" encoding="utf-8"?>
<p:tagLst xmlns:a="http://schemas.openxmlformats.org/drawingml/2006/main" xmlns:r="http://schemas.openxmlformats.org/officeDocument/2006/relationships" xmlns:p="http://schemas.openxmlformats.org/presentationml/2006/main">
  <p:tag name="OUTPUTDPI" val="1200"/>
  <p:tag name="ORIGINALHEIGHT" val="129.7338"/>
  <p:tag name="ORIGINALWIDTH" val="356.2054"/>
  <p:tag name="OUTPUTTYPE" val="PNG"/>
  <p:tag name="IGUANATEXVERSION" val="162"/>
  <p:tag name="LATEXADDIN" val="\documentclass{article}&#10;\usepackage{amsmath}&#10;\pagestyle{empty}&#10;\begin{document}&#10;&#10;$I_{r,L}(\lambda)$&#10;&#10;&#10;\end{document}"/>
  <p:tag name="IGUANATEXSIZE" val="20"/>
  <p:tag name="IGUANATEXCURSOR" val="86"/>
  <p:tag name="TRANSPARENCY" val="True"/>
  <p:tag name="COLORHEX" val="000000"/>
  <p:tag name="FILENAME" val=""/>
  <p:tag name="LATEXENGINEID" val="0"/>
  <p:tag name="TEMPFOLDER" val="C:\IguanaTex\"/>
  <p:tag name="LATEXFORMHEIGHT" val="320"/>
  <p:tag name="LATEXFORMWIDTH" val="385"/>
  <p:tag name="LATEXFORMWRAP" val="True"/>
  <p:tag name="BITMAPVECTOR" val="0"/>
</p:tagLst>
</file>

<file path=ppt/tags/tag8.xml><?xml version="1.0" encoding="utf-8"?>
<p:tagLst xmlns:a="http://schemas.openxmlformats.org/drawingml/2006/main" xmlns:r="http://schemas.openxmlformats.org/officeDocument/2006/relationships" xmlns:p="http://schemas.openxmlformats.org/presentationml/2006/main">
  <p:tag name="OUTPUTDPI" val="1200"/>
  <p:tag name="ORIGINALHEIGHT" val="192.7259"/>
  <p:tag name="ORIGINALWIDTH" val="830.1462"/>
  <p:tag name="OUTPUTTYPE" val="PNG"/>
  <p:tag name="IGUANATEXVERSION" val="162"/>
  <p:tag name="LATEXADDIN" val="\documentclass{article}&#10;\usepackage{amsmath}&#10;\pagestyle{empty}&#10;\begin{document}&#10;&#10;$R_L(\lambda)=\frac{I_{r,L}(\lambda)}{I_0(\lambda)}$&#10;&#10;&#10;\end{document}"/>
  <p:tag name="IGUANATEXSIZE" val="20"/>
  <p:tag name="IGUANATEXCURSOR" val="107"/>
  <p:tag name="TRANSPARENCY" val="True"/>
  <p:tag name="COLORHEX" val="000000"/>
  <p:tag name="FILENAME" val=""/>
  <p:tag name="LATEXENGINEID" val="0"/>
  <p:tag name="TEMPFOLDER" val="C:\IguanaTex\"/>
  <p:tag name="LATEXFORMHEIGHT" val="320"/>
  <p:tag name="LATEXFORMWIDTH" val="385"/>
  <p:tag name="LATEXFORMWRAP" val="True"/>
  <p:tag name="BITMAPVECTOR" val="0"/>
</p:tagLst>
</file>

<file path=ppt/tags/tag9.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1417.323"/>
  <p:tag name="OUTPUTTYPE" val="PNG"/>
  <p:tag name="IGUANATEXVERSION" val="162"/>
  <p:tag name="LATEXADDIN" val="\documentclass{article}&#10;\usepackage{amsmath}&#10;\pagestyle{empty}&#10;\begin{document}&#10;&#10;$\varepsilon_L(\lambda)=1-T(\lambda)-R_L(\lambda)$&#10;&#10;&#10;\end{document}"/>
  <p:tag name="IGUANATEXSIZE" val="20"/>
  <p:tag name="IGUANATEXCURSOR" val="121"/>
  <p:tag name="TRANSPARENCY" val="True"/>
  <p:tag name="COLORHEX" val="000000"/>
  <p:tag name="FILENAME" val=""/>
  <p:tag name="LATEXENGINEID" val="0"/>
  <p:tag name="TEMPFOLDER" val="C:\IguanaTex\"/>
  <p:tag name="LATEXFORMHEIGHT" val="320"/>
  <p:tag name="LATEXFORMWIDTH" val="385"/>
  <p:tag name="LATEXFORMWRAP" val="True"/>
  <p:tag name="BITMAPVECTOR" val="0"/>
</p:tagLst>
</file>

<file path=ppt/tags/tag10.xml><?xml version="1.0" encoding="utf-8"?>
<p:tagLst xmlns:a="http://schemas.openxmlformats.org/drawingml/2006/main" xmlns:r="http://schemas.openxmlformats.org/officeDocument/2006/relationships" xmlns:p="http://schemas.openxmlformats.org/presentationml/2006/main">
  <p:tag name="OUTPUTDPI" val="1200"/>
  <p:tag name="ORIGINALHEIGHT" val="104.9868"/>
  <p:tag name="ORIGINALWIDTH" val="636.6704"/>
  <p:tag name="OUTPUTTYPE" val="PNG"/>
  <p:tag name="IGUANATEXVERSION" val="162"/>
  <p:tag name="LATEXADDIN" val="\documentclass{article}&#10;\usepackage{amsmath}&#10;\pagestyle{empty}&#10;\begin{document}&#10;&#10;$L_W=5 mm$&#10;&#10;&#10;\end{document}"/>
  <p:tag name="IGUANATEXSIZE" val="20"/>
  <p:tag name="IGUANATEXCURSOR" val="85"/>
  <p:tag name="TRANSPARENCY" val="True"/>
  <p:tag name="COLORHEX" val="000000"/>
  <p:tag name="FILENAME" val=""/>
  <p:tag name="LATEXENGINEID" val="0"/>
  <p:tag name="TEMPFOLDER" val="C:\IguanaTex\"/>
  <p:tag name="LATEXFORMHEIGHT" val="320"/>
  <p:tag name="LATEXFORMWIDTH" val="385"/>
  <p:tag name="LATEXFORMWRAP" val="True"/>
  <p:tag name="BITMAPVECTOR" val="0"/>
</p:tagLst>
</file>

<file path=ppt/tags/tag11.xml><?xml version="1.0" encoding="utf-8"?>
<p:tagLst xmlns:a="http://schemas.openxmlformats.org/drawingml/2006/main" xmlns:r="http://schemas.openxmlformats.org/officeDocument/2006/relationships" xmlns:p="http://schemas.openxmlformats.org/presentationml/2006/main">
  <p:tag name="OUTPUTDPI" val="1200"/>
  <p:tag name="ORIGINALHEIGHT" val="103.4871"/>
  <p:tag name="ORIGINALWIDTH" val="500.1875"/>
  <p:tag name="OUTPUTTYPE" val="PNG"/>
  <p:tag name="IGUANATEXVERSION" val="162"/>
  <p:tag name="LATEXADDIN" val="\documentclass{article}&#10;\usepackage{amsmath}&#10;\pagestyle{empty}&#10;\begin{document}&#10;&#10;$N_{KK}=1$&#10;&#10;\end{document}"/>
  <p:tag name="IGUANATEXSIZE" val="20"/>
  <p:tag name="IGUANATEXCURSOR" val="88"/>
  <p:tag name="TRANSPARENCY" val="True"/>
  <p:tag name="COLORHEX" val="000000"/>
  <p:tag name="FILENAME" val=""/>
  <p:tag name="LATEXENGINEID" val="0"/>
  <p:tag name="TEMPFOLDER" val="C:\IguanaTex\"/>
  <p:tag name="LATEXFORMHEIGHT" val="320"/>
  <p:tag name="LATEXFORMWIDTH" val="385"/>
  <p:tag name="LATEXFORMWRAP" val="True"/>
  <p:tag name="BITMAPVECTOR" val="0"/>
</p:tagLst>
</file>

<file path=ppt/tags/tag12.xml><?xml version="1.0" encoding="utf-8"?>
<p:tagLst xmlns:a="http://schemas.openxmlformats.org/drawingml/2006/main" xmlns:r="http://schemas.openxmlformats.org/officeDocument/2006/relationships" xmlns:p="http://schemas.openxmlformats.org/presentationml/2006/main">
  <p:tag name="OUTPUTDPI" val="1200"/>
  <p:tag name="ORIGINALHEIGHT" val="103.4871"/>
  <p:tag name="ORIGINALWIDTH" val="503.937"/>
  <p:tag name="OUTPUTTYPE" val="PNG"/>
  <p:tag name="IGUANATEXVERSION" val="162"/>
  <p:tag name="LATEXADDIN" val="\documentclass{article}&#10;\usepackage{amsmath}&#10;\pagestyle{empty}&#10;\begin{document}&#10;&#10;$N_{KK}=2$&#10;&#10;\end{document}"/>
  <p:tag name="IGUANATEXSIZE" val="20"/>
  <p:tag name="IGUANATEXCURSOR" val="90"/>
  <p:tag name="TRANSPARENCY" val="True"/>
  <p:tag name="COLORHEX" val="000000"/>
  <p:tag name="FILENAME" val=""/>
  <p:tag name="LATEXENGINEID" val="0"/>
  <p:tag name="TEMPFOLDER" val="C:\IguanaTex\"/>
  <p:tag name="LATEXFORMHEIGHT" val="320"/>
  <p:tag name="LATEXFORMWIDTH" val="385"/>
  <p:tag name="LATEXFORMWRAP" val="True"/>
  <p:tag name="BITMAPVECTOR" val="0"/>
</p:tagLst>
</file>

<file path=ppt/tags/tag13.xml><?xml version="1.0" encoding="utf-8"?>
<p:tagLst xmlns:a="http://schemas.openxmlformats.org/drawingml/2006/main" xmlns:r="http://schemas.openxmlformats.org/officeDocument/2006/relationships" xmlns:p="http://schemas.openxmlformats.org/presentationml/2006/main">
  <p:tag name="OUTPUTDPI" val="1200"/>
  <p:tag name="ORIGINALHEIGHT" val="111.7361"/>
  <p:tag name="ORIGINALWIDTH" val="674.9156"/>
  <p:tag name="OUTPUTTYPE" val="PNG"/>
  <p:tag name="IGUANATEXVERSION" val="162"/>
  <p:tag name="LATEXADDIN" val="\documentclass{article}&#10;\usepackage{amsmath}&#10;\pagestyle{empty}&#10;\begin{document}&#10;&#10;$L_{KK}=1\mu m$&#10;&#10;&#10;\end{document}"/>
  <p:tag name="IGUANATEXSIZE" val="20"/>
  <p:tag name="IGUANATEXCURSOR" val="95"/>
  <p:tag name="TRANSPARENCY" val="True"/>
  <p:tag name="COLORHEX" val="000000"/>
  <p:tag name="FILENAME" val=""/>
  <p:tag name="LATEXENGINEID" val="0"/>
  <p:tag name="TEMPFOLDER" val="C:\IguanaTex\"/>
  <p:tag name="LATEXFORMHEIGHT" val="320"/>
  <p:tag name="LATEXFORMWIDTH" val="385"/>
  <p:tag name="LATEXFORMWRAP" val="True"/>
  <p:tag name="BITMAPVECTOR" val="0"/>
</p:tagLst>
</file>

<file path=ppt/tags/tag14.xml><?xml version="1.0" encoding="utf-8"?>
<p:tagLst xmlns:a="http://schemas.openxmlformats.org/drawingml/2006/main" xmlns:r="http://schemas.openxmlformats.org/officeDocument/2006/relationships" xmlns:p="http://schemas.openxmlformats.org/presentationml/2006/main">
  <p:tag name="OUTPUTDPI" val="1200"/>
  <p:tag name="ORIGINALHEIGHT" val="166.4792"/>
  <p:tag name="ORIGINALWIDTH" val="686.9141"/>
  <p:tag name="OUTPUTTYPE" val="PNG"/>
  <p:tag name="IGUANATEXVERSION" val="162"/>
  <p:tag name="LATEXADDIN" val="\documentclass{article}&#10;\usepackage{amsmath}&#10;\pagestyle{empty}&#10;\begin{document}&#10;&#10;$N_{KK}\approx \frac{L_W}{L_{KK}}$&#10;&#10;\end{document}"/>
  <p:tag name="IGUANATEXSIZE" val="20"/>
  <p:tag name="IGUANATEXCURSOR" val="96"/>
  <p:tag name="TRANSPARENCY" val="True"/>
  <p:tag name="COLORHEX" val="000000"/>
  <p:tag name="FILENAME" val=""/>
  <p:tag name="LATEXENGINEID" val="0"/>
  <p:tag name="TEMPFOLDER" val="C:\IguanaTex\"/>
  <p:tag name="LATEXFORMHEIGHT" val="320"/>
  <p:tag name="LATEXFORMWIDTH" val="385"/>
  <p:tag name="LATEXFORMWRAP" val="True"/>
  <p:tag name="BITMAPVECTOR" val="0"/>
</p:tagLst>
</file>

<file path=ppt/tags/tag15.xml><?xml version="1.0" encoding="utf-8"?>
<p:tagLst xmlns:a="http://schemas.openxmlformats.org/drawingml/2006/main" xmlns:r="http://schemas.openxmlformats.org/officeDocument/2006/relationships" xmlns:p="http://schemas.openxmlformats.org/presentationml/2006/main">
  <p:tag name="OUTPUTDPI" val="1200"/>
  <p:tag name="ORIGINALHEIGHT" val="110.2362"/>
  <p:tag name="ORIGINALWIDTH" val="861.6423"/>
  <p:tag name="OUTPUTTYPE" val="PNG"/>
  <p:tag name="IGUANATEXVERSION" val="162"/>
  <p:tag name="LATEXADDIN" val="\documentclass{article}&#10;\usepackage{amsmath}&#10;\pagestyle{empty}&#10;\begin{document}&#10;&#10;$N_{KK}$ increasing&#10;&#10;&#10;\end{document}"/>
  <p:tag name="IGUANATEXSIZE" val="20"/>
  <p:tag name="IGUANATEXCURSOR" val="100"/>
  <p:tag name="TRANSPARENCY" val="True"/>
  <p:tag name="COLORHEX" val="000000"/>
  <p:tag name="FILENAME" val=""/>
  <p:tag name="LATEXENGINEID" val="0"/>
  <p:tag name="TEMPFOLDER" val="C:\IguanaTex\"/>
  <p:tag name="LATEXFORMHEIGHT" val="320"/>
  <p:tag name="LATEXFORMWIDTH" val="385"/>
  <p:tag name="LATEXFORMWRAP" val="True"/>
  <p:tag name="BITMAPVECTOR" val="0"/>
</p:tagLst>
</file>

<file path=ppt/tags/tag16.xml><?xml version="1.0" encoding="utf-8"?>
<p:tagLst xmlns:a="http://schemas.openxmlformats.org/drawingml/2006/main" xmlns:r="http://schemas.openxmlformats.org/officeDocument/2006/relationships" xmlns:p="http://schemas.openxmlformats.org/presentationml/2006/main">
  <p:tag name="OUTPUTDPI" val="1200"/>
  <p:tag name="ORIGINALHEIGHT" val="125.2343"/>
  <p:tag name="ORIGINALWIDTH" val="264.7169"/>
  <p:tag name="OUTPUTTYPE" val="PNG"/>
  <p:tag name="IGUANATEXVERSION" val="162"/>
  <p:tag name="LATEXADDIN" val="\documentclass{article}&#10;\usepackage{amsmath}&#10;\pagestyle{empty}&#10;\begin{document}&#10;&#10;$I_0(\lambda)$&#10;&#10;&#10;\end{document}"/>
  <p:tag name="IGUANATEXSIZE" val="20"/>
  <p:tag name="IGUANATEXCURSOR" val="85"/>
  <p:tag name="TRANSPARENCY" val="True"/>
  <p:tag name="COLORHEX" val="000000"/>
  <p:tag name="FILENAME" val=""/>
  <p:tag name="LATEXENGINEID" val="0"/>
  <p:tag name="TEMPFOLDER" val="C:\IguanaTex\"/>
  <p:tag name="LATEXFORMHEIGHT" val="320"/>
  <p:tag name="LATEXFORMWIDTH" val="385"/>
  <p:tag name="LATEXFORMWRAP" val="True"/>
  <p:tag name="BITMAPVECTOR" val="0"/>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10072</TotalTime>
  <Words>417</Words>
  <Application>Microsoft Office PowerPoint</Application>
  <PresentationFormat>Widescreen</PresentationFormat>
  <Paragraphs>33</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Kunal Lakhanpal</dc:creator>
  <cp:lastModifiedBy>Kunal Lakhanpal</cp:lastModifiedBy>
  <cp:revision>21</cp:revision>
  <dcterms:created xsi:type="dcterms:W3CDTF">2025-01-17T19:29:34Z</dcterms:created>
  <dcterms:modified xsi:type="dcterms:W3CDTF">2025-01-24T19:21:37Z</dcterms:modified>
</cp:coreProperties>
</file>