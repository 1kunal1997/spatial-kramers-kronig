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410" r:id="rId3"/>
    <p:sldId id="390" r:id="rId4"/>
    <p:sldId id="262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A656-9A5D-512D-2A9D-A1C00C716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DA8D0-913A-A06F-2BEA-FC47BE7F1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FD823-2D93-6EF5-426C-8FA362B7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9D882-AFE8-2686-0431-333F9B6F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09567-1384-9AF4-8A14-C0C29AAF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1C0C-C536-DBDE-B8E2-70850298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A2F9-C8CB-EAA2-47DE-EA7CAC2F5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93A37-5A9E-F5D7-3E8A-C99C0C77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76CBF-8888-BC28-B9DA-DA5BEEC6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674F-2572-DEE3-BA20-6F976F60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3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929A-C91C-E0D1-10C9-9A2ACC7C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89780-125C-19E8-2875-EE6AA2696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FDEE9-3035-032A-67D3-D0643DBF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7730B-0A0C-9245-6CAE-27EF63DD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19A4B-B012-C884-25FD-E7A83C35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0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1704-9344-B5D9-7DAF-8263967D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4102D-99BE-721A-05DA-419AB621A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486AA-0D6E-7EAE-F7F9-A764574BC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869E4-4FA9-A98C-3C06-E7DFA637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6E3E8-C93E-C73B-5D01-5AA144FB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54B7C-EEEB-079E-5437-5958163A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2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CDF9-987B-A903-93DE-DC0C41BD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4D74C-27AC-C4DC-374A-9FE219721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D8631-D984-8A94-5406-2BD6E4764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51217-9E07-13B7-9CC3-5F77D19E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A9BD7-7ED3-1E4C-D6DD-1AAD4A614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1A762-9234-B9C2-9A98-9DFC9373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363F5-7335-1799-95DA-058CD3D7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6F7378-5925-23BD-7386-588F0675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4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0CA8-2377-C68D-D5F5-92E55EBF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ECDBD-3F35-A179-2B66-E89D8BB4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036BC-99BE-B113-0450-00978D26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D3635-7047-4D9B-8E5C-A867F349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41837-CB30-10A1-D568-69E74AA2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6BABB-E10F-4598-7496-952B84BB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C827C-A147-10F3-4261-EF90CEFB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1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B561-CDDC-85DE-65A7-81CCEB55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256E-45C1-C94F-E206-E96F282B0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53FD8-29FC-9824-8716-DB7DBCB8E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63D74-4933-C4AE-1BC8-ACA54FC8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9E86F-816F-1339-47D2-BF473E43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1895A-F944-759A-9FE3-D1741CA2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4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7703-5C8F-C110-DC87-C7F8D9EC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8223E-1EE3-D4B9-8DCF-57D116E0A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CBE22-8395-631A-2C98-6A76CF0B5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C8469-A70D-B0B1-4EFB-28310DFC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8C6D8-74C8-30A9-DC2E-B522223D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8F238-9C6E-9A9E-62E7-6BC86A2F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6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A4EB-023B-A7EC-834A-58F1CB8E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6A9E9-F3C8-98BC-F961-4452AD721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AD2D2-3A19-D4C0-8341-ED003ED3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C421E-E3E3-D562-4A77-0F945BA56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EB74-C473-9B58-8334-1160321E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3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79966-519D-8355-92F2-74F857CCD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50BF8-24D7-229E-CCF8-864FBB97D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23C37-8807-260E-0777-BD87933D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92968-BFBD-C686-B8BA-009EE2A2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E892F-B4DA-FE5E-8AD2-EB3EA1C0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9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AFBC5-B051-3F70-4D60-650629DB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ABC4-AB03-A8DB-89E1-C6F6BE489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07538-2F15-E1DF-E9C2-27B85FC8B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C6EA1-700E-3C4B-9913-62421D137C0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A04E2-FAAF-F3CC-9A55-3A6F4FCDF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DD053-9866-5AC3-1436-023CFA4FA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1E500-1840-CA47-9C33-938022C4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6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8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51E43B-B21B-F303-19CD-BF3ED61B59CB}"/>
              </a:ext>
            </a:extLst>
          </p:cNvPr>
          <p:cNvSpPr txBox="1"/>
          <p:nvPr/>
        </p:nvSpPr>
        <p:spPr>
          <a:xfrm>
            <a:off x="469901" y="381000"/>
            <a:ext cx="11379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What we know so far:</a:t>
            </a:r>
          </a:p>
          <a:p>
            <a:endParaRPr lang="en-US" sz="2200" dirty="0"/>
          </a:p>
          <a:p>
            <a:pPr marL="285750" indent="-285750">
              <a:buFontTx/>
              <a:buChar char="-"/>
            </a:pPr>
            <a:r>
              <a:rPr lang="en-US" sz="2200" dirty="0"/>
              <a:t>Spatial KK does not help solve the window problem (high losses needed for appreciable asymmetry, which reduces transmission 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Even replacing bulk window with “stack of stacks” showed that one </a:t>
            </a:r>
            <a:r>
              <a:rPr lang="en-US" sz="2200" dirty="0" err="1"/>
              <a:t>sKK</a:t>
            </a:r>
            <a:r>
              <a:rPr lang="en-US" sz="2200" dirty="0"/>
              <a:t> stack was most asymmetric</a:t>
            </a:r>
          </a:p>
          <a:p>
            <a:pPr marL="285750" indent="-285750">
              <a:buFontTx/>
              <a:buChar char="-"/>
            </a:pPr>
            <a:endParaRPr lang="en-US" sz="2200" dirty="0"/>
          </a:p>
          <a:p>
            <a:r>
              <a:rPr lang="en-US" sz="2200" b="1" dirty="0"/>
              <a:t>Directions to take project:</a:t>
            </a:r>
          </a:p>
          <a:p>
            <a:endParaRPr lang="en-US" sz="2200" dirty="0"/>
          </a:p>
          <a:p>
            <a:pPr marL="342900" indent="-342900">
              <a:buAutoNum type="arabicPeriod"/>
            </a:pPr>
            <a:r>
              <a:rPr lang="en-US" sz="2200" dirty="0"/>
              <a:t>AR Coating: Horsley paper and a follow up by Liang et al mention using Spatial KK as AR coating, but no paper has yet done an exhausting comparison of </a:t>
            </a:r>
            <a:r>
              <a:rPr lang="en-US" sz="2200" dirty="0" err="1"/>
              <a:t>sKK</a:t>
            </a:r>
            <a:r>
              <a:rPr lang="en-US" sz="2200" dirty="0"/>
              <a:t> coating compared to state of the art (moth eye, GRIN coatings)</a:t>
            </a:r>
          </a:p>
          <a:p>
            <a:pPr marL="342900" indent="-342900">
              <a:buAutoNum type="arabicPeriod"/>
            </a:pPr>
            <a:r>
              <a:rPr lang="en-US" sz="2200" dirty="0"/>
              <a:t>One sided coherent perfect absorber: unsure of applications but there is research done and papers published on this topic </a:t>
            </a:r>
          </a:p>
          <a:p>
            <a:pPr marL="342900" indent="-342900">
              <a:buAutoNum type="arabicPeriod"/>
            </a:pPr>
            <a:r>
              <a:rPr lang="en-US" sz="2200" dirty="0"/>
              <a:t>Just showing high thermal emission asymmetry</a:t>
            </a:r>
          </a:p>
        </p:txBody>
      </p:sp>
    </p:spTree>
    <p:extLst>
      <p:ext uri="{BB962C8B-B14F-4D97-AF65-F5344CB8AC3E}">
        <p14:creationId xmlns:p14="http://schemas.microsoft.com/office/powerpoint/2010/main" val="358766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0F9577C-CA54-4590-844E-2D559CF47FB5}"/>
              </a:ext>
            </a:extLst>
          </p:cNvPr>
          <p:cNvSpPr/>
          <p:nvPr/>
        </p:nvSpPr>
        <p:spPr>
          <a:xfrm>
            <a:off x="186219" y="133899"/>
            <a:ext cx="11411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Calculation of Transmittance, Reflectance, Absorbance Using TMM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5F6CE4-D28E-42F7-8FC0-899B60D61D2F}"/>
              </a:ext>
            </a:extLst>
          </p:cNvPr>
          <p:cNvGrpSpPr>
            <a:grpSpLocks noChangeAspect="1"/>
          </p:cNvGrpSpPr>
          <p:nvPr/>
        </p:nvGrpSpPr>
        <p:grpSpPr>
          <a:xfrm>
            <a:off x="3840480" y="3077505"/>
            <a:ext cx="4370146" cy="3646596"/>
            <a:chOff x="3325362" y="1117087"/>
            <a:chExt cx="5541275" cy="46238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983B0E-E3D3-4D6D-A15A-4ADD983A9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5362" y="1117087"/>
              <a:ext cx="5541275" cy="46238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DB3726-442E-45B8-8B47-4C6897DBA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3874" y="2200872"/>
              <a:ext cx="1097282" cy="1563627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9C45C0-A092-4447-941E-2BEBD5BD5417}"/>
              </a:ext>
            </a:extLst>
          </p:cNvPr>
          <p:cNvGrpSpPr>
            <a:grpSpLocks noChangeAspect="1"/>
          </p:cNvGrpSpPr>
          <p:nvPr/>
        </p:nvGrpSpPr>
        <p:grpSpPr>
          <a:xfrm>
            <a:off x="8351521" y="807647"/>
            <a:ext cx="3654261" cy="2980383"/>
            <a:chOff x="186219" y="966479"/>
            <a:chExt cx="5669292" cy="46238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9BE269-6819-4703-802F-29957E15A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219" y="966479"/>
              <a:ext cx="5669292" cy="46238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751D0DA-0162-4DA3-9D81-F1381F9F9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7432" y="1275084"/>
              <a:ext cx="1264923" cy="91440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8F91AB-8310-4D04-AFAF-85C652030477}"/>
              </a:ext>
            </a:extLst>
          </p:cNvPr>
          <p:cNvGrpSpPr>
            <a:grpSpLocks noChangeAspect="1"/>
          </p:cNvGrpSpPr>
          <p:nvPr/>
        </p:nvGrpSpPr>
        <p:grpSpPr>
          <a:xfrm>
            <a:off x="186219" y="807647"/>
            <a:ext cx="3654262" cy="2980384"/>
            <a:chOff x="6095999" y="966480"/>
            <a:chExt cx="5669292" cy="46238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FC3646-CDAD-4AEE-857D-2A772B312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9" y="966480"/>
              <a:ext cx="5669292" cy="46238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EE720EF-9023-4B92-BD16-BDEB23A1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9902" y="1288532"/>
              <a:ext cx="1264923" cy="91440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C4FF4F-BF3B-46F3-84FF-DBE243A61A7E}"/>
                  </a:ext>
                </a:extLst>
              </p:cNvPr>
              <p:cNvSpPr/>
              <p:nvPr/>
            </p:nvSpPr>
            <p:spPr>
              <a:xfrm>
                <a:off x="4683595" y="1242790"/>
                <a:ext cx="2416431" cy="1275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sz="2000" dirty="0" err="1"/>
                  <a:t>n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2.7</a:t>
                </a:r>
              </a:p>
              <a:p>
                <a:pPr algn="ctr"/>
                <a:r>
                  <a:rPr lang="en-US" sz="2000" dirty="0" err="1"/>
                  <a:t>ε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n</a:t>
                </a:r>
                <a:r>
                  <a:rPr lang="en-US" sz="2000" baseline="-25000" dirty="0"/>
                  <a:t>b</a:t>
                </a:r>
                <a:r>
                  <a:rPr lang="en-US" sz="2000" baseline="30000" dirty="0"/>
                  <a:t>2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C4FF4F-BF3B-46F3-84FF-DBE243A61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95" y="1242790"/>
                <a:ext cx="2416431" cy="1275349"/>
              </a:xfrm>
              <a:prstGeom prst="rect">
                <a:avLst/>
              </a:prstGeom>
              <a:blipFill>
                <a:blip r:embed="rId7"/>
                <a:stretch>
                  <a:fillRect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5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3487F18-D627-454F-8D82-9DAFAA75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353" y="75050"/>
            <a:ext cx="4154503" cy="3353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76DA30-7DCB-4352-BFE3-D610C092B690}"/>
                  </a:ext>
                </a:extLst>
              </p:cNvPr>
              <p:cNvSpPr txBox="1"/>
              <p:nvPr/>
            </p:nvSpPr>
            <p:spPr>
              <a:xfrm>
                <a:off x="7528696" y="215617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76DA30-7DCB-4352-BFE3-D610C092B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696" y="215617"/>
                <a:ext cx="3323859" cy="9396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C3CD106-9245-4616-8411-F386FFA81BD0}"/>
                  </a:ext>
                </a:extLst>
              </p:cNvPr>
              <p:cNvSpPr/>
              <p:nvPr/>
            </p:nvSpPr>
            <p:spPr>
              <a:xfrm>
                <a:off x="7982409" y="1274879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C3CD106-9245-4616-8411-F386FFA81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09" y="1274879"/>
                <a:ext cx="2416431" cy="6836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E4DE70-BEC5-4DDF-BE01-AC2861330845}"/>
                  </a:ext>
                </a:extLst>
              </p:cNvPr>
              <p:cNvSpPr txBox="1"/>
              <p:nvPr/>
            </p:nvSpPr>
            <p:spPr>
              <a:xfrm>
                <a:off x="7982409" y="2747379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E4DE70-BEC5-4DDF-BE01-AC2861330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09" y="2747379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2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689F7B-0FD2-4F00-B811-F6547305F324}"/>
                  </a:ext>
                </a:extLst>
              </p:cNvPr>
              <p:cNvSpPr txBox="1"/>
              <p:nvPr/>
            </p:nvSpPr>
            <p:spPr>
              <a:xfrm>
                <a:off x="7982409" y="2221660"/>
                <a:ext cx="2558714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689F7B-0FD2-4F00-B811-F6547305F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09" y="2221660"/>
                <a:ext cx="2558714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ADE3BB8-6925-412C-B3BC-FC9F272574CA}"/>
              </a:ext>
            </a:extLst>
          </p:cNvPr>
          <p:cNvSpPr/>
          <p:nvPr/>
        </p:nvSpPr>
        <p:spPr>
          <a:xfrm>
            <a:off x="8539993" y="4122719"/>
            <a:ext cx="35075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enhancement happens for large A &amp; small x</a:t>
            </a:r>
            <a:r>
              <a:rPr lang="en-US" baseline="-25000" dirty="0"/>
              <a:t>0, </a:t>
            </a:r>
            <a:r>
              <a:rPr lang="en-US" dirty="0"/>
              <a:t>but </a:t>
            </a:r>
            <a:r>
              <a:rPr lang="en-US" dirty="0" err="1"/>
              <a:t>FoM</a:t>
            </a:r>
            <a:r>
              <a:rPr lang="en-US" dirty="0"/>
              <a:t> is terrible there (too lossy)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Regions of good absolute </a:t>
            </a:r>
            <a:r>
              <a:rPr lang="en-US" dirty="0" err="1"/>
              <a:t>FoMs</a:t>
            </a:r>
            <a:r>
              <a:rPr lang="en-US" dirty="0"/>
              <a:t> show low enhancement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5C9B53-91DC-43AE-94DF-BB3DA49905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7605" y="3566160"/>
            <a:ext cx="4081678" cy="3291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4F3E5B-B72F-4E7D-81BC-29D3D52152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515" y="3566160"/>
            <a:ext cx="3959380" cy="329184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5979CAB-537E-44CE-8F62-953ECB85C009}"/>
              </a:ext>
            </a:extLst>
          </p:cNvPr>
          <p:cNvSpPr/>
          <p:nvPr/>
        </p:nvSpPr>
        <p:spPr>
          <a:xfrm>
            <a:off x="2888411" y="2839674"/>
            <a:ext cx="45719" cy="46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6F9C61-FCF9-4130-B779-A121C415FF80}"/>
              </a:ext>
            </a:extLst>
          </p:cNvPr>
          <p:cNvCxnSpPr>
            <a:cxnSpLocks/>
          </p:cNvCxnSpPr>
          <p:nvPr/>
        </p:nvCxnSpPr>
        <p:spPr>
          <a:xfrm flipV="1">
            <a:off x="2397975" y="2886514"/>
            <a:ext cx="490436" cy="6066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3D0A25-336E-469C-B75A-2615882F11CC}"/>
              </a:ext>
            </a:extLst>
          </p:cNvPr>
          <p:cNvCxnSpPr>
            <a:cxnSpLocks/>
          </p:cNvCxnSpPr>
          <p:nvPr/>
        </p:nvCxnSpPr>
        <p:spPr>
          <a:xfrm flipH="1" flipV="1">
            <a:off x="3195587" y="313348"/>
            <a:ext cx="3437875" cy="32528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ECE8C41-A948-47FD-9973-78A874023E64}"/>
              </a:ext>
            </a:extLst>
          </p:cNvPr>
          <p:cNvSpPr/>
          <p:nvPr/>
        </p:nvSpPr>
        <p:spPr>
          <a:xfrm>
            <a:off x="3149868" y="266508"/>
            <a:ext cx="45719" cy="468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1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02F6EE1-1F88-0D42-487D-627DB96184A6}"/>
              </a:ext>
            </a:extLst>
          </p:cNvPr>
          <p:cNvGrpSpPr>
            <a:grpSpLocks noChangeAspect="1"/>
          </p:cNvGrpSpPr>
          <p:nvPr/>
        </p:nvGrpSpPr>
        <p:grpSpPr>
          <a:xfrm>
            <a:off x="6196969" y="1725471"/>
            <a:ext cx="3933876" cy="3288015"/>
            <a:chOff x="1231826" y="877636"/>
            <a:chExt cx="4893621" cy="40901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FB6744-46E8-A10C-4A51-6BFD452DB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1826" y="877636"/>
              <a:ext cx="4893621" cy="409019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528EFF-D8DC-D427-F3F4-452391CC29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94" t="4388" r="5346" b="4472"/>
            <a:stretch>
              <a:fillRect/>
            </a:stretch>
          </p:blipFill>
          <p:spPr>
            <a:xfrm>
              <a:off x="4784388" y="2660976"/>
              <a:ext cx="1176299" cy="159598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CB88C5-227C-B560-D5FC-1AAFCBACDB65}"/>
              </a:ext>
            </a:extLst>
          </p:cNvPr>
          <p:cNvGrpSpPr>
            <a:grpSpLocks noChangeAspect="1"/>
          </p:cNvGrpSpPr>
          <p:nvPr/>
        </p:nvGrpSpPr>
        <p:grpSpPr>
          <a:xfrm>
            <a:off x="1565032" y="1725470"/>
            <a:ext cx="3842541" cy="3288015"/>
            <a:chOff x="6096000" y="993701"/>
            <a:chExt cx="4725153" cy="404325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F24287-4220-8446-A5A8-B779CB0A8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993701"/>
              <a:ext cx="4725153" cy="404325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FEDA87-2BA7-46E8-563D-829727BA9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287" t="4647" r="6126" b="4647"/>
            <a:stretch>
              <a:fillRect/>
            </a:stretch>
          </p:blipFill>
          <p:spPr>
            <a:xfrm>
              <a:off x="9442750" y="2530476"/>
              <a:ext cx="1210458" cy="1797047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4C6BFB9-5B0E-B3C4-8064-DF5A8E4D461E}"/>
              </a:ext>
            </a:extLst>
          </p:cNvPr>
          <p:cNvSpPr txBox="1"/>
          <p:nvPr/>
        </p:nvSpPr>
        <p:spPr>
          <a:xfrm>
            <a:off x="676984" y="169661"/>
            <a:ext cx="1083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Sweep specific A or x</a:t>
            </a:r>
            <a:r>
              <a:rPr lang="en-US" baseline="-25000" dirty="0"/>
              <a:t>0</a:t>
            </a:r>
            <a:r>
              <a:rPr lang="en-US" dirty="0"/>
              <a:t> values so that maximum number of </a:t>
            </a:r>
            <a:r>
              <a:rPr lang="en-US" dirty="0" err="1"/>
              <a:t>sKK</a:t>
            </a:r>
            <a:r>
              <a:rPr lang="en-US" dirty="0"/>
              <a:t> stacks addable fully replaces bulk material: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9F4D38-9CFD-A66F-D86F-4BBBCC1584CA}"/>
              </a:ext>
            </a:extLst>
          </p:cNvPr>
          <p:cNvSpPr/>
          <p:nvPr/>
        </p:nvSpPr>
        <p:spPr>
          <a:xfrm>
            <a:off x="1186101" y="817866"/>
            <a:ext cx="3933877" cy="5789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045A33-CB56-71F5-131C-D95E53569645}"/>
              </a:ext>
            </a:extLst>
          </p:cNvPr>
          <p:cNvGrpSpPr>
            <a:grpSpLocks noChangeAspect="1"/>
          </p:cNvGrpSpPr>
          <p:nvPr/>
        </p:nvGrpSpPr>
        <p:grpSpPr>
          <a:xfrm>
            <a:off x="6961371" y="817866"/>
            <a:ext cx="4044528" cy="582652"/>
            <a:chOff x="5935912" y="895373"/>
            <a:chExt cx="4044528" cy="58265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81D5D6-7064-B34C-2B83-F9E1ED7C6E7B}"/>
                </a:ext>
              </a:extLst>
            </p:cNvPr>
            <p:cNvSpPr/>
            <p:nvPr/>
          </p:nvSpPr>
          <p:spPr>
            <a:xfrm>
              <a:off x="6947044" y="899108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829D96B-1E50-3FB6-73E7-013E870085B9}"/>
                </a:ext>
              </a:extLst>
            </p:cNvPr>
            <p:cNvSpPr/>
            <p:nvPr/>
          </p:nvSpPr>
          <p:spPr>
            <a:xfrm>
              <a:off x="5935912" y="895374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054372-CBBA-8471-02A3-32921652748C}"/>
                </a:ext>
              </a:extLst>
            </p:cNvPr>
            <p:cNvSpPr/>
            <p:nvPr/>
          </p:nvSpPr>
          <p:spPr>
            <a:xfrm>
              <a:off x="7958176" y="895375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C7F1B59-4FB5-A427-C5F1-144CEB6878A4}"/>
                </a:ext>
              </a:extLst>
            </p:cNvPr>
            <p:cNvSpPr/>
            <p:nvPr/>
          </p:nvSpPr>
          <p:spPr>
            <a:xfrm>
              <a:off x="8974178" y="895373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597C64-BFF1-1945-B9F4-E9B3B25BE4FB}"/>
              </a:ext>
            </a:extLst>
          </p:cNvPr>
          <p:cNvCxnSpPr/>
          <p:nvPr/>
        </p:nvCxnSpPr>
        <p:spPr>
          <a:xfrm>
            <a:off x="5632118" y="1107324"/>
            <a:ext cx="7502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E77C81C-0A53-0750-FB55-DAD655902A36}"/>
              </a:ext>
            </a:extLst>
          </p:cNvPr>
          <p:cNvSpPr txBox="1"/>
          <p:nvPr/>
        </p:nvSpPr>
        <p:spPr>
          <a:xfrm>
            <a:off x="588246" y="5116615"/>
            <a:ext cx="108380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Both amplitude sweep and width sweep show that maximum asymmetry is achieved when all losses are built into a single KK stack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Focusing losses into a thinner region (large A, small x</a:t>
            </a:r>
            <a:r>
              <a:rPr lang="en-US" baseline="-25000" dirty="0"/>
              <a:t>0</a:t>
            </a:r>
            <a:r>
              <a:rPr lang="en-US" dirty="0"/>
              <a:t>) yields larger asymmetry compared to spreading out losses (small A, large 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6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16CBB7-40C2-DD17-5ACE-701F02514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8A8E3-C8A1-086D-082C-6C1305AF9ED5}"/>
              </a:ext>
            </a:extLst>
          </p:cNvPr>
          <p:cNvSpPr txBox="1"/>
          <p:nvPr/>
        </p:nvSpPr>
        <p:spPr>
          <a:xfrm>
            <a:off x="10249932" y="890041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A3FD7-D79D-99B1-C027-56D1652E134A}"/>
              </a:ext>
            </a:extLst>
          </p:cNvPr>
          <p:cNvSpPr txBox="1"/>
          <p:nvPr/>
        </p:nvSpPr>
        <p:spPr>
          <a:xfrm>
            <a:off x="851419" y="643212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R</a:t>
            </a:r>
            <a:r>
              <a:rPr lang="en-US" b="1" baseline="-25000" dirty="0" err="1"/>
              <a:t>back</a:t>
            </a:r>
            <a:r>
              <a:rPr lang="en-US" b="1" dirty="0"/>
              <a:t>=0.01, A=0.25, </a:t>
            </a:r>
            <a:r>
              <a:rPr lang="en-US" b="1" dirty="0">
                <a:highlight>
                  <a:srgbClr val="FFFF00"/>
                </a:highlight>
              </a:rPr>
              <a:t>noise=0.01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13C97-E83E-3854-F519-C3330C3096BA}"/>
              </a:ext>
            </a:extLst>
          </p:cNvPr>
          <p:cNvSpPr txBox="1"/>
          <p:nvPr/>
        </p:nvSpPr>
        <p:spPr>
          <a:xfrm>
            <a:off x="103382" y="163840"/>
            <a:ext cx="676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=0.001um s-KK Coating (ellipsometry)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DCBD3-9FF9-6C1F-340D-7B9DE1E3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462" y="3205577"/>
            <a:ext cx="3894806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5B632-19A6-9CC6-9929-9611B702A3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8257" y="3192876"/>
            <a:ext cx="3894806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09DBD3-A7B5-451C-0847-C75D08A1E970}"/>
              </a:ext>
            </a:extLst>
          </p:cNvPr>
          <p:cNvSpPr txBox="1"/>
          <p:nvPr/>
        </p:nvSpPr>
        <p:spPr>
          <a:xfrm>
            <a:off x="5176031" y="643212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R</a:t>
            </a:r>
            <a:r>
              <a:rPr lang="en-US" b="1" baseline="-25000" dirty="0" err="1"/>
              <a:t>back</a:t>
            </a:r>
            <a:r>
              <a:rPr lang="en-US" b="1" dirty="0"/>
              <a:t>=0.05, A=0.05, </a:t>
            </a:r>
            <a:r>
              <a:rPr lang="en-US" b="1" dirty="0">
                <a:highlight>
                  <a:srgbClr val="FFFF00"/>
                </a:highlight>
              </a:rPr>
              <a:t>noise=0.05</a:t>
            </a:r>
            <a:r>
              <a:rPr lang="en-US" b="1" dirty="0"/>
              <a:t> </a:t>
            </a:r>
            <a:endParaRPr lang="en-US" b="1" baseline="-25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6C587C-8F23-19A5-44A0-465EFEC0DAF0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4BFA27-7862-4B9A-A0F3-5A135450FBF4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AEF622-9DDF-708C-94DD-07AD2BA6B644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51D847C-462B-EE27-90E0-E849A95781DD}"/>
              </a:ext>
            </a:extLst>
          </p:cNvPr>
          <p:cNvGrpSpPr/>
          <p:nvPr/>
        </p:nvGrpSpPr>
        <p:grpSpPr>
          <a:xfrm>
            <a:off x="4908287" y="734325"/>
            <a:ext cx="3194746" cy="2458550"/>
            <a:chOff x="8653052" y="4068669"/>
            <a:chExt cx="3194746" cy="245855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5122A65-5CDF-27D8-1663-2923A61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653052" y="4068669"/>
              <a:ext cx="3194746" cy="245855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3CB200-B143-4D84-3D5B-2663EEDDCCF5}"/>
                </a:ext>
              </a:extLst>
            </p:cNvPr>
            <p:cNvSpPr/>
            <p:nvPr/>
          </p:nvSpPr>
          <p:spPr>
            <a:xfrm>
              <a:off x="9042400" y="4094576"/>
              <a:ext cx="1144032" cy="20869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5442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40D8EB-C8B6-B172-934B-8AF0414E54FC}"/>
                </a:ext>
              </a:extLst>
            </p:cNvPr>
            <p:cNvSpPr/>
            <p:nvPr/>
          </p:nvSpPr>
          <p:spPr>
            <a:xfrm>
              <a:off x="10540346" y="4094576"/>
              <a:ext cx="1144033" cy="20869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5442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45894F6-AE98-20A6-53CA-55695E1513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96" t="21333" r="5249" b="22181"/>
          <a:stretch>
            <a:fillRect/>
          </a:stretch>
        </p:blipFill>
        <p:spPr>
          <a:xfrm>
            <a:off x="4147331" y="6266807"/>
            <a:ext cx="1028700" cy="534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876EDD-D864-7E0C-378D-B3B132F0EB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165" y="734325"/>
            <a:ext cx="2903399" cy="2458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10EDAF-45FC-275E-5581-E7CB7A60B925}"/>
              </a:ext>
            </a:extLst>
          </p:cNvPr>
          <p:cNvSpPr txBox="1"/>
          <p:nvPr/>
        </p:nvSpPr>
        <p:spPr>
          <a:xfrm>
            <a:off x="8653052" y="2286000"/>
            <a:ext cx="3355209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HT coating increases absorption, but reduces backside reflections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Next step: rigorous comparison between HT coating and GRIN coating over angles and wavelengths (is there a significant advantage?)</a:t>
            </a:r>
          </a:p>
        </p:txBody>
      </p:sp>
    </p:spTree>
    <p:extLst>
      <p:ext uri="{BB962C8B-B14F-4D97-AF65-F5344CB8AC3E}">
        <p14:creationId xmlns:p14="http://schemas.microsoft.com/office/powerpoint/2010/main" val="1067850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330</Words>
  <Application>Microsoft Macintosh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1</cp:revision>
  <dcterms:created xsi:type="dcterms:W3CDTF">2026-01-12T18:29:48Z</dcterms:created>
  <dcterms:modified xsi:type="dcterms:W3CDTF">2026-01-13T00:18:38Z</dcterms:modified>
</cp:coreProperties>
</file>