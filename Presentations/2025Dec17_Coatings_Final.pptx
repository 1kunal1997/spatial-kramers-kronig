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7" r:id="rId4"/>
    <p:sldId id="268" r:id="rId5"/>
    <p:sldId id="266" r:id="rId6"/>
    <p:sldId id="269" r:id="rId7"/>
    <p:sldId id="270" r:id="rId8"/>
    <p:sldId id="271" r:id="rId9"/>
    <p:sldId id="272" r:id="rId10"/>
    <p:sldId id="273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2"/>
  </p:normalViewPr>
  <p:slideViewPr>
    <p:cSldViewPr snapToGrid="0">
      <p:cViewPr varScale="1">
        <p:scale>
          <a:sx n="100" d="100"/>
          <a:sy n="10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48681-1CEE-EE77-123D-2574D78F1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F2E13-71C2-0FB9-FB2E-0B986D380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FE0FF-5718-BD6D-2F54-0D2AF508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4D0B-6D6A-2943-8E2F-599D1F2B448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AEA93-E534-0164-D8E4-137170606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80C4B-60D2-DBBE-C7B3-E6146BD1D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CC8B-F62F-CA41-87F1-0AA34EB47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5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74E99-A143-87FC-17FF-F075286C8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994EF-FB34-3B8B-789E-D4CF18768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3EA95-C9E0-2D09-F93B-43A99A4DE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4D0B-6D6A-2943-8E2F-599D1F2B448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31901-204B-A938-7729-276286C08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4FED7-8570-F9F6-8C65-E20A3B689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CC8B-F62F-CA41-87F1-0AA34EB47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0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84E17-FAF3-735D-C321-2E1AADAF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91414-E085-C7A6-BC6A-31CD842FF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36DF4-5381-29AB-4B65-352A9037D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4D0B-6D6A-2943-8E2F-599D1F2B448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2FA0F-8665-D7A8-00E6-A5471DA1D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E08F0-044B-948B-1943-F8776FEBE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CC8B-F62F-CA41-87F1-0AA34EB47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2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C694-ED43-DDD0-B2A4-CD63CB6B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81A5C-54D6-C309-4EE3-45892740C9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FDA20-4CC3-95F0-9FB1-A0E15EB1F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97070-E889-6063-0332-7EC460923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4D0B-6D6A-2943-8E2F-599D1F2B448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53259-86F9-31F7-C58A-3CDAF0FF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4C043-A86A-6F41-A9E1-FF3D34D18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CC8B-F62F-CA41-87F1-0AA34EB47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1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A6588-DCAB-0877-FA62-4F2918438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8CE57-A2FE-1B62-987F-90BD2A3DC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B9DFD-5FDA-54B2-F140-E047D3664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6A76B-30DB-6152-1084-EBC12C31E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80496-BD54-D996-7642-8E6385CFA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6519A6-500D-BE43-453A-FA84C990F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4D0B-6D6A-2943-8E2F-599D1F2B448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CB585D-2CA2-F210-6357-4460E6B4B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1A096-95BA-E4DF-1C00-21551A6F6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CC8B-F62F-CA41-87F1-0AA34EB47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02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8A0E8-5FAF-AFCD-B462-F40BDB9A7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BF42D-C46C-3186-7F9B-5F0563013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4D0B-6D6A-2943-8E2F-599D1F2B448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C5C447-67DF-4A2A-CC56-8218F03B6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34FABA-F32F-A5EA-08F8-7C0BA7A39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CC8B-F62F-CA41-87F1-0AA34EB47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99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17592E-10D3-DA05-CC7A-51E33A087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4D0B-6D6A-2943-8E2F-599D1F2B448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8CC4B3-107A-0FF8-3500-26926AA7B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B102F-4146-9F3A-A690-AE5F787D8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CC8B-F62F-CA41-87F1-0AA34EB47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26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640E-CAD3-37B0-80C3-FE799FD25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1F9D1-F938-2E0D-F2E8-A888D3F27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51AA2-5790-B3F0-84B7-97A193148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22DA6-EB1E-5211-77B3-12ED1999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4D0B-6D6A-2943-8E2F-599D1F2B448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6E57E-A212-05D9-F965-41A5321B2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9C1A6-130D-6D26-5ECA-30628B77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CC8B-F62F-CA41-87F1-0AA34EB47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49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C882-1ED1-07FC-45A4-64D97DD05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455F20-A608-1825-E812-5C5DBA928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82224-8891-07ED-047D-71F5D9896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5ABED-878A-5D02-DA8D-6355EDE0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4D0B-6D6A-2943-8E2F-599D1F2B448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9A2B2-BAF5-CA73-3390-F16D9D61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7E18B-E603-348A-6044-3370CB67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CC8B-F62F-CA41-87F1-0AA34EB47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97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49853-D86E-6C2C-4192-8CDDBD0C5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36735-B599-3BF5-CFA8-EDB679690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0275B-3F63-F9A5-F34A-B6E41268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4D0B-6D6A-2943-8E2F-599D1F2B448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F3176-99F8-3D73-21ED-69FCFBB3B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06789-31BD-2D94-1E33-EB569213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CC8B-F62F-CA41-87F1-0AA34EB47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71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217762-E61F-8120-0100-5AAC7C5984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83ECB-958A-AEB9-C898-228E2C776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481FD-5C54-345C-F06A-6A02D699B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4D0B-6D6A-2943-8E2F-599D1F2B448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8D55A-14F5-C7AB-EC1F-F3788B510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0E86-A51E-4E64-29DA-A497D11E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CC8B-F62F-CA41-87F1-0AA34EB47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06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02B7E1-679E-2958-4782-455F1225F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7D6B8-C92E-A5D5-0B31-20788560B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B9C48-1486-075F-FFE6-84EC3EE5D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E4D0B-6D6A-2943-8E2F-599D1F2B448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DB1D9-FD4D-1CA9-1204-EFBE1CEDE4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6BE05-B5A0-C6B0-FF07-434825587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ECC8B-F62F-CA41-87F1-0AA34EB47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68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EF720-3E36-81C1-2057-4B3EC5983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77" y="102079"/>
            <a:ext cx="10515600" cy="549274"/>
          </a:xfrm>
        </p:spPr>
        <p:txBody>
          <a:bodyPr>
            <a:noAutofit/>
          </a:bodyPr>
          <a:lstStyle/>
          <a:p>
            <a:r>
              <a:rPr lang="en-US" sz="2400" dirty="0"/>
              <a:t>How can a spatial </a:t>
            </a:r>
            <a:r>
              <a:rPr lang="en-US" sz="2400" dirty="0" err="1"/>
              <a:t>Kramers</a:t>
            </a:r>
            <a:r>
              <a:rPr lang="en-US" sz="2400" dirty="0"/>
              <a:t>–</a:t>
            </a:r>
            <a:r>
              <a:rPr lang="en-US" sz="2400" dirty="0" err="1"/>
              <a:t>Kronig</a:t>
            </a:r>
            <a:r>
              <a:rPr lang="en-US" sz="2400" dirty="0"/>
              <a:t> coating help?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7724CDD-0FB1-B971-1D17-CB379E3D250E}"/>
              </a:ext>
            </a:extLst>
          </p:cNvPr>
          <p:cNvGrpSpPr>
            <a:grpSpLocks noChangeAspect="1"/>
          </p:cNvGrpSpPr>
          <p:nvPr/>
        </p:nvGrpSpPr>
        <p:grpSpPr>
          <a:xfrm>
            <a:off x="5966666" y="1535354"/>
            <a:ext cx="3408912" cy="1052186"/>
            <a:chOff x="1853852" y="1240077"/>
            <a:chExt cx="3327748" cy="102713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944F7A8-C36B-FF91-C276-CC1AB2082467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08897A9-94D3-6CD1-A1F8-301867A13A50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6EAE3B4-4712-3831-A7C4-902484B1467D}"/>
              </a:ext>
            </a:extLst>
          </p:cNvPr>
          <p:cNvSpPr txBox="1"/>
          <p:nvPr/>
        </p:nvSpPr>
        <p:spPr>
          <a:xfrm>
            <a:off x="7081482" y="1121995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window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9B1C0D-4DFC-0DF0-7F0E-49FB75F80E68}"/>
              </a:ext>
            </a:extLst>
          </p:cNvPr>
          <p:cNvSpPr txBox="1"/>
          <p:nvPr/>
        </p:nvSpPr>
        <p:spPr>
          <a:xfrm>
            <a:off x="8631521" y="1121995"/>
            <a:ext cx="92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coating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D4E46A-EA0F-9B62-8689-15C661604582}"/>
              </a:ext>
            </a:extLst>
          </p:cNvPr>
          <p:cNvCxnSpPr/>
          <p:nvPr/>
        </p:nvCxnSpPr>
        <p:spPr>
          <a:xfrm>
            <a:off x="4438491" y="1710718"/>
            <a:ext cx="122755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6D2B10E-E8B8-2609-DA58-7019353C67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 rot="10800000">
            <a:off x="2950979" y="1810927"/>
            <a:ext cx="1052370" cy="96450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90CFB2-3B62-505B-1E22-316AF288FE76}"/>
              </a:ext>
            </a:extLst>
          </p:cNvPr>
          <p:cNvCxnSpPr>
            <a:cxnSpLocks/>
          </p:cNvCxnSpPr>
          <p:nvPr/>
        </p:nvCxnSpPr>
        <p:spPr>
          <a:xfrm flipH="1">
            <a:off x="4762079" y="2293179"/>
            <a:ext cx="828806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9539916-07DD-A2FB-EBA2-596BF7CE21C6}"/>
              </a:ext>
            </a:extLst>
          </p:cNvPr>
          <p:cNvSpPr txBox="1"/>
          <p:nvPr/>
        </p:nvSpPr>
        <p:spPr>
          <a:xfrm>
            <a:off x="4653146" y="2321413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f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(signal)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B13A9C-5379-43DD-99F3-6DB26EFEACE3}"/>
              </a:ext>
            </a:extLst>
          </p:cNvPr>
          <p:cNvSpPr txBox="1"/>
          <p:nvPr/>
        </p:nvSpPr>
        <p:spPr>
          <a:xfrm>
            <a:off x="4866959" y="1738953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C5C477-377F-C376-F4B0-A7E4DBC10DA6}"/>
              </a:ext>
            </a:extLst>
          </p:cNvPr>
          <p:cNvCxnSpPr>
            <a:cxnSpLocks/>
          </p:cNvCxnSpPr>
          <p:nvPr/>
        </p:nvCxnSpPr>
        <p:spPr>
          <a:xfrm>
            <a:off x="7991707" y="1710718"/>
            <a:ext cx="689021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2E44BD-588B-CDCD-AE4D-3A927882DE5F}"/>
              </a:ext>
            </a:extLst>
          </p:cNvPr>
          <p:cNvSpPr txBox="1"/>
          <p:nvPr/>
        </p:nvSpPr>
        <p:spPr>
          <a:xfrm>
            <a:off x="8173352" y="175474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FBE2DC-DFDA-9022-F00A-3773D4891E8E}"/>
              </a:ext>
            </a:extLst>
          </p:cNvPr>
          <p:cNvCxnSpPr>
            <a:cxnSpLocks/>
          </p:cNvCxnSpPr>
          <p:nvPr/>
        </p:nvCxnSpPr>
        <p:spPr>
          <a:xfrm flipH="1">
            <a:off x="8096643" y="2218208"/>
            <a:ext cx="535068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D51AF97-5AAB-3EDC-D92F-2E919DA5193D}"/>
              </a:ext>
            </a:extLst>
          </p:cNvPr>
          <p:cNvSpPr txBox="1"/>
          <p:nvPr/>
        </p:nvSpPr>
        <p:spPr>
          <a:xfrm>
            <a:off x="7801508" y="2218208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(noise)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78CB87-9B66-00BE-EDD5-C6BADEE99D8E}"/>
              </a:ext>
            </a:extLst>
          </p:cNvPr>
          <p:cNvSpPr txBox="1"/>
          <p:nvPr/>
        </p:nvSpPr>
        <p:spPr>
          <a:xfrm>
            <a:off x="296579" y="1212188"/>
            <a:ext cx="2984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1. Coating behind window (e.g. ellipsometry)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986545F-86D2-E15C-980D-D66B69C0F762}"/>
              </a:ext>
            </a:extLst>
          </p:cNvPr>
          <p:cNvCxnSpPr>
            <a:cxnSpLocks/>
          </p:cNvCxnSpPr>
          <p:nvPr/>
        </p:nvCxnSpPr>
        <p:spPr>
          <a:xfrm>
            <a:off x="330820" y="3429000"/>
            <a:ext cx="1153036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5A3F4AD-7CF6-C2F1-FE10-1BA60C95BFC6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4824140" y="4326168"/>
            <a:ext cx="3408912" cy="1052186"/>
            <a:chOff x="1853852" y="1240077"/>
            <a:chExt cx="3327748" cy="102713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ADDF7B2-7C5A-55D4-E836-C4734878B39A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E72D3D1-1D86-1544-280E-CF1CDDA7495A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9C9AFB6-5DA6-ED65-5E70-ED3E7A8E2B5E}"/>
              </a:ext>
            </a:extLst>
          </p:cNvPr>
          <p:cNvSpPr txBox="1"/>
          <p:nvPr/>
        </p:nvSpPr>
        <p:spPr>
          <a:xfrm>
            <a:off x="6198415" y="3901434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window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04B35F-98AD-ABFC-DB07-982A16D2711A}"/>
              </a:ext>
            </a:extLst>
          </p:cNvPr>
          <p:cNvSpPr txBox="1"/>
          <p:nvPr/>
        </p:nvSpPr>
        <p:spPr>
          <a:xfrm>
            <a:off x="4636249" y="3901434"/>
            <a:ext cx="92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coating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522D1C0-99E0-88BC-053D-FFB89694E239}"/>
              </a:ext>
            </a:extLst>
          </p:cNvPr>
          <p:cNvCxnSpPr/>
          <p:nvPr/>
        </p:nvCxnSpPr>
        <p:spPr>
          <a:xfrm>
            <a:off x="3334065" y="4819032"/>
            <a:ext cx="122755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A9F9E52A-2016-F7B9-52AF-9196C8AA15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>
            <a:off x="9525763" y="4416847"/>
            <a:ext cx="1052370" cy="96450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03D4EBF-798D-39D5-A6D2-31A8C36D90D8}"/>
              </a:ext>
            </a:extLst>
          </p:cNvPr>
          <p:cNvSpPr txBox="1"/>
          <p:nvPr/>
        </p:nvSpPr>
        <p:spPr>
          <a:xfrm>
            <a:off x="3762533" y="4847267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2676E8-3B2D-C10F-DBBA-63DB747F654F}"/>
              </a:ext>
            </a:extLst>
          </p:cNvPr>
          <p:cNvSpPr txBox="1"/>
          <p:nvPr/>
        </p:nvSpPr>
        <p:spPr>
          <a:xfrm>
            <a:off x="296579" y="3989835"/>
            <a:ext cx="2984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2. Coating in front of window (e.g. TE detection)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9AC0243-2045-3D1D-8681-829EF609A435}"/>
                  </a:ext>
                </a:extLst>
              </p:cNvPr>
              <p:cNvSpPr txBox="1"/>
              <p:nvPr/>
            </p:nvSpPr>
            <p:spPr>
              <a:xfrm>
                <a:off x="10627387" y="1804357"/>
                <a:ext cx="752322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9AC0243-2045-3D1D-8681-829EF609A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7387" y="1804357"/>
                <a:ext cx="752322" cy="523157"/>
              </a:xfrm>
              <a:prstGeom prst="rect">
                <a:avLst/>
              </a:prstGeom>
              <a:blipFill>
                <a:blip r:embed="rId3"/>
                <a:stretch>
                  <a:fillRect l="-6557" t="-2381" r="-1639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8437FC59-F739-7A2D-DF5E-130E3F2EFB57}"/>
              </a:ext>
            </a:extLst>
          </p:cNvPr>
          <p:cNvSpPr txBox="1"/>
          <p:nvPr/>
        </p:nvSpPr>
        <p:spPr>
          <a:xfrm>
            <a:off x="9905266" y="1882738"/>
            <a:ext cx="722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FOM: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C2EA381-8C80-5407-76E4-F5E878E04A33}"/>
              </a:ext>
            </a:extLst>
          </p:cNvPr>
          <p:cNvCxnSpPr>
            <a:cxnSpLocks/>
          </p:cNvCxnSpPr>
          <p:nvPr/>
        </p:nvCxnSpPr>
        <p:spPr>
          <a:xfrm>
            <a:off x="8418908" y="4649333"/>
            <a:ext cx="518468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CFD9023-7BB4-A03C-4EE4-2825FDE6F1BD}"/>
              </a:ext>
            </a:extLst>
          </p:cNvPr>
          <p:cNvSpPr txBox="1"/>
          <p:nvPr/>
        </p:nvSpPr>
        <p:spPr>
          <a:xfrm>
            <a:off x="8522496" y="4671059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endParaRPr lang="en-US" baseline="-250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87166AA-A335-A85D-17B7-15855E60ED7D}"/>
              </a:ext>
            </a:extLst>
          </p:cNvPr>
          <p:cNvCxnSpPr>
            <a:cxnSpLocks/>
          </p:cNvCxnSpPr>
          <p:nvPr/>
        </p:nvCxnSpPr>
        <p:spPr>
          <a:xfrm flipH="1">
            <a:off x="8105598" y="2775432"/>
            <a:ext cx="53506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E52844A-5915-D140-A0D4-33A2B1CD0DA4}"/>
              </a:ext>
            </a:extLst>
          </p:cNvPr>
          <p:cNvSpPr txBox="1"/>
          <p:nvPr/>
        </p:nvSpPr>
        <p:spPr>
          <a:xfrm>
            <a:off x="7834829" y="2793847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ε</a:t>
            </a:r>
            <a:r>
              <a:rPr lang="en-US" baseline="-25000" dirty="0">
                <a:solidFill>
                  <a:srgbClr val="FF0000"/>
                </a:solidFill>
              </a:rPr>
              <a:t>b</a:t>
            </a:r>
            <a:r>
              <a:rPr lang="en-US" dirty="0">
                <a:solidFill>
                  <a:srgbClr val="FF0000"/>
                </a:solidFill>
              </a:rPr>
              <a:t> (noise)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2461CE0-E9B4-EE75-0068-F38826024B67}"/>
              </a:ext>
            </a:extLst>
          </p:cNvPr>
          <p:cNvCxnSpPr>
            <a:cxnSpLocks/>
          </p:cNvCxnSpPr>
          <p:nvPr/>
        </p:nvCxnSpPr>
        <p:spPr>
          <a:xfrm>
            <a:off x="8581927" y="5094656"/>
            <a:ext cx="37327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7B094AD-79C6-D3AD-21DA-8BF451137B74}"/>
              </a:ext>
            </a:extLst>
          </p:cNvPr>
          <p:cNvSpPr txBox="1"/>
          <p:nvPr/>
        </p:nvSpPr>
        <p:spPr>
          <a:xfrm>
            <a:off x="8233052" y="5062116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ε</a:t>
            </a:r>
            <a:r>
              <a:rPr lang="en-US" dirty="0">
                <a:solidFill>
                  <a:srgbClr val="FF0000"/>
                </a:solidFill>
              </a:rPr>
              <a:t> (noise)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CCEB2EB-9827-18AA-9522-B05D8A7AEC3A}"/>
                  </a:ext>
                </a:extLst>
              </p:cNvPr>
              <p:cNvSpPr txBox="1"/>
              <p:nvPr/>
            </p:nvSpPr>
            <p:spPr>
              <a:xfrm>
                <a:off x="1735792" y="5001143"/>
                <a:ext cx="189411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CCEB2EB-9827-18AA-9522-B05D8A7AE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792" y="5001143"/>
                <a:ext cx="189411" cy="518540"/>
              </a:xfrm>
              <a:prstGeom prst="rect">
                <a:avLst/>
              </a:prstGeom>
              <a:blipFill>
                <a:blip r:embed="rId4"/>
                <a:stretch>
                  <a:fillRect l="-25000" r="-25000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1D051635-9EA0-748E-DD08-BEED691DC0A9}"/>
              </a:ext>
            </a:extLst>
          </p:cNvPr>
          <p:cNvSpPr txBox="1"/>
          <p:nvPr/>
        </p:nvSpPr>
        <p:spPr>
          <a:xfrm>
            <a:off x="1032925" y="5078056"/>
            <a:ext cx="722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FOM:</a:t>
            </a:r>
          </a:p>
        </p:txBody>
      </p:sp>
    </p:spTree>
    <p:extLst>
      <p:ext uri="{BB962C8B-B14F-4D97-AF65-F5344CB8AC3E}">
        <p14:creationId xmlns:p14="http://schemas.microsoft.com/office/powerpoint/2010/main" val="3272090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9B18F77-A725-E9BF-F486-04115EC12411}"/>
              </a:ext>
            </a:extLst>
          </p:cNvPr>
          <p:cNvGrpSpPr>
            <a:grpSpLocks noChangeAspect="1"/>
          </p:cNvGrpSpPr>
          <p:nvPr/>
        </p:nvGrpSpPr>
        <p:grpSpPr>
          <a:xfrm>
            <a:off x="8888328" y="823204"/>
            <a:ext cx="2582674" cy="1529703"/>
            <a:chOff x="5424015" y="1237785"/>
            <a:chExt cx="3351235" cy="1984917"/>
          </a:xfrm>
        </p:grpSpPr>
        <p:pic>
          <p:nvPicPr>
            <p:cNvPr id="4" name="Google Shape;89;p1">
              <a:extLst>
                <a:ext uri="{FF2B5EF4-FFF2-40B4-BE49-F238E27FC236}">
                  <a16:creationId xmlns:a16="http://schemas.microsoft.com/office/drawing/2014/main" id="{3A9D7ABA-0996-FDC5-C412-99FE2DB0EB64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424015" y="1242426"/>
              <a:ext cx="3351235" cy="19802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AE7D453-015C-6CB4-0A05-48DFB680D30D}"/>
                </a:ext>
              </a:extLst>
            </p:cNvPr>
            <p:cNvSpPr/>
            <p:nvPr/>
          </p:nvSpPr>
          <p:spPr>
            <a:xfrm>
              <a:off x="5507277" y="1237785"/>
              <a:ext cx="1373025" cy="196261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shade val="30000"/>
                <a:satMod val="115000"/>
                <a:alpha val="7355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D99E9F-C014-3DE3-93DC-C73E2355A0F6}"/>
                </a:ext>
              </a:extLst>
            </p:cNvPr>
            <p:cNvSpPr/>
            <p:nvPr/>
          </p:nvSpPr>
          <p:spPr>
            <a:xfrm>
              <a:off x="7304049" y="1251256"/>
              <a:ext cx="1471201" cy="196261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shade val="30000"/>
                <a:satMod val="115000"/>
                <a:alpha val="7355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768286D-23A1-8636-A995-D1C8DA556AA8}"/>
              </a:ext>
            </a:extLst>
          </p:cNvPr>
          <p:cNvGrpSpPr>
            <a:grpSpLocks noChangeAspect="1"/>
          </p:cNvGrpSpPr>
          <p:nvPr/>
        </p:nvGrpSpPr>
        <p:grpSpPr>
          <a:xfrm>
            <a:off x="8911358" y="3123597"/>
            <a:ext cx="2559644" cy="1512517"/>
            <a:chOff x="6658084" y="3524709"/>
            <a:chExt cx="3351236" cy="1980276"/>
          </a:xfrm>
        </p:grpSpPr>
        <p:pic>
          <p:nvPicPr>
            <p:cNvPr id="7" name="Google Shape;89;p1">
              <a:extLst>
                <a:ext uri="{FF2B5EF4-FFF2-40B4-BE49-F238E27FC236}">
                  <a16:creationId xmlns:a16="http://schemas.microsoft.com/office/drawing/2014/main" id="{48AFE446-E74A-4186-AFA3-73F14F63361A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658084" y="3524709"/>
              <a:ext cx="3351235" cy="19802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70D16A7-CBE4-DF77-F8C2-70D94FA97569}"/>
                </a:ext>
              </a:extLst>
            </p:cNvPr>
            <p:cNvSpPr/>
            <p:nvPr/>
          </p:nvSpPr>
          <p:spPr>
            <a:xfrm>
              <a:off x="8218450" y="3533539"/>
              <a:ext cx="1790870" cy="196261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shade val="30000"/>
                <a:satMod val="115000"/>
                <a:alpha val="7355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829069B-092C-6192-ED8C-23034BAD027E}"/>
              </a:ext>
            </a:extLst>
          </p:cNvPr>
          <p:cNvSpPr txBox="1"/>
          <p:nvPr/>
        </p:nvSpPr>
        <p:spPr>
          <a:xfrm>
            <a:off x="607465" y="980798"/>
            <a:ext cx="508039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dirty="0"/>
              <a:t>Use different portions of KK profile for coating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dirty="0"/>
              <a:t>Compare FOM of </a:t>
            </a:r>
            <a:r>
              <a:rPr lang="en-US" dirty="0" err="1"/>
              <a:t>sKK</a:t>
            </a:r>
            <a:r>
              <a:rPr lang="en-US" dirty="0"/>
              <a:t> coating and AR coating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dirty="0"/>
              <a:t>Intuition: </a:t>
            </a:r>
            <a:r>
              <a:rPr lang="en-US" dirty="0" err="1"/>
              <a:t>sKK</a:t>
            </a:r>
            <a:r>
              <a:rPr lang="en-US" dirty="0"/>
              <a:t> coating will not help (trading reflection for absorption, not transmission) 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120F1FE-584E-BAE7-13CF-69922B766D6E}"/>
              </a:ext>
            </a:extLst>
          </p:cNvPr>
          <p:cNvGrpSpPr>
            <a:grpSpLocks noChangeAspect="1"/>
          </p:cNvGrpSpPr>
          <p:nvPr/>
        </p:nvGrpSpPr>
        <p:grpSpPr>
          <a:xfrm>
            <a:off x="1531252" y="2668642"/>
            <a:ext cx="3973815" cy="3315990"/>
            <a:chOff x="327188" y="3558360"/>
            <a:chExt cx="4782752" cy="3991016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4E5E3C53-3FC1-59DA-2208-DC735CEB5D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188" y="3558360"/>
              <a:ext cx="4782752" cy="39910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9564B26F-9671-EF99-490F-C511BAA763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9502" y="4404732"/>
              <a:ext cx="1108274" cy="1579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73944658-1523-35C0-1E64-8CAA63C8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77" y="102079"/>
            <a:ext cx="10515600" cy="549274"/>
          </a:xfrm>
        </p:spPr>
        <p:txBody>
          <a:bodyPr>
            <a:noAutofit/>
          </a:bodyPr>
          <a:lstStyle/>
          <a:p>
            <a:r>
              <a:rPr lang="en-US" sz="2400" dirty="0"/>
              <a:t>Plan and Intuition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BFE05D-104C-2B72-0E96-A3970F67E99C}"/>
              </a:ext>
            </a:extLst>
          </p:cNvPr>
          <p:cNvGrpSpPr>
            <a:grpSpLocks noChangeAspect="1"/>
          </p:cNvGrpSpPr>
          <p:nvPr/>
        </p:nvGrpSpPr>
        <p:grpSpPr>
          <a:xfrm>
            <a:off x="6356194" y="1360642"/>
            <a:ext cx="2108788" cy="650893"/>
            <a:chOff x="1853852" y="1240077"/>
            <a:chExt cx="3327748" cy="102713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C788239-DB26-5853-386D-CD232D3CB2E0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1824AA-7502-12B5-D925-964DD04AD811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FCC44EC-7524-1BE2-BBD1-15C7DE01CEF8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6356194" y="3554408"/>
            <a:ext cx="2108788" cy="650893"/>
            <a:chOff x="1853852" y="1240077"/>
            <a:chExt cx="3327748" cy="102713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5BF005E-537B-0EA6-5C7C-B214AF25995F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5820D08-4685-EB6D-6554-F22D64FBDFC9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3782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9041560-A8E2-0259-08DA-474D84077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148" y="1196086"/>
            <a:ext cx="4672852" cy="38966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61C215-4552-0520-AE9B-43703E194D4D}"/>
              </a:ext>
            </a:extLst>
          </p:cNvPr>
          <p:cNvSpPr txBox="1">
            <a:spLocks/>
          </p:cNvSpPr>
          <p:nvPr/>
        </p:nvSpPr>
        <p:spPr>
          <a:xfrm>
            <a:off x="249477" y="203679"/>
            <a:ext cx="10515600" cy="54927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Optical Response of 5mm Bulk Sapphire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3456F4-11E8-C8B0-FA83-6C23527B9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350" y="596900"/>
            <a:ext cx="3474740" cy="2832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5E83E9-4F99-3677-A804-407632D5B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350" y="3593652"/>
            <a:ext cx="3472726" cy="29980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FDAD12-1699-B790-FA9E-EF21E72124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0" y="2324100"/>
            <a:ext cx="11430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996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7228E-FDC9-7BE2-8C00-B2338C369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D74B3-5BA8-0D8B-34F6-79A845FC71A4}"/>
              </a:ext>
            </a:extLst>
          </p:cNvPr>
          <p:cNvSpPr txBox="1">
            <a:spLocks/>
          </p:cNvSpPr>
          <p:nvPr/>
        </p:nvSpPr>
        <p:spPr>
          <a:xfrm>
            <a:off x="249477" y="203679"/>
            <a:ext cx="10515600" cy="54927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Optical Response of 5mm Bulk Sapphire (Angle Dependence)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347F34-6E6D-1D52-7366-EAD4986E9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48" y="3656227"/>
            <a:ext cx="3492503" cy="29980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C110C2-D2E0-D00D-7B64-5180029AA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163" y="3656228"/>
            <a:ext cx="3492501" cy="29980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C851EC-0735-C31A-80F4-1202E958B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162" y="650666"/>
            <a:ext cx="3492502" cy="29980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0B1A8E-F77D-9D35-D97C-C53EA77E7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48" y="650667"/>
            <a:ext cx="3492502" cy="29980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DCE455-C4F8-C825-1D78-0257A67D53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9848" y="3143248"/>
            <a:ext cx="11430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07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D16CBB7-40C2-DD17-5ACE-701F025147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 rot="10800000">
            <a:off x="8515871" y="22738"/>
            <a:ext cx="1052370" cy="9645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88A8E3-C8A1-086D-082C-6C1305AF9ED5}"/>
              </a:ext>
            </a:extLst>
          </p:cNvPr>
          <p:cNvSpPr txBox="1"/>
          <p:nvPr/>
        </p:nvSpPr>
        <p:spPr>
          <a:xfrm>
            <a:off x="9785173" y="93799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noise = R</a:t>
            </a:r>
            <a:r>
              <a:rPr lang="en-US" b="1" baseline="-25000" dirty="0"/>
              <a:t>b</a:t>
            </a:r>
            <a:r>
              <a:rPr lang="en-US" b="1" dirty="0"/>
              <a:t> + A</a:t>
            </a:r>
            <a:r>
              <a:rPr lang="en-US" b="1" baseline="-25000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A3FD7-D79D-99B1-C027-56D1652E134A}"/>
              </a:ext>
            </a:extLst>
          </p:cNvPr>
          <p:cNvSpPr txBox="1"/>
          <p:nvPr/>
        </p:nvSpPr>
        <p:spPr>
          <a:xfrm>
            <a:off x="1085452" y="4710668"/>
            <a:ext cx="3150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</a:t>
            </a:r>
            <a:r>
              <a:rPr lang="en-US" b="1" baseline="-25000" dirty="0"/>
              <a:t>b</a:t>
            </a:r>
            <a:r>
              <a:rPr lang="en-US" b="1" dirty="0"/>
              <a:t>=0.05, A</a:t>
            </a:r>
            <a:r>
              <a:rPr lang="en-US" b="1" baseline="-25000" dirty="0"/>
              <a:t>b</a:t>
            </a:r>
            <a:r>
              <a:rPr lang="en-US" b="1" dirty="0"/>
              <a:t>=0.05, </a:t>
            </a:r>
            <a:r>
              <a:rPr lang="en-US" b="1" dirty="0">
                <a:highlight>
                  <a:srgbClr val="FFFF00"/>
                </a:highlight>
              </a:rPr>
              <a:t>noise=0.1 </a:t>
            </a:r>
            <a:endParaRPr lang="en-US" b="1" baseline="-25000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313C97-E83E-3854-F519-C3330C3096BA}"/>
              </a:ext>
            </a:extLst>
          </p:cNvPr>
          <p:cNvSpPr txBox="1"/>
          <p:nvPr/>
        </p:nvSpPr>
        <p:spPr>
          <a:xfrm>
            <a:off x="103382" y="163840"/>
            <a:ext cx="6767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1. With x</a:t>
            </a:r>
            <a:r>
              <a:rPr lang="en-US" sz="2400" b="1" baseline="-25000" dirty="0"/>
              <a:t>0</a:t>
            </a:r>
            <a:r>
              <a:rPr lang="en-US" sz="2400" b="1" dirty="0"/>
              <a:t>=0.01um s-KK Coating (ellipsometry)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4DCBD3-9FF9-6C1F-340D-7B9DE1E33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62" y="1478377"/>
            <a:ext cx="3894807" cy="3239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D5B632-19A6-9CC6-9929-9611B702A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257" y="1465676"/>
            <a:ext cx="3894807" cy="32392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09DBD3-A7B5-451C-0847-C75D08A1E970}"/>
              </a:ext>
            </a:extLst>
          </p:cNvPr>
          <p:cNvSpPr txBox="1"/>
          <p:nvPr/>
        </p:nvSpPr>
        <p:spPr>
          <a:xfrm>
            <a:off x="5176031" y="4704921"/>
            <a:ext cx="3060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</a:t>
            </a:r>
            <a:r>
              <a:rPr lang="en-US" b="1" baseline="-25000" dirty="0"/>
              <a:t>b</a:t>
            </a:r>
            <a:r>
              <a:rPr lang="en-US" b="1" dirty="0"/>
              <a:t>=0.04, A</a:t>
            </a:r>
            <a:r>
              <a:rPr lang="en-US" b="1" baseline="-25000" dirty="0"/>
              <a:t>b</a:t>
            </a:r>
            <a:r>
              <a:rPr lang="en-US" b="1" dirty="0"/>
              <a:t>=0.1, </a:t>
            </a:r>
            <a:r>
              <a:rPr lang="en-US" b="1" dirty="0">
                <a:highlight>
                  <a:srgbClr val="FFFF00"/>
                </a:highlight>
              </a:rPr>
              <a:t>noise=0.14</a:t>
            </a:r>
            <a:r>
              <a:rPr lang="en-US" b="1" dirty="0"/>
              <a:t> </a:t>
            </a:r>
            <a:endParaRPr lang="en-US" b="1" baseline="-25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7BCB7A-47C3-F856-FA6D-AE68CCD3D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0971" y="1465677"/>
            <a:ext cx="3194745" cy="24932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122A65-5CDF-27D8-1663-2923A61798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3052" y="4051299"/>
            <a:ext cx="3194746" cy="249329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C99983E-CEEE-AFE4-7847-FFD7F6A7446D}"/>
              </a:ext>
            </a:extLst>
          </p:cNvPr>
          <p:cNvSpPr txBox="1"/>
          <p:nvPr/>
        </p:nvSpPr>
        <p:spPr>
          <a:xfrm>
            <a:off x="463462" y="5545092"/>
            <a:ext cx="8226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coating slightly decreases R</a:t>
            </a:r>
            <a:r>
              <a:rPr lang="en-US" baseline="-25000" dirty="0"/>
              <a:t>b</a:t>
            </a:r>
            <a:r>
              <a:rPr lang="en-US" dirty="0"/>
              <a:t> but increases E</a:t>
            </a:r>
            <a:r>
              <a:rPr lang="en-US" baseline="-25000" dirty="0"/>
              <a:t>b</a:t>
            </a:r>
            <a:r>
              <a:rPr lang="en-US" dirty="0"/>
              <a:t>, causing overall noise to increase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C69BEF-AC9B-1B95-B94C-81569534C3AA}"/>
              </a:ext>
            </a:extLst>
          </p:cNvPr>
          <p:cNvSpPr/>
          <p:nvPr/>
        </p:nvSpPr>
        <p:spPr>
          <a:xfrm>
            <a:off x="9105900" y="1503776"/>
            <a:ext cx="1144032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0965A9-6DFC-7939-FB01-6CE74AF67427}"/>
              </a:ext>
            </a:extLst>
          </p:cNvPr>
          <p:cNvSpPr/>
          <p:nvPr/>
        </p:nvSpPr>
        <p:spPr>
          <a:xfrm>
            <a:off x="10603846" y="1503776"/>
            <a:ext cx="1144033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6C587C-8F23-19A5-44A0-465EFEC0DAF0}"/>
              </a:ext>
            </a:extLst>
          </p:cNvPr>
          <p:cNvGrpSpPr>
            <a:grpSpLocks noChangeAspect="1"/>
          </p:cNvGrpSpPr>
          <p:nvPr/>
        </p:nvGrpSpPr>
        <p:grpSpPr>
          <a:xfrm>
            <a:off x="9899473" y="179542"/>
            <a:ext cx="2108788" cy="650893"/>
            <a:chOff x="1853852" y="1240077"/>
            <a:chExt cx="3327748" cy="102713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64BFA27-7862-4B9A-A0F3-5A135450FBF4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7AEF622-9DDF-708C-94DD-07AD2BA6B644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333CB200-B143-4D84-3D5B-2663EEDDCCF5}"/>
              </a:ext>
            </a:extLst>
          </p:cNvPr>
          <p:cNvSpPr/>
          <p:nvPr/>
        </p:nvSpPr>
        <p:spPr>
          <a:xfrm>
            <a:off x="9080500" y="4094576"/>
            <a:ext cx="1144032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40D8EB-C8B6-B172-934B-8AF0414E54FC}"/>
              </a:ext>
            </a:extLst>
          </p:cNvPr>
          <p:cNvSpPr/>
          <p:nvPr/>
        </p:nvSpPr>
        <p:spPr>
          <a:xfrm>
            <a:off x="10578446" y="4094576"/>
            <a:ext cx="1144033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4536A0D-AB99-AB7C-2805-1792B2A69C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8399" y="4451491"/>
            <a:ext cx="1135271" cy="94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50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C2636-73D5-2DD1-F297-262E4361A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C906D0D-5464-6BB9-C75C-927E6D7162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 rot="10800000">
            <a:off x="8515871" y="22738"/>
            <a:ext cx="1052370" cy="9645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A22E72-039D-4C15-F53C-07F89510DA39}"/>
              </a:ext>
            </a:extLst>
          </p:cNvPr>
          <p:cNvSpPr txBox="1"/>
          <p:nvPr/>
        </p:nvSpPr>
        <p:spPr>
          <a:xfrm>
            <a:off x="9785173" y="93799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noise = R</a:t>
            </a:r>
            <a:r>
              <a:rPr lang="en-US" b="1" baseline="-25000" dirty="0"/>
              <a:t>b</a:t>
            </a:r>
            <a:r>
              <a:rPr lang="en-US" b="1" dirty="0"/>
              <a:t> + E</a:t>
            </a:r>
            <a:r>
              <a:rPr lang="en-US" b="1" baseline="-25000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5D0498-CB32-0CA0-A454-E3C4C909096D}"/>
              </a:ext>
            </a:extLst>
          </p:cNvPr>
          <p:cNvSpPr txBox="1"/>
          <p:nvPr/>
        </p:nvSpPr>
        <p:spPr>
          <a:xfrm>
            <a:off x="1085452" y="4710668"/>
            <a:ext cx="3150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</a:t>
            </a:r>
            <a:r>
              <a:rPr lang="en-US" b="1" baseline="-25000" dirty="0"/>
              <a:t>b</a:t>
            </a:r>
            <a:r>
              <a:rPr lang="en-US" b="1" dirty="0"/>
              <a:t>=0.05, E</a:t>
            </a:r>
            <a:r>
              <a:rPr lang="en-US" b="1" baseline="-25000" dirty="0"/>
              <a:t>b</a:t>
            </a:r>
            <a:r>
              <a:rPr lang="en-US" b="1" dirty="0"/>
              <a:t>=0.05, </a:t>
            </a:r>
            <a:r>
              <a:rPr lang="en-US" b="1" dirty="0">
                <a:highlight>
                  <a:srgbClr val="FFFF00"/>
                </a:highlight>
              </a:rPr>
              <a:t>noise=0.1 </a:t>
            </a:r>
            <a:endParaRPr lang="en-US" b="1" baseline="-25000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A24667-E8F1-B2C5-E0E6-19DC7A21EBE9}"/>
              </a:ext>
            </a:extLst>
          </p:cNvPr>
          <p:cNvSpPr txBox="1"/>
          <p:nvPr/>
        </p:nvSpPr>
        <p:spPr>
          <a:xfrm>
            <a:off x="103382" y="163840"/>
            <a:ext cx="6437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1. With x</a:t>
            </a:r>
            <a:r>
              <a:rPr lang="en-US" sz="2400" b="1" baseline="-25000" dirty="0"/>
              <a:t>0</a:t>
            </a:r>
            <a:r>
              <a:rPr lang="en-US" sz="2400" b="1" dirty="0"/>
              <a:t>=1um, 10% </a:t>
            </a:r>
            <a:r>
              <a:rPr lang="en-US" sz="2400" b="1" dirty="0" err="1"/>
              <a:t>Im</a:t>
            </a:r>
            <a:r>
              <a:rPr lang="en-US" sz="2400" b="1" dirty="0"/>
              <a:t>(n) s-KK Coating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6C8F98-BB58-AB35-4845-1F41B3C16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62" y="1465677"/>
            <a:ext cx="3894807" cy="3239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6A4DAF-35A6-98E1-00E8-F4F548D152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8257" y="1465676"/>
            <a:ext cx="3894806" cy="32392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1AD7D5-E601-6489-2074-AD5D77101546}"/>
              </a:ext>
            </a:extLst>
          </p:cNvPr>
          <p:cNvSpPr txBox="1"/>
          <p:nvPr/>
        </p:nvSpPr>
        <p:spPr>
          <a:xfrm>
            <a:off x="5176031" y="4704921"/>
            <a:ext cx="286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</a:t>
            </a:r>
            <a:r>
              <a:rPr lang="en-US" b="1" baseline="-25000" dirty="0"/>
              <a:t>b</a:t>
            </a:r>
            <a:r>
              <a:rPr lang="en-US" b="1" dirty="0"/>
              <a:t>=0, E</a:t>
            </a:r>
            <a:r>
              <a:rPr lang="en-US" b="1" baseline="-25000" dirty="0"/>
              <a:t>b</a:t>
            </a:r>
            <a:r>
              <a:rPr lang="en-US" b="1" dirty="0"/>
              <a:t>=0.37, </a:t>
            </a:r>
            <a:r>
              <a:rPr lang="en-US" b="1" dirty="0">
                <a:highlight>
                  <a:srgbClr val="FFFF00"/>
                </a:highlight>
              </a:rPr>
              <a:t>noise=0.37</a:t>
            </a:r>
            <a:r>
              <a:rPr lang="en-US" b="1" dirty="0"/>
              <a:t> </a:t>
            </a:r>
            <a:endParaRPr lang="en-US" b="1" baseline="-25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205399C-08E7-68AB-B32A-D20BA2ECE1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707015" y="1465677"/>
            <a:ext cx="3142656" cy="24932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012C54C-7478-E9C6-F344-CA94E3330BE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79096" y="4051299"/>
            <a:ext cx="3142657" cy="249329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C91F327-FADB-1CED-5E57-48785E5F8A7C}"/>
              </a:ext>
            </a:extLst>
          </p:cNvPr>
          <p:cNvSpPr txBox="1"/>
          <p:nvPr/>
        </p:nvSpPr>
        <p:spPr>
          <a:xfrm>
            <a:off x="1339698" y="5392323"/>
            <a:ext cx="6437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thicker coating layers eliminate R</a:t>
            </a:r>
            <a:r>
              <a:rPr lang="en-US" baseline="-25000" dirty="0"/>
              <a:t>b</a:t>
            </a:r>
            <a:r>
              <a:rPr lang="en-US" dirty="0"/>
              <a:t> but increase E</a:t>
            </a:r>
            <a:r>
              <a:rPr lang="en-US" baseline="-25000" dirty="0"/>
              <a:t>b </a:t>
            </a:r>
            <a:r>
              <a:rPr lang="en-US" dirty="0"/>
              <a:t>significantly, even when 10% </a:t>
            </a:r>
            <a:r>
              <a:rPr lang="en-US" dirty="0" err="1"/>
              <a:t>Im</a:t>
            </a:r>
            <a:r>
              <a:rPr lang="en-US" dirty="0"/>
              <a:t>(n) used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6917A7-0422-986A-533B-713F376BBE5E}"/>
              </a:ext>
            </a:extLst>
          </p:cNvPr>
          <p:cNvSpPr/>
          <p:nvPr/>
        </p:nvSpPr>
        <p:spPr>
          <a:xfrm>
            <a:off x="9105900" y="1503776"/>
            <a:ext cx="1144032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CFAE28-B4E8-A01E-15B7-4C0F6908B51F}"/>
              </a:ext>
            </a:extLst>
          </p:cNvPr>
          <p:cNvSpPr/>
          <p:nvPr/>
        </p:nvSpPr>
        <p:spPr>
          <a:xfrm>
            <a:off x="10603846" y="1503776"/>
            <a:ext cx="1144033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539DF26-FA9B-D311-C9E3-69F6B448D19B}"/>
              </a:ext>
            </a:extLst>
          </p:cNvPr>
          <p:cNvGrpSpPr>
            <a:grpSpLocks noChangeAspect="1"/>
          </p:cNvGrpSpPr>
          <p:nvPr/>
        </p:nvGrpSpPr>
        <p:grpSpPr>
          <a:xfrm>
            <a:off x="9899473" y="179542"/>
            <a:ext cx="2108788" cy="650893"/>
            <a:chOff x="1853852" y="1240077"/>
            <a:chExt cx="3327748" cy="102713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5C5AC1F-5B04-8CEB-F129-21F613255208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FA23F5E-58E5-D118-7D78-F7D45BE8D9B4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9C8B7B48-2B8A-E4E2-AD42-00D8C1CFAC42}"/>
              </a:ext>
            </a:extLst>
          </p:cNvPr>
          <p:cNvSpPr/>
          <p:nvPr/>
        </p:nvSpPr>
        <p:spPr>
          <a:xfrm>
            <a:off x="9080500" y="4094576"/>
            <a:ext cx="1144032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0A4BFC-40CC-6C9A-3572-E7B1CA5A8CD6}"/>
              </a:ext>
            </a:extLst>
          </p:cNvPr>
          <p:cNvSpPr/>
          <p:nvPr/>
        </p:nvSpPr>
        <p:spPr>
          <a:xfrm>
            <a:off x="10578446" y="4094576"/>
            <a:ext cx="1144033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96BB44-CF09-1C01-3820-20F487CCF1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8399" y="4451491"/>
            <a:ext cx="1135271" cy="94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21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146B-C17A-9D37-ED3E-7BF9E407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25356EF-376A-4A27-2100-686B855DEB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 rot="10800000">
            <a:off x="8515871" y="22738"/>
            <a:ext cx="1052370" cy="9645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8571EE-606E-B2D5-019A-4F579DA36F48}"/>
              </a:ext>
            </a:extLst>
          </p:cNvPr>
          <p:cNvSpPr txBox="1"/>
          <p:nvPr/>
        </p:nvSpPr>
        <p:spPr>
          <a:xfrm>
            <a:off x="9785173" y="93799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noise = R</a:t>
            </a:r>
            <a:r>
              <a:rPr lang="en-US" b="1" baseline="-25000" dirty="0"/>
              <a:t>b</a:t>
            </a:r>
            <a:r>
              <a:rPr lang="en-US" b="1" dirty="0"/>
              <a:t> + E</a:t>
            </a:r>
            <a:r>
              <a:rPr lang="en-US" b="1" baseline="-25000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BCD279-356E-7ACE-A038-FA082D15B31F}"/>
              </a:ext>
            </a:extLst>
          </p:cNvPr>
          <p:cNvSpPr txBox="1"/>
          <p:nvPr/>
        </p:nvSpPr>
        <p:spPr>
          <a:xfrm>
            <a:off x="1085452" y="4710668"/>
            <a:ext cx="3150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</a:t>
            </a:r>
            <a:r>
              <a:rPr lang="en-US" b="1" baseline="-25000" dirty="0"/>
              <a:t>b</a:t>
            </a:r>
            <a:r>
              <a:rPr lang="en-US" b="1" dirty="0"/>
              <a:t>=0.05, E</a:t>
            </a:r>
            <a:r>
              <a:rPr lang="en-US" b="1" baseline="-25000" dirty="0"/>
              <a:t>b</a:t>
            </a:r>
            <a:r>
              <a:rPr lang="en-US" b="1" dirty="0"/>
              <a:t>=0.05, </a:t>
            </a:r>
            <a:r>
              <a:rPr lang="en-US" b="1" dirty="0">
                <a:highlight>
                  <a:srgbClr val="FFFF00"/>
                </a:highlight>
              </a:rPr>
              <a:t>noise=0.1 </a:t>
            </a:r>
            <a:endParaRPr lang="en-US" b="1" baseline="-25000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4321DA-30D1-76B4-D1C0-417B10AED347}"/>
              </a:ext>
            </a:extLst>
          </p:cNvPr>
          <p:cNvSpPr txBox="1"/>
          <p:nvPr/>
        </p:nvSpPr>
        <p:spPr>
          <a:xfrm>
            <a:off x="103382" y="163840"/>
            <a:ext cx="6437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1. With x</a:t>
            </a:r>
            <a:r>
              <a:rPr lang="en-US" sz="2400" b="1" baseline="-25000" dirty="0"/>
              <a:t>0</a:t>
            </a:r>
            <a:r>
              <a:rPr lang="en-US" sz="2400" b="1" dirty="0"/>
              <a:t>=1um, 1% </a:t>
            </a:r>
            <a:r>
              <a:rPr lang="en-US" sz="2400" b="1" dirty="0" err="1"/>
              <a:t>Im</a:t>
            </a:r>
            <a:r>
              <a:rPr lang="en-US" sz="2400" b="1" dirty="0"/>
              <a:t>(n) s-KK Coating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AE95F2-71B1-B103-987F-C05F9DED6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62" y="1465677"/>
            <a:ext cx="3894807" cy="3239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CDD4FF-2454-688F-2286-9730727EA8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93096" y="1502249"/>
            <a:ext cx="3894806" cy="3166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7F5852-8665-BA45-AA7B-2F42FFB2B850}"/>
              </a:ext>
            </a:extLst>
          </p:cNvPr>
          <p:cNvSpPr txBox="1"/>
          <p:nvPr/>
        </p:nvSpPr>
        <p:spPr>
          <a:xfrm>
            <a:off x="5176031" y="4704921"/>
            <a:ext cx="3114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</a:t>
            </a:r>
            <a:r>
              <a:rPr lang="en-US" b="1" baseline="-25000" dirty="0"/>
              <a:t>b</a:t>
            </a:r>
            <a:r>
              <a:rPr lang="en-US" b="1" dirty="0"/>
              <a:t>=0, E</a:t>
            </a:r>
            <a:r>
              <a:rPr lang="en-US" b="1" baseline="-25000" dirty="0"/>
              <a:t>b</a:t>
            </a:r>
            <a:r>
              <a:rPr lang="en-US" b="1" dirty="0"/>
              <a:t>=0.087, </a:t>
            </a:r>
            <a:r>
              <a:rPr lang="en-US" b="1" dirty="0">
                <a:highlight>
                  <a:srgbClr val="FFFF00"/>
                </a:highlight>
              </a:rPr>
              <a:t>noise=0.087</a:t>
            </a:r>
            <a:r>
              <a:rPr lang="en-US" b="1" dirty="0"/>
              <a:t> </a:t>
            </a:r>
            <a:endParaRPr lang="en-US" b="1" baseline="-25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F9C33A6-AF44-7C23-1969-128BE599D0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707015" y="1465677"/>
            <a:ext cx="3142656" cy="24932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72FE4B-9045-AFFB-ED18-395DF841CC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79096" y="4051299"/>
            <a:ext cx="3142657" cy="249329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E07E380-7210-7C33-F89B-9425DF6246EF}"/>
              </a:ext>
            </a:extLst>
          </p:cNvPr>
          <p:cNvSpPr txBox="1"/>
          <p:nvPr/>
        </p:nvSpPr>
        <p:spPr>
          <a:xfrm>
            <a:off x="1339698" y="5392323"/>
            <a:ext cx="6437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1% </a:t>
            </a:r>
            <a:r>
              <a:rPr lang="en-US" dirty="0" err="1"/>
              <a:t>Im</a:t>
            </a:r>
            <a:r>
              <a:rPr lang="en-US" dirty="0"/>
              <a:t>(n), noise is lower, showing that traditional GRIN coating is better than coating with losses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659B38-6EEE-17FF-58F6-E979469ED467}"/>
              </a:ext>
            </a:extLst>
          </p:cNvPr>
          <p:cNvSpPr/>
          <p:nvPr/>
        </p:nvSpPr>
        <p:spPr>
          <a:xfrm>
            <a:off x="9105900" y="1503776"/>
            <a:ext cx="1144032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D78B94-CA57-5D8B-F3F1-604C734555B0}"/>
              </a:ext>
            </a:extLst>
          </p:cNvPr>
          <p:cNvSpPr/>
          <p:nvPr/>
        </p:nvSpPr>
        <p:spPr>
          <a:xfrm>
            <a:off x="10603846" y="1503776"/>
            <a:ext cx="1144033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753B7FC-5F60-7554-D0B0-890F27AB3524}"/>
              </a:ext>
            </a:extLst>
          </p:cNvPr>
          <p:cNvGrpSpPr>
            <a:grpSpLocks noChangeAspect="1"/>
          </p:cNvGrpSpPr>
          <p:nvPr/>
        </p:nvGrpSpPr>
        <p:grpSpPr>
          <a:xfrm>
            <a:off x="9899473" y="179542"/>
            <a:ext cx="2108788" cy="650893"/>
            <a:chOff x="1853852" y="1240077"/>
            <a:chExt cx="3327748" cy="102713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E1FF429-560B-E89E-EF48-B675884A6A72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6119E62-B58D-3FF9-93D5-5E33880B8CBE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E7B73536-1BC6-BA4E-0BBE-959BD58BFF11}"/>
              </a:ext>
            </a:extLst>
          </p:cNvPr>
          <p:cNvSpPr/>
          <p:nvPr/>
        </p:nvSpPr>
        <p:spPr>
          <a:xfrm>
            <a:off x="9080500" y="4094576"/>
            <a:ext cx="1144032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EC00E2-B5A8-298A-59E2-84D71DDDA5F8}"/>
              </a:ext>
            </a:extLst>
          </p:cNvPr>
          <p:cNvSpPr/>
          <p:nvPr/>
        </p:nvSpPr>
        <p:spPr>
          <a:xfrm>
            <a:off x="10578446" y="4094576"/>
            <a:ext cx="1144033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C37BF4-B95E-35B4-B72D-66464D7D24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8399" y="4451491"/>
            <a:ext cx="1135271" cy="94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82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E670D-BAA9-B165-4BF6-058B6EE15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B04396C-836E-3AE4-1A9D-28C8A96CC4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 rot="10800000">
            <a:off x="8515871" y="22738"/>
            <a:ext cx="1052370" cy="9645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F8DDB1D-573D-4ACD-4597-322660332F20}"/>
              </a:ext>
            </a:extLst>
          </p:cNvPr>
          <p:cNvSpPr txBox="1"/>
          <p:nvPr/>
        </p:nvSpPr>
        <p:spPr>
          <a:xfrm>
            <a:off x="9785173" y="93799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noise = R</a:t>
            </a:r>
            <a:r>
              <a:rPr lang="en-US" b="1" baseline="-25000" dirty="0"/>
              <a:t>b</a:t>
            </a:r>
            <a:r>
              <a:rPr lang="en-US" b="1" dirty="0"/>
              <a:t> + E</a:t>
            </a:r>
            <a:r>
              <a:rPr lang="en-US" b="1" baseline="-25000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6CB258-30BC-99CF-4D2C-AB63474E84A4}"/>
              </a:ext>
            </a:extLst>
          </p:cNvPr>
          <p:cNvSpPr txBox="1"/>
          <p:nvPr/>
        </p:nvSpPr>
        <p:spPr>
          <a:xfrm>
            <a:off x="1085452" y="4710668"/>
            <a:ext cx="3183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</a:t>
            </a:r>
            <a:r>
              <a:rPr lang="en-US" b="1" baseline="-25000" dirty="0"/>
              <a:t>b</a:t>
            </a:r>
            <a:r>
              <a:rPr lang="en-US" b="1" dirty="0"/>
              <a:t>=0.03, E</a:t>
            </a:r>
            <a:r>
              <a:rPr lang="en-US" b="1" baseline="-25000" dirty="0"/>
              <a:t>b</a:t>
            </a:r>
            <a:r>
              <a:rPr lang="en-US" b="1" dirty="0"/>
              <a:t>=0.38, </a:t>
            </a:r>
            <a:r>
              <a:rPr lang="en-US" b="1" dirty="0">
                <a:highlight>
                  <a:srgbClr val="FFFF00"/>
                </a:highlight>
              </a:rPr>
              <a:t>noise=0.41 </a:t>
            </a:r>
            <a:endParaRPr lang="en-US" b="1" baseline="-25000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FCAF3C-FE8F-DA95-8190-29ED54452697}"/>
              </a:ext>
            </a:extLst>
          </p:cNvPr>
          <p:cNvSpPr txBox="1"/>
          <p:nvPr/>
        </p:nvSpPr>
        <p:spPr>
          <a:xfrm>
            <a:off x="103382" y="163840"/>
            <a:ext cx="7249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1. Angle Dependence With x</a:t>
            </a:r>
            <a:r>
              <a:rPr lang="en-US" sz="2400" b="1" baseline="-25000" dirty="0"/>
              <a:t>0</a:t>
            </a:r>
            <a:r>
              <a:rPr lang="en-US" sz="2400" b="1" dirty="0"/>
              <a:t>=0.01um s-KK Coating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3F9EB6-C84D-96F4-F79B-217C9FFF33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4155" y="1465677"/>
            <a:ext cx="3773421" cy="3239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DAF67E-9F28-0585-7EB9-E08E5AB692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8950" y="1465676"/>
            <a:ext cx="3773421" cy="32392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2DC4B2-1398-EFA3-74EF-6CCFF58DA255}"/>
              </a:ext>
            </a:extLst>
          </p:cNvPr>
          <p:cNvSpPr txBox="1"/>
          <p:nvPr/>
        </p:nvSpPr>
        <p:spPr>
          <a:xfrm>
            <a:off x="5176031" y="4704921"/>
            <a:ext cx="3183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</a:t>
            </a:r>
            <a:r>
              <a:rPr lang="en-US" b="1" baseline="-25000" dirty="0"/>
              <a:t>b</a:t>
            </a:r>
            <a:r>
              <a:rPr lang="en-US" b="1" dirty="0"/>
              <a:t>=0.027, E</a:t>
            </a:r>
            <a:r>
              <a:rPr lang="en-US" b="1" baseline="-25000" dirty="0"/>
              <a:t>b</a:t>
            </a:r>
            <a:r>
              <a:rPr lang="en-US" b="1" dirty="0"/>
              <a:t>=0.4, </a:t>
            </a:r>
            <a:r>
              <a:rPr lang="en-US" b="1" dirty="0">
                <a:highlight>
                  <a:srgbClr val="FFFF00"/>
                </a:highlight>
              </a:rPr>
              <a:t>noise=0.42</a:t>
            </a:r>
            <a:r>
              <a:rPr lang="en-US" b="1" dirty="0"/>
              <a:t> </a:t>
            </a:r>
            <a:endParaRPr lang="en-US" b="1" baseline="-25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3AE2DA-EB75-C7D1-AA92-6DAE6F6B98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0971" y="1465677"/>
            <a:ext cx="3194745" cy="24932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1B6FAB7-F00C-D29D-366A-B63A2B8F51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3052" y="4051299"/>
            <a:ext cx="3194746" cy="249329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9499F0D-0C3D-8B79-BB16-F515E4E18751}"/>
              </a:ext>
            </a:extLst>
          </p:cNvPr>
          <p:cNvSpPr txBox="1"/>
          <p:nvPr/>
        </p:nvSpPr>
        <p:spPr>
          <a:xfrm>
            <a:off x="463463" y="5545092"/>
            <a:ext cx="7410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similar to wavelength dependence: coating slightly decreases R</a:t>
            </a:r>
            <a:r>
              <a:rPr lang="en-US" baseline="-25000" dirty="0"/>
              <a:t>b</a:t>
            </a:r>
            <a:r>
              <a:rPr lang="en-US" dirty="0"/>
              <a:t> but increases E</a:t>
            </a:r>
            <a:r>
              <a:rPr lang="en-US" baseline="-25000" dirty="0"/>
              <a:t>b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E5BB5C-80D4-312C-DE7C-81014E616BAF}"/>
              </a:ext>
            </a:extLst>
          </p:cNvPr>
          <p:cNvSpPr/>
          <p:nvPr/>
        </p:nvSpPr>
        <p:spPr>
          <a:xfrm>
            <a:off x="9105900" y="1503776"/>
            <a:ext cx="1144032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E3A6A4-1637-76EA-0F74-DD3F3F3E8B00}"/>
              </a:ext>
            </a:extLst>
          </p:cNvPr>
          <p:cNvSpPr/>
          <p:nvPr/>
        </p:nvSpPr>
        <p:spPr>
          <a:xfrm>
            <a:off x="10603846" y="1503776"/>
            <a:ext cx="1144033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16418C-B79E-F857-B419-6AD0EF319464}"/>
              </a:ext>
            </a:extLst>
          </p:cNvPr>
          <p:cNvGrpSpPr>
            <a:grpSpLocks noChangeAspect="1"/>
          </p:cNvGrpSpPr>
          <p:nvPr/>
        </p:nvGrpSpPr>
        <p:grpSpPr>
          <a:xfrm>
            <a:off x="9899473" y="179542"/>
            <a:ext cx="2108788" cy="650893"/>
            <a:chOff x="1853852" y="1240077"/>
            <a:chExt cx="3327748" cy="102713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8761F1C-CD50-D636-97B7-49E753944CE6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D85BADB-41F2-0049-55DF-5BD946C23B5A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986C1B5B-93E0-8E43-5122-4636B7B5F288}"/>
              </a:ext>
            </a:extLst>
          </p:cNvPr>
          <p:cNvSpPr/>
          <p:nvPr/>
        </p:nvSpPr>
        <p:spPr>
          <a:xfrm>
            <a:off x="9080500" y="4094576"/>
            <a:ext cx="1144032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CE1793-CA27-764B-6684-19BCD0E0226E}"/>
              </a:ext>
            </a:extLst>
          </p:cNvPr>
          <p:cNvSpPr/>
          <p:nvPr/>
        </p:nvSpPr>
        <p:spPr>
          <a:xfrm>
            <a:off x="10578446" y="4094576"/>
            <a:ext cx="1144033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5D72A2-F4D0-5F6F-9158-CE987F7251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8399" y="4451491"/>
            <a:ext cx="1135271" cy="94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751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5874-66B8-D439-7E23-A3FB52D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1FA810B-96E3-04A5-C1EA-2DFB586E2D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 rot="10800000">
            <a:off x="8515871" y="22738"/>
            <a:ext cx="1052370" cy="9645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E77EB3-8870-4A3A-0F73-37492490D0CA}"/>
              </a:ext>
            </a:extLst>
          </p:cNvPr>
          <p:cNvSpPr txBox="1"/>
          <p:nvPr/>
        </p:nvSpPr>
        <p:spPr>
          <a:xfrm>
            <a:off x="9785173" y="93799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noise = R</a:t>
            </a:r>
            <a:r>
              <a:rPr lang="en-US" b="1" baseline="-25000" dirty="0"/>
              <a:t>b</a:t>
            </a:r>
            <a:r>
              <a:rPr lang="en-US" b="1" dirty="0"/>
              <a:t> + E</a:t>
            </a:r>
            <a:r>
              <a:rPr lang="en-US" b="1" baseline="-25000" dirty="0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AEBA4E-F365-3510-E9E1-9661191FEA14}"/>
              </a:ext>
            </a:extLst>
          </p:cNvPr>
          <p:cNvSpPr txBox="1"/>
          <p:nvPr/>
        </p:nvSpPr>
        <p:spPr>
          <a:xfrm>
            <a:off x="103382" y="163840"/>
            <a:ext cx="6437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1. With x</a:t>
            </a:r>
            <a:r>
              <a:rPr lang="en-US" sz="2400" b="1" baseline="-25000" dirty="0"/>
              <a:t>0</a:t>
            </a:r>
            <a:r>
              <a:rPr lang="en-US" sz="2400" b="1" dirty="0"/>
              <a:t>=1um, 10% </a:t>
            </a:r>
            <a:r>
              <a:rPr lang="en-US" sz="2400" b="1" dirty="0" err="1"/>
              <a:t>Im</a:t>
            </a:r>
            <a:r>
              <a:rPr lang="en-US" sz="2400" b="1" dirty="0"/>
              <a:t>(n) s-KK Coating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D5B2F1-3C75-B64C-5173-DFF5EE1368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8949" y="1465676"/>
            <a:ext cx="3773421" cy="32392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89F1F2-E358-213D-ECB1-956B4B033991}"/>
              </a:ext>
            </a:extLst>
          </p:cNvPr>
          <p:cNvSpPr txBox="1"/>
          <p:nvPr/>
        </p:nvSpPr>
        <p:spPr>
          <a:xfrm>
            <a:off x="5176031" y="4704921"/>
            <a:ext cx="3060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</a:t>
            </a:r>
            <a:r>
              <a:rPr lang="en-US" b="1" baseline="-25000" dirty="0"/>
              <a:t>b</a:t>
            </a:r>
            <a:r>
              <a:rPr lang="en-US" b="1" dirty="0"/>
              <a:t>=0.003, E</a:t>
            </a:r>
            <a:r>
              <a:rPr lang="en-US" b="1" baseline="-25000" dirty="0"/>
              <a:t>b</a:t>
            </a:r>
            <a:r>
              <a:rPr lang="en-US" b="1" dirty="0"/>
              <a:t>=0.5, </a:t>
            </a:r>
            <a:r>
              <a:rPr lang="en-US" b="1" dirty="0">
                <a:highlight>
                  <a:srgbClr val="FFFF00"/>
                </a:highlight>
              </a:rPr>
              <a:t>noise=0.5</a:t>
            </a:r>
            <a:r>
              <a:rPr lang="en-US" b="1" dirty="0"/>
              <a:t> </a:t>
            </a:r>
            <a:endParaRPr lang="en-US" b="1" baseline="-25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148D2B-0CB9-3BC1-32DE-B6B3CB9ECF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07015" y="1465677"/>
            <a:ext cx="3142656" cy="24932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6F6BE36-07D1-5F2D-9FD1-8EF45EAD53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79096" y="4051299"/>
            <a:ext cx="3142657" cy="249329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215E631-BEB1-C6B8-0DB3-EFA738B92408}"/>
              </a:ext>
            </a:extLst>
          </p:cNvPr>
          <p:cNvSpPr txBox="1"/>
          <p:nvPr/>
        </p:nvSpPr>
        <p:spPr>
          <a:xfrm>
            <a:off x="1339698" y="5392323"/>
            <a:ext cx="643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story: thicker coating layers eliminate R</a:t>
            </a:r>
            <a:r>
              <a:rPr lang="en-US" baseline="-25000" dirty="0"/>
              <a:t>b</a:t>
            </a:r>
            <a:r>
              <a:rPr lang="en-US" dirty="0"/>
              <a:t> but increase E</a:t>
            </a:r>
            <a:r>
              <a:rPr lang="en-US" baseline="-25000" dirty="0"/>
              <a:t>b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E1FB5D-3F80-6BB8-9BED-5A4CF22597B9}"/>
              </a:ext>
            </a:extLst>
          </p:cNvPr>
          <p:cNvSpPr/>
          <p:nvPr/>
        </p:nvSpPr>
        <p:spPr>
          <a:xfrm>
            <a:off x="9105900" y="1503776"/>
            <a:ext cx="1144032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358D06-C219-F44F-04A2-A6A24E623C2F}"/>
              </a:ext>
            </a:extLst>
          </p:cNvPr>
          <p:cNvSpPr/>
          <p:nvPr/>
        </p:nvSpPr>
        <p:spPr>
          <a:xfrm>
            <a:off x="10603846" y="1503776"/>
            <a:ext cx="1144033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D586ED7-C076-BB85-9E24-9C19EA905C9B}"/>
              </a:ext>
            </a:extLst>
          </p:cNvPr>
          <p:cNvGrpSpPr>
            <a:grpSpLocks noChangeAspect="1"/>
          </p:cNvGrpSpPr>
          <p:nvPr/>
        </p:nvGrpSpPr>
        <p:grpSpPr>
          <a:xfrm>
            <a:off x="9899473" y="179542"/>
            <a:ext cx="2108788" cy="650893"/>
            <a:chOff x="1853852" y="1240077"/>
            <a:chExt cx="3327748" cy="102713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EE391FC-F448-F64D-782D-4063908D5FEC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C53AFE1-7BBD-F02F-D6A4-920FBDAE1C8D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8747A66-DD31-4F4F-BB08-68351E1AFAFE}"/>
              </a:ext>
            </a:extLst>
          </p:cNvPr>
          <p:cNvSpPr/>
          <p:nvPr/>
        </p:nvSpPr>
        <p:spPr>
          <a:xfrm>
            <a:off x="9080500" y="4094576"/>
            <a:ext cx="1144032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7E1AC9-13C0-A8EE-6ECD-E6AB545B732C}"/>
              </a:ext>
            </a:extLst>
          </p:cNvPr>
          <p:cNvSpPr/>
          <p:nvPr/>
        </p:nvSpPr>
        <p:spPr>
          <a:xfrm>
            <a:off x="10578446" y="4094576"/>
            <a:ext cx="1144033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87203B-C101-0164-C27E-530330E55F37}"/>
              </a:ext>
            </a:extLst>
          </p:cNvPr>
          <p:cNvSpPr txBox="1"/>
          <p:nvPr/>
        </p:nvSpPr>
        <p:spPr>
          <a:xfrm>
            <a:off x="1085452" y="4710668"/>
            <a:ext cx="3183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</a:t>
            </a:r>
            <a:r>
              <a:rPr lang="en-US" b="1" baseline="-25000" dirty="0"/>
              <a:t>b</a:t>
            </a:r>
            <a:r>
              <a:rPr lang="en-US" b="1" dirty="0"/>
              <a:t>=0.03, E</a:t>
            </a:r>
            <a:r>
              <a:rPr lang="en-US" b="1" baseline="-25000" dirty="0"/>
              <a:t>b</a:t>
            </a:r>
            <a:r>
              <a:rPr lang="en-US" b="1" dirty="0"/>
              <a:t>=0.38, </a:t>
            </a:r>
            <a:r>
              <a:rPr lang="en-US" b="1" dirty="0">
                <a:highlight>
                  <a:srgbClr val="FFFF00"/>
                </a:highlight>
              </a:rPr>
              <a:t>noise=0.41 </a:t>
            </a:r>
            <a:endParaRPr lang="en-US" b="1" baseline="-250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5B5ACD-4DE6-588A-A19F-8329E535E57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24155" y="1465677"/>
            <a:ext cx="3773421" cy="32392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05BDC4-4ACC-10EF-58B2-7D989A8B04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8399" y="4451491"/>
            <a:ext cx="1135271" cy="94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762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A3B1D-3699-BB0B-A565-910F0B86E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AE7D974-8EFB-A7CE-375D-042D0A00DB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 rot="10800000">
            <a:off x="8515871" y="22738"/>
            <a:ext cx="1052370" cy="9645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BF70F7-4056-0F2E-30BB-872266A63181}"/>
              </a:ext>
            </a:extLst>
          </p:cNvPr>
          <p:cNvSpPr txBox="1"/>
          <p:nvPr/>
        </p:nvSpPr>
        <p:spPr>
          <a:xfrm>
            <a:off x="9785173" y="93799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noise = R</a:t>
            </a:r>
            <a:r>
              <a:rPr lang="en-US" b="1" baseline="-25000" dirty="0"/>
              <a:t>b</a:t>
            </a:r>
            <a:r>
              <a:rPr lang="en-US" b="1" dirty="0"/>
              <a:t> + E</a:t>
            </a:r>
            <a:r>
              <a:rPr lang="en-US" b="1" baseline="-25000" dirty="0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AD397C-816F-DA17-1E3A-68D545469AD7}"/>
              </a:ext>
            </a:extLst>
          </p:cNvPr>
          <p:cNvSpPr txBox="1"/>
          <p:nvPr/>
        </p:nvSpPr>
        <p:spPr>
          <a:xfrm>
            <a:off x="103382" y="163840"/>
            <a:ext cx="6437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1. With x</a:t>
            </a:r>
            <a:r>
              <a:rPr lang="en-US" sz="2400" b="1" baseline="-25000" dirty="0"/>
              <a:t>0</a:t>
            </a:r>
            <a:r>
              <a:rPr lang="en-US" sz="2400" b="1" dirty="0"/>
              <a:t>=1um, 1% </a:t>
            </a:r>
            <a:r>
              <a:rPr lang="en-US" sz="2400" b="1" dirty="0" err="1"/>
              <a:t>Im</a:t>
            </a:r>
            <a:r>
              <a:rPr lang="en-US" sz="2400" b="1" dirty="0"/>
              <a:t>(n) s-KK Coating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6DB124-D873-43BF-21F1-FD681A0EBB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96392" y="1502249"/>
            <a:ext cx="3688214" cy="3166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76D0DA-7286-A8A7-4987-F4E219B4D5AB}"/>
              </a:ext>
            </a:extLst>
          </p:cNvPr>
          <p:cNvSpPr txBox="1"/>
          <p:nvPr/>
        </p:nvSpPr>
        <p:spPr>
          <a:xfrm>
            <a:off x="5077290" y="4718117"/>
            <a:ext cx="3307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</a:t>
            </a:r>
            <a:r>
              <a:rPr lang="en-US" b="1" baseline="-25000" dirty="0"/>
              <a:t>b</a:t>
            </a:r>
            <a:r>
              <a:rPr lang="en-US" b="1" dirty="0"/>
              <a:t>=0.005, E</a:t>
            </a:r>
            <a:r>
              <a:rPr lang="en-US" b="1" baseline="-25000" dirty="0"/>
              <a:t>b</a:t>
            </a:r>
            <a:r>
              <a:rPr lang="en-US" b="1" dirty="0"/>
              <a:t>=0.38, </a:t>
            </a:r>
            <a:r>
              <a:rPr lang="en-US" b="1" dirty="0">
                <a:highlight>
                  <a:srgbClr val="FFFF00"/>
                </a:highlight>
              </a:rPr>
              <a:t>noise=0.38</a:t>
            </a:r>
            <a:r>
              <a:rPr lang="en-US" b="1" dirty="0"/>
              <a:t> </a:t>
            </a:r>
            <a:endParaRPr lang="en-US" b="1" baseline="-25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0228EF-4328-7F5D-5B33-F6BD20D4A6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07015" y="1465677"/>
            <a:ext cx="3142656" cy="24932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86F8AE1-D5DA-A06A-C973-E25DED222F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79096" y="4051299"/>
            <a:ext cx="3142657" cy="249329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D2C4FC6-BE61-396A-FB89-8A0E6E63E5F2}"/>
              </a:ext>
            </a:extLst>
          </p:cNvPr>
          <p:cNvSpPr txBox="1"/>
          <p:nvPr/>
        </p:nvSpPr>
        <p:spPr>
          <a:xfrm>
            <a:off x="1339698" y="5392323"/>
            <a:ext cx="643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conclusion: losses do not help with this problem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607451-BDCC-0D29-9667-B147790D900A}"/>
              </a:ext>
            </a:extLst>
          </p:cNvPr>
          <p:cNvSpPr/>
          <p:nvPr/>
        </p:nvSpPr>
        <p:spPr>
          <a:xfrm>
            <a:off x="9105900" y="1503776"/>
            <a:ext cx="1144032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70BDDA-7984-A722-7673-CAD2A9A388BC}"/>
              </a:ext>
            </a:extLst>
          </p:cNvPr>
          <p:cNvSpPr/>
          <p:nvPr/>
        </p:nvSpPr>
        <p:spPr>
          <a:xfrm>
            <a:off x="10603846" y="1503776"/>
            <a:ext cx="1144033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15F6939-6315-28AB-D3F1-E5779B48C2DB}"/>
              </a:ext>
            </a:extLst>
          </p:cNvPr>
          <p:cNvGrpSpPr>
            <a:grpSpLocks noChangeAspect="1"/>
          </p:cNvGrpSpPr>
          <p:nvPr/>
        </p:nvGrpSpPr>
        <p:grpSpPr>
          <a:xfrm>
            <a:off x="9899473" y="179542"/>
            <a:ext cx="2108788" cy="650893"/>
            <a:chOff x="1853852" y="1240077"/>
            <a:chExt cx="3327748" cy="102713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EF707F-86F2-FD40-F99E-538CC3C3E83E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B1A7E26-B379-68DB-0E58-784A39DE6655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F1CBA62C-B413-CF1E-E053-92E2A06817CD}"/>
              </a:ext>
            </a:extLst>
          </p:cNvPr>
          <p:cNvSpPr/>
          <p:nvPr/>
        </p:nvSpPr>
        <p:spPr>
          <a:xfrm>
            <a:off x="9080500" y="4094576"/>
            <a:ext cx="1144032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EFC8A0-76B8-D1AB-A309-C5BFC9DB1762}"/>
              </a:ext>
            </a:extLst>
          </p:cNvPr>
          <p:cNvSpPr/>
          <p:nvPr/>
        </p:nvSpPr>
        <p:spPr>
          <a:xfrm>
            <a:off x="10578446" y="4094576"/>
            <a:ext cx="1144033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E8C8F5-4291-7BFF-EF28-25FD888843B0}"/>
              </a:ext>
            </a:extLst>
          </p:cNvPr>
          <p:cNvSpPr txBox="1"/>
          <p:nvPr/>
        </p:nvSpPr>
        <p:spPr>
          <a:xfrm>
            <a:off x="1085452" y="4710668"/>
            <a:ext cx="3183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</a:t>
            </a:r>
            <a:r>
              <a:rPr lang="en-US" b="1" baseline="-25000" dirty="0"/>
              <a:t>b</a:t>
            </a:r>
            <a:r>
              <a:rPr lang="en-US" b="1" dirty="0"/>
              <a:t>=0.03, E</a:t>
            </a:r>
            <a:r>
              <a:rPr lang="en-US" b="1" baseline="-25000" dirty="0"/>
              <a:t>b</a:t>
            </a:r>
            <a:r>
              <a:rPr lang="en-US" b="1" dirty="0"/>
              <a:t>=0.38, </a:t>
            </a:r>
            <a:r>
              <a:rPr lang="en-US" b="1" dirty="0">
                <a:highlight>
                  <a:srgbClr val="FFFF00"/>
                </a:highlight>
              </a:rPr>
              <a:t>noise=0.41 </a:t>
            </a:r>
            <a:endParaRPr lang="en-US" b="1" baseline="-250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1F07CD-E26E-77F8-AEFB-7A5DB4BF201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24155" y="1465677"/>
            <a:ext cx="3773421" cy="32392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84168C-F0E0-9F25-08F1-7736220973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8399" y="4451491"/>
            <a:ext cx="1135271" cy="94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838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D1707-5170-19F9-D382-5DA07045A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C136AB8-71CB-3253-725C-CABE90697EB5}"/>
              </a:ext>
            </a:extLst>
          </p:cNvPr>
          <p:cNvSpPr txBox="1"/>
          <p:nvPr/>
        </p:nvSpPr>
        <p:spPr>
          <a:xfrm>
            <a:off x="9723269" y="937991"/>
            <a:ext cx="1775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FOM = </a:t>
            </a:r>
            <a:r>
              <a:rPr lang="en-US" b="1" dirty="0" err="1"/>
              <a:t>T</a:t>
            </a:r>
            <a:r>
              <a:rPr lang="en-US" b="1" baseline="-25000" dirty="0" err="1"/>
              <a:t>avg</a:t>
            </a:r>
            <a:r>
              <a:rPr lang="en-US" b="1" dirty="0"/>
              <a:t> / </a:t>
            </a:r>
            <a:r>
              <a:rPr lang="en-US" b="1" dirty="0" err="1"/>
              <a:t>E</a:t>
            </a:r>
            <a:r>
              <a:rPr lang="en-US" b="1" baseline="-25000" dirty="0" err="1"/>
              <a:t>avg</a:t>
            </a:r>
            <a:endParaRPr lang="en-US" b="1" baseline="-25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8B2159-7AAA-9281-B67D-B285BB6BF20B}"/>
              </a:ext>
            </a:extLst>
          </p:cNvPr>
          <p:cNvSpPr txBox="1"/>
          <p:nvPr/>
        </p:nvSpPr>
        <p:spPr>
          <a:xfrm>
            <a:off x="988985" y="4704921"/>
            <a:ext cx="334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</a:t>
            </a:r>
            <a:r>
              <a:rPr lang="en-US" b="1" baseline="-25000" dirty="0" err="1"/>
              <a:t>avg</a:t>
            </a:r>
            <a:r>
              <a:rPr lang="en-US" b="1" dirty="0"/>
              <a:t>=0.83, </a:t>
            </a:r>
            <a:r>
              <a:rPr lang="en-US" b="1" dirty="0" err="1"/>
              <a:t>E</a:t>
            </a:r>
            <a:r>
              <a:rPr lang="en-US" b="1" baseline="-25000" dirty="0" err="1"/>
              <a:t>avg</a:t>
            </a:r>
            <a:r>
              <a:rPr lang="en-US" b="1" dirty="0"/>
              <a:t>=0.05, </a:t>
            </a:r>
            <a:r>
              <a:rPr lang="en-US" b="1" dirty="0">
                <a:highlight>
                  <a:srgbClr val="FFFF00"/>
                </a:highlight>
              </a:rPr>
              <a:t>FOM=16.8 </a:t>
            </a:r>
            <a:endParaRPr lang="en-US" b="1" baseline="-25000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7BDCFE-A1EE-7662-0367-8636D28A92F2}"/>
              </a:ext>
            </a:extLst>
          </p:cNvPr>
          <p:cNvSpPr txBox="1"/>
          <p:nvPr/>
        </p:nvSpPr>
        <p:spPr>
          <a:xfrm>
            <a:off x="103382" y="163840"/>
            <a:ext cx="6767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2. With x</a:t>
            </a:r>
            <a:r>
              <a:rPr lang="en-US" sz="2400" b="1" baseline="-25000" dirty="0"/>
              <a:t>0</a:t>
            </a:r>
            <a:r>
              <a:rPr lang="en-US" sz="2400" b="1" dirty="0"/>
              <a:t>=0.01um s-KK Coating (TE)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3DDA98-53BA-5442-7EEB-5BFF18E8BE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3462" y="1465677"/>
            <a:ext cx="3894806" cy="3239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2199FE-424E-06C1-9FC7-24AB4D8F3D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58257" y="1465676"/>
            <a:ext cx="3894806" cy="323924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36CB1A-0B10-DEBB-EA61-8649A2628B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80971" y="1465677"/>
            <a:ext cx="3194744" cy="24932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7F20BA7-3BAA-77DD-0E7B-1E179BAE1B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53052" y="4051299"/>
            <a:ext cx="3194746" cy="249329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CB02A1F-EE7C-82D5-7B03-81953AD39C38}"/>
              </a:ext>
            </a:extLst>
          </p:cNvPr>
          <p:cNvSpPr txBox="1"/>
          <p:nvPr/>
        </p:nvSpPr>
        <p:spPr>
          <a:xfrm>
            <a:off x="344202" y="5545092"/>
            <a:ext cx="8445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coating decreases transmission and increases emission (opposite of what we want)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E1C837-573E-DFA7-6593-288AE29FF846}"/>
              </a:ext>
            </a:extLst>
          </p:cNvPr>
          <p:cNvSpPr/>
          <p:nvPr/>
        </p:nvSpPr>
        <p:spPr>
          <a:xfrm>
            <a:off x="10325100" y="1503776"/>
            <a:ext cx="1422779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9EE3A3E-DA8F-9936-B5B7-54818D3B891D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8752984" y="194766"/>
            <a:ext cx="2108788" cy="650893"/>
            <a:chOff x="1853852" y="1240077"/>
            <a:chExt cx="3327748" cy="102713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BC5F546-9358-D96E-CBBD-40AF1E3D73A8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6341D96-00D8-58A8-8ACC-0B8676896AB3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564EE46-7120-8899-0D87-7D709519D53D}"/>
              </a:ext>
            </a:extLst>
          </p:cNvPr>
          <p:cNvSpPr/>
          <p:nvPr/>
        </p:nvSpPr>
        <p:spPr>
          <a:xfrm>
            <a:off x="10325100" y="4094576"/>
            <a:ext cx="1397379" cy="2086992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4FD7D9-7B40-B082-23EC-6B96C418A1C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>
            <a:off x="11139630" y="87540"/>
            <a:ext cx="1052370" cy="9645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727027-934E-EA35-36E6-C1A286917F8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888" t="20001" r="16112" b="17333"/>
          <a:stretch>
            <a:fillRect/>
          </a:stretch>
        </p:blipFill>
        <p:spPr>
          <a:xfrm>
            <a:off x="4243659" y="4547056"/>
            <a:ext cx="774699" cy="577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A5AFC0-7DC6-304E-43C6-EC24F57B7AA0}"/>
              </a:ext>
            </a:extLst>
          </p:cNvPr>
          <p:cNvSpPr txBox="1"/>
          <p:nvPr/>
        </p:nvSpPr>
        <p:spPr>
          <a:xfrm>
            <a:off x="5111699" y="4704921"/>
            <a:ext cx="334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</a:t>
            </a:r>
            <a:r>
              <a:rPr lang="en-US" b="1" baseline="-25000" dirty="0" err="1"/>
              <a:t>avg</a:t>
            </a:r>
            <a:r>
              <a:rPr lang="en-US" b="1" dirty="0"/>
              <a:t>=0.68, </a:t>
            </a:r>
            <a:r>
              <a:rPr lang="en-US" b="1" dirty="0" err="1"/>
              <a:t>E</a:t>
            </a:r>
            <a:r>
              <a:rPr lang="en-US" b="1" baseline="-25000" dirty="0" err="1"/>
              <a:t>avg</a:t>
            </a:r>
            <a:r>
              <a:rPr lang="en-US" b="1" dirty="0"/>
              <a:t>=0.21, </a:t>
            </a:r>
            <a:r>
              <a:rPr lang="en-US" b="1" dirty="0">
                <a:highlight>
                  <a:srgbClr val="FFFF00"/>
                </a:highlight>
              </a:rPr>
              <a:t>FOM=3.22 </a:t>
            </a:r>
            <a:endParaRPr lang="en-US" b="1" baseline="-25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4467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50073</TotalTime>
  <Words>486</Words>
  <Application>Microsoft Macintosh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 Theme</vt:lpstr>
      <vt:lpstr>How can a spatial Kramers–Kronig coating help?</vt:lpstr>
      <vt:lpstr>Plan and Intuition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Lakhanpal</dc:creator>
  <cp:lastModifiedBy>Kunal Lakhanpal</cp:lastModifiedBy>
  <cp:revision>27</cp:revision>
  <dcterms:created xsi:type="dcterms:W3CDTF">2025-12-18T04:58:01Z</dcterms:created>
  <dcterms:modified xsi:type="dcterms:W3CDTF">2026-04-03T04:20:36Z</dcterms:modified>
</cp:coreProperties>
</file>