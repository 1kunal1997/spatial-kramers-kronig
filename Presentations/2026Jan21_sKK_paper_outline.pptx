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CC2F-B16A-86E9-C0BF-DBA128723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006E9-4889-EE10-8DA8-48A714F03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DC51B-5392-9F3D-C953-80F40286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8B4C7-4B44-B79E-9CC3-6B5095E9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B5028-8737-B024-EB78-5BA64E69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06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20809-9C71-C9EA-1912-85C81C29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13B1-1D54-7DDF-6051-A32FB4906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5CBE6-4EAB-8B06-9F8F-15928A96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DFEAA-1C58-7017-6161-12958D5C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0B073-5BBB-A3DF-3D3E-91F41EAB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5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0D0D-5BC2-1986-9FF8-57AFF2DE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AD2AD-F821-53BA-6AD9-6EE6732C6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BED1C-FF23-1982-3966-D8B55D0E4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32A22-AF21-23A6-D198-8D239FEB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DF54F-845F-A38A-2B84-AF99EE76F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99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768D-425D-EB05-C80D-8DAB6C10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91508-DD5C-636A-C7FB-907627097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7C0DA-CDBF-D824-0A3B-23C0C535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86A0B-8E37-3753-CB5B-C009D8E0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AAA28-43DC-2176-C462-94E7D7EC1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96773-4355-AE56-72C6-4C314389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5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0FA5-359D-F4A5-B2B9-B07BDB61F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A637E-0118-FFAD-19FE-9483D21B2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1ACA6-D81D-A762-ADDE-F4CB9DEE2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11C27-057D-823B-E079-E40024606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E318C-F779-4D6B-1CD1-FA5D8FB8E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14C9E-145F-2AA8-0935-CF07AFC4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E546D-24E3-2F7A-ABD2-788CDD76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7CFAE6-3887-A089-70C0-5ADA0BE3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4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29E8-E1A3-A746-9AF2-2A1333FE9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81D52-8554-0BE1-FF9A-1C14969E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C23F-4758-C598-DC94-69DE35D0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1E445-D47A-6ABC-52C2-0D00E1D0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1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0F0BF-B03A-0E96-2E7B-08F513C6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12695-03C6-26B4-100B-192DBA81E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1BA47-C48D-CF35-C4EF-C8912E1D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3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F094-67A0-5B31-98FB-C92233982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AA993-A3A9-44AA-D55C-4430580DF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CB401-EEB1-7351-195D-A4ABBBAD5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9F078-297C-EEF3-2021-D5832806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9BD39-9807-45C6-1904-BBE4ED508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B2335-ABC7-8479-A706-D4C26518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4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FC20-85A6-714F-896B-84E1A38A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F1C32-088E-1D75-695C-71C15D90D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C3D21-402A-3ED3-2542-F733075F0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6E2B8-77BC-EE48-131F-8AEBA56B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3256F-7B1C-67EC-FF42-7E6A05FD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B3BC2-697A-2A77-BB4D-9D990127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3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30B1-D47C-81C8-7E39-370A4FA7A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9CA07-47A3-CB22-ECCC-09E77B01F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DBC1-4706-560D-11BD-79BC0BD1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763C5-2D2D-C701-C462-85097C28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1D1E6-051B-541A-21E5-0F58EF85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ACF4A-3985-D51F-BCDA-2E26A1DC1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FE251-421A-099A-5DF7-848D6A7EB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677C6-E788-A982-86B3-D6B93987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283EE-FECC-F35A-00B3-951345AA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4348-0060-E8BC-4CEB-0145DFF5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6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ED2FA-9604-9C1C-37F4-E76FE1CF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82F34-C7B3-3BB6-DE09-D9C39CB0F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03F43-773A-AB1A-928D-F53FF9F7F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5ACA2-065D-8346-9E65-848B5106092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FB3C6-36CC-3895-961E-8E14528A0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0E5E0-3E82-27E6-B89A-3DE4F1FE2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C0EAE-C04B-3648-A57C-880F3BC4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9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F5744A-7322-84F5-E394-8FA452F6887D}"/>
              </a:ext>
            </a:extLst>
          </p:cNvPr>
          <p:cNvSpPr txBox="1"/>
          <p:nvPr/>
        </p:nvSpPr>
        <p:spPr>
          <a:xfrm>
            <a:off x="265814" y="138223"/>
            <a:ext cx="67031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Spatial </a:t>
            </a:r>
            <a:r>
              <a:rPr lang="en-US" sz="2200" b="1" dirty="0" err="1"/>
              <a:t>Kramers-Kronig</a:t>
            </a:r>
            <a:r>
              <a:rPr lang="en-US" sz="2200" b="1" dirty="0"/>
              <a:t> (what has been done so far)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0302C-781B-8B83-1472-66E803772BAB}"/>
              </a:ext>
            </a:extLst>
          </p:cNvPr>
          <p:cNvSpPr txBox="1"/>
          <p:nvPr/>
        </p:nvSpPr>
        <p:spPr>
          <a:xfrm>
            <a:off x="1137684" y="1073888"/>
            <a:ext cx="76979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US" dirty="0"/>
              <a:t>Foundational </a:t>
            </a:r>
            <a:r>
              <a:rPr lang="en-US" dirty="0" err="1"/>
              <a:t>sKK</a:t>
            </a:r>
            <a:r>
              <a:rPr lang="en-US" dirty="0"/>
              <a:t> theory (Horsley et al. 2015)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US" dirty="0"/>
              <a:t>Experimentally verified reflectionless absorption: “Observation of reflectionless absorption due to spatial </a:t>
            </a:r>
            <a:r>
              <a:rPr lang="en-US" dirty="0" err="1"/>
              <a:t>Kramers</a:t>
            </a:r>
            <a:r>
              <a:rPr lang="en-US" dirty="0"/>
              <a:t>–</a:t>
            </a:r>
            <a:r>
              <a:rPr lang="en-US" dirty="0" err="1"/>
              <a:t>Kronig</a:t>
            </a:r>
            <a:r>
              <a:rPr lang="en-US" dirty="0"/>
              <a:t> profile” (Ye et al. 2017)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US" dirty="0"/>
              <a:t>Theory follow ups like perfect transmission (King et al. 2017) and zero transmission </a:t>
            </a:r>
            <a:r>
              <a:rPr lang="en-US"/>
              <a:t>/ perfect </a:t>
            </a:r>
            <a:r>
              <a:rPr lang="en-US" dirty="0"/>
              <a:t>absorber (King et al. 2017)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US" dirty="0"/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42FBA-FDF3-6D0E-C00E-FF1E16D7CB7D}"/>
              </a:ext>
            </a:extLst>
          </p:cNvPr>
          <p:cNvSpPr txBox="1"/>
          <p:nvPr/>
        </p:nvSpPr>
        <p:spPr>
          <a:xfrm>
            <a:off x="265814" y="3213556"/>
            <a:ext cx="49021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Not been done: </a:t>
            </a:r>
            <a:r>
              <a:rPr lang="en-US" sz="2200" b="1" dirty="0" err="1"/>
              <a:t>sKK</a:t>
            </a:r>
            <a:r>
              <a:rPr lang="en-US" sz="2200" b="1" dirty="0"/>
              <a:t> as an AR Coating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D7A21-EFBF-9B0D-6957-DE95593A5A1B}"/>
              </a:ext>
            </a:extLst>
          </p:cNvPr>
          <p:cNvSpPr txBox="1"/>
          <p:nvPr/>
        </p:nvSpPr>
        <p:spPr>
          <a:xfrm>
            <a:off x="996802" y="3936210"/>
            <a:ext cx="76979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“Although spatial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Kramers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–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Kronig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media have been suggested as anti-reflection surfaces, their performance as practical AR coatings—particularly in comparison with graded-index designs—has not been systematically investigated.”</a:t>
            </a: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“Spatial </a:t>
            </a:r>
            <a:r>
              <a:rPr lang="en-US" dirty="0" err="1">
                <a:solidFill>
                  <a:srgbClr val="000000"/>
                </a:solidFill>
                <a:latin typeface="-webkit-standard"/>
              </a:rPr>
              <a:t>Kramers-Kronig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-webkit-standard"/>
              </a:rPr>
              <a:t>metasurface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 coating for broadband, wide-angle reflectionless absorption”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D3F1-1B63-5C3A-C8DC-9A115E13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DCE5FF-A175-93DF-E219-CDB5D5D467D5}"/>
              </a:ext>
            </a:extLst>
          </p:cNvPr>
          <p:cNvSpPr txBox="1"/>
          <p:nvPr/>
        </p:nvSpPr>
        <p:spPr>
          <a:xfrm>
            <a:off x="265814" y="138223"/>
            <a:ext cx="35861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Open Questions to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39315-4800-EF1C-6898-8701AA01C2CF}"/>
              </a:ext>
            </a:extLst>
          </p:cNvPr>
          <p:cNvSpPr txBox="1"/>
          <p:nvPr/>
        </p:nvSpPr>
        <p:spPr>
          <a:xfrm>
            <a:off x="1137684" y="1073888"/>
            <a:ext cx="9750056" cy="578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- How does a spatial KK layer perform </a:t>
            </a:r>
            <a:r>
              <a:rPr lang="en-US" b="1" dirty="0"/>
              <a:t>relative to GRIN AR coatings</a:t>
            </a:r>
            <a:r>
              <a:rPr lang="en-US" dirty="0"/>
              <a:t>?</a:t>
            </a:r>
          </a:p>
          <a:p>
            <a:pPr>
              <a:lnSpc>
                <a:spcPct val="200000"/>
              </a:lnSpc>
            </a:pPr>
            <a:r>
              <a:rPr lang="en-US" dirty="0"/>
              <a:t>- Under what thickness constraints does one outperform the other? (is layer in GRIN is often several wavelengths in length)</a:t>
            </a:r>
          </a:p>
          <a:p>
            <a:pPr>
              <a:lnSpc>
                <a:spcPct val="200000"/>
              </a:lnSpc>
            </a:pPr>
            <a:r>
              <a:rPr lang="en-US" dirty="0"/>
              <a:t>- How do </a:t>
            </a:r>
            <a:r>
              <a:rPr lang="en-US" b="1" dirty="0"/>
              <a:t>R, T, and A trade off</a:t>
            </a:r>
            <a:r>
              <a:rPr lang="en-US" dirty="0"/>
              <a:t> when both are viewed as “AR solutions”?</a:t>
            </a:r>
          </a:p>
          <a:p>
            <a:pPr>
              <a:lnSpc>
                <a:spcPct val="200000"/>
              </a:lnSpc>
            </a:pPr>
            <a:r>
              <a:rPr lang="en-US" dirty="0"/>
              <a:t>- What happens when you apply </a:t>
            </a:r>
            <a:r>
              <a:rPr lang="en-US" dirty="0" err="1"/>
              <a:t>sKK</a:t>
            </a:r>
            <a:r>
              <a:rPr lang="en-US" dirty="0"/>
              <a:t> to a </a:t>
            </a:r>
            <a:r>
              <a:rPr lang="en-US" i="1" dirty="0"/>
              <a:t>real optical interface</a:t>
            </a:r>
            <a:r>
              <a:rPr lang="en-US" dirty="0"/>
              <a:t> (air–substrate), not a standalone scattering problem?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  <a:spcBef>
                <a:spcPts val="600"/>
              </a:spcBef>
            </a:pPr>
            <a:endParaRPr lang="en-US" dirty="0"/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Tx/>
              <a:buChar char="-"/>
            </a:pPr>
            <a:endParaRPr lang="en-US" dirty="0"/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Tx/>
              <a:buChar char="-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92F08-F3B2-FF7C-84C1-823A2DE199E0}"/>
              </a:ext>
            </a:extLst>
          </p:cNvPr>
          <p:cNvSpPr txBox="1"/>
          <p:nvPr/>
        </p:nvSpPr>
        <p:spPr>
          <a:xfrm>
            <a:off x="701749" y="4859079"/>
            <a:ext cx="6819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paper: “Optical reflectionless potentials for broadband,</a:t>
            </a:r>
          </a:p>
          <a:p>
            <a:r>
              <a:rPr lang="en-US" dirty="0"/>
              <a:t>omnidirectional antireflection” (</a:t>
            </a:r>
            <a:r>
              <a:rPr lang="en-US" dirty="0" err="1"/>
              <a:t>Thekkekara</a:t>
            </a:r>
            <a:r>
              <a:rPr lang="en-US" dirty="0"/>
              <a:t> et al. 2014) </a:t>
            </a:r>
          </a:p>
        </p:txBody>
      </p:sp>
    </p:spTree>
    <p:extLst>
      <p:ext uri="{BB962C8B-B14F-4D97-AF65-F5344CB8AC3E}">
        <p14:creationId xmlns:p14="http://schemas.microsoft.com/office/powerpoint/2010/main" val="780352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231</Words>
  <Application>Microsoft Macintosh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-webkit-standard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5</cp:revision>
  <dcterms:created xsi:type="dcterms:W3CDTF">2026-01-21T20:12:32Z</dcterms:created>
  <dcterms:modified xsi:type="dcterms:W3CDTF">2026-01-21T20:59:37Z</dcterms:modified>
</cp:coreProperties>
</file>