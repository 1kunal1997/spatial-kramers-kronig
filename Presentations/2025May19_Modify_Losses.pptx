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6050-6859-4DD9-B6F6-F7D0ADEDE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EB93E-F614-41E3-8115-8A48BFA9F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8BA5E-72D5-4F41-9E9B-1F6C5BFC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2BBC-3691-4A50-8CA7-4AABDEED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34CB0-F7AB-4D22-AB9C-C137F092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5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5592-62E5-40EF-A246-6DDB92F3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C277-159C-4AA8-BC5D-FD8F1EDF3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C5FD5-6C55-48FE-97EC-C520449E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F2572-84F8-44A4-8845-BD7DC615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A75A-2276-4AC8-83E2-8D30B285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5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3EAF-27B7-4425-B40C-E669B4C5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2811C-8C23-434B-8D15-8BC46D635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57B33-38E1-4903-A5DF-652FB680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CB77-1FCB-4A10-8643-C878DFA2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668EF-5B65-4A45-A239-9335310D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5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EFCF-0D03-481D-B7F5-B0CF4D7B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BD93C-929C-4E97-8C17-7DC96EE31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596DF-EB4D-4D13-ABC3-77A4D449E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A6078-3730-4C7D-BBDC-3AAEE5054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BE22E-D613-462E-BD20-253259BB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D13C7-31B8-4D0F-9DE9-11868E85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D157-77C7-4339-92A4-4BAFE52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A67DD-1FDF-4357-A135-B4E2D4340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A6C96-509F-4C07-8AF1-50DC18389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AB396-D5CC-47CC-B8E5-9ABE3AAF9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D5BEB-46FE-4352-9F0B-C407A9063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AEEFA-7FBF-40F5-A275-5DE6376A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4780C-EB37-4F3A-B34A-5F528E24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B7168-A5C6-4542-8081-93C4DE01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8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06B4-6CC3-4311-A71E-8AB9A366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E8E01-F1D7-4814-8EC4-1D504B0F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0323D-2EF9-4756-B99C-6B9DA9C4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4A201-335C-42D6-91E2-5259C557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8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1BECC-1ACA-45AF-BB5E-716FE783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38A94-5F34-4E91-A934-1FE5ADC5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B4D2A-AAED-453D-B399-A401FC52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A615-C2AC-492A-AB0A-280550E8A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FCA73-EBF7-414C-A8FC-995367830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73B21-985B-4FB0-9D8C-A9D888784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2A352-D6A4-47E9-9F1E-320EC7618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B5E33-39B9-4017-A300-D2D21679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4D10B-ADC3-43F0-A3CC-C5C1634A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7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4EEF-F523-4EA7-981D-9B4EA336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EB142-2488-4323-8647-0E9130840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FAA11-E0EC-4078-AFDB-A92EC2E88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55295-3E51-45ED-AB28-590604A4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B2B30-EE91-4A02-8F39-5B4C245E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49B18-8B65-451A-8F17-8735B006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25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FC64A-BCB4-4BAF-8098-00427EC8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B5972-AB76-412A-AC99-6DC7CBA58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95A3B-3BB5-40DB-AEA7-422FBCEE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A5A36-75CB-4054-B591-5A8BAD9E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D0450-561D-4004-9493-C00C7B5C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4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B7224-EAD3-41BE-8787-26BD37D25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71AD1-92AD-48E3-B465-26E64B551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7BF3C-D055-42AF-8DF1-ECA54DE0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65611-5AA8-40A8-B160-7BF0A075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0565C-2464-4EB7-A114-AEDEC4C8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6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F6BEF-8DFE-4489-9A38-B75D8795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CED7E-FCC2-44E6-8A0B-A75E20F56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B0CC4-E3B3-48ED-B4FF-B4978F39D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96ECA-2ADF-4453-AEF4-E324AFB1CEFE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41C92-FB5C-44E0-BD17-0987A76AA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2A514-AD48-4FE6-B0D6-71343EACF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A58F4-AA1E-4199-8981-431529F64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838" y="3882126"/>
            <a:ext cx="3280896" cy="2737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14" y="1269402"/>
            <a:ext cx="3467358" cy="2737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234" y="4007437"/>
            <a:ext cx="3467357" cy="27376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227A41-7725-4BB2-AB5D-97B2951C6685}"/>
                  </a:ext>
                </a:extLst>
              </p:cNvPr>
              <p:cNvSpPr/>
              <p:nvPr/>
            </p:nvSpPr>
            <p:spPr>
              <a:xfrm>
                <a:off x="9562330" y="238185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227A41-7725-4BB2-AB5D-97B2951C6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330" y="238185"/>
                <a:ext cx="2416431" cy="6836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5A25C3F-A5A9-41A4-96B2-C1FF11082705}"/>
              </a:ext>
            </a:extLst>
          </p:cNvPr>
          <p:cNvSpPr txBox="1"/>
          <p:nvPr/>
        </p:nvSpPr>
        <p:spPr>
          <a:xfrm>
            <a:off x="374806" y="238185"/>
            <a:ext cx="8117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Multiply imaginary part</a:t>
            </a:r>
            <a:r>
              <a:rPr lang="en-US" sz="2200" dirty="0"/>
              <a:t> of refractive index by factor </a:t>
            </a:r>
            <a:r>
              <a:rPr lang="en-US" sz="2200" b="1" dirty="0" err="1"/>
              <a:t>A</a:t>
            </a:r>
            <a:r>
              <a:rPr lang="en-US" sz="2200" b="1" i="1" baseline="-25000" dirty="0" err="1"/>
              <a:t>prop</a:t>
            </a:r>
            <a:r>
              <a:rPr lang="en-US" sz="2200" i="1" dirty="0"/>
              <a:t> </a:t>
            </a:r>
            <a:r>
              <a:rPr lang="en-US" sz="2200" dirty="0"/>
              <a:t>to see effects of </a:t>
            </a:r>
            <a:r>
              <a:rPr lang="en-US" sz="2200" b="1" dirty="0"/>
              <a:t>reducing losses</a:t>
            </a:r>
            <a:r>
              <a:rPr lang="en-US" sz="2200" dirty="0"/>
              <a:t> while keeping the real part the same: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840F3A-689F-424B-8A84-E9BD5D8B3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773" y="1257186"/>
            <a:ext cx="3467360" cy="2737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92784-D76B-435A-82B4-38317382F160}"/>
              </a:ext>
            </a:extLst>
          </p:cNvPr>
          <p:cNvSpPr txBox="1"/>
          <p:nvPr/>
        </p:nvSpPr>
        <p:spPr>
          <a:xfrm>
            <a:off x="4244820" y="2349031"/>
            <a:ext cx="16995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+    </a:t>
            </a:r>
            <a:r>
              <a:rPr lang="en-US" sz="3000" b="1" dirty="0" err="1"/>
              <a:t>A</a:t>
            </a:r>
            <a:r>
              <a:rPr lang="en-US" sz="3000" b="1" i="1" baseline="-25000" dirty="0" err="1"/>
              <a:t>prop</a:t>
            </a:r>
            <a:r>
              <a:rPr lang="en-US" sz="3000" b="1" i="1" baseline="-25000" dirty="0"/>
              <a:t> </a:t>
            </a:r>
            <a:r>
              <a:rPr lang="en-US" sz="3000" b="1" dirty="0"/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540DB-D701-4A3A-B0C6-7ECC7199403A}"/>
              </a:ext>
            </a:extLst>
          </p:cNvPr>
          <p:cNvSpPr txBox="1"/>
          <p:nvPr/>
        </p:nvSpPr>
        <p:spPr>
          <a:xfrm>
            <a:off x="9390133" y="2349031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=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91836E-6EDC-40B3-821D-B0BFAB2CC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01" y="4007436"/>
            <a:ext cx="3467357" cy="27376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B1A676-3F9D-4650-9A3D-52E3B480B60F}"/>
              </a:ext>
            </a:extLst>
          </p:cNvPr>
          <p:cNvSpPr txBox="1"/>
          <p:nvPr/>
        </p:nvSpPr>
        <p:spPr>
          <a:xfrm>
            <a:off x="3971433" y="4973971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+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E832A0-1530-4314-AC7E-DA3964621775}"/>
              </a:ext>
            </a:extLst>
          </p:cNvPr>
          <p:cNvCxnSpPr/>
          <p:nvPr/>
        </p:nvCxnSpPr>
        <p:spPr>
          <a:xfrm>
            <a:off x="8077366" y="5229455"/>
            <a:ext cx="41449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651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60C8C3-2669-41D8-8353-86AFF4DC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750" y="1444213"/>
            <a:ext cx="5204038" cy="4491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12EB6-85F7-4860-8004-7DCF5E20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788" y="2829064"/>
            <a:ext cx="1460654" cy="1721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E71465-46A0-470E-AC2B-0FF813B71D0F}"/>
              </a:ext>
            </a:extLst>
          </p:cNvPr>
          <p:cNvSpPr txBox="1"/>
          <p:nvPr/>
        </p:nvSpPr>
        <p:spPr>
          <a:xfrm>
            <a:off x="374806" y="238185"/>
            <a:ext cx="8117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Sweep </a:t>
            </a:r>
            <a:r>
              <a:rPr lang="en-US" sz="2200" b="1" dirty="0" err="1"/>
              <a:t>A</a:t>
            </a:r>
            <a:r>
              <a:rPr lang="en-US" sz="2200" b="1" i="1" baseline="-25000" dirty="0" err="1"/>
              <a:t>prop</a:t>
            </a:r>
            <a:r>
              <a:rPr lang="en-US" sz="2200" i="1" dirty="0"/>
              <a:t> </a:t>
            </a:r>
            <a:r>
              <a:rPr lang="en-US" sz="2200" dirty="0"/>
              <a:t>from </a:t>
            </a:r>
            <a:r>
              <a:rPr lang="en-US" sz="2200" b="1" dirty="0"/>
              <a:t>0</a:t>
            </a:r>
            <a:r>
              <a:rPr lang="en-US" sz="2200" dirty="0"/>
              <a:t> to </a:t>
            </a:r>
            <a:r>
              <a:rPr lang="en-US" sz="2200" b="1" dirty="0"/>
              <a:t>1</a:t>
            </a:r>
            <a:r>
              <a:rPr lang="en-US" sz="2200" i="1" dirty="0"/>
              <a:t> </a:t>
            </a:r>
            <a:r>
              <a:rPr lang="en-US" sz="2200" dirty="0"/>
              <a:t>and plot </a:t>
            </a:r>
            <a:r>
              <a:rPr lang="en-US" sz="2200" b="1" dirty="0"/>
              <a:t>average</a:t>
            </a:r>
            <a:r>
              <a:rPr lang="en-US" sz="2200" dirty="0"/>
              <a:t> transmittance, reflectance, and absorbance as a function of </a:t>
            </a:r>
            <a:r>
              <a:rPr lang="en-US" sz="2200" b="1" dirty="0" err="1"/>
              <a:t>A</a:t>
            </a:r>
            <a:r>
              <a:rPr lang="en-US" sz="2200" b="1" i="1" baseline="-25000" dirty="0" err="1"/>
              <a:t>prop</a:t>
            </a:r>
            <a:r>
              <a:rPr lang="en-US" sz="2200" dirty="0"/>
              <a:t>: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1131D6-C1F0-4F8F-B745-4D551CDD9CDE}"/>
              </a:ext>
            </a:extLst>
          </p:cNvPr>
          <p:cNvSpPr/>
          <p:nvPr/>
        </p:nvSpPr>
        <p:spPr>
          <a:xfrm>
            <a:off x="3657600" y="5023821"/>
            <a:ext cx="204395" cy="22591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258B7A-6D9B-474F-B6DF-04FA5B8ED85E}"/>
              </a:ext>
            </a:extLst>
          </p:cNvPr>
          <p:cNvSpPr/>
          <p:nvPr/>
        </p:nvSpPr>
        <p:spPr>
          <a:xfrm>
            <a:off x="3657600" y="4511040"/>
            <a:ext cx="204395" cy="22591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748111-BA78-4E64-B71B-F06D90CCB8CF}"/>
              </a:ext>
            </a:extLst>
          </p:cNvPr>
          <p:cNvSpPr/>
          <p:nvPr/>
        </p:nvSpPr>
        <p:spPr>
          <a:xfrm>
            <a:off x="8024393" y="5023821"/>
            <a:ext cx="204395" cy="22591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6F558E-3349-4C28-A0D0-21807C2B6017}"/>
              </a:ext>
            </a:extLst>
          </p:cNvPr>
          <p:cNvCxnSpPr>
            <a:cxnSpLocks/>
          </p:cNvCxnSpPr>
          <p:nvPr/>
        </p:nvCxnSpPr>
        <p:spPr>
          <a:xfrm flipH="1">
            <a:off x="2678654" y="4623995"/>
            <a:ext cx="978947" cy="1129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9E3A51-EE13-4BC6-894E-EE73E9DFA60C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8228788" y="5136777"/>
            <a:ext cx="1205668" cy="311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56229E-EA50-45AB-AA39-4FF73A56546E}"/>
              </a:ext>
            </a:extLst>
          </p:cNvPr>
          <p:cNvCxnSpPr>
            <a:cxnSpLocks/>
          </p:cNvCxnSpPr>
          <p:nvPr/>
        </p:nvCxnSpPr>
        <p:spPr>
          <a:xfrm flipH="1" flipV="1">
            <a:off x="2678654" y="4921174"/>
            <a:ext cx="978948" cy="2259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B0404A-2B5B-4EA6-A511-837EB64A1902}"/>
              </a:ext>
            </a:extLst>
          </p:cNvPr>
          <p:cNvSpPr txBox="1"/>
          <p:nvPr/>
        </p:nvSpPr>
        <p:spPr>
          <a:xfrm>
            <a:off x="69193" y="4136786"/>
            <a:ext cx="2587945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dirty="0"/>
              <a:t> = 0 means no losses, and hence, R</a:t>
            </a:r>
            <a:r>
              <a:rPr lang="en-US" baseline="-25000" dirty="0"/>
              <a:t>LR</a:t>
            </a:r>
            <a:r>
              <a:rPr lang="en-US" dirty="0"/>
              <a:t> = R</a:t>
            </a:r>
            <a:r>
              <a:rPr lang="en-US" baseline="-25000" dirty="0"/>
              <a:t>RL</a:t>
            </a:r>
            <a:r>
              <a:rPr lang="en-US" dirty="0"/>
              <a:t> (transmittance is the same both ways)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24DD1C-FAAD-474C-B645-88C51FBA06DB}"/>
              </a:ext>
            </a:extLst>
          </p:cNvPr>
          <p:cNvSpPr txBox="1"/>
          <p:nvPr/>
        </p:nvSpPr>
        <p:spPr>
          <a:xfrm>
            <a:off x="9513346" y="5133661"/>
            <a:ext cx="2587945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dirty="0"/>
              <a:t> = 1 recovers </a:t>
            </a:r>
            <a:r>
              <a:rPr lang="en-US" dirty="0" err="1"/>
              <a:t>reflectionless</a:t>
            </a:r>
            <a:r>
              <a:rPr lang="en-US" dirty="0"/>
              <a:t> property of spatial KK (R</a:t>
            </a:r>
            <a:r>
              <a:rPr lang="en-US" baseline="-25000" dirty="0"/>
              <a:t>LR</a:t>
            </a:r>
            <a:r>
              <a:rPr lang="en-US" dirty="0"/>
              <a:t> = 0)</a:t>
            </a:r>
          </a:p>
        </p:txBody>
      </p:sp>
    </p:spTree>
    <p:extLst>
      <p:ext uri="{BB962C8B-B14F-4D97-AF65-F5344CB8AC3E}">
        <p14:creationId xmlns:p14="http://schemas.microsoft.com/office/powerpoint/2010/main" val="72387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8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020" y="158695"/>
            <a:ext cx="2821810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11908711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>
            <a:cxnSpLocks/>
          </p:cNvCxnSpPr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6" y="3512378"/>
            <a:ext cx="4060192" cy="320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138" y="3512378"/>
            <a:ext cx="4060192" cy="32057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C32704-ADD8-4DF6-BF85-CD1CAFAAEFC4}"/>
              </a:ext>
            </a:extLst>
          </p:cNvPr>
          <p:cNvSpPr txBox="1"/>
          <p:nvPr/>
        </p:nvSpPr>
        <p:spPr>
          <a:xfrm>
            <a:off x="909710" y="344245"/>
            <a:ext cx="9621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b="1" dirty="0"/>
              <a:t>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3FF44-1D86-4127-907D-BC8B5D49776D}"/>
              </a:ext>
            </a:extLst>
          </p:cNvPr>
          <p:cNvSpPr txBox="1"/>
          <p:nvPr/>
        </p:nvSpPr>
        <p:spPr>
          <a:xfrm>
            <a:off x="599576" y="1281980"/>
            <a:ext cx="238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Broadband </a:t>
            </a:r>
            <a:r>
              <a:rPr lang="en-US" sz="1600" dirty="0" err="1"/>
              <a:t>reflectionless</a:t>
            </a:r>
            <a:r>
              <a:rPr lang="en-US" sz="1600" dirty="0"/>
              <a:t> and good asymmetry, but bad signal-to-noise </a:t>
            </a:r>
          </a:p>
        </p:txBody>
      </p:sp>
    </p:spTree>
    <p:extLst>
      <p:ext uri="{BB962C8B-B14F-4D97-AF65-F5344CB8AC3E}">
        <p14:creationId xmlns:p14="http://schemas.microsoft.com/office/powerpoint/2010/main" val="310443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8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020" y="158695"/>
            <a:ext cx="2821810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11467659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/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6" y="3512378"/>
            <a:ext cx="4060192" cy="320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138" y="3512378"/>
            <a:ext cx="4060192" cy="3205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2B21D8-5185-4F01-962D-677869E7643C}"/>
              </a:ext>
            </a:extLst>
          </p:cNvPr>
          <p:cNvSpPr txBox="1"/>
          <p:nvPr/>
        </p:nvSpPr>
        <p:spPr>
          <a:xfrm>
            <a:off x="909710" y="344245"/>
            <a:ext cx="114005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b="1" dirty="0"/>
              <a:t> = 0.8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ECD37-A946-43FC-B077-FE96F55BDC67}"/>
              </a:ext>
            </a:extLst>
          </p:cNvPr>
          <p:cNvSpPr txBox="1"/>
          <p:nvPr/>
        </p:nvSpPr>
        <p:spPr>
          <a:xfrm>
            <a:off x="599576" y="1281980"/>
            <a:ext cx="2386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Still </a:t>
            </a:r>
            <a:r>
              <a:rPr lang="en-US" sz="1600" dirty="0" err="1"/>
              <a:t>reflectionless</a:t>
            </a:r>
            <a:r>
              <a:rPr lang="en-US" sz="1600" dirty="0"/>
              <a:t>, better signal-to-noise </a:t>
            </a:r>
          </a:p>
        </p:txBody>
      </p:sp>
    </p:spTree>
    <p:extLst>
      <p:ext uri="{BB962C8B-B14F-4D97-AF65-F5344CB8AC3E}">
        <p14:creationId xmlns:p14="http://schemas.microsoft.com/office/powerpoint/2010/main" val="369698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8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020" y="158695"/>
            <a:ext cx="2821810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10746892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/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6" y="3512378"/>
            <a:ext cx="4060192" cy="320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138" y="3512378"/>
            <a:ext cx="4060192" cy="3205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8FBDA1-CB5F-4A4F-931C-7FB056CC0A89}"/>
              </a:ext>
            </a:extLst>
          </p:cNvPr>
          <p:cNvSpPr txBox="1"/>
          <p:nvPr/>
        </p:nvSpPr>
        <p:spPr>
          <a:xfrm>
            <a:off x="909710" y="344245"/>
            <a:ext cx="114005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b="1" dirty="0"/>
              <a:t> = 0.5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FD039-B4DA-4113-98DB-52ECE8AF93A1}"/>
              </a:ext>
            </a:extLst>
          </p:cNvPr>
          <p:cNvSpPr txBox="1"/>
          <p:nvPr/>
        </p:nvSpPr>
        <p:spPr>
          <a:xfrm>
            <a:off x="599576" y="1281980"/>
            <a:ext cx="2386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LR</a:t>
            </a:r>
            <a:r>
              <a:rPr lang="en-US" sz="1600" dirty="0"/>
              <a:t> is no longer strictly equal to 0</a:t>
            </a:r>
          </a:p>
        </p:txBody>
      </p:sp>
    </p:spTree>
    <p:extLst>
      <p:ext uri="{BB962C8B-B14F-4D97-AF65-F5344CB8AC3E}">
        <p14:creationId xmlns:p14="http://schemas.microsoft.com/office/powerpoint/2010/main" val="1408561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79" y="139855"/>
            <a:ext cx="3841848" cy="32057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020" y="158695"/>
            <a:ext cx="2821810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10026127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/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6" y="3512378"/>
            <a:ext cx="4060192" cy="320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138" y="3512378"/>
            <a:ext cx="4060192" cy="3205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B4D7D0-54EF-48E1-A66C-ADDF57D8F7BA}"/>
              </a:ext>
            </a:extLst>
          </p:cNvPr>
          <p:cNvSpPr txBox="1"/>
          <p:nvPr/>
        </p:nvSpPr>
        <p:spPr>
          <a:xfrm>
            <a:off x="909710" y="344245"/>
            <a:ext cx="114005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b="1" dirty="0"/>
              <a:t> = 0.2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1883E-317C-4922-AB86-91E18206CF0A}"/>
              </a:ext>
            </a:extLst>
          </p:cNvPr>
          <p:cNvSpPr txBox="1"/>
          <p:nvPr/>
        </p:nvSpPr>
        <p:spPr>
          <a:xfrm>
            <a:off x="599576" y="1281980"/>
            <a:ext cx="238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Much better signal-to-noise, but not broadband </a:t>
            </a:r>
            <a:r>
              <a:rPr lang="en-US" sz="1600" dirty="0" err="1"/>
              <a:t>reflectionless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917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8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020" y="158695"/>
            <a:ext cx="2821810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9552788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/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6" y="3512378"/>
            <a:ext cx="4060192" cy="320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138" y="3512378"/>
            <a:ext cx="4060192" cy="3205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1AC299-D4B4-4F70-ADCF-FE458017961A}"/>
              </a:ext>
            </a:extLst>
          </p:cNvPr>
          <p:cNvSpPr txBox="1"/>
          <p:nvPr/>
        </p:nvSpPr>
        <p:spPr>
          <a:xfrm>
            <a:off x="909710" y="344245"/>
            <a:ext cx="9621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</a:t>
            </a:r>
            <a:r>
              <a:rPr lang="en-US" b="1" i="1" baseline="-25000" dirty="0" err="1"/>
              <a:t>prop</a:t>
            </a:r>
            <a:r>
              <a:rPr lang="en-US" b="1" dirty="0"/>
              <a:t>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C2F930-3196-4660-888D-4B8E99A362DD}"/>
              </a:ext>
            </a:extLst>
          </p:cNvPr>
          <p:cNvSpPr txBox="1"/>
          <p:nvPr/>
        </p:nvSpPr>
        <p:spPr>
          <a:xfrm>
            <a:off x="599576" y="1281980"/>
            <a:ext cx="238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 losses so no absorption and asymmetry</a:t>
            </a:r>
          </a:p>
        </p:txBody>
      </p:sp>
    </p:spTree>
    <p:extLst>
      <p:ext uri="{BB962C8B-B14F-4D97-AF65-F5344CB8AC3E}">
        <p14:creationId xmlns:p14="http://schemas.microsoft.com/office/powerpoint/2010/main" val="63475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838" y="3882126"/>
            <a:ext cx="3280895" cy="2737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385" y="1269402"/>
            <a:ext cx="3467358" cy="2737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234" y="4008229"/>
            <a:ext cx="3467357" cy="27361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227A41-7725-4BB2-AB5D-97B2951C6685}"/>
                  </a:ext>
                </a:extLst>
              </p:cNvPr>
              <p:cNvSpPr/>
              <p:nvPr/>
            </p:nvSpPr>
            <p:spPr>
              <a:xfrm>
                <a:off x="9562330" y="238185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227A41-7725-4BB2-AB5D-97B2951C6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330" y="238185"/>
                <a:ext cx="2416431" cy="6836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5A25C3F-A5A9-41A4-96B2-C1FF11082705}"/>
              </a:ext>
            </a:extLst>
          </p:cNvPr>
          <p:cNvSpPr txBox="1"/>
          <p:nvPr/>
        </p:nvSpPr>
        <p:spPr>
          <a:xfrm>
            <a:off x="374806" y="238185"/>
            <a:ext cx="8117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Now,</a:t>
            </a:r>
            <a:r>
              <a:rPr lang="en-US" sz="2200" b="1" dirty="0"/>
              <a:t> multiply real part</a:t>
            </a:r>
            <a:r>
              <a:rPr lang="en-US" sz="2200" dirty="0"/>
              <a:t> of refractive index by factor </a:t>
            </a:r>
            <a:r>
              <a:rPr lang="en-US" sz="2200" b="1" dirty="0" err="1"/>
              <a:t>n</a:t>
            </a:r>
            <a:r>
              <a:rPr lang="en-US" sz="2200" b="1" i="1" baseline="-25000" dirty="0" err="1"/>
              <a:t>prop</a:t>
            </a:r>
            <a:r>
              <a:rPr lang="en-US" sz="2200" i="1" dirty="0"/>
              <a:t> </a:t>
            </a:r>
            <a:r>
              <a:rPr lang="en-US" sz="2200" dirty="0"/>
              <a:t>to see effects of </a:t>
            </a:r>
            <a:r>
              <a:rPr lang="en-US" sz="2200" b="1" dirty="0"/>
              <a:t>reducing real part</a:t>
            </a:r>
            <a:r>
              <a:rPr lang="en-US" sz="2200" dirty="0"/>
              <a:t> while keeping the losses the same: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840F3A-689F-424B-8A84-E9BD5D8B3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01" y="1257185"/>
            <a:ext cx="3467360" cy="2737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92784-D76B-435A-82B4-38317382F160}"/>
              </a:ext>
            </a:extLst>
          </p:cNvPr>
          <p:cNvSpPr txBox="1"/>
          <p:nvPr/>
        </p:nvSpPr>
        <p:spPr>
          <a:xfrm>
            <a:off x="4244820" y="2349031"/>
            <a:ext cx="16738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+    </a:t>
            </a:r>
            <a:r>
              <a:rPr lang="en-US" sz="3000" b="1" dirty="0" err="1"/>
              <a:t>n</a:t>
            </a:r>
            <a:r>
              <a:rPr lang="en-US" sz="3000" b="1" i="1" baseline="-25000" dirty="0" err="1"/>
              <a:t>prop</a:t>
            </a:r>
            <a:r>
              <a:rPr lang="en-US" sz="3000" b="1" i="1" baseline="-25000" dirty="0"/>
              <a:t> </a:t>
            </a:r>
            <a:r>
              <a:rPr lang="en-US" sz="3000" b="1" dirty="0"/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540DB-D701-4A3A-B0C6-7ECC7199403A}"/>
              </a:ext>
            </a:extLst>
          </p:cNvPr>
          <p:cNvSpPr txBox="1"/>
          <p:nvPr/>
        </p:nvSpPr>
        <p:spPr>
          <a:xfrm>
            <a:off x="9390133" y="2349031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=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91836E-6EDC-40B3-821D-B0BFAB2CC3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01" y="4007436"/>
            <a:ext cx="3467357" cy="27376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B1A676-3F9D-4650-9A3D-52E3B480B60F}"/>
              </a:ext>
            </a:extLst>
          </p:cNvPr>
          <p:cNvSpPr txBox="1"/>
          <p:nvPr/>
        </p:nvSpPr>
        <p:spPr>
          <a:xfrm>
            <a:off x="3971433" y="4973971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+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E832A0-1530-4314-AC7E-DA3964621775}"/>
              </a:ext>
            </a:extLst>
          </p:cNvPr>
          <p:cNvCxnSpPr/>
          <p:nvPr/>
        </p:nvCxnSpPr>
        <p:spPr>
          <a:xfrm>
            <a:off x="8077366" y="5229455"/>
            <a:ext cx="41449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611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60C8C3-2669-41D8-8353-86AFF4DC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750" y="1444213"/>
            <a:ext cx="5204038" cy="4491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12EB6-85F7-4860-8004-7DCF5E20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788" y="2829064"/>
            <a:ext cx="1460654" cy="1721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E71465-46A0-470E-AC2B-0FF813B71D0F}"/>
              </a:ext>
            </a:extLst>
          </p:cNvPr>
          <p:cNvSpPr txBox="1"/>
          <p:nvPr/>
        </p:nvSpPr>
        <p:spPr>
          <a:xfrm>
            <a:off x="374806" y="238185"/>
            <a:ext cx="8117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Sweep </a:t>
            </a:r>
            <a:r>
              <a:rPr lang="en-US" sz="2200" b="1" dirty="0" err="1"/>
              <a:t>n</a:t>
            </a:r>
            <a:r>
              <a:rPr lang="en-US" sz="2200" b="1" i="1" baseline="-25000" dirty="0" err="1"/>
              <a:t>prop</a:t>
            </a:r>
            <a:r>
              <a:rPr lang="en-US" sz="2200" i="1" dirty="0"/>
              <a:t> </a:t>
            </a:r>
            <a:r>
              <a:rPr lang="en-US" sz="2200" dirty="0"/>
              <a:t>from </a:t>
            </a:r>
            <a:r>
              <a:rPr lang="en-US" sz="2200" b="1" dirty="0"/>
              <a:t>0</a:t>
            </a:r>
            <a:r>
              <a:rPr lang="en-US" sz="2200" dirty="0"/>
              <a:t> to </a:t>
            </a:r>
            <a:r>
              <a:rPr lang="en-US" sz="2200" b="1" dirty="0"/>
              <a:t>1</a:t>
            </a:r>
            <a:r>
              <a:rPr lang="en-US" sz="2200" i="1" dirty="0"/>
              <a:t> </a:t>
            </a:r>
            <a:r>
              <a:rPr lang="en-US" sz="2200" dirty="0"/>
              <a:t>and plot </a:t>
            </a:r>
            <a:r>
              <a:rPr lang="en-US" sz="2200" b="1" dirty="0"/>
              <a:t>average</a:t>
            </a:r>
            <a:r>
              <a:rPr lang="en-US" sz="2200" dirty="0"/>
              <a:t> transmittance, reflectance, and absorbance as a function of </a:t>
            </a:r>
            <a:r>
              <a:rPr lang="en-US" sz="2200" b="1" dirty="0" err="1"/>
              <a:t>n</a:t>
            </a:r>
            <a:r>
              <a:rPr lang="en-US" sz="2200" b="1" i="1" baseline="-25000" dirty="0" err="1"/>
              <a:t>prop</a:t>
            </a:r>
            <a:r>
              <a:rPr lang="en-US" sz="2200" dirty="0"/>
              <a:t>: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1131D6-C1F0-4F8F-B745-4D551CDD9CDE}"/>
              </a:ext>
            </a:extLst>
          </p:cNvPr>
          <p:cNvSpPr/>
          <p:nvPr/>
        </p:nvSpPr>
        <p:spPr>
          <a:xfrm>
            <a:off x="3657602" y="4797910"/>
            <a:ext cx="204395" cy="22591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748111-BA78-4E64-B71B-F06D90CCB8CF}"/>
              </a:ext>
            </a:extLst>
          </p:cNvPr>
          <p:cNvSpPr/>
          <p:nvPr/>
        </p:nvSpPr>
        <p:spPr>
          <a:xfrm>
            <a:off x="8024393" y="5023821"/>
            <a:ext cx="204395" cy="22591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9E3A51-EE13-4BC6-894E-EE73E9DFA60C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8228788" y="5136777"/>
            <a:ext cx="1205668" cy="311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56229E-EA50-45AB-AA39-4FF73A56546E}"/>
              </a:ext>
            </a:extLst>
          </p:cNvPr>
          <p:cNvCxnSpPr>
            <a:cxnSpLocks/>
            <a:stCxn id="9" idx="2"/>
          </p:cNvCxnSpPr>
          <p:nvPr/>
        </p:nvCxnSpPr>
        <p:spPr>
          <a:xfrm flipH="1" flipV="1">
            <a:off x="2657138" y="4598451"/>
            <a:ext cx="1000464" cy="3124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B0404A-2B5B-4EA6-A511-837EB64A1902}"/>
              </a:ext>
            </a:extLst>
          </p:cNvPr>
          <p:cNvSpPr txBox="1"/>
          <p:nvPr/>
        </p:nvSpPr>
        <p:spPr>
          <a:xfrm>
            <a:off x="69193" y="4136786"/>
            <a:ext cx="2587945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n</a:t>
            </a:r>
            <a:r>
              <a:rPr lang="en-US" b="1" i="1" baseline="-25000" dirty="0" err="1"/>
              <a:t>prop</a:t>
            </a:r>
            <a:r>
              <a:rPr lang="en-US" dirty="0"/>
              <a:t> = 0 means structure is isotropic from left and right (R</a:t>
            </a:r>
            <a:r>
              <a:rPr lang="en-US" baseline="-25000" dirty="0"/>
              <a:t>LR</a:t>
            </a:r>
            <a:r>
              <a:rPr lang="en-US" dirty="0"/>
              <a:t> = R</a:t>
            </a:r>
            <a:r>
              <a:rPr lang="en-US" baseline="-25000" dirty="0"/>
              <a:t>RL</a:t>
            </a:r>
            <a:r>
              <a:rPr lang="en-US" dirty="0"/>
              <a:t>, A</a:t>
            </a:r>
            <a:r>
              <a:rPr lang="en-US" baseline="-25000" dirty="0"/>
              <a:t>LR</a:t>
            </a:r>
            <a:r>
              <a:rPr lang="en-US" dirty="0"/>
              <a:t> = A</a:t>
            </a:r>
            <a:r>
              <a:rPr lang="en-US" baseline="-25000" dirty="0"/>
              <a:t>RL</a:t>
            </a:r>
            <a:r>
              <a:rPr lang="en-US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24DD1C-FAAD-474C-B645-88C51FBA06DB}"/>
              </a:ext>
            </a:extLst>
          </p:cNvPr>
          <p:cNvSpPr txBox="1"/>
          <p:nvPr/>
        </p:nvSpPr>
        <p:spPr>
          <a:xfrm>
            <a:off x="9513346" y="5133661"/>
            <a:ext cx="2587945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err="1"/>
              <a:t>n</a:t>
            </a:r>
            <a:r>
              <a:rPr lang="en-US" b="1" i="1" baseline="-25000" dirty="0" err="1"/>
              <a:t>prop</a:t>
            </a:r>
            <a:r>
              <a:rPr lang="en-US" dirty="0"/>
              <a:t> = 1 recovers </a:t>
            </a:r>
            <a:r>
              <a:rPr lang="en-US" dirty="0" err="1"/>
              <a:t>reflectionless</a:t>
            </a:r>
            <a:r>
              <a:rPr lang="en-US" dirty="0"/>
              <a:t> property of spatial KK (R</a:t>
            </a:r>
            <a:r>
              <a:rPr lang="en-US" baseline="-25000" dirty="0"/>
              <a:t>LR</a:t>
            </a:r>
            <a:r>
              <a:rPr lang="en-US" dirty="0"/>
              <a:t> = 0)</a:t>
            </a:r>
          </a:p>
        </p:txBody>
      </p:sp>
    </p:spTree>
    <p:extLst>
      <p:ext uri="{BB962C8B-B14F-4D97-AF65-F5344CB8AC3E}">
        <p14:creationId xmlns:p14="http://schemas.microsoft.com/office/powerpoint/2010/main" val="301239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7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121" y="158695"/>
            <a:ext cx="2801607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11908711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>
            <a:cxnSpLocks/>
          </p:cNvCxnSpPr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6" y="3512378"/>
            <a:ext cx="4060192" cy="320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138" y="3512378"/>
            <a:ext cx="4060192" cy="32057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C32704-ADD8-4DF6-BF85-CD1CAFAAEFC4}"/>
              </a:ext>
            </a:extLst>
          </p:cNvPr>
          <p:cNvSpPr txBox="1"/>
          <p:nvPr/>
        </p:nvSpPr>
        <p:spPr>
          <a:xfrm>
            <a:off x="909710" y="344245"/>
            <a:ext cx="94448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i="1" dirty="0" err="1"/>
              <a:t>n</a:t>
            </a:r>
            <a:r>
              <a:rPr lang="en-US" b="1" i="1" baseline="-25000" dirty="0" err="1"/>
              <a:t>prop</a:t>
            </a:r>
            <a:r>
              <a:rPr lang="en-US" b="1" dirty="0"/>
              <a:t>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3FF44-1D86-4127-907D-BC8B5D49776D}"/>
              </a:ext>
            </a:extLst>
          </p:cNvPr>
          <p:cNvSpPr txBox="1"/>
          <p:nvPr/>
        </p:nvSpPr>
        <p:spPr>
          <a:xfrm>
            <a:off x="599576" y="1281980"/>
            <a:ext cx="238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Broadband </a:t>
            </a:r>
            <a:r>
              <a:rPr lang="en-US" sz="1600" dirty="0" err="1"/>
              <a:t>reflectionless</a:t>
            </a:r>
            <a:r>
              <a:rPr lang="en-US" sz="1600" dirty="0"/>
              <a:t> and good asymmetry, but bad signal-to-noise </a:t>
            </a:r>
          </a:p>
        </p:txBody>
      </p:sp>
    </p:spTree>
    <p:extLst>
      <p:ext uri="{BB962C8B-B14F-4D97-AF65-F5344CB8AC3E}">
        <p14:creationId xmlns:p14="http://schemas.microsoft.com/office/powerpoint/2010/main" val="523204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7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121" y="158695"/>
            <a:ext cx="2801607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10746892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/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76" y="3512378"/>
            <a:ext cx="4060192" cy="3205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728" y="3512378"/>
            <a:ext cx="4059011" cy="3205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8FBDA1-CB5F-4A4F-931C-7FB056CC0A89}"/>
              </a:ext>
            </a:extLst>
          </p:cNvPr>
          <p:cNvSpPr txBox="1"/>
          <p:nvPr/>
        </p:nvSpPr>
        <p:spPr>
          <a:xfrm>
            <a:off x="909710" y="344245"/>
            <a:ext cx="11224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i="1" dirty="0" err="1"/>
              <a:t>n</a:t>
            </a:r>
            <a:r>
              <a:rPr lang="en-US" b="1" i="1" baseline="-25000" dirty="0" err="1"/>
              <a:t>prop</a:t>
            </a:r>
            <a:r>
              <a:rPr lang="en-US" b="1" dirty="0"/>
              <a:t> = 0.5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9FD039-B4DA-4113-98DB-52ECE8AF93A1}"/>
              </a:ext>
            </a:extLst>
          </p:cNvPr>
          <p:cNvSpPr txBox="1"/>
          <p:nvPr/>
        </p:nvSpPr>
        <p:spPr>
          <a:xfrm>
            <a:off x="599576" y="1281980"/>
            <a:ext cx="238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Asymmetry drops, but transmittance stays the same (same losses)</a:t>
            </a:r>
          </a:p>
        </p:txBody>
      </p:sp>
    </p:spTree>
    <p:extLst>
      <p:ext uri="{BB962C8B-B14F-4D97-AF65-F5344CB8AC3E}">
        <p14:creationId xmlns:p14="http://schemas.microsoft.com/office/powerpoint/2010/main" val="2976465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4278E4-2281-49D8-949C-D9DBCD7E3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179" y="139855"/>
            <a:ext cx="3841847" cy="320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86BD25-EA2A-456A-8226-E089AD52B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121" y="158695"/>
            <a:ext cx="2801607" cy="2417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C15DC1-391C-413C-8611-1FFD3B537E15}"/>
              </a:ext>
            </a:extLst>
          </p:cNvPr>
          <p:cNvCxnSpPr/>
          <p:nvPr/>
        </p:nvCxnSpPr>
        <p:spPr>
          <a:xfrm>
            <a:off x="9552788" y="344245"/>
            <a:ext cx="0" cy="19256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897630-B22C-46B5-85F1-376C0233AE5B}"/>
              </a:ext>
            </a:extLst>
          </p:cNvPr>
          <p:cNvCxnSpPr/>
          <p:nvPr/>
        </p:nvCxnSpPr>
        <p:spPr>
          <a:xfrm flipH="1">
            <a:off x="7261412" y="1194099"/>
            <a:ext cx="1721223" cy="5486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C7A2F2F-A047-4049-91E4-B1B2548B3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76" y="3512378"/>
            <a:ext cx="4060192" cy="3205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FB89-F34B-44F7-84DE-A1BC934B2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728" y="3512378"/>
            <a:ext cx="4059011" cy="3205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1AC299-D4B4-4F70-ADCF-FE458017961A}"/>
              </a:ext>
            </a:extLst>
          </p:cNvPr>
          <p:cNvSpPr txBox="1"/>
          <p:nvPr/>
        </p:nvSpPr>
        <p:spPr>
          <a:xfrm>
            <a:off x="909710" y="344245"/>
            <a:ext cx="94609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n</a:t>
            </a:r>
            <a:r>
              <a:rPr lang="en-US" b="1" i="1" baseline="-25000" dirty="0" err="1"/>
              <a:t>prop</a:t>
            </a:r>
            <a:r>
              <a:rPr lang="en-US" b="1" dirty="0"/>
              <a:t> 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C2F930-3196-4660-888D-4B8E99A362DD}"/>
              </a:ext>
            </a:extLst>
          </p:cNvPr>
          <p:cNvSpPr txBox="1"/>
          <p:nvPr/>
        </p:nvSpPr>
        <p:spPr>
          <a:xfrm>
            <a:off x="599576" y="1281980"/>
            <a:ext cx="2386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Symmetric structure, no longer </a:t>
            </a:r>
            <a:r>
              <a:rPr lang="en-US" sz="1600" dirty="0" err="1"/>
              <a:t>reflectionless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589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269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28</cp:revision>
  <dcterms:created xsi:type="dcterms:W3CDTF">2025-05-19T23:40:39Z</dcterms:created>
  <dcterms:modified xsi:type="dcterms:W3CDTF">2025-05-20T04:30:05Z</dcterms:modified>
</cp:coreProperties>
</file>