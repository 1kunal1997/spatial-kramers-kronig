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patial Kramers-Kronig Dielectric Function in Thin Film Stack"/>
          <p:cNvSpPr txBox="1"/>
          <p:nvPr>
            <p:ph type="title"/>
          </p:nvPr>
        </p:nvSpPr>
        <p:spPr>
          <a:xfrm>
            <a:off x="1206500" y="5207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19" sz="6000"/>
            </a:lvl1pPr>
          </a:lstStyle>
          <a:p>
            <a:pPr/>
            <a:r>
              <a:t>Spatial Kramers-Kronig Dielectric Function in Thin Film Stack </a:t>
            </a:r>
          </a:p>
        </p:txBody>
      </p:sp>
      <p:sp>
        <p:nvSpPr>
          <p:cNvPr id="152" name="Total thickness of MS: T = 50um…"/>
          <p:cNvSpPr txBox="1"/>
          <p:nvPr/>
        </p:nvSpPr>
        <p:spPr>
          <a:xfrm>
            <a:off x="1670623" y="2433762"/>
            <a:ext cx="10406788" cy="2368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 algn="l">
              <a:lnSpc>
                <a:spcPct val="90000"/>
              </a:lnSpc>
              <a:spcBef>
                <a:spcPts val="1000"/>
              </a:spcBef>
              <a:buSzPct val="123000"/>
              <a:buChar char="-"/>
              <a:defRPr sz="4800">
                <a:solidFill>
                  <a:srgbClr val="000000"/>
                </a:solidFill>
              </a:defRPr>
            </a:pPr>
            <a:r>
              <a:t>Total thickness of MS: T = 50um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buSzPct val="123000"/>
              <a:buChar char="-"/>
              <a:defRPr sz="4800">
                <a:solidFill>
                  <a:srgbClr val="000000"/>
                </a:solidFill>
              </a:defRPr>
            </a:pPr>
            <a:r>
              <a:t>Thickness of each stack: t = 100nm</a:t>
            </a:r>
          </a:p>
          <a:p>
            <a:pPr marL="609600" indent="-609600" algn="l">
              <a:lnSpc>
                <a:spcPct val="90000"/>
              </a:lnSpc>
              <a:spcBef>
                <a:spcPts val="1000"/>
              </a:spcBef>
              <a:buSzPct val="123000"/>
              <a:buChar char="-"/>
              <a:defRPr sz="4800">
                <a:solidFill>
                  <a:srgbClr val="000000"/>
                </a:solidFill>
              </a:defRPr>
            </a:pPr>
            <a:r>
              <a:t>Number of layers: N = 500</a:t>
            </a:r>
          </a:p>
        </p:txBody>
      </p:sp>
      <p:pic>
        <p:nvPicPr>
          <p:cNvPr id="153" name="Screenshot 2024-09-19 at 10.17.56 PM.png" descr="Screenshot 2024-09-19 at 10.17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7898" y="11436104"/>
            <a:ext cx="5443586" cy="18388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Screenshot 2024-09-19 at 10.49.23 PM.png" descr="Screenshot 2024-09-19 at 10.49.2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794180" y="2058077"/>
            <a:ext cx="5981701" cy="3225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Screenshot 2024-09-27 at 4.28.46 AM.png" descr="Screenshot 2024-09-27 at 4.28.46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77155" y="5712667"/>
            <a:ext cx="7565072" cy="5530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Screenshot 2024-09-27 at 4.29.34 AM.png" descr="Screenshot 2024-09-27 at 4.29.34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121740" y="5712667"/>
            <a:ext cx="7762594" cy="5530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Screenshot 2024-09-27 at 4.30.46 AM.png" descr="Screenshot 2024-09-27 at 4.30.46 A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900376" y="12032243"/>
            <a:ext cx="626363" cy="722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Screenshot 2024-09-27 at 4.31.07 AM.png" descr="Screenshot 2024-09-27 at 4.31.07 A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548141" y="12006843"/>
            <a:ext cx="457727" cy="72272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, A = 2"/>
          <p:cNvSpPr txBox="1"/>
          <p:nvPr/>
        </p:nvSpPr>
        <p:spPr>
          <a:xfrm>
            <a:off x="12585432" y="12004007"/>
            <a:ext cx="123253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, </a:t>
            </a:r>
            <a:r>
              <a:rPr i="1"/>
              <a:t>A</a:t>
            </a:r>
            <a:r>
              <a:t> = 2</a:t>
            </a:r>
          </a:p>
        </p:txBody>
      </p:sp>
      <p:pic>
        <p:nvPicPr>
          <p:cNvPr id="160" name="Screenshot 2024-09-27 at 4.35.15 AM.png" descr="Screenshot 2024-09-27 at 4.35.15 AM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1929259" y="11921191"/>
            <a:ext cx="626363" cy="713763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,"/>
          <p:cNvSpPr txBox="1"/>
          <p:nvPr/>
        </p:nvSpPr>
        <p:spPr>
          <a:xfrm>
            <a:off x="14339151" y="12004007"/>
            <a:ext cx="22021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,</a:t>
            </a:r>
          </a:p>
        </p:txBody>
      </p:sp>
      <p:sp>
        <p:nvSpPr>
          <p:cNvPr id="162" name="="/>
          <p:cNvSpPr txBox="1"/>
          <p:nvPr/>
        </p:nvSpPr>
        <p:spPr>
          <a:xfrm>
            <a:off x="11556548" y="12004007"/>
            <a:ext cx="34290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=</a:t>
            </a:r>
          </a:p>
        </p:txBody>
      </p:sp>
      <p:pic>
        <p:nvPicPr>
          <p:cNvPr id="163" name="Screenshot 2024-09-27 at 4.38.02 AM.png" descr="Screenshot 2024-09-27 at 4.38.02 AM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3782295" y="12074373"/>
            <a:ext cx="517285" cy="5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= 250nm"/>
          <p:cNvSpPr txBox="1"/>
          <p:nvPr/>
        </p:nvSpPr>
        <p:spPr>
          <a:xfrm>
            <a:off x="14876659" y="12042107"/>
            <a:ext cx="17270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 = 250nm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MM vs. Coms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TMM vs. Comsol</a:t>
            </a:r>
          </a:p>
        </p:txBody>
      </p:sp>
      <p:pic>
        <p:nvPicPr>
          <p:cNvPr id="167" name="Screenshot 2024-09-27 at 4.09.01 AM.png" descr="Screenshot 2024-09-27 at 4.09.0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21107" y="3087877"/>
            <a:ext cx="9098279" cy="5736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Screenshot 2024-09-27 at 4.09.55 AM.png" descr="Screenshot 2024-09-27 at 4.09.5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1507" y="3089821"/>
            <a:ext cx="9098279" cy="57329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Screenshot 2024-09-27 at 4.47.51 AM.png" descr="Screenshot 2024-09-27 at 4.47.51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271314" y="13077797"/>
            <a:ext cx="680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Screenshot 2024-09-27 at 4.29.34 AM.png" descr="Screenshot 2024-09-27 at 4.29.34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750635" y="8867804"/>
            <a:ext cx="5848559" cy="41669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ngle Dependence"/>
          <p:cNvSpPr txBox="1"/>
          <p:nvPr>
            <p:ph type="title"/>
          </p:nvPr>
        </p:nvSpPr>
        <p:spPr>
          <a:xfrm>
            <a:off x="1206500" y="700351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Angle Dependence</a:t>
            </a:r>
          </a:p>
        </p:txBody>
      </p:sp>
      <p:pic>
        <p:nvPicPr>
          <p:cNvPr id="173" name="Screenshot 2024-09-27 at 4.52.03 AM.png" descr="Screenshot 2024-09-27 at 4.52.0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59900" y="2740682"/>
            <a:ext cx="7734301" cy="4889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shot 2024-09-27 at 4.52.54 AM.png" descr="Screenshot 2024-09-27 at 4.52.54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89272" y="2753382"/>
            <a:ext cx="7747001" cy="486410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Comsol:"/>
          <p:cNvSpPr txBox="1"/>
          <p:nvPr/>
        </p:nvSpPr>
        <p:spPr>
          <a:xfrm>
            <a:off x="1144576" y="4750355"/>
            <a:ext cx="2620252" cy="870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300">
                <a:solidFill>
                  <a:srgbClr val="000000"/>
                </a:solidFill>
              </a:defRPr>
            </a:lvl1pPr>
          </a:lstStyle>
          <a:p>
            <a:pPr/>
            <a:r>
              <a:t>Comsol:</a:t>
            </a:r>
          </a:p>
        </p:txBody>
      </p:sp>
      <p:sp>
        <p:nvSpPr>
          <p:cNvPr id="176" name="TMM:"/>
          <p:cNvSpPr txBox="1"/>
          <p:nvPr/>
        </p:nvSpPr>
        <p:spPr>
          <a:xfrm>
            <a:off x="1524541" y="9823876"/>
            <a:ext cx="1860322" cy="870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300">
                <a:solidFill>
                  <a:srgbClr val="000000"/>
                </a:solidFill>
              </a:defRPr>
            </a:lvl1pPr>
          </a:lstStyle>
          <a:p>
            <a:pPr/>
            <a:r>
              <a:t>TMM:</a:t>
            </a:r>
          </a:p>
        </p:txBody>
      </p:sp>
      <p:pic>
        <p:nvPicPr>
          <p:cNvPr id="177" name="Screenshot 2024-09-27 at 5.01.08 AM.png" descr="Screenshot 2024-09-27 at 5.01.08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600940" y="8030102"/>
            <a:ext cx="7123665" cy="4864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Screenshot 2024-09-27 at 5.01.29 AM.png" descr="Screenshot 2024-09-27 at 5.01.29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113494" y="8030102"/>
            <a:ext cx="6827113" cy="4864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Angle of Incidence = 79 degrees"/>
          <p:cNvSpPr txBox="1"/>
          <p:nvPr>
            <p:ph type="title"/>
          </p:nvPr>
        </p:nvSpPr>
        <p:spPr>
          <a:xfrm>
            <a:off x="1206500" y="55817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Angle of Incidence = 79 degrees</a:t>
            </a:r>
          </a:p>
        </p:txBody>
      </p:sp>
      <p:pic>
        <p:nvPicPr>
          <p:cNvPr id="181" name="Screenshot 2024-09-27 at 5.22.08 AM.png" descr="Screenshot 2024-09-27 at 5.22.0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93916" y="8371447"/>
            <a:ext cx="7531101" cy="4889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creenshot 2024-09-27 at 5.23.26 AM.png" descr="Screenshot 2024-09-27 at 5.23.2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42759" y="8377797"/>
            <a:ext cx="7772401" cy="4876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Screenshot 2024-09-27 at 5.24.34 AM.png" descr="Screenshot 2024-09-27 at 5.24.34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91251" y="2767415"/>
            <a:ext cx="7675417" cy="5211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Screenshot 2024-09-27 at 5.25.00 AM.png" descr="Screenshot 2024-09-27 at 5.25.00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793916" y="2767415"/>
            <a:ext cx="7531101" cy="52110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