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60" r:id="rId4"/>
    <p:sldId id="262" r:id="rId5"/>
    <p:sldId id="263" r:id="rId6"/>
    <p:sldId id="259" r:id="rId7"/>
    <p:sldId id="258" r:id="rId8"/>
    <p:sldId id="267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6"/>
  </p:normalViewPr>
  <p:slideViewPr>
    <p:cSldViewPr snapToGrid="0">
      <p:cViewPr>
        <p:scale>
          <a:sx n="110" d="100"/>
          <a:sy n="110" d="100"/>
        </p:scale>
        <p:origin x="536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9T20:31:24.8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1,'51'0,"-1"0,48 0,-17 0,-7 0,-12 0,-12 0,-9 0,-5 0,-2 0,4 0,4 0,5 0,4 0,-2 0,-4 0,-7 0,-9 0,-6 0,-2 0,1 0,5 0,9 0,8 0,9 0,8 0,3 0,-2 2,-7 2,-12-1,-8-1,-9-2,-1 0,4 0,7 0,8 0,6 0,4 0,6 0,7 0,4 0,2 0,-12 0,-13 0,-13 0,-11 0,-2 0,3 0,5 0,3 0,4 0,1 0,-3 0,3 0,-3 0,-2 0,-4 0,-6 0,-3 0,-2 0,-1 0,1 0,0 0,4 0,6 0,6 0,4 0,0 0,-3 0,-2 0,-2 0,-5 0,-3 0,-3 0,-6 0,2 0,2 2,-1 0,5 1,-4-1,0-2,-3 0,4 0,-6 1,8 1,-6 0,6 0,-3-2,-3 0,0 0,1 0,-1 0,4 0,-2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18B15-CCE4-C947-A72B-CC2A3261940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02045-9115-8547-9EB0-6257F37DB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9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3AB0-01F0-798E-CF3D-ECD48DA09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E07CC-2B2C-B65C-CF33-16B21A047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6896A-D0D6-400C-FAD1-F897E1A1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2B86E-7D80-A143-7A86-59D2B20C8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2E69C-6791-ECE0-4D0D-C5EA2C55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5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DB4F-DE84-5D85-049A-435813E7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6C563-824C-5EA6-0711-90A3D1BF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8D020-4050-D607-3B3A-94EAB595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B3D17-633D-F6E7-4978-BF48832A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9B4C8-E3D6-030E-A825-39A4945F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7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C57D-7FB8-BF06-948A-05F15A270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8C7AA-950B-16E1-C328-E1D2D2A6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35DBD-FDCE-129E-9CF1-B8D3BA22B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3B10F-8BB7-DA9A-AF1E-E77E2443F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62BF5-E89E-59BD-6286-769BAE73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3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105F-0C00-E4D0-4664-A47184C98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C0DE-574A-1179-8590-5B128E9FC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1FFFA-7EE4-0D9C-AA31-7ADE9FF3E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BDA8C-2C92-9BDE-0F70-22219945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2C4A8-257B-7560-B3F3-5F02CAB14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D858B-45BB-C439-5E88-4C76D2CD6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2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46CC-0A90-CDB6-7D44-3920DBBA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232C5-689D-859B-DD2B-F3E0BDB20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F51E8-8637-9059-6DC1-533AB2B06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34317-408A-4D62-C714-C87DA55E6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D6C01-139D-124E-C2FB-4BD18EBCF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4D16F-F7A5-B590-D0F8-37F0CC05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327480-BE27-8A97-7B5B-854856D9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DDD80-67AA-54A8-BD72-5A49D818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3AD7B-BBFA-94BC-A563-C694DE83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6A352-4277-5434-CE1B-A791DBCD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D79F1-6921-7E0C-A267-1E78BC03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59B9E-F9AB-587A-F8C6-69E0EC13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7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FD6EA-1422-4E7D-F746-EA54A264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9AE5A-3B1C-6594-CAF3-9141EFD9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84D8D-0741-6F86-8E78-4FFDBA11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00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FD30-F130-B4EE-43C0-363177F94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3334-94F9-94D5-B3B3-DE6D7A7F8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A32BBD-5D1E-EF78-F83C-2D41A17B5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5E0B6-307C-1AFC-6A11-2EACA6E8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860D6-F3FE-5665-BFED-7A7BAD1E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D298F-8DC5-58FD-B283-4AD14096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C8793-0873-DF47-B078-B4968955F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EC7FC1-F7C0-415C-CEA4-1BF76B740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01825-70AA-3BE9-BBA3-E7F9B6D01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C5C98-B989-4FF1-666B-4FE05DE3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7E534-18ED-C908-6DB7-1BB6CCDA4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B1A65-8D32-C77D-E391-06F30185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9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6FD2-0694-F697-FE20-CBCB894E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5ED01-2F26-47E4-4064-F755B3CA8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38C10-C90E-A122-499C-4739ED27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7E42A-3BD9-B589-EC33-169F73F8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6CBF3-6ACB-D7C7-60D6-43E5D966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20FBFA-39DE-6A61-B14E-FDD91330D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F6542-E747-06E2-7CD3-890822AC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62986-58F3-FC5C-3D00-B78EAE06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2C311-D3A0-DFC0-D6F8-892EE5D7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1FB5B-AEB0-BB64-940A-CDCEE64D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EBEF66-FDA3-E026-54C1-B74E38E6C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B1A4-1712-734A-87C2-98D102DE7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25537-F322-6381-A18C-397FC3CD6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C6F71-5CC5-764B-9FC7-88A5A627B769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B7E6A-3511-10CA-701C-28F244EF1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E860-4CFC-4BF4-C994-6A6B986CC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F8763-DC30-1946-9E96-98073C66A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1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5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387737" y="1108688"/>
            <a:ext cx="8986222" cy="1290918"/>
            <a:chOff x="2259106" y="2398955"/>
            <a:chExt cx="8986222" cy="1290918"/>
          </a:xfrm>
        </p:grpSpPr>
        <p:sp>
          <p:nvSpPr>
            <p:cNvPr id="85" name="Google Shape;85;p1"/>
            <p:cNvSpPr/>
            <p:nvPr/>
          </p:nvSpPr>
          <p:spPr>
            <a:xfrm>
              <a:off x="2259106" y="2398955"/>
              <a:ext cx="1452282" cy="1290918"/>
            </a:xfrm>
            <a:prstGeom prst="rect">
              <a:avLst/>
            </a:prstGeom>
            <a:solidFill>
              <a:srgbClr val="B3C6E7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6752217" y="2398955"/>
              <a:ext cx="1452282" cy="1290918"/>
            </a:xfrm>
            <a:prstGeom prst="rect">
              <a:avLst/>
            </a:prstGeom>
            <a:solidFill>
              <a:srgbClr val="B3C6E7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8204499" y="2398955"/>
              <a:ext cx="3040829" cy="1290918"/>
            </a:xfrm>
            <a:prstGeom prst="rect">
              <a:avLst/>
            </a:prstGeom>
            <a:solidFill>
              <a:srgbClr val="FFF2C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3711388" y="2398955"/>
              <a:ext cx="3040829" cy="1290918"/>
            </a:xfrm>
            <a:prstGeom prst="rect">
              <a:avLst/>
            </a:prstGeom>
            <a:solidFill>
              <a:srgbClr val="FFF2C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" name="Google Shape;89;p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76484" y="1342787"/>
            <a:ext cx="1290978" cy="7628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2333718" y="1421542"/>
            <a:ext cx="198729" cy="2143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576499" y="1724212"/>
            <a:ext cx="336737" cy="2267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4163" y="1359003"/>
            <a:ext cx="1290978" cy="76285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6821397" y="1437758"/>
            <a:ext cx="198729" cy="2143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064178" y="1740428"/>
            <a:ext cx="336737" cy="2267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"/>
          <p:cNvCxnSpPr/>
          <p:nvPr/>
        </p:nvCxnSpPr>
        <p:spPr>
          <a:xfrm flipH="1">
            <a:off x="1387737" y="2798447"/>
            <a:ext cx="8986223" cy="1201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6" name="Google Shape;96;p1"/>
          <p:cNvSpPr/>
          <p:nvPr/>
        </p:nvSpPr>
        <p:spPr>
          <a:xfrm>
            <a:off x="5673987" y="2395337"/>
            <a:ext cx="58035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387737" y="3006965"/>
            <a:ext cx="8986222" cy="1290918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4472065" y="3285877"/>
            <a:ext cx="2817566" cy="76059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7812209" y="5466463"/>
            <a:ext cx="236750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030" b="-177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100" name="Google Shape;100;p1"/>
          <p:cNvSpPr txBox="1"/>
          <p:nvPr/>
        </p:nvSpPr>
        <p:spPr>
          <a:xfrm>
            <a:off x="7884024" y="4836964"/>
            <a:ext cx="2295692" cy="40607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102" name="Google Shape;102;p1"/>
          <p:cNvSpPr txBox="1"/>
          <p:nvPr/>
        </p:nvSpPr>
        <p:spPr>
          <a:xfrm>
            <a:off x="744781" y="1281979"/>
            <a:ext cx="53893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472216" y="3134087"/>
            <a:ext cx="53893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744781" y="3134087"/>
            <a:ext cx="53893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10472216" y="1281979"/>
            <a:ext cx="53893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 rot="5400000">
            <a:off x="3447546" y="-1442916"/>
            <a:ext cx="373491" cy="449311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3210745" y="135984"/>
            <a:ext cx="847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Stack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DD1CF0-6990-AC0A-A5C2-AAC64810FE9F}"/>
                  </a:ext>
                </a:extLst>
              </p:cNvPr>
              <p:cNvSpPr txBox="1"/>
              <p:nvPr/>
            </p:nvSpPr>
            <p:spPr>
              <a:xfrm>
                <a:off x="2253171" y="4879795"/>
                <a:ext cx="1804666" cy="74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0" dirty="0"/>
                  <a:t>FOM =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0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3000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den>
                    </m:f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DD1CF0-6990-AC0A-A5C2-AAC64810F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171" y="4879795"/>
                <a:ext cx="1804666" cy="748538"/>
              </a:xfrm>
              <a:prstGeom prst="rect">
                <a:avLst/>
              </a:prstGeom>
              <a:blipFill>
                <a:blip r:embed="rId8"/>
                <a:stretch>
                  <a:fillRect l="-7692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0DCA49-FBE5-4246-412F-0F5DF7C90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632" y="3778153"/>
            <a:ext cx="6423837" cy="2626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27B89A-DB86-905D-6C62-7184B7D28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940" y="0"/>
            <a:ext cx="6423837" cy="37781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5370D-2B8E-8654-638B-F30BFA0DD266}"/>
                  </a:ext>
                </a:extLst>
              </p:cNvPr>
              <p:cNvSpPr txBox="1"/>
              <p:nvPr/>
            </p:nvSpPr>
            <p:spPr>
              <a:xfrm>
                <a:off x="9680941" y="4524153"/>
                <a:ext cx="15066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⍺=4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𝜋𝜅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z="2000" b="0" i="0" baseline="-25000" smtClean="0"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US" sz="2000" dirty="0"/>
                  <a:t> / </a:t>
                </a:r>
                <a:r>
                  <a:rPr lang="en-US" sz="2000" dirty="0" err="1"/>
                  <a:t>λ</a:t>
                </a: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5370D-2B8E-8654-638B-F30BFA0DD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941" y="4524153"/>
                <a:ext cx="1506631" cy="307777"/>
              </a:xfrm>
              <a:prstGeom prst="rect">
                <a:avLst/>
              </a:prstGeom>
              <a:blipFill>
                <a:blip r:embed="rId4"/>
                <a:stretch>
                  <a:fillRect l="-5042" t="-24000" r="-6723" b="-5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4EC812-574E-F992-1DEB-36A887476A94}"/>
                  </a:ext>
                </a:extLst>
              </p:cNvPr>
              <p:cNvSpPr txBox="1"/>
              <p:nvPr/>
            </p:nvSpPr>
            <p:spPr>
              <a:xfrm>
                <a:off x="9680941" y="5091419"/>
                <a:ext cx="2065244" cy="667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4EC812-574E-F992-1DEB-36A887476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941" y="5091419"/>
                <a:ext cx="2065244" cy="667619"/>
              </a:xfrm>
              <a:prstGeom prst="rect">
                <a:avLst/>
              </a:prstGeom>
              <a:blipFill>
                <a:blip r:embed="rId5"/>
                <a:stretch>
                  <a:fillRect l="-13497" t="-164815" r="-2454" b="-2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36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04088-49FF-3A8A-A97D-C588D36E0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7F89D75-D1FF-014E-A9F2-55C73AEC3809}"/>
              </a:ext>
            </a:extLst>
          </p:cNvPr>
          <p:cNvGrpSpPr>
            <a:grpSpLocks noChangeAspect="1"/>
          </p:cNvGrpSpPr>
          <p:nvPr/>
        </p:nvGrpSpPr>
        <p:grpSpPr>
          <a:xfrm>
            <a:off x="6503434" y="1993568"/>
            <a:ext cx="4607589" cy="2870863"/>
            <a:chOff x="612997" y="1757251"/>
            <a:chExt cx="4607589" cy="2870863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C768A245-332F-C758-A145-D3369D8C9E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694" t="85475"/>
            <a:stretch>
              <a:fillRect/>
            </a:stretch>
          </p:blipFill>
          <p:spPr bwMode="auto">
            <a:xfrm>
              <a:off x="2622054" y="4327007"/>
              <a:ext cx="1099341" cy="301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F20B509-AB3A-42EE-DD66-01EF7A5217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12997" y="1757251"/>
              <a:ext cx="4607589" cy="2565400"/>
              <a:chOff x="612997" y="1757251"/>
              <a:chExt cx="4607589" cy="2565400"/>
            </a:xfrm>
          </p:grpSpPr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8C18732E-A57F-1456-CE12-39955D351A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/>
              <a:srcRect l="609" r="609"/>
              <a:stretch/>
            </p:blipFill>
            <p:spPr bwMode="auto">
              <a:xfrm>
                <a:off x="612997" y="1757251"/>
                <a:ext cx="4607589" cy="2565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>
                <a:extLst>
                  <a:ext uri="{FF2B5EF4-FFF2-40B4-BE49-F238E27FC236}">
                    <a16:creationId xmlns:a16="http://schemas.microsoft.com/office/drawing/2014/main" id="{1C7742F6-7BE4-9199-532D-A023D0F003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908" t="38188" b="37774"/>
              <a:stretch>
                <a:fillRect/>
              </a:stretch>
            </p:blipFill>
            <p:spPr bwMode="auto">
              <a:xfrm>
                <a:off x="3700129" y="2126512"/>
                <a:ext cx="1393013" cy="616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5269911-E209-D241-2FF5-C60EAF8A9D38}"/>
              </a:ext>
            </a:extLst>
          </p:cNvPr>
          <p:cNvGrpSpPr>
            <a:grpSpLocks noChangeAspect="1"/>
          </p:cNvGrpSpPr>
          <p:nvPr/>
        </p:nvGrpSpPr>
        <p:grpSpPr>
          <a:xfrm>
            <a:off x="979672" y="1942768"/>
            <a:ext cx="4607589" cy="2968107"/>
            <a:chOff x="979672" y="1942768"/>
            <a:chExt cx="4607589" cy="2968107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900A1117-57E3-A9FC-44DF-80396498A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 t="149" b="149"/>
            <a:stretch/>
          </p:blipFill>
          <p:spPr bwMode="auto">
            <a:xfrm>
              <a:off x="979672" y="1942768"/>
              <a:ext cx="4607589" cy="2667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8D57DB9B-A412-DDAA-EB21-5E9FB7C2B9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595" t="43422" b="43023"/>
            <a:stretch>
              <a:fillRect/>
            </a:stretch>
          </p:blipFill>
          <p:spPr bwMode="auto">
            <a:xfrm>
              <a:off x="3769092" y="2182075"/>
              <a:ext cx="904211" cy="361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B396C66A-1BA6-DAA2-3E22-B4FBAEABDD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694" t="85475"/>
            <a:stretch>
              <a:fillRect/>
            </a:stretch>
          </p:blipFill>
          <p:spPr bwMode="auto">
            <a:xfrm>
              <a:off x="2912677" y="4609768"/>
              <a:ext cx="1099341" cy="301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A3F0562-D4B3-9157-06BD-51143EBFA3F3}"/>
              </a:ext>
            </a:extLst>
          </p:cNvPr>
          <p:cNvSpPr txBox="1"/>
          <p:nvPr/>
        </p:nvSpPr>
        <p:spPr>
          <a:xfrm>
            <a:off x="1222744" y="520995"/>
            <a:ext cx="5221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= 5, </a:t>
            </a:r>
            <a:r>
              <a:rPr lang="en-US" sz="2400" b="1" dirty="0"/>
              <a:t>x</a:t>
            </a:r>
            <a:r>
              <a:rPr lang="en-US" sz="2400" b="1" baseline="-25000" dirty="0"/>
              <a:t>0</a:t>
            </a:r>
            <a:r>
              <a:rPr lang="en-US" sz="2400" b="1" dirty="0"/>
              <a:t> = 0.0013μm</a:t>
            </a:r>
            <a:r>
              <a:rPr lang="en-US" sz="2400" dirty="0"/>
              <a:t>, </a:t>
            </a:r>
            <a:r>
              <a:rPr lang="en-US" sz="2400" dirty="0" err="1"/>
              <a:t>n</a:t>
            </a:r>
            <a:r>
              <a:rPr lang="en-US" sz="2400" baseline="-25000" dirty="0" err="1"/>
              <a:t>b</a:t>
            </a:r>
            <a:r>
              <a:rPr lang="en-US" sz="2400" dirty="0"/>
              <a:t> = 1.7, </a:t>
            </a:r>
            <a:r>
              <a:rPr lang="en-US" sz="2400" dirty="0" err="1"/>
              <a:t>λ</a:t>
            </a:r>
            <a:r>
              <a:rPr lang="en-US" sz="2400" dirty="0"/>
              <a:t> = 3μm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65ADD-FE04-7764-B267-58B87DA45D30}"/>
                  </a:ext>
                </a:extLst>
              </p:cNvPr>
              <p:cNvSpPr txBox="1"/>
              <p:nvPr/>
            </p:nvSpPr>
            <p:spPr>
              <a:xfrm>
                <a:off x="7228422" y="781083"/>
                <a:ext cx="4214525" cy="803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𝐹𝑂𝑀𝑒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𝑛h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baseline="-25000" smtClean="0">
                                  <a:latin typeface="Cambria Math" panose="02040503050406030204" pitchFamily="18" charset="0"/>
                                </a:rPr>
                                <m:t>𝐾𝐾</m:t>
                              </m:r>
                              <m:r>
                                <a:rPr lang="en-US" sz="2400" b="0" i="1" baseline="30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2400" b="0" i="1" baseline="-25000" smtClean="0">
                                  <a:latin typeface="Cambria Math" panose="02040503050406030204" pitchFamily="18" charset="0"/>
                                </a:rPr>
                                <m:t>𝑏𝑢𝑙𝑘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baseline="-25000" smtClean="0">
                                  <a:latin typeface="Cambria Math" panose="02040503050406030204" pitchFamily="18" charset="0"/>
                                </a:rPr>
                                <m:t>𝑏𝑢𝑙𝑘</m:t>
                              </m:r>
                              <m:r>
                                <a:rPr lang="en-US" sz="2400" b="0" i="1" baseline="30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2400" b="0" i="1" baseline="-25000" smtClean="0">
                                  <a:latin typeface="Cambria Math" panose="02040503050406030204" pitchFamily="18" charset="0"/>
                                </a:rPr>
                                <m:t>𝐾𝐾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65ADD-FE04-7764-B267-58B87DA45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422" y="781083"/>
                <a:ext cx="4214525" cy="803682"/>
              </a:xfrm>
              <a:prstGeom prst="rect">
                <a:avLst/>
              </a:prstGeom>
              <a:blipFill>
                <a:blip r:embed="rId7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09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0DCE73-6F76-1231-6E9E-2B96D548A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354" y="0"/>
            <a:ext cx="5976564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0A21BC-75E9-9E62-0942-D5CE5D22B9E7}"/>
              </a:ext>
            </a:extLst>
          </p:cNvPr>
          <p:cNvSpPr txBox="1"/>
          <p:nvPr/>
        </p:nvSpPr>
        <p:spPr>
          <a:xfrm>
            <a:off x="8864205" y="2811348"/>
            <a:ext cx="3232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 of </a:t>
            </a:r>
            <a:r>
              <a:rPr lang="en-US" b="1" dirty="0">
                <a:highlight>
                  <a:srgbClr val="FFFF00"/>
                </a:highlight>
              </a:rPr>
              <a:t>ln(T</a:t>
            </a:r>
            <a:r>
              <a:rPr lang="en-US" b="1" baseline="-25000" dirty="0">
                <a:highlight>
                  <a:srgbClr val="FFFF00"/>
                </a:highlight>
              </a:rPr>
              <a:t>o</a:t>
            </a:r>
            <a:r>
              <a:rPr lang="en-US" b="1" dirty="0">
                <a:highlight>
                  <a:srgbClr val="FFFF00"/>
                </a:highlight>
              </a:rPr>
              <a:t>) + ⍺</a:t>
            </a:r>
            <a:r>
              <a:rPr lang="en-US" b="1" dirty="0"/>
              <a:t> </a:t>
            </a:r>
            <a:r>
              <a:rPr lang="en-US" dirty="0"/>
              <a:t>determines large N behavior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8702F-9030-A459-1FA2-71B876F74DE8}"/>
              </a:ext>
            </a:extLst>
          </p:cNvPr>
          <p:cNvSpPr txBox="1"/>
          <p:nvPr/>
        </p:nvSpPr>
        <p:spPr>
          <a:xfrm>
            <a:off x="730445" y="356602"/>
            <a:ext cx="1680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 N limit: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45CC9-339E-1F2A-8670-8F3986EEFC5B}"/>
              </a:ext>
            </a:extLst>
          </p:cNvPr>
          <p:cNvSpPr txBox="1"/>
          <p:nvPr/>
        </p:nvSpPr>
        <p:spPr>
          <a:xfrm>
            <a:off x="8864205" y="3660494"/>
            <a:ext cx="3127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</a:t>
            </a:r>
            <a:r>
              <a:rPr lang="en-US" dirty="0" err="1"/>
              <a:t>T</a:t>
            </a:r>
            <a:r>
              <a:rPr lang="en-US" baseline="-25000" dirty="0" err="1"/>
              <a:t>bulk</a:t>
            </a:r>
            <a:r>
              <a:rPr lang="en-US" dirty="0"/>
              <a:t> = e</a:t>
            </a:r>
            <a:r>
              <a:rPr lang="en-US" baseline="30000" dirty="0"/>
              <a:t>-⍺</a:t>
            </a:r>
            <a:r>
              <a:rPr lang="en-US" dirty="0"/>
              <a:t> , ⍺ = -ln(</a:t>
            </a:r>
            <a:r>
              <a:rPr lang="en-US" dirty="0" err="1"/>
              <a:t>T</a:t>
            </a:r>
            <a:r>
              <a:rPr lang="en-US" baseline="-25000" dirty="0" err="1"/>
              <a:t>bulk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Small differences in </a:t>
            </a:r>
            <a:r>
              <a:rPr lang="en-US" dirty="0" err="1"/>
              <a:t>T</a:t>
            </a:r>
            <a:r>
              <a:rPr lang="en-US" baseline="-25000" dirty="0" err="1"/>
              <a:t>bulk</a:t>
            </a:r>
            <a:r>
              <a:rPr lang="en-US" dirty="0"/>
              <a:t> and T</a:t>
            </a:r>
            <a:r>
              <a:rPr lang="en-US" baseline="-25000" dirty="0"/>
              <a:t>o</a:t>
            </a:r>
            <a:r>
              <a:rPr lang="en-US" dirty="0"/>
              <a:t> affect FOM enhancement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F540B40-A901-8345-B441-011CFA49A01A}"/>
                  </a:ext>
                </a:extLst>
              </p14:cNvPr>
              <p14:cNvContentPartPr/>
              <p14:nvPr/>
            </p14:nvContentPartPr>
            <p14:xfrm>
              <a:off x="5029136" y="5824650"/>
              <a:ext cx="1195920" cy="10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F540B40-A901-8345-B441-011CFA49A0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75136" y="5717010"/>
                <a:ext cx="1303560" cy="22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5286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FDAD0-7992-14BA-41C9-E8768FAE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087F896-721A-D0F1-2820-7943FB4A06F5}"/>
              </a:ext>
            </a:extLst>
          </p:cNvPr>
          <p:cNvGrpSpPr>
            <a:grpSpLocks noChangeAspect="1"/>
          </p:cNvGrpSpPr>
          <p:nvPr/>
        </p:nvGrpSpPr>
        <p:grpSpPr>
          <a:xfrm>
            <a:off x="6503434" y="1993568"/>
            <a:ext cx="4607589" cy="2870863"/>
            <a:chOff x="612997" y="1757251"/>
            <a:chExt cx="4607589" cy="2870863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2B485BF4-4C63-FD34-7552-9AB6890E93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694" t="85475"/>
            <a:stretch>
              <a:fillRect/>
            </a:stretch>
          </p:blipFill>
          <p:spPr bwMode="auto">
            <a:xfrm>
              <a:off x="2622054" y="4327007"/>
              <a:ext cx="1099341" cy="301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EF0A376-189F-54F2-44C2-36D698E508A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12997" y="1757251"/>
              <a:ext cx="4607589" cy="2565400"/>
              <a:chOff x="612997" y="1757251"/>
              <a:chExt cx="4607589" cy="2565400"/>
            </a:xfrm>
          </p:grpSpPr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272EE9B5-A03F-03C1-66E1-C1BC7B1FF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/>
              <a:srcRect l="609" r="609"/>
              <a:stretch/>
            </p:blipFill>
            <p:spPr bwMode="auto">
              <a:xfrm>
                <a:off x="612997" y="1757251"/>
                <a:ext cx="4607589" cy="2565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>
                <a:extLst>
                  <a:ext uri="{FF2B5EF4-FFF2-40B4-BE49-F238E27FC236}">
                    <a16:creationId xmlns:a16="http://schemas.microsoft.com/office/drawing/2014/main" id="{35E3BC8A-B235-40EC-410E-26B3854AFB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908" t="38188" b="37774"/>
              <a:stretch>
                <a:fillRect/>
              </a:stretch>
            </p:blipFill>
            <p:spPr bwMode="auto">
              <a:xfrm>
                <a:off x="3700129" y="2126512"/>
                <a:ext cx="1393013" cy="616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B046DD5-7CA9-CCD7-536F-DECE22C59BEA}"/>
              </a:ext>
            </a:extLst>
          </p:cNvPr>
          <p:cNvGrpSpPr>
            <a:grpSpLocks noChangeAspect="1"/>
          </p:cNvGrpSpPr>
          <p:nvPr/>
        </p:nvGrpSpPr>
        <p:grpSpPr>
          <a:xfrm>
            <a:off x="979672" y="1942768"/>
            <a:ext cx="4607589" cy="2968107"/>
            <a:chOff x="979672" y="1942768"/>
            <a:chExt cx="4607589" cy="2968107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9563A000-DB91-756E-B9C3-4FEE4B168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 t="149" b="149"/>
            <a:stretch/>
          </p:blipFill>
          <p:spPr bwMode="auto">
            <a:xfrm>
              <a:off x="979672" y="1942768"/>
              <a:ext cx="4607589" cy="2667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6D0FFAAF-41DB-39B4-8823-10A19BD895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595" t="43422" b="43023"/>
            <a:stretch>
              <a:fillRect/>
            </a:stretch>
          </p:blipFill>
          <p:spPr bwMode="auto">
            <a:xfrm>
              <a:off x="3769092" y="2182075"/>
              <a:ext cx="904211" cy="361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DA40B07E-315B-0B01-4DF2-2A0862832B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694" t="85475"/>
            <a:stretch>
              <a:fillRect/>
            </a:stretch>
          </p:blipFill>
          <p:spPr bwMode="auto">
            <a:xfrm>
              <a:off x="2912677" y="4609768"/>
              <a:ext cx="1099341" cy="301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D5F1BB5-0431-DCD0-1DEF-D47358605108}"/>
              </a:ext>
            </a:extLst>
          </p:cNvPr>
          <p:cNvSpPr txBox="1"/>
          <p:nvPr/>
        </p:nvSpPr>
        <p:spPr>
          <a:xfrm>
            <a:off x="1222744" y="520995"/>
            <a:ext cx="5221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= 5, </a:t>
            </a:r>
            <a:r>
              <a:rPr lang="en-US" sz="2400" b="1" dirty="0"/>
              <a:t>x</a:t>
            </a:r>
            <a:r>
              <a:rPr lang="en-US" sz="2400" b="1" baseline="-25000" dirty="0"/>
              <a:t>0</a:t>
            </a:r>
            <a:r>
              <a:rPr lang="en-US" sz="2400" b="1" dirty="0"/>
              <a:t> = 0.0013μm</a:t>
            </a:r>
            <a:r>
              <a:rPr lang="en-US" sz="2400" dirty="0"/>
              <a:t>, </a:t>
            </a:r>
            <a:r>
              <a:rPr lang="en-US" sz="2400" dirty="0" err="1"/>
              <a:t>n</a:t>
            </a:r>
            <a:r>
              <a:rPr lang="en-US" sz="2400" baseline="-25000" dirty="0" err="1"/>
              <a:t>b</a:t>
            </a:r>
            <a:r>
              <a:rPr lang="en-US" sz="2400" dirty="0"/>
              <a:t> = 1.7, </a:t>
            </a:r>
            <a:r>
              <a:rPr lang="en-US" sz="2400" dirty="0" err="1"/>
              <a:t>λ</a:t>
            </a:r>
            <a:r>
              <a:rPr lang="en-US" sz="2400" dirty="0"/>
              <a:t> = 3μm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13CA0-AAA7-BECA-74B6-C96FA55F5761}"/>
              </a:ext>
            </a:extLst>
          </p:cNvPr>
          <p:cNvSpPr txBox="1"/>
          <p:nvPr/>
        </p:nvSpPr>
        <p:spPr>
          <a:xfrm>
            <a:off x="7791007" y="1160352"/>
            <a:ext cx="236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ln(To) + ⍺ = + 8.3 x 10</a:t>
            </a:r>
            <a:r>
              <a:rPr lang="en-US" baseline="30000" dirty="0">
                <a:highlight>
                  <a:srgbClr val="FFFF00"/>
                </a:highlight>
              </a:rPr>
              <a:t>-6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769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226D-3A00-73EC-F885-E9F5F918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F282652-5C38-9D5E-D314-7A9CA5049CC4}"/>
              </a:ext>
            </a:extLst>
          </p:cNvPr>
          <p:cNvGrpSpPr>
            <a:grpSpLocks noChangeAspect="1"/>
          </p:cNvGrpSpPr>
          <p:nvPr/>
        </p:nvGrpSpPr>
        <p:grpSpPr>
          <a:xfrm>
            <a:off x="6503434" y="1993568"/>
            <a:ext cx="4607589" cy="2870863"/>
            <a:chOff x="612997" y="1757251"/>
            <a:chExt cx="4607589" cy="2870863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2A1B9A6C-714C-D38B-3BEC-A97993D335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694" t="85475"/>
            <a:stretch>
              <a:fillRect/>
            </a:stretch>
          </p:blipFill>
          <p:spPr bwMode="auto">
            <a:xfrm>
              <a:off x="2622054" y="4327007"/>
              <a:ext cx="1099341" cy="301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335C3B0-E19F-12D1-AFB8-33D04993CF1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12997" y="1757251"/>
              <a:ext cx="4607589" cy="2565400"/>
              <a:chOff x="612997" y="1757251"/>
              <a:chExt cx="4607589" cy="2565400"/>
            </a:xfrm>
          </p:grpSpPr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C252E5E6-B8BC-D5EB-7490-3FE88BF200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/>
              <a:srcRect l="609" r="609"/>
              <a:stretch/>
            </p:blipFill>
            <p:spPr bwMode="auto">
              <a:xfrm>
                <a:off x="612997" y="1757251"/>
                <a:ext cx="4607589" cy="2565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>
                <a:extLst>
                  <a:ext uri="{FF2B5EF4-FFF2-40B4-BE49-F238E27FC236}">
                    <a16:creationId xmlns:a16="http://schemas.microsoft.com/office/drawing/2014/main" id="{E299E155-59B3-17CA-BED5-5736DBB54E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908" t="38188" b="37774"/>
              <a:stretch>
                <a:fillRect/>
              </a:stretch>
            </p:blipFill>
            <p:spPr bwMode="auto">
              <a:xfrm>
                <a:off x="3700129" y="2126512"/>
                <a:ext cx="1393013" cy="616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D2221B2-E1F5-8FFE-53ED-09C7A139CEA9}"/>
              </a:ext>
            </a:extLst>
          </p:cNvPr>
          <p:cNvGrpSpPr>
            <a:grpSpLocks noChangeAspect="1"/>
          </p:cNvGrpSpPr>
          <p:nvPr/>
        </p:nvGrpSpPr>
        <p:grpSpPr>
          <a:xfrm>
            <a:off x="979672" y="1942768"/>
            <a:ext cx="4607589" cy="2968107"/>
            <a:chOff x="979672" y="1942768"/>
            <a:chExt cx="4607589" cy="2968107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F133BFF0-0DC2-1139-4CDF-3B4D55DAFE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 t="149" b="149"/>
            <a:stretch/>
          </p:blipFill>
          <p:spPr bwMode="auto">
            <a:xfrm>
              <a:off x="979672" y="1942768"/>
              <a:ext cx="4607589" cy="2667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4E490A82-743E-1556-455D-7F3A2FC524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595" t="43422" b="43023"/>
            <a:stretch>
              <a:fillRect/>
            </a:stretch>
          </p:blipFill>
          <p:spPr bwMode="auto">
            <a:xfrm>
              <a:off x="4375148" y="2248271"/>
              <a:ext cx="904211" cy="361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465A3487-4D56-8DB2-FF3D-3274A6E9D3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694" t="85475"/>
            <a:stretch>
              <a:fillRect/>
            </a:stretch>
          </p:blipFill>
          <p:spPr bwMode="auto">
            <a:xfrm>
              <a:off x="2912677" y="4609768"/>
              <a:ext cx="1099341" cy="301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E8A80B9-8D6B-D22B-1C42-F9C0A14B0F09}"/>
              </a:ext>
            </a:extLst>
          </p:cNvPr>
          <p:cNvSpPr txBox="1"/>
          <p:nvPr/>
        </p:nvSpPr>
        <p:spPr>
          <a:xfrm>
            <a:off x="1222744" y="520995"/>
            <a:ext cx="5386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= 5, </a:t>
            </a:r>
            <a:r>
              <a:rPr lang="en-US" sz="2400" b="1" dirty="0"/>
              <a:t>x</a:t>
            </a:r>
            <a:r>
              <a:rPr lang="en-US" sz="2400" b="1" baseline="-25000" dirty="0"/>
              <a:t>0</a:t>
            </a:r>
            <a:r>
              <a:rPr lang="en-US" sz="2400" b="1" dirty="0"/>
              <a:t> = 0.00135μm</a:t>
            </a:r>
            <a:r>
              <a:rPr lang="en-US" sz="2400" dirty="0"/>
              <a:t>, </a:t>
            </a:r>
            <a:r>
              <a:rPr lang="en-US" sz="2400" dirty="0" err="1"/>
              <a:t>n</a:t>
            </a:r>
            <a:r>
              <a:rPr lang="en-US" sz="2400" baseline="-25000" dirty="0" err="1"/>
              <a:t>b</a:t>
            </a:r>
            <a:r>
              <a:rPr lang="en-US" sz="2400" dirty="0"/>
              <a:t> = 1.7, </a:t>
            </a:r>
            <a:r>
              <a:rPr lang="en-US" sz="2400" dirty="0" err="1"/>
              <a:t>λ</a:t>
            </a:r>
            <a:r>
              <a:rPr lang="en-US" sz="2400" dirty="0"/>
              <a:t> = 3μm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2DC57-EB6A-3B7F-1D15-A3E29E986030}"/>
              </a:ext>
            </a:extLst>
          </p:cNvPr>
          <p:cNvSpPr txBox="1"/>
          <p:nvPr/>
        </p:nvSpPr>
        <p:spPr>
          <a:xfrm>
            <a:off x="7791007" y="1160352"/>
            <a:ext cx="236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ln(To) + ⍺ = + 1.4 x 10</a:t>
            </a:r>
            <a:r>
              <a:rPr lang="en-US" baseline="30000" dirty="0">
                <a:highlight>
                  <a:srgbClr val="FFFF00"/>
                </a:highlight>
              </a:rPr>
              <a:t>-6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405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0B614C-53E3-19E1-7AC7-FF7788B1010B}"/>
              </a:ext>
            </a:extLst>
          </p:cNvPr>
          <p:cNvGrpSpPr>
            <a:grpSpLocks noChangeAspect="1"/>
          </p:cNvGrpSpPr>
          <p:nvPr/>
        </p:nvGrpSpPr>
        <p:grpSpPr>
          <a:xfrm>
            <a:off x="6503434" y="1993568"/>
            <a:ext cx="4607589" cy="2870863"/>
            <a:chOff x="612997" y="1757251"/>
            <a:chExt cx="4607589" cy="2870863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37AC9896-C1CC-428B-88AB-49DB3F21EC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694" t="85475"/>
            <a:stretch>
              <a:fillRect/>
            </a:stretch>
          </p:blipFill>
          <p:spPr bwMode="auto">
            <a:xfrm>
              <a:off x="2622054" y="4327007"/>
              <a:ext cx="1099341" cy="301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8923A17-E4C5-981F-1680-0EDF4D3BCD2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12997" y="1757251"/>
              <a:ext cx="4607589" cy="2565400"/>
              <a:chOff x="612997" y="1757251"/>
              <a:chExt cx="4607589" cy="2565400"/>
            </a:xfrm>
          </p:grpSpPr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CA5A4CB5-96E6-3ECE-CEB8-342C4C4406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3621"/>
              <a:stretch>
                <a:fillRect/>
              </a:stretch>
            </p:blipFill>
            <p:spPr bwMode="auto">
              <a:xfrm>
                <a:off x="612997" y="1757251"/>
                <a:ext cx="4607589" cy="2565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>
                <a:extLst>
                  <a:ext uri="{FF2B5EF4-FFF2-40B4-BE49-F238E27FC236}">
                    <a16:creationId xmlns:a16="http://schemas.microsoft.com/office/drawing/2014/main" id="{6D9571EB-48C4-4EDA-A1C5-BF986C054F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908" t="38188" b="37774"/>
              <a:stretch>
                <a:fillRect/>
              </a:stretch>
            </p:blipFill>
            <p:spPr bwMode="auto">
              <a:xfrm>
                <a:off x="3700129" y="2126512"/>
                <a:ext cx="1393013" cy="616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D79D922-4980-A874-0AAD-3BF104EEFCE5}"/>
              </a:ext>
            </a:extLst>
          </p:cNvPr>
          <p:cNvGrpSpPr>
            <a:grpSpLocks noChangeAspect="1"/>
          </p:cNvGrpSpPr>
          <p:nvPr/>
        </p:nvGrpSpPr>
        <p:grpSpPr>
          <a:xfrm>
            <a:off x="979672" y="1942768"/>
            <a:ext cx="4607589" cy="2968107"/>
            <a:chOff x="979672" y="1942768"/>
            <a:chExt cx="4607589" cy="2968107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CA29E316-AB98-57C3-9BC9-47EFEC1B26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405"/>
            <a:stretch>
              <a:fillRect/>
            </a:stretch>
          </p:blipFill>
          <p:spPr bwMode="auto">
            <a:xfrm>
              <a:off x="979672" y="1942768"/>
              <a:ext cx="4607589" cy="2667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1C8BCF09-FF50-BF2E-247A-4B94B52432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595" t="43422" b="43023"/>
            <a:stretch>
              <a:fillRect/>
            </a:stretch>
          </p:blipFill>
          <p:spPr bwMode="auto">
            <a:xfrm>
              <a:off x="4375148" y="2248271"/>
              <a:ext cx="904211" cy="361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9A6251B9-8738-B708-02E7-9B4DD14462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694" t="85475"/>
            <a:stretch>
              <a:fillRect/>
            </a:stretch>
          </p:blipFill>
          <p:spPr bwMode="auto">
            <a:xfrm>
              <a:off x="2912677" y="4609768"/>
              <a:ext cx="1099341" cy="301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29B9993-02FA-182F-CCE4-4B27A8467823}"/>
              </a:ext>
            </a:extLst>
          </p:cNvPr>
          <p:cNvSpPr txBox="1"/>
          <p:nvPr/>
        </p:nvSpPr>
        <p:spPr>
          <a:xfrm>
            <a:off x="1222744" y="520995"/>
            <a:ext cx="5221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= 5, </a:t>
            </a:r>
            <a:r>
              <a:rPr lang="en-US" sz="2400" b="1" dirty="0"/>
              <a:t>x</a:t>
            </a:r>
            <a:r>
              <a:rPr lang="en-US" sz="2400" b="1" baseline="-25000" dirty="0"/>
              <a:t>0</a:t>
            </a:r>
            <a:r>
              <a:rPr lang="en-US" sz="2400" b="1" dirty="0"/>
              <a:t> = 0.0014μm</a:t>
            </a:r>
            <a:r>
              <a:rPr lang="en-US" sz="2400" dirty="0"/>
              <a:t>, </a:t>
            </a:r>
            <a:r>
              <a:rPr lang="en-US" sz="2400" dirty="0" err="1"/>
              <a:t>n</a:t>
            </a:r>
            <a:r>
              <a:rPr lang="en-US" sz="2400" baseline="-25000" dirty="0" err="1"/>
              <a:t>b</a:t>
            </a:r>
            <a:r>
              <a:rPr lang="en-US" sz="2400" dirty="0"/>
              <a:t> = 1.7, </a:t>
            </a:r>
            <a:r>
              <a:rPr lang="en-US" sz="2400" dirty="0" err="1"/>
              <a:t>λ</a:t>
            </a:r>
            <a:r>
              <a:rPr lang="en-US" sz="2400" dirty="0"/>
              <a:t> = 3μm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9B3209-F16A-7F55-C618-0592B9512BA2}"/>
              </a:ext>
            </a:extLst>
          </p:cNvPr>
          <p:cNvSpPr txBox="1"/>
          <p:nvPr/>
        </p:nvSpPr>
        <p:spPr>
          <a:xfrm>
            <a:off x="7791007" y="1160352"/>
            <a:ext cx="236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ln(To) + ⍺ = - 6.2 x 10</a:t>
            </a:r>
            <a:r>
              <a:rPr lang="en-US" baseline="30000" dirty="0">
                <a:highlight>
                  <a:srgbClr val="FFFF00"/>
                </a:highlight>
              </a:rPr>
              <a:t>-6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8448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61AD462-0AA2-40E5-BC27-ACA8065E6796}"/>
              </a:ext>
            </a:extLst>
          </p:cNvPr>
          <p:cNvGrpSpPr>
            <a:grpSpLocks noChangeAspect="1"/>
          </p:cNvGrpSpPr>
          <p:nvPr/>
        </p:nvGrpSpPr>
        <p:grpSpPr>
          <a:xfrm>
            <a:off x="6365277" y="489122"/>
            <a:ext cx="4559568" cy="3645725"/>
            <a:chOff x="1807482" y="0"/>
            <a:chExt cx="8577036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E7D06FD-9B64-44D8-99A8-FED429791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7482" y="0"/>
              <a:ext cx="8577036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AD9457-ECCD-4345-9E30-F19DE1BBD1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1221" b="20182"/>
            <a:stretch/>
          </p:blipFill>
          <p:spPr>
            <a:xfrm>
              <a:off x="3288891" y="665019"/>
              <a:ext cx="3095828" cy="795647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9A18B1F-7036-4313-987F-6F978ED65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28" y="285006"/>
            <a:ext cx="4820760" cy="56823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46F4BA-3DE2-045E-D4F5-BBA027BCD7A6}"/>
              </a:ext>
            </a:extLst>
          </p:cNvPr>
          <p:cNvSpPr txBox="1"/>
          <p:nvPr/>
        </p:nvSpPr>
        <p:spPr>
          <a:xfrm>
            <a:off x="6926893" y="4722312"/>
            <a:ext cx="39135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Thoughput</a:t>
            </a:r>
            <a:r>
              <a:rPr lang="en-US" dirty="0"/>
              <a:t> matched: enforce </a:t>
            </a:r>
            <a:r>
              <a:rPr lang="en-US" dirty="0" err="1"/>
              <a:t>T</a:t>
            </a:r>
            <a:r>
              <a:rPr lang="en-US" baseline="-25000" dirty="0" err="1"/>
              <a:t>bulk</a:t>
            </a:r>
            <a:r>
              <a:rPr lang="en-US" dirty="0"/>
              <a:t> = T</a:t>
            </a:r>
            <a:r>
              <a:rPr lang="en-US" baseline="-25000" dirty="0"/>
              <a:t>0</a:t>
            </a:r>
          </a:p>
          <a:p>
            <a:endParaRPr lang="en-US" baseline="-25000" dirty="0"/>
          </a:p>
          <a:p>
            <a:r>
              <a:rPr lang="en-US" dirty="0"/>
              <a:t>Since </a:t>
            </a:r>
            <a:r>
              <a:rPr lang="en-US" dirty="0" err="1"/>
              <a:t>T</a:t>
            </a:r>
            <a:r>
              <a:rPr lang="en-US" baseline="-25000" dirty="0" err="1"/>
              <a:t>bulk</a:t>
            </a:r>
            <a:r>
              <a:rPr lang="en-US" dirty="0"/>
              <a:t> = e</a:t>
            </a:r>
            <a:r>
              <a:rPr lang="en-US" baseline="30000" dirty="0"/>
              <a:t>-⍺</a:t>
            </a:r>
            <a:r>
              <a:rPr lang="en-US" dirty="0"/>
              <a:t> , </a:t>
            </a:r>
            <a:r>
              <a:rPr lang="en-US" dirty="0">
                <a:highlight>
                  <a:srgbClr val="FFFF00"/>
                </a:highlight>
              </a:rPr>
              <a:t>⍺ = -ln(To)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B2B5D-8C90-0C64-3297-BCBDDCCB2F34}"/>
              </a:ext>
            </a:extLst>
          </p:cNvPr>
          <p:cNvSpPr txBox="1"/>
          <p:nvPr/>
        </p:nvSpPr>
        <p:spPr>
          <a:xfrm>
            <a:off x="10716576" y="3353168"/>
            <a:ext cx="14310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ln(To) + ⍺ = 0 </a:t>
            </a:r>
          </a:p>
        </p:txBody>
      </p:sp>
    </p:spTree>
    <p:extLst>
      <p:ext uri="{BB962C8B-B14F-4D97-AF65-F5344CB8AC3E}">
        <p14:creationId xmlns:p14="http://schemas.microsoft.com/office/powerpoint/2010/main" val="2502936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3C2C07-0721-EF89-B5B0-E787B9AA31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59049" y="483542"/>
            <a:ext cx="3833369" cy="29454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484B65-8910-1B39-FCB8-8632D10E5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024" y="3498647"/>
            <a:ext cx="4020296" cy="31446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452C99-4239-4A8F-1856-EF49E0C417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84654" y="483542"/>
            <a:ext cx="3833370" cy="2945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FD1D6D-9907-430E-8D3A-0D1A9A4F1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5541" y="3498648"/>
            <a:ext cx="4020296" cy="31446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7D903F-8297-56BF-C7DB-4ADD3F3F3455}"/>
                  </a:ext>
                </a:extLst>
              </p:cNvPr>
              <p:cNvSpPr txBox="1"/>
              <p:nvPr/>
            </p:nvSpPr>
            <p:spPr>
              <a:xfrm>
                <a:off x="1063302" y="2380981"/>
                <a:ext cx="15066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⍺=4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𝜋𝜅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z="2000" b="0" i="0" baseline="-25000" smtClean="0"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US" sz="2000" dirty="0"/>
                  <a:t> / </a:t>
                </a:r>
                <a:r>
                  <a:rPr lang="en-US" sz="2000" dirty="0" err="1"/>
                  <a:t>λ</a:t>
                </a: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7D903F-8297-56BF-C7DB-4ADD3F3F3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02" y="2380981"/>
                <a:ext cx="1506631" cy="307777"/>
              </a:xfrm>
              <a:prstGeom prst="rect">
                <a:avLst/>
              </a:prstGeom>
              <a:blipFill>
                <a:blip r:embed="rId6"/>
                <a:stretch>
                  <a:fillRect l="-4167" t="-20000" r="-5833" b="-5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663E1-5EA5-43F7-7DE3-FE14AFB497B7}"/>
                  </a:ext>
                </a:extLst>
              </p:cNvPr>
              <p:cNvSpPr txBox="1"/>
              <p:nvPr/>
            </p:nvSpPr>
            <p:spPr>
              <a:xfrm>
                <a:off x="1063302" y="2948247"/>
                <a:ext cx="1861214" cy="667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663E1-5EA5-43F7-7DE3-FE14AFB49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02" y="2948247"/>
                <a:ext cx="1861214" cy="667619"/>
              </a:xfrm>
              <a:prstGeom prst="rect">
                <a:avLst/>
              </a:prstGeom>
              <a:blipFill>
                <a:blip r:embed="rId7"/>
                <a:stretch>
                  <a:fillRect l="-25676" t="-167925" r="-2027" b="-249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C0355E6-3638-4466-B34F-15A0FA8AF0BC}"/>
              </a:ext>
            </a:extLst>
          </p:cNvPr>
          <p:cNvSpPr txBox="1"/>
          <p:nvPr/>
        </p:nvSpPr>
        <p:spPr>
          <a:xfrm>
            <a:off x="4400550" y="79386"/>
            <a:ext cx="236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ln(To) + ⍺ = - 6.2 x 10</a:t>
            </a:r>
            <a:r>
              <a:rPr lang="en-US" baseline="30000" dirty="0"/>
              <a:t>-6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E5CB4E-FFA2-35F1-E7C6-05E11598FBE6}"/>
              </a:ext>
            </a:extLst>
          </p:cNvPr>
          <p:cNvSpPr txBox="1"/>
          <p:nvPr/>
        </p:nvSpPr>
        <p:spPr>
          <a:xfrm>
            <a:off x="8411149" y="79386"/>
            <a:ext cx="236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ln(To) + ⍺ = + 4.9 x 10</a:t>
            </a:r>
            <a:r>
              <a:rPr lang="en-US" baseline="30000" dirty="0"/>
              <a:t>-6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6883D-A789-26EB-6EF0-272B0AA4B817}"/>
              </a:ext>
            </a:extLst>
          </p:cNvPr>
          <p:cNvSpPr txBox="1"/>
          <p:nvPr/>
        </p:nvSpPr>
        <p:spPr>
          <a:xfrm>
            <a:off x="723014" y="765544"/>
            <a:ext cx="2647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Increase endpoints of structure by 10x:</a:t>
            </a:r>
          </a:p>
          <a:p>
            <a:pPr algn="ctr"/>
            <a:r>
              <a:rPr lang="en-US" dirty="0" err="1"/>
              <a:t>Xmin</a:t>
            </a:r>
            <a:r>
              <a:rPr lang="en-US" dirty="0"/>
              <a:t> = -200*x</a:t>
            </a:r>
            <a:r>
              <a:rPr lang="en-US" baseline="-25000" dirty="0"/>
              <a:t>0</a:t>
            </a:r>
            <a:r>
              <a:rPr lang="en-US" dirty="0"/>
              <a:t> -&gt; </a:t>
            </a:r>
          </a:p>
          <a:p>
            <a:pPr algn="ctr"/>
            <a:r>
              <a:rPr lang="en-US" dirty="0"/>
              <a:t>-2000*x</a:t>
            </a:r>
            <a:r>
              <a:rPr lang="en-US" baseline="-25000" dirty="0"/>
              <a:t>0</a:t>
            </a:r>
            <a:r>
              <a:rPr lang="en-US" baseline="300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0009E-B584-7EAC-D0BC-BBD3159176D5}"/>
              </a:ext>
            </a:extLst>
          </p:cNvPr>
          <p:cNvSpPr txBox="1"/>
          <p:nvPr/>
        </p:nvSpPr>
        <p:spPr>
          <a:xfrm>
            <a:off x="8039092" y="1456174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1.701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D4888-77C4-4108-2E62-34B002745565}"/>
              </a:ext>
            </a:extLst>
          </p:cNvPr>
          <p:cNvSpPr txBox="1"/>
          <p:nvPr/>
        </p:nvSpPr>
        <p:spPr>
          <a:xfrm>
            <a:off x="6019522" y="1456174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1.692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4B0BB-1348-C2F4-7421-424D57354027}"/>
              </a:ext>
            </a:extLst>
          </p:cNvPr>
          <p:cNvSpPr txBox="1"/>
          <p:nvPr/>
        </p:nvSpPr>
        <p:spPr>
          <a:xfrm>
            <a:off x="4028493" y="1456174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1.707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FBBD5-19F7-BEDB-DB02-F2B4AA55E916}"/>
              </a:ext>
            </a:extLst>
          </p:cNvPr>
          <p:cNvSpPr txBox="1"/>
          <p:nvPr/>
        </p:nvSpPr>
        <p:spPr>
          <a:xfrm>
            <a:off x="10098219" y="1456174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1.699</a:t>
            </a:r>
          </a:p>
        </p:txBody>
      </p:sp>
    </p:spTree>
    <p:extLst>
      <p:ext uri="{BB962C8B-B14F-4D97-AF65-F5344CB8AC3E}">
        <p14:creationId xmlns:p14="http://schemas.microsoft.com/office/powerpoint/2010/main" val="2303722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C673D-E270-1ED1-0473-7E46AFE7C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A2E3CF-2510-2002-121A-4ACF6ACF82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64995" y="483542"/>
            <a:ext cx="3821476" cy="29454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3156A6-0E48-3D96-A4A1-9D4DA68BF8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9081" y="3498647"/>
            <a:ext cx="3918182" cy="31446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6A20F9-8927-54D2-E28E-29845F85F3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84654" y="483851"/>
            <a:ext cx="3833370" cy="2944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155D14-B6C7-22F8-0158-6A0FD0FA12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08666" y="3498648"/>
            <a:ext cx="3934045" cy="31446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35CDD7-97EB-53A2-6C2C-8751EE563C50}"/>
                  </a:ext>
                </a:extLst>
              </p:cNvPr>
              <p:cNvSpPr txBox="1"/>
              <p:nvPr/>
            </p:nvSpPr>
            <p:spPr>
              <a:xfrm>
                <a:off x="1063302" y="2380981"/>
                <a:ext cx="15066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⍺=4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𝜋𝜅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z="2000" b="0" i="0" baseline="-25000" smtClean="0"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US" sz="2000" dirty="0"/>
                  <a:t> / </a:t>
                </a:r>
                <a:r>
                  <a:rPr lang="en-US" sz="2000" dirty="0" err="1"/>
                  <a:t>λ</a:t>
                </a: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35CDD7-97EB-53A2-6C2C-8751EE563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02" y="2380981"/>
                <a:ext cx="1506631" cy="307777"/>
              </a:xfrm>
              <a:prstGeom prst="rect">
                <a:avLst/>
              </a:prstGeom>
              <a:blipFill>
                <a:blip r:embed="rId6"/>
                <a:stretch>
                  <a:fillRect l="-4167" t="-20000" r="-5833" b="-5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8CACF9-35A3-1A79-776A-9D5DA13FB4F2}"/>
                  </a:ext>
                </a:extLst>
              </p:cNvPr>
              <p:cNvSpPr txBox="1"/>
              <p:nvPr/>
            </p:nvSpPr>
            <p:spPr>
              <a:xfrm>
                <a:off x="1063302" y="2948247"/>
                <a:ext cx="1861214" cy="667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8CACF9-35A3-1A79-776A-9D5DA13FB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02" y="2948247"/>
                <a:ext cx="1861214" cy="667619"/>
              </a:xfrm>
              <a:prstGeom prst="rect">
                <a:avLst/>
              </a:prstGeom>
              <a:blipFill>
                <a:blip r:embed="rId7"/>
                <a:stretch>
                  <a:fillRect l="-25676" t="-167925" r="-2027" b="-249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38F464D-A589-F927-1922-81324BCF7983}"/>
              </a:ext>
            </a:extLst>
          </p:cNvPr>
          <p:cNvSpPr txBox="1"/>
          <p:nvPr/>
        </p:nvSpPr>
        <p:spPr>
          <a:xfrm>
            <a:off x="4400550" y="79386"/>
            <a:ext cx="236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ln(To) + ⍺ = - 6.2 x 10</a:t>
            </a:r>
            <a:r>
              <a:rPr lang="en-US" baseline="30000" dirty="0"/>
              <a:t>-6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E8D30-AD02-A415-F39D-3A176713D8C8}"/>
              </a:ext>
            </a:extLst>
          </p:cNvPr>
          <p:cNvSpPr txBox="1"/>
          <p:nvPr/>
        </p:nvSpPr>
        <p:spPr>
          <a:xfrm>
            <a:off x="8411149" y="79386"/>
            <a:ext cx="236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ln(To) + ⍺ = + 4.9 x 10</a:t>
            </a:r>
            <a:r>
              <a:rPr lang="en-US" baseline="30000" dirty="0"/>
              <a:t>-6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48B51-965C-A3B8-3737-726BE58601BC}"/>
              </a:ext>
            </a:extLst>
          </p:cNvPr>
          <p:cNvSpPr txBox="1"/>
          <p:nvPr/>
        </p:nvSpPr>
        <p:spPr>
          <a:xfrm>
            <a:off x="723014" y="765544"/>
            <a:ext cx="2647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Increase endpoints of structure by 10x:</a:t>
            </a:r>
          </a:p>
          <a:p>
            <a:pPr algn="ctr"/>
            <a:r>
              <a:rPr lang="en-US" dirty="0" err="1"/>
              <a:t>Xmin</a:t>
            </a:r>
            <a:r>
              <a:rPr lang="en-US" dirty="0"/>
              <a:t> = -200*x</a:t>
            </a:r>
            <a:r>
              <a:rPr lang="en-US" baseline="-25000" dirty="0"/>
              <a:t>0</a:t>
            </a:r>
            <a:r>
              <a:rPr lang="en-US" dirty="0"/>
              <a:t> -&gt; </a:t>
            </a:r>
          </a:p>
          <a:p>
            <a:pPr algn="ctr"/>
            <a:r>
              <a:rPr lang="en-US" dirty="0"/>
              <a:t>-2000*x</a:t>
            </a:r>
            <a:r>
              <a:rPr lang="en-US" baseline="-25000" dirty="0"/>
              <a:t>0</a:t>
            </a:r>
            <a:r>
              <a:rPr lang="en-US" baseline="30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748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290</Words>
  <Application>Microsoft Macintosh PowerPoint</Application>
  <PresentationFormat>Widescreen</PresentationFormat>
  <Paragraphs>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39</cp:revision>
  <dcterms:created xsi:type="dcterms:W3CDTF">2025-09-12T19:19:51Z</dcterms:created>
  <dcterms:modified xsi:type="dcterms:W3CDTF">2025-09-19T20:40:08Z</dcterms:modified>
</cp:coreProperties>
</file>