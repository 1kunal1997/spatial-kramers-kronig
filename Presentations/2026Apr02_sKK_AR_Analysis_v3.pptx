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4" r:id="rId6"/>
    <p:sldId id="278" r:id="rId7"/>
    <p:sldId id="282" r:id="rId8"/>
    <p:sldId id="279" r:id="rId9"/>
    <p:sldId id="260" r:id="rId10"/>
    <p:sldId id="283" r:id="rId11"/>
    <p:sldId id="280" r:id="rId12"/>
    <p:sldId id="281" r:id="rId13"/>
    <p:sldId id="276" r:id="rId14"/>
    <p:sldId id="261" r:id="rId15"/>
    <p:sldId id="262" r:id="rId16"/>
    <p:sldId id="263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7" r:id="rId25"/>
    <p:sldId id="284" r:id="rId26"/>
    <p:sldId id="275" r:id="rId27"/>
    <p:sldId id="265" r:id="rId28"/>
    <p:sldId id="266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7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5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631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76EF8-D587-B62D-C285-A975B616D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2640F4-56A3-9CF8-5C9A-1E572D1B1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74C1BE-524E-D7F9-9943-443D7937B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6E41A-F460-31F9-013B-D652C3AEE8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5267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Hilbert Transform: Why Symmetric Endpoints Matter</a:t>
            </a:r>
            <a:endParaRPr lang="en-US" sz="2400" dirty="0"/>
          </a:p>
        </p:txBody>
      </p:sp>
      <p:pic>
        <p:nvPicPr>
          <p:cNvPr id="3" name="Image 0" descr="/sessions/practical-intelligent-heisenberg/figures/fig_new1_lorentz_vs_gr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14400"/>
            <a:ext cx="8961120" cy="3474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44805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Lorentzian profile has same endpoints — FFT-based HT works perfectly. 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Right: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 coating has different endpoints. FFT assumes periodicity → jump discontinuity → the root cause of unwanted artifacts.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Hilbert Transform Problem: Asymmetric Endpoints</a:t>
            </a:r>
            <a:endParaRPr lang="en-US" sz="2400" dirty="0"/>
          </a:p>
        </p:txBody>
      </p:sp>
      <p:pic>
        <p:nvPicPr>
          <p:cNvPr id="3" name="Image 0" descr="/sessions/practical-intelligent-heisenberg/figures/fig0a_ht_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14400"/>
            <a:ext cx="8961120" cy="3474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44805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sKK requires computing </a:t>
            </a: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ε''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[ε']. For coatings on substrates, ε'(−∞) = ε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≠ 1 = ε'(+∞). FFT-based HT assumes periodicity → endpoint mismatch causes gain regions.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Derivative-then-Integrate: Solving the Endpoint Problem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74320" y="4334699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derivative of ε'(x) → both endpoints go to 0 → standard HT works → integrate back. 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well-localized ε'' peak, but "lossy air" region (n ≈ 1, k &gt; 0) persists — this is fundamental to the asymmetric HT.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67134D-C3AA-9EDF-2FB6-C7A314A8E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99" y="825016"/>
            <a:ext cx="8960002" cy="33704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Backside Reflection Reduction: sKK vs GRIN vs Bulk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74320" y="429768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s-pol, 80°: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sKK coating reduces ⟨R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⟩ from 0.129 (bulk) to 0.022, a &gt;5× improvement. GRIN alone provides negligible benefit (0.128) at this sub-λ thickness.</a:t>
            </a:r>
            <a:endParaRPr lang="en-US" sz="1200" dirty="0"/>
          </a:p>
        </p:txBody>
      </p:sp>
      <p:pic>
        <p:nvPicPr>
          <p:cNvPr id="6" name="Picture 5" descr="A graph of different types of lines&#10;&#10;AI-generated content may be incorrect.">
            <a:extLst>
              <a:ext uri="{FF2B5EF4-FFF2-40B4-BE49-F238E27FC236}">
                <a16:creationId xmlns:a16="http://schemas.microsoft.com/office/drawing/2014/main" id="{0EF0E4A6-39CC-5BFA-788B-40E85AD1E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6" y="803524"/>
            <a:ext cx="8832024" cy="33292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Angle-Dependence of Backside Reflection at λ = 3 μm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74320" y="429768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sKK coating reduces backside reflection at all angles for both polarizations. 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particularly strong at ellipsometric angles (60–80°).</a:t>
            </a:r>
            <a:endParaRPr lang="en-US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3BF952-987F-732B-728F-411E9A0CE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8547395" cy="32219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0305D2B9-B01E-170E-3E82-352C533987FF}"/>
              </a:ext>
            </a:extLst>
          </p:cNvPr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Colorplot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</a:t>
            </a: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sKK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vs. Bulk at Different Thicknesses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BB0FCA-E8C3-9FA8-3CAE-97C74FB8B6CD}"/>
              </a:ext>
            </a:extLst>
          </p:cNvPr>
          <p:cNvSpPr txBox="1"/>
          <p:nvPr/>
        </p:nvSpPr>
        <p:spPr>
          <a:xfrm>
            <a:off x="188259" y="4173231"/>
            <a:ext cx="852902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Geometric mean of the enhancement shown on the bottom right of each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colorplot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Aft>
                <a:spcPts val="600"/>
              </a:spcAft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Enhancement gets better as coating gets thicker (layers need to be thick enough for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sKK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cancellation to come into play)</a:t>
            </a:r>
          </a:p>
          <a:p>
            <a:pPr marL="171450" indent="-171450">
              <a:spcAft>
                <a:spcPts val="600"/>
              </a:spcAft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for 5um and 10um thickness,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AoI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of 60 degrees and wavelength 3.4um, competing effects of Brewsters angle and perfect impedance matching 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n_sapphire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(lambda=3.4um)=1.7) </a:t>
            </a:r>
          </a:p>
        </p:txBody>
      </p:sp>
      <p:pic>
        <p:nvPicPr>
          <p:cNvPr id="7" name="Picture 6" descr="A group of images of different colors&#10;&#10;AI-generated content may be incorrect.">
            <a:extLst>
              <a:ext uri="{FF2B5EF4-FFF2-40B4-BE49-F238E27FC236}">
                <a16:creationId xmlns:a16="http://schemas.microsoft.com/office/drawing/2014/main" id="{FCE7A19D-DD7E-496D-897B-5DC4F1E04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0" y="572059"/>
            <a:ext cx="9098756" cy="360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042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FBC32-9B67-88EE-F7AA-73430BDA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images of different colors&#10;&#10;AI-generated content may be incorrect.">
            <a:extLst>
              <a:ext uri="{FF2B5EF4-FFF2-40B4-BE49-F238E27FC236}">
                <a16:creationId xmlns:a16="http://schemas.microsoft.com/office/drawing/2014/main" id="{A494BC0A-5766-75DE-E716-FC982697B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9" y="607920"/>
            <a:ext cx="9077547" cy="3596523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AB974420-0A14-C8C9-B67B-1625E5635D82}"/>
              </a:ext>
            </a:extLst>
          </p:cNvPr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Colorplot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</a:t>
            </a: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sKK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vs. GRIN at Different Thicknesses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A2D6B7-E3CE-7972-DBC5-3A498B9BB582}"/>
              </a:ext>
            </a:extLst>
          </p:cNvPr>
          <p:cNvSpPr txBox="1"/>
          <p:nvPr/>
        </p:nvSpPr>
        <p:spPr>
          <a:xfrm>
            <a:off x="340659" y="4365250"/>
            <a:ext cx="7528023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spcAft>
                <a:spcPts val="600"/>
              </a:spcAft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Geometric mean of the enhancement shown on the bottom right of each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colorplot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Aft>
                <a:spcPts val="600"/>
              </a:spcAft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Enhancement maximizes around 5um thickness (~3 orders of magnitude smaller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R_back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sKK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coating)</a:t>
            </a:r>
          </a:p>
        </p:txBody>
      </p:sp>
    </p:spTree>
    <p:extLst>
      <p:ext uri="{BB962C8B-B14F-4D97-AF65-F5344CB8AC3E}">
        <p14:creationId xmlns:p14="http://schemas.microsoft.com/office/powerpoint/2010/main" val="1935054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2230376C-87EB-9DB4-274A-9FE7C8A8E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40" y="708480"/>
            <a:ext cx="6104626" cy="4120989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AB9D9CA0-37D1-4770-E147-15FEB294FC8B}"/>
              </a:ext>
            </a:extLst>
          </p:cNvPr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Colorplot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</a:t>
            </a: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sKK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vs. GRIN at Different Thicknesses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E7B0F6-64F7-BAC4-DD89-972E6057B209}"/>
              </a:ext>
            </a:extLst>
          </p:cNvPr>
          <p:cNvSpPr txBox="1"/>
          <p:nvPr/>
        </p:nvSpPr>
        <p:spPr>
          <a:xfrm>
            <a:off x="6556786" y="1048309"/>
            <a:ext cx="2312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By these thicknesses, GRIN is sufficient.</a:t>
            </a:r>
          </a:p>
        </p:txBody>
      </p:sp>
    </p:spTree>
    <p:extLst>
      <p:ext uri="{BB962C8B-B14F-4D97-AF65-F5344CB8AC3E}">
        <p14:creationId xmlns:p14="http://schemas.microsoft.com/office/powerpoint/2010/main" val="1997114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Quantifying Analyticity: Spectral One-Sidedness (before)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065058" y="107442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Form complex derivative function: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z(x) = dε′/dx + i · dε′′/dx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Fourier transform to spatial frequency: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Z(k) = FFT{ z(x) }</a:t>
            </a: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1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k = spatial frequency (μm⁻¹))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3. Measure one-sidedness: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E₊ = ∫ |Z(k)|² dk  for k &gt; 0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E₋ = ∫ |Z(k)|² dk  for k &lt; 0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FoM = 100 * (E₊ − E₋) / (E₊ + E₋)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Physical meaning: </a:t>
            </a: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sKK requires ε(x) analytic in upper half-plane → its spatial spectrum is one-sided. Positive k = no reflection from one direction.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graph of a full skk profile&#10;&#10;AI-generated content may be incorrect.">
            <a:extLst>
              <a:ext uri="{FF2B5EF4-FFF2-40B4-BE49-F238E27FC236}">
                <a16:creationId xmlns:a16="http://schemas.microsoft.com/office/drawing/2014/main" id="{82BF1A4D-BB6B-EC13-CF9A-770248666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0" y="841785"/>
            <a:ext cx="4985060" cy="35847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5DEF2-CA0A-70C7-6712-6F69EA857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40B2549-03F4-6C55-14F5-2BFB9AEA2EAA}"/>
              </a:ext>
            </a:extLst>
          </p:cNvPr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Quantifying Analyticity: Spectral One-Sidedness (after)</a:t>
            </a: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FC0F596-41B7-2BEE-7599-70ED8D07E075}"/>
              </a:ext>
            </a:extLst>
          </p:cNvPr>
          <p:cNvSpPr/>
          <p:nvPr/>
        </p:nvSpPr>
        <p:spPr>
          <a:xfrm>
            <a:off x="5065058" y="1074420"/>
            <a:ext cx="4007224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Form complex derivative function: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z(x) = dε′/dx + i · dε′′/dx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Fourier transform to spatial frequency: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Z(k) = FFT{ z(x) }</a:t>
            </a: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1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k = spatial frequency (μm⁻¹))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5000"/>
              </a:lnSpc>
            </a:pPr>
            <a:r>
              <a:rPr lang="en-US" sz="1200" b="1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3. Undo derivative by ÷ </a:t>
            </a:r>
            <a:r>
              <a:rPr lang="en-US" sz="1200" b="1" dirty="0" err="1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ik</a:t>
            </a:r>
            <a:r>
              <a:rPr lang="en-US" sz="1200" b="1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(integral in Fourier space):</a:t>
            </a:r>
          </a:p>
          <a:p>
            <a:pPr>
              <a:lnSpc>
                <a:spcPct val="105000"/>
              </a:lnSpc>
            </a:pPr>
            <a:r>
              <a:rPr lang="en-US"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sz="1200" dirty="0" err="1">
                <a:solidFill>
                  <a:srgbClr val="333333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ε</a:t>
            </a: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(k) = Z(k) </a:t>
            </a: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÷ </a:t>
            </a:r>
            <a:r>
              <a:rPr lang="en-US" sz="1200" dirty="0" err="1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ik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4. Measure one-sidedness: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E₊ = ∫ |Z(k)|² dk  for k &gt; 0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E₋ = ∫ |Z(k)|² dk  for k &lt; 0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FoM = 100 * (E₊ − E₋) / (E₊ + E₋)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Notes: </a:t>
            </a: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got rid of normalization and padding since profile’s domains are large enough already.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242E7296-E992-E2FF-2879-79DF3F4B51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583" t="51599"/>
          <a:stretch>
            <a:fillRect/>
          </a:stretch>
        </p:blipFill>
        <p:spPr>
          <a:xfrm>
            <a:off x="71718" y="672351"/>
            <a:ext cx="5025082" cy="369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457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5C94D82F-3B39-3EBF-E768-A96ACC192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416" y="15688"/>
            <a:ext cx="6045584" cy="4625788"/>
          </a:xfrm>
          <a:prstGeom prst="rect">
            <a:avLst/>
          </a:prstGeom>
        </p:spPr>
      </p:pic>
      <p:pic>
        <p:nvPicPr>
          <p:cNvPr id="5" name="Picture 4" descr="A graph of a graph of a person&#10;&#10;AI-generated content may be incorrect.">
            <a:extLst>
              <a:ext uri="{FF2B5EF4-FFF2-40B4-BE49-F238E27FC236}">
                <a16:creationId xmlns:a16="http://schemas.microsoft.com/office/drawing/2014/main" id="{97E166A5-AF35-CADC-3D56-33EB9C52D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1876"/>
            <a:ext cx="3124200" cy="2209800"/>
          </a:xfrm>
          <a:prstGeom prst="rect">
            <a:avLst/>
          </a:prstGeom>
        </p:spPr>
      </p:pic>
      <p:pic>
        <p:nvPicPr>
          <p:cNvPr id="7" name="Picture 6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13C8B197-2A6B-273A-4C31-70FDE42FD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95550"/>
            <a:ext cx="3124200" cy="2209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4B228F-6C7B-6987-FD1C-0B9A4B27C675}"/>
              </a:ext>
            </a:extLst>
          </p:cNvPr>
          <p:cNvSpPr txBox="1"/>
          <p:nvPr/>
        </p:nvSpPr>
        <p:spPr>
          <a:xfrm>
            <a:off x="242046" y="4769224"/>
            <a:ext cx="8570259" cy="272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derivative method helps to get rid of DC offset spike in Lorentzian case, and helps to see the true </a:t>
            </a:r>
            <a:r>
              <a:rPr lang="en-US" sz="1200" dirty="0" err="1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FoM</a:t>
            </a: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logistic profile.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017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9C8EC098-D00C-6845-3287-C9B2834A4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65" y="124889"/>
            <a:ext cx="3455877" cy="2444401"/>
          </a:xfrm>
          <a:prstGeom prst="rect">
            <a:avLst/>
          </a:prstGeom>
        </p:spPr>
      </p:pic>
      <p:pic>
        <p:nvPicPr>
          <p:cNvPr id="5" name="Picture 4" descr="A comparison of a diagram&#10;&#10;AI-generated content may be incorrect.">
            <a:extLst>
              <a:ext uri="{FF2B5EF4-FFF2-40B4-BE49-F238E27FC236}">
                <a16:creationId xmlns:a16="http://schemas.microsoft.com/office/drawing/2014/main" id="{975BE14A-F874-8728-A2D6-97D44CF555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442"/>
          <a:stretch>
            <a:fillRect/>
          </a:stretch>
        </p:blipFill>
        <p:spPr>
          <a:xfrm>
            <a:off x="3771891" y="124889"/>
            <a:ext cx="2607926" cy="2474150"/>
          </a:xfrm>
          <a:prstGeom prst="rect">
            <a:avLst/>
          </a:prstGeom>
        </p:spPr>
      </p:pic>
      <p:pic>
        <p:nvPicPr>
          <p:cNvPr id="7" name="Picture 6" descr="A close-up of a graph&#10;&#10;AI-generated content may be incorrect.">
            <a:extLst>
              <a:ext uri="{FF2B5EF4-FFF2-40B4-BE49-F238E27FC236}">
                <a16:creationId xmlns:a16="http://schemas.microsoft.com/office/drawing/2014/main" id="{3D2810F1-F4F4-1262-D590-D3616F8DD0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751" r="-1"/>
          <a:stretch>
            <a:fillRect/>
          </a:stretch>
        </p:blipFill>
        <p:spPr>
          <a:xfrm>
            <a:off x="3771890" y="2604054"/>
            <a:ext cx="2607927" cy="2439386"/>
          </a:xfrm>
          <a:prstGeom prst="rect">
            <a:avLst/>
          </a:prstGeom>
        </p:spPr>
      </p:pic>
      <p:pic>
        <p:nvPicPr>
          <p:cNvPr id="9" name="Picture 8" descr="A graph of a graph of a person&#10;&#10;AI-generated content may be incorrect.">
            <a:extLst>
              <a:ext uri="{FF2B5EF4-FFF2-40B4-BE49-F238E27FC236}">
                <a16:creationId xmlns:a16="http://schemas.microsoft.com/office/drawing/2014/main" id="{79F69FC3-24BD-9456-7A7D-3BB873FF2E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365" y="2599039"/>
            <a:ext cx="3455877" cy="24444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9769F9-7C12-4622-4A3C-9CF799BD7D94}"/>
              </a:ext>
            </a:extLst>
          </p:cNvPr>
          <p:cNvSpPr txBox="1"/>
          <p:nvPr/>
        </p:nvSpPr>
        <p:spPr>
          <a:xfrm>
            <a:off x="6624114" y="239395"/>
            <a:ext cx="2275396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increased domain size of both profiles to get finer resolution in k-space</a:t>
            </a:r>
          </a:p>
          <a:p>
            <a:pPr marL="171450" indent="-171450">
              <a:spcAft>
                <a:spcPts val="600"/>
              </a:spcAft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Fourier spectrum for logistic shows nonexponential behavior near k=0 </a:t>
            </a:r>
          </a:p>
          <a:p>
            <a:pPr marL="171450" indent="-171450">
              <a:spcAft>
                <a:spcPts val="600"/>
              </a:spcAft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spatial frequency k is the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fourier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conjugate of position x. low k means slowly varying spatial features</a:t>
            </a:r>
          </a:p>
          <a:p>
            <a:pPr marL="171450" indent="-171450">
              <a:spcAft>
                <a:spcPts val="600"/>
              </a:spcAft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Lorentzian Fourier spectrum has more high k content because sharper spatial features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1A6613-C192-288F-0916-C07438526C57}"/>
              </a:ext>
            </a:extLst>
          </p:cNvPr>
          <p:cNvSpPr txBox="1"/>
          <p:nvPr/>
        </p:nvSpPr>
        <p:spPr>
          <a:xfrm>
            <a:off x="981674" y="2668290"/>
            <a:ext cx="7180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704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mparison of graphs with numbers&#10;&#10;AI-generated content may be incorrect.">
            <a:extLst>
              <a:ext uri="{FF2B5EF4-FFF2-40B4-BE49-F238E27FC236}">
                <a16:creationId xmlns:a16="http://schemas.microsoft.com/office/drawing/2014/main" id="{ABFDCC02-8030-6E07-1EF4-D95212D8C2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442"/>
          <a:stretch>
            <a:fillRect/>
          </a:stretch>
        </p:blipFill>
        <p:spPr>
          <a:xfrm>
            <a:off x="4312023" y="421415"/>
            <a:ext cx="3962400" cy="3759145"/>
          </a:xfrm>
          <a:prstGeom prst="rect">
            <a:avLst/>
          </a:prstGeom>
        </p:spPr>
      </p:pic>
      <p:pic>
        <p:nvPicPr>
          <p:cNvPr id="9" name="Picture 8" descr="A comparison of a diagram&#10;&#10;AI-generated content may be incorrect.">
            <a:extLst>
              <a:ext uri="{FF2B5EF4-FFF2-40B4-BE49-F238E27FC236}">
                <a16:creationId xmlns:a16="http://schemas.microsoft.com/office/drawing/2014/main" id="{48BBB602-99C0-F399-C34C-770D379DAD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442"/>
          <a:stretch>
            <a:fillRect/>
          </a:stretch>
        </p:blipFill>
        <p:spPr>
          <a:xfrm>
            <a:off x="224116" y="528301"/>
            <a:ext cx="3774141" cy="35805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83968E-93E0-1B5D-4F9B-3B969CCA19F2}"/>
              </a:ext>
            </a:extLst>
          </p:cNvPr>
          <p:cNvSpPr txBox="1"/>
          <p:nvPr/>
        </p:nvSpPr>
        <p:spPr>
          <a:xfrm>
            <a:off x="672353" y="4428565"/>
            <a:ext cx="5919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confirmed numerical Fourier transform results with analytical solutions. perfect agreement. </a:t>
            </a:r>
          </a:p>
        </p:txBody>
      </p:sp>
    </p:spTree>
    <p:extLst>
      <p:ext uri="{BB962C8B-B14F-4D97-AF65-F5344CB8AC3E}">
        <p14:creationId xmlns:p14="http://schemas.microsoft.com/office/powerpoint/2010/main" val="3073910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→ A Trade-off: Sweeping Loss Magnitude</a:t>
            </a:r>
            <a:endParaRPr lang="en-US" sz="2400" dirty="0"/>
          </a:p>
        </p:txBody>
      </p:sp>
      <p:pic>
        <p:nvPicPr>
          <p:cNvPr id="3" name="Image 0" descr="/sessions/practical-intelligent-heisenberg/figures/fig4_alpha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50292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0" y="1097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ε''</a:t>
            </a: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</a:t>
            </a: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α · ε''</a:t>
            </a: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sKK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669280" y="1476103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R, A averaged over 2–5 μm.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Crossing point at α ≈ 0.12: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⟨R⟩ = ⟨A⟩ ≈ 0.10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= 0 (GRIN only):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⟨R⟩ = 0.128, FoM = 0%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= 1 (full sKK):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⟨R⟩ = 0.022, FoM = 96.4%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Reducing α lowers absorption but also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destroys analyticity (purple dashed).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Gating Removes Unphysical "Lossy Air" Region</a:t>
            </a:r>
            <a:endParaRPr lang="en-US" sz="2400" dirty="0"/>
          </a:p>
        </p:txBody>
      </p:sp>
      <p:pic>
        <p:nvPicPr>
          <p:cNvPr id="5" name="Picture 4" descr="A group of graphs showing different colors&#10;&#10;AI-generated content may be incorrect.">
            <a:extLst>
              <a:ext uri="{FF2B5EF4-FFF2-40B4-BE49-F238E27FC236}">
                <a16:creationId xmlns:a16="http://schemas.microsoft.com/office/drawing/2014/main" id="{2171E0F8-B821-FA53-1CE7-9451EA584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355" y="600634"/>
            <a:ext cx="8755117" cy="449804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Analyticity Cost: Full sKK vs Gated Profile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74320" y="43891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sKK (left): nearly all spectral weight on positive k → FoM = 96.4%. Gated σ = 0.1 (right): removing lossy air injects power into forbidden (negative k) side → FoM drops to 17.5%. 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practical mitigation breaks analyticity.</a:t>
            </a:r>
            <a:endParaRPr lang="en-US" sz="1200" dirty="0"/>
          </a:p>
        </p:txBody>
      </p:sp>
      <p:pic>
        <p:nvPicPr>
          <p:cNvPr id="6" name="Picture 5" descr="A comparison of a graph&#10;&#10;AI-generated content may be incorrect.">
            <a:extLst>
              <a:ext uri="{FF2B5EF4-FFF2-40B4-BE49-F238E27FC236}">
                <a16:creationId xmlns:a16="http://schemas.microsoft.com/office/drawing/2014/main" id="{ED7A8668-CC17-4DEC-2617-2B09E92D7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3" y="848348"/>
            <a:ext cx="8903371" cy="33560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603ED15D-2E4E-24E2-CC24-3F90E17C1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87" y="2829005"/>
            <a:ext cx="6145387" cy="2314496"/>
          </a:xfrm>
          <a:prstGeom prst="rect">
            <a:avLst/>
          </a:prstGeom>
        </p:spPr>
      </p:pic>
      <p:pic>
        <p:nvPicPr>
          <p:cNvPr id="5" name="Picture 4" descr="A comparison of a graph&#10;&#10;AI-generated content may be incorrect.">
            <a:extLst>
              <a:ext uri="{FF2B5EF4-FFF2-40B4-BE49-F238E27FC236}">
                <a16:creationId xmlns:a16="http://schemas.microsoft.com/office/drawing/2014/main" id="{3180D4B9-E915-60E2-9D76-9BCEBD730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86" y="546846"/>
            <a:ext cx="6145387" cy="23144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19538D-B89A-EAC2-8EC2-1D0535A22E07}"/>
                  </a:ext>
                </a:extLst>
              </p:cNvPr>
              <p:cNvSpPr txBox="1"/>
              <p:nvPr/>
            </p:nvSpPr>
            <p:spPr>
              <a:xfrm>
                <a:off x="6604735" y="896284"/>
                <a:ext cx="2195152" cy="6458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=0.2384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19538D-B89A-EAC2-8EC2-1D0535A22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735" y="896284"/>
                <a:ext cx="2195152" cy="645818"/>
              </a:xfrm>
              <a:prstGeom prst="rect">
                <a:avLst/>
              </a:prstGeom>
              <a:blipFill>
                <a:blip r:embed="rId4"/>
                <a:stretch>
                  <a:fillRect l="-37143" t="-151923" r="-1143" b="-20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0">
            <a:extLst>
              <a:ext uri="{FF2B5EF4-FFF2-40B4-BE49-F238E27FC236}">
                <a16:creationId xmlns:a16="http://schemas.microsoft.com/office/drawing/2014/main" id="{70ED86A1-8A82-7437-8CEF-1004113E60F1}"/>
              </a:ext>
            </a:extLst>
          </p:cNvPr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Total Losses Constant, Vary Loss Shape (s-pol, 80°) </a:t>
            </a:r>
            <a:endParaRPr lang="en-US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38972D-0D21-F716-1E47-D43D7B1E1D34}"/>
              </a:ext>
            </a:extLst>
          </p:cNvPr>
          <p:cNvSpPr txBox="1"/>
          <p:nvPr/>
        </p:nvSpPr>
        <p:spPr>
          <a:xfrm>
            <a:off x="6604735" y="1898094"/>
            <a:ext cx="24059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constant profile performs slightly worse than </a:t>
            </a:r>
            <a:r>
              <a:rPr lang="en-US" sz="1400" dirty="0" err="1"/>
              <a:t>sKK</a:t>
            </a:r>
            <a:r>
              <a:rPr lang="en-US" sz="1400" dirty="0"/>
              <a:t> profile </a:t>
            </a:r>
          </a:p>
        </p:txBody>
      </p:sp>
    </p:spTree>
    <p:extLst>
      <p:ext uri="{BB962C8B-B14F-4D97-AF65-F5344CB8AC3E}">
        <p14:creationId xmlns:p14="http://schemas.microsoft.com/office/powerpoint/2010/main" val="2887242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FA5DB-BA6C-DF97-583D-EB3CB1F7C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E98038-2650-7E02-8A1E-C262C934B7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6188" y="2829005"/>
            <a:ext cx="6145385" cy="23144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245625-1D0E-1BBE-64C4-2D70704C31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6187" y="546846"/>
            <a:ext cx="6145385" cy="23144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6CE284-C8DB-6E5C-E1A3-FD010EB91C9B}"/>
                  </a:ext>
                </a:extLst>
              </p:cNvPr>
              <p:cNvSpPr txBox="1"/>
              <p:nvPr/>
            </p:nvSpPr>
            <p:spPr>
              <a:xfrm>
                <a:off x="6604735" y="896284"/>
                <a:ext cx="2195152" cy="6458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=0.2384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6CE284-C8DB-6E5C-E1A3-FD010EB91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735" y="896284"/>
                <a:ext cx="2195152" cy="645818"/>
              </a:xfrm>
              <a:prstGeom prst="rect">
                <a:avLst/>
              </a:prstGeom>
              <a:blipFill>
                <a:blip r:embed="rId4"/>
                <a:stretch>
                  <a:fillRect l="-37143" t="-151923" r="-1143" b="-20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0">
            <a:extLst>
              <a:ext uri="{FF2B5EF4-FFF2-40B4-BE49-F238E27FC236}">
                <a16:creationId xmlns:a16="http://schemas.microsoft.com/office/drawing/2014/main" id="{1A3FA37F-877B-CD28-89CA-00145B742BB7}"/>
              </a:ext>
            </a:extLst>
          </p:cNvPr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Total Losses Constant, Vary Loss Shape (s-pol, 80°) </a:t>
            </a:r>
            <a:endParaRPr lang="en-US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54381D-6C91-AC85-6AA2-2C1A57E8A17A}"/>
              </a:ext>
            </a:extLst>
          </p:cNvPr>
          <p:cNvSpPr txBox="1"/>
          <p:nvPr/>
        </p:nvSpPr>
        <p:spPr>
          <a:xfrm>
            <a:off x="6604735" y="1898094"/>
            <a:ext cx="24059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both double peaks and random distribution perform slightly worse than </a:t>
            </a:r>
            <a:r>
              <a:rPr lang="en-US" sz="1400" dirty="0" err="1"/>
              <a:t>sKK</a:t>
            </a:r>
            <a:r>
              <a:rPr lang="en-US" sz="1400" dirty="0"/>
              <a:t> profile </a:t>
            </a:r>
          </a:p>
        </p:txBody>
      </p:sp>
    </p:spTree>
    <p:extLst>
      <p:ext uri="{BB962C8B-B14F-4D97-AF65-F5344CB8AC3E}">
        <p14:creationId xmlns:p14="http://schemas.microsoft.com/office/powerpoint/2010/main" val="1179488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39834-358D-4490-67CA-FCBDE8D34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8F913B-350B-6C91-F504-D682874182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6188" y="2829005"/>
            <a:ext cx="6145385" cy="2314496"/>
          </a:xfrm>
          <a:prstGeom prst="rect">
            <a:avLst/>
          </a:prstGeom>
        </p:spPr>
      </p:pic>
      <p:pic>
        <p:nvPicPr>
          <p:cNvPr id="5" name="Picture 4" descr="A comparison of a graph&#10;&#10;AI-generated content may be incorrect.">
            <a:extLst>
              <a:ext uri="{FF2B5EF4-FFF2-40B4-BE49-F238E27FC236}">
                <a16:creationId xmlns:a16="http://schemas.microsoft.com/office/drawing/2014/main" id="{4BF4B820-8582-62A6-D848-8D64A5735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86" y="546846"/>
            <a:ext cx="6145387" cy="23144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FFDA87-3966-3617-489C-2EBCF3A9C645}"/>
                  </a:ext>
                </a:extLst>
              </p:cNvPr>
              <p:cNvSpPr txBox="1"/>
              <p:nvPr/>
            </p:nvSpPr>
            <p:spPr>
              <a:xfrm>
                <a:off x="6604735" y="896284"/>
                <a:ext cx="2195152" cy="6458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=0.2384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FFDA87-3966-3617-489C-2EBCF3A9C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735" y="896284"/>
                <a:ext cx="2195152" cy="645818"/>
              </a:xfrm>
              <a:prstGeom prst="rect">
                <a:avLst/>
              </a:prstGeom>
              <a:blipFill>
                <a:blip r:embed="rId4"/>
                <a:stretch>
                  <a:fillRect l="-37143" t="-151923" r="-1143" b="-20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0">
            <a:extLst>
              <a:ext uri="{FF2B5EF4-FFF2-40B4-BE49-F238E27FC236}">
                <a16:creationId xmlns:a16="http://schemas.microsoft.com/office/drawing/2014/main" id="{E4C4031A-7577-25AC-3CF4-D87A57A00301}"/>
              </a:ext>
            </a:extLst>
          </p:cNvPr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Total Losses Constant, Vary Loss Shape (s-pol, 80°) </a:t>
            </a:r>
            <a:endParaRPr lang="en-US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98B04D-7F8D-1D44-7136-4E7E9482E2B2}"/>
              </a:ext>
            </a:extLst>
          </p:cNvPr>
          <p:cNvSpPr txBox="1"/>
          <p:nvPr/>
        </p:nvSpPr>
        <p:spPr>
          <a:xfrm>
            <a:off x="6604735" y="1898094"/>
            <a:ext cx="24059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gaussian performs </a:t>
            </a:r>
            <a:r>
              <a:rPr lang="en-US" sz="1400" b="1" dirty="0"/>
              <a:t>slightly better</a:t>
            </a:r>
            <a:r>
              <a:rPr lang="en-US" sz="1400" dirty="0"/>
              <a:t> than </a:t>
            </a:r>
            <a:r>
              <a:rPr lang="en-US" sz="1400" dirty="0" err="1"/>
              <a:t>sKK</a:t>
            </a:r>
            <a:r>
              <a:rPr lang="en-US" sz="1400" dirty="0"/>
              <a:t> with </a:t>
            </a:r>
            <a:r>
              <a:rPr lang="en-US" sz="1400" b="1" dirty="0"/>
              <a:t>lower </a:t>
            </a:r>
            <a:r>
              <a:rPr lang="en-US" sz="1400" b="1" dirty="0" err="1"/>
              <a:t>FoM</a:t>
            </a:r>
            <a:r>
              <a:rPr lang="en-US" sz="14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92630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88285-3A79-763A-2EDF-0B3C3D249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D20F27-756E-6753-0E6B-48F2C2AB71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6188" y="2829005"/>
            <a:ext cx="6145385" cy="23144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6FA00A-3338-2D98-0D4C-C9DAFA9AEC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6187" y="546846"/>
            <a:ext cx="6145385" cy="23144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340391-CA4B-85DD-7011-E13D79F033CC}"/>
                  </a:ext>
                </a:extLst>
              </p:cNvPr>
              <p:cNvSpPr txBox="1"/>
              <p:nvPr/>
            </p:nvSpPr>
            <p:spPr>
              <a:xfrm>
                <a:off x="6604735" y="896284"/>
                <a:ext cx="2195153" cy="6458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=0.1296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340391-CA4B-85DD-7011-E13D79F03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735" y="896284"/>
                <a:ext cx="2195153" cy="645818"/>
              </a:xfrm>
              <a:prstGeom prst="rect">
                <a:avLst/>
              </a:prstGeom>
              <a:blipFill>
                <a:blip r:embed="rId4"/>
                <a:stretch>
                  <a:fillRect l="-37143" t="-151923" r="-1143" b="-20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0">
            <a:extLst>
              <a:ext uri="{FF2B5EF4-FFF2-40B4-BE49-F238E27FC236}">
                <a16:creationId xmlns:a16="http://schemas.microsoft.com/office/drawing/2014/main" id="{375608FF-F71E-9505-E954-776CFA720AB6}"/>
              </a:ext>
            </a:extLst>
          </p:cNvPr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Total Losses Constant, Vary Loss Shape (s-pol, 80°, gated) </a:t>
            </a:r>
            <a:endParaRPr lang="en-US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5BF5D1-4184-3A13-0B02-7DA10A6BC760}"/>
              </a:ext>
            </a:extLst>
          </p:cNvPr>
          <p:cNvSpPr txBox="1"/>
          <p:nvPr/>
        </p:nvSpPr>
        <p:spPr>
          <a:xfrm>
            <a:off x="6604735" y="1898094"/>
            <a:ext cx="24059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for gated profiles, constant again performs slightly worse than </a:t>
            </a:r>
            <a:r>
              <a:rPr lang="en-US" sz="1400" dirty="0" err="1"/>
              <a:t>sKK</a:t>
            </a:r>
            <a:r>
              <a:rPr lang="en-US" sz="1400" dirty="0"/>
              <a:t> gated </a:t>
            </a:r>
          </a:p>
        </p:txBody>
      </p:sp>
    </p:spTree>
    <p:extLst>
      <p:ext uri="{BB962C8B-B14F-4D97-AF65-F5344CB8AC3E}">
        <p14:creationId xmlns:p14="http://schemas.microsoft.com/office/powerpoint/2010/main" val="163284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23EA1-53E3-D96D-8E51-A7E18B8D7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D63500-2135-F0EC-88C1-F8D3A81054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6188" y="2829005"/>
            <a:ext cx="6145385" cy="23144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093761-E543-AEE0-F3B1-FDE599B0A4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6187" y="546846"/>
            <a:ext cx="6145385" cy="23144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AE0663-2873-B6AF-6481-7E6FF985B82A}"/>
                  </a:ext>
                </a:extLst>
              </p:cNvPr>
              <p:cNvSpPr txBox="1"/>
              <p:nvPr/>
            </p:nvSpPr>
            <p:spPr>
              <a:xfrm>
                <a:off x="6604735" y="896284"/>
                <a:ext cx="2195153" cy="6458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=0.1296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AE0663-2873-B6AF-6481-7E6FF985B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735" y="896284"/>
                <a:ext cx="2195153" cy="645818"/>
              </a:xfrm>
              <a:prstGeom prst="rect">
                <a:avLst/>
              </a:prstGeom>
              <a:blipFill>
                <a:blip r:embed="rId4"/>
                <a:stretch>
                  <a:fillRect l="-37143" t="-151923" r="-1143" b="-20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0">
            <a:extLst>
              <a:ext uri="{FF2B5EF4-FFF2-40B4-BE49-F238E27FC236}">
                <a16:creationId xmlns:a16="http://schemas.microsoft.com/office/drawing/2014/main" id="{9CC8E257-8F53-FFFD-9081-B9D048B4A01A}"/>
              </a:ext>
            </a:extLst>
          </p:cNvPr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Total Losses Constant, Vary Loss Shape (s-pol, 80°, gated) </a:t>
            </a:r>
            <a:endParaRPr lang="en-US" sz="2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C95B6-96E5-7E72-42D4-27BB85F4F780}"/>
              </a:ext>
            </a:extLst>
          </p:cNvPr>
          <p:cNvSpPr txBox="1"/>
          <p:nvPr/>
        </p:nvSpPr>
        <p:spPr>
          <a:xfrm>
            <a:off x="6604735" y="1898094"/>
            <a:ext cx="24059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both double peaks and random distribution perform slightly worse than </a:t>
            </a:r>
            <a:r>
              <a:rPr lang="en-US" sz="1400" dirty="0" err="1"/>
              <a:t>sKK</a:t>
            </a:r>
            <a:r>
              <a:rPr lang="en-US" sz="1400" dirty="0"/>
              <a:t> gated </a:t>
            </a:r>
          </a:p>
        </p:txBody>
      </p:sp>
    </p:spTree>
    <p:extLst>
      <p:ext uri="{BB962C8B-B14F-4D97-AF65-F5344CB8AC3E}">
        <p14:creationId xmlns:p14="http://schemas.microsoft.com/office/powerpoint/2010/main" val="3905204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4648B-D6E2-B604-5D3F-1C6FDDA76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E08566-4973-56A4-69B1-38BDA03700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6188" y="2829005"/>
            <a:ext cx="6145385" cy="23144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CB2331-4207-05CD-01EE-574DA30003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6187" y="546846"/>
            <a:ext cx="6145385" cy="23144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671014-D49B-006D-D6AB-0F3204551C09}"/>
                  </a:ext>
                </a:extLst>
              </p:cNvPr>
              <p:cNvSpPr txBox="1"/>
              <p:nvPr/>
            </p:nvSpPr>
            <p:spPr>
              <a:xfrm>
                <a:off x="6604735" y="896284"/>
                <a:ext cx="2195153" cy="6458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=0.1296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671014-D49B-006D-D6AB-0F3204551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735" y="896284"/>
                <a:ext cx="2195153" cy="645818"/>
              </a:xfrm>
              <a:prstGeom prst="rect">
                <a:avLst/>
              </a:prstGeom>
              <a:blipFill>
                <a:blip r:embed="rId4"/>
                <a:stretch>
                  <a:fillRect l="-37143" t="-151923" r="-1143" b="-20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0">
            <a:extLst>
              <a:ext uri="{FF2B5EF4-FFF2-40B4-BE49-F238E27FC236}">
                <a16:creationId xmlns:a16="http://schemas.microsoft.com/office/drawing/2014/main" id="{A77AF338-230A-8359-0A85-5E701587785D}"/>
              </a:ext>
            </a:extLst>
          </p:cNvPr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Total Losses Constant, Vary Loss Shape (s-pol, 80°, gated) </a:t>
            </a:r>
            <a:endParaRPr lang="en-US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105BCA-E935-E7B2-5840-BB3CAE1D2ED2}"/>
              </a:ext>
            </a:extLst>
          </p:cNvPr>
          <p:cNvSpPr txBox="1"/>
          <p:nvPr/>
        </p:nvSpPr>
        <p:spPr>
          <a:xfrm>
            <a:off x="6604735" y="1898094"/>
            <a:ext cx="24059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again, gaussian performs better than </a:t>
            </a:r>
            <a:r>
              <a:rPr lang="en-US" sz="1400" dirty="0" err="1"/>
              <a:t>sKK</a:t>
            </a:r>
            <a:r>
              <a:rPr lang="en-US" sz="1400" dirty="0"/>
              <a:t>. could be the smoother increase in imaginary part. </a:t>
            </a:r>
          </a:p>
        </p:txBody>
      </p:sp>
    </p:spTree>
    <p:extLst>
      <p:ext uri="{BB962C8B-B14F-4D97-AF65-F5344CB8AC3E}">
        <p14:creationId xmlns:p14="http://schemas.microsoft.com/office/powerpoint/2010/main" val="36376875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29C08-5C39-9FD4-FF25-C321C22AF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3E31BF9A-2592-923A-27E6-26E39D3849EE}"/>
              </a:ext>
            </a:extLst>
          </p:cNvPr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Experiment with 10x Coating Thickness (s-pol, 80°) </a:t>
            </a:r>
            <a:endParaRPr lang="en-US" sz="2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5F5CE9-D91A-D220-A0FE-4F7439735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6289708" cy="20986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FFB2B5-FE80-7D15-DF2D-75D8A3A56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441" y="1067334"/>
            <a:ext cx="2373948" cy="17013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793D76-8496-3EC2-3AA7-B93C6A6451DD}"/>
              </a:ext>
            </a:extLst>
          </p:cNvPr>
          <p:cNvSpPr txBox="1"/>
          <p:nvPr/>
        </p:nvSpPr>
        <p:spPr>
          <a:xfrm>
            <a:off x="475130" y="3091281"/>
            <a:ext cx="754828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sKK</a:t>
            </a:r>
            <a:r>
              <a:rPr lang="en-US" sz="1600" dirty="0"/>
              <a:t> shape outperforms other shapes at 4um thickness, but not at 0.4um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my guess: </a:t>
            </a:r>
            <a:r>
              <a:rPr lang="en-US" sz="1600" dirty="0" err="1"/>
              <a:t>sKK</a:t>
            </a:r>
            <a:r>
              <a:rPr lang="en-US" sz="1600" dirty="0"/>
              <a:t> is a coherent effect, which requires phase to accumulate within each layer. if layers are much smaller than the incoming wavelength (2-5um), there is no phase accumulation or cancellation, so only the total loss matters (not the shape). thicker layers allow for </a:t>
            </a:r>
            <a:r>
              <a:rPr lang="en-US" sz="1600" dirty="0" err="1"/>
              <a:t>sKK</a:t>
            </a:r>
            <a:r>
              <a:rPr lang="en-US" sz="1600" dirty="0"/>
              <a:t> to do its thing, while accumulating reflections for other non-HT profiles.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next slide shows thickness sweeps at different polarizations, wavelengths, angles.</a:t>
            </a:r>
          </a:p>
        </p:txBody>
      </p:sp>
    </p:spTree>
    <p:extLst>
      <p:ext uri="{BB962C8B-B14F-4D97-AF65-F5344CB8AC3E}">
        <p14:creationId xmlns:p14="http://schemas.microsoft.com/office/powerpoint/2010/main" val="2910424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E5AF116B-AC96-BB5F-445F-A4D97AC90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313" y="2624675"/>
            <a:ext cx="4051641" cy="2459015"/>
          </a:xfrm>
          <a:prstGeom prst="rect">
            <a:avLst/>
          </a:prstGeom>
        </p:spPr>
      </p:pic>
      <p:pic>
        <p:nvPicPr>
          <p:cNvPr id="5" name="Picture 4" descr="A graph of different colors and sizes&#10;&#10;AI-generated content may be incorrect.">
            <a:extLst>
              <a:ext uri="{FF2B5EF4-FFF2-40B4-BE49-F238E27FC236}">
                <a16:creationId xmlns:a16="http://schemas.microsoft.com/office/drawing/2014/main" id="{6BE2E48A-94CB-EF12-68B9-0C2190517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5660"/>
            <a:ext cx="4051641" cy="2459015"/>
          </a:xfrm>
          <a:prstGeom prst="rect">
            <a:avLst/>
          </a:prstGeom>
        </p:spPr>
      </p:pic>
      <p:pic>
        <p:nvPicPr>
          <p:cNvPr id="7" name="Picture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A443C49-1341-2A26-09C9-2E4B26780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352" y="2624675"/>
            <a:ext cx="4051641" cy="2459015"/>
          </a:xfrm>
          <a:prstGeom prst="rect">
            <a:avLst/>
          </a:prstGeom>
        </p:spPr>
      </p:pic>
      <p:pic>
        <p:nvPicPr>
          <p:cNvPr id="9" name="Picture 8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5B825772-8688-7C52-858D-45AF524390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8313" y="165660"/>
            <a:ext cx="4051641" cy="245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1011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A2687-0B70-8355-5D43-51648A6D4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mparison of a graph&#10;&#10;AI-generated content may be incorrect.">
            <a:extLst>
              <a:ext uri="{FF2B5EF4-FFF2-40B4-BE49-F238E27FC236}">
                <a16:creationId xmlns:a16="http://schemas.microsoft.com/office/drawing/2014/main" id="{AD0E68C5-AB6C-FF61-70B9-6A89F5F6C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42" y="735104"/>
            <a:ext cx="4176835" cy="1577614"/>
          </a:xfrm>
          <a:prstGeom prst="rect">
            <a:avLst/>
          </a:prstGeom>
        </p:spPr>
      </p:pic>
      <p:pic>
        <p:nvPicPr>
          <p:cNvPr id="8" name="Picture 7" descr="A comparison of a graph&#10;&#10;AI-generated content may be incorrect.">
            <a:extLst>
              <a:ext uri="{FF2B5EF4-FFF2-40B4-BE49-F238E27FC236}">
                <a16:creationId xmlns:a16="http://schemas.microsoft.com/office/drawing/2014/main" id="{1B677AC0-A89F-FD50-7612-4EA21E221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753" y="735104"/>
            <a:ext cx="4176832" cy="1577613"/>
          </a:xfrm>
          <a:prstGeom prst="rect">
            <a:avLst/>
          </a:prstGeom>
        </p:spPr>
      </p:pic>
      <p:pic>
        <p:nvPicPr>
          <p:cNvPr id="11" name="Picture 10" descr="A comparison of a graph&#10;&#10;AI-generated content may be incorrect.">
            <a:extLst>
              <a:ext uri="{FF2B5EF4-FFF2-40B4-BE49-F238E27FC236}">
                <a16:creationId xmlns:a16="http://schemas.microsoft.com/office/drawing/2014/main" id="{2CA92E95-9DD7-6EC2-1E80-009D4CB09C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942" y="2392262"/>
            <a:ext cx="4176832" cy="1573092"/>
          </a:xfrm>
          <a:prstGeom prst="rect">
            <a:avLst/>
          </a:prstGeom>
        </p:spPr>
      </p:pic>
      <p:pic>
        <p:nvPicPr>
          <p:cNvPr id="13" name="Picture 12" descr="A graph of different angles&#10;&#10;AI-generated content may be incorrect.">
            <a:extLst>
              <a:ext uri="{FF2B5EF4-FFF2-40B4-BE49-F238E27FC236}">
                <a16:creationId xmlns:a16="http://schemas.microsoft.com/office/drawing/2014/main" id="{6C29DFBE-8043-297F-6E58-6CF5E78FE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753" y="2392262"/>
            <a:ext cx="4176832" cy="15730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6D5B2A4-76A8-9654-AB83-4F599E69FDD3}"/>
              </a:ext>
            </a:extLst>
          </p:cNvPr>
          <p:cNvSpPr txBox="1"/>
          <p:nvPr/>
        </p:nvSpPr>
        <p:spPr>
          <a:xfrm>
            <a:off x="462043" y="4177563"/>
            <a:ext cx="8219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Thick vs. thin with 10x losses to match the thick coating shows a significant degradation in </a:t>
            </a:r>
            <a:r>
              <a:rPr lang="en-US" sz="1200" dirty="0" err="1"/>
              <a:t>R_back</a:t>
            </a:r>
            <a:r>
              <a:rPr lang="en-US" sz="1200" dirty="0"/>
              <a:t>, showing that the thick </a:t>
            </a:r>
            <a:r>
              <a:rPr lang="en-US" sz="1200" dirty="0" err="1"/>
              <a:t>sKK</a:t>
            </a:r>
            <a:r>
              <a:rPr lang="en-US" sz="1200" dirty="0"/>
              <a:t> coating is not just reducing </a:t>
            </a:r>
            <a:r>
              <a:rPr lang="en-US" sz="1200" dirty="0" err="1"/>
              <a:t>R_back</a:t>
            </a:r>
            <a:r>
              <a:rPr lang="en-US" sz="1200" dirty="0"/>
              <a:t> because of more losses, but rather, the coherent cancellation effect due to analyticity in space</a:t>
            </a:r>
          </a:p>
        </p:txBody>
      </p:sp>
    </p:spTree>
    <p:extLst>
      <p:ext uri="{BB962C8B-B14F-4D97-AF65-F5344CB8AC3E}">
        <p14:creationId xmlns:p14="http://schemas.microsoft.com/office/powerpoint/2010/main" val="30637755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B36DBBF3-6733-1E12-88D4-0167851FF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464" y="186439"/>
            <a:ext cx="2922400" cy="2067063"/>
          </a:xfrm>
          <a:prstGeom prst="rect">
            <a:avLst/>
          </a:prstGeom>
        </p:spPr>
      </p:pic>
      <p:pic>
        <p:nvPicPr>
          <p:cNvPr id="3" name="Picture 2" descr="A graph of a function&#10;&#10;AI-generated content may be incorrect.">
            <a:extLst>
              <a:ext uri="{FF2B5EF4-FFF2-40B4-BE49-F238E27FC236}">
                <a16:creationId xmlns:a16="http://schemas.microsoft.com/office/drawing/2014/main" id="{49C8D180-A3C0-0803-5E38-6C6FFE202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02" y="2393562"/>
            <a:ext cx="6806533" cy="2563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781FB9-F2F8-3C06-7AB7-15FA84D407C3}"/>
              </a:ext>
            </a:extLst>
          </p:cNvPr>
          <p:cNvSpPr txBox="1"/>
          <p:nvPr/>
        </p:nvSpPr>
        <p:spPr>
          <a:xfrm>
            <a:off x="5819676" y="573639"/>
            <a:ext cx="30464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sweeping the width of the imaginary part of the dielectric function, holding total losses and real part constant, highlights the importance of the shape of the losses themselves (</a:t>
            </a:r>
            <a:r>
              <a:rPr lang="en-US" sz="1200" dirty="0" err="1"/>
              <a:t>R_back</a:t>
            </a:r>
            <a:r>
              <a:rPr lang="en-US" sz="1200" dirty="0"/>
              <a:t> minimizes when width is original width from Hilbert transform).</a:t>
            </a:r>
          </a:p>
        </p:txBody>
      </p:sp>
    </p:spTree>
    <p:extLst>
      <p:ext uri="{BB962C8B-B14F-4D97-AF65-F5344CB8AC3E}">
        <p14:creationId xmlns:p14="http://schemas.microsoft.com/office/powerpoint/2010/main" val="37780825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Space: GRIN vs sKK Across Coating Thickness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74320" y="4437456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regimes: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Sub-λ coatings (&lt;1.5 μm) where GRIN is ineffective and sKK provides the only path to low R — but at the cost of absorption and broken analyticity. Thick coatings (&gt;6 μm) where GRIN alone achieves low R without absorption. Crossover region (1.5–6 μm) is where the design tradeoff is most nuanced.</a:t>
            </a:r>
            <a:endParaRPr lang="en-US" sz="12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348F827E-0736-8F76-887C-72B31B4298C6}"/>
              </a:ext>
            </a:extLst>
          </p:cNvPr>
          <p:cNvSpPr/>
          <p:nvPr/>
        </p:nvSpPr>
        <p:spPr>
          <a:xfrm>
            <a:off x="815789" y="2057400"/>
            <a:ext cx="271630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averaged </a:t>
            </a:r>
            <a:r>
              <a:rPr lang="en-US" sz="14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r>
              <a:rPr lang="en-US" sz="1400" baseline="-250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between 2-5um (s-pol, 80deg):</a:t>
            </a:r>
            <a:endParaRPr lang="en-US" sz="1400" dirty="0"/>
          </a:p>
        </p:txBody>
      </p:sp>
      <p:pic>
        <p:nvPicPr>
          <p:cNvPr id="5" name="Picture 4" descr="A graph of reflection and coating thickness&#10;&#10;AI-generated content may be incorrect.">
            <a:extLst>
              <a:ext uri="{FF2B5EF4-FFF2-40B4-BE49-F238E27FC236}">
                <a16:creationId xmlns:a16="http://schemas.microsoft.com/office/drawing/2014/main" id="{68326292-EFC5-9786-9BC1-60CF5D73B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2094" y="680421"/>
            <a:ext cx="5320553" cy="362250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0964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 the Hilbert transform of GRIN profiles with asymmetric endpoints (ε′(−∞) ≠ ε′(+∞)) is essential for coating application of </a:t>
            </a:r>
            <a:r>
              <a:rPr lang="en-US" sz="13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sKK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the standard FFT-based HT fails due to periodic continuation artifacts.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Derivative-then-integrate: dε′/dx → 0 at both endpoints, so the standard HT works on the derivative. Integrate back to recover </a:t>
            </a:r>
            <a:r>
              <a:rPr lang="en-US" sz="13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′′.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 zero-reflectance for all angles and wavelengths but with “lossy air” (n ≈ 1, k &gt; 0), which is fundamental to the asymmetric HT — not a numerical artifact (Horsley et al. perfect transmission via gain). First quantitative characterization of the analyticity–physicality tradeoff using spectral one-sidedness FoM.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thickness regimes: sub-λ (sKK essential, GRIN ineffective), crossover (1.5–6 μm), and thick coatings (&gt;6 μm, GRIN alone suffices). 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300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mitigations (α-scaling, σ-gating) trade practicality for reflection reduction and broken analyticity.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17078</TotalTime>
  <Words>1533</Words>
  <Application>Microsoft Macintosh PowerPoint</Application>
  <PresentationFormat>On-screen Show (16:9)</PresentationFormat>
  <Paragraphs>126</Paragraphs>
  <Slides>28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sKK AR Coating Analysis — Derivative Method</dc:title>
  <dc:subject>PptxGenJS Presentation</dc:subject>
  <dc:creator>Kunal</dc:creator>
  <cp:lastModifiedBy>Kunal Lakhanpal</cp:lastModifiedBy>
  <cp:revision>69</cp:revision>
  <dcterms:created xsi:type="dcterms:W3CDTF">2026-03-13T17:47:29Z</dcterms:created>
  <dcterms:modified xsi:type="dcterms:W3CDTF">2026-04-06T22:43:56Z</dcterms:modified>
</cp:coreProperties>
</file>