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97EF-1CBC-40BD-A2E9-94093395A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6076B-9ED4-4C76-A5AE-19ED3B3E7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0161C-0762-4DF3-81FD-8DA0A470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95FD5-48A2-4F5E-95A6-EB159F70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CE6F1-2295-426A-A522-8CA830E8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1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8651-56F0-49BC-9AA4-A1DB283C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38B47-B207-4EAB-9715-9050C9518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E6EEE-F5E8-448F-B595-09675A8D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1B200-3537-4453-B78C-E81C59D2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444F-C566-4C89-AEDC-F0B411F8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0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324B-C1BF-4FE2-B32C-73D672B0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DD87-D170-4332-A0CA-854361DF1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6E498-2F62-4602-83A0-B00A3E8C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8C3D7-555A-433C-AB01-B504B43B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E487B-7B1A-476E-ADF8-9FC52CBF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1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0E39-3A1D-41C8-945B-FB7C0FC4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B035-D601-49A4-B408-A22FC0BE1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2EDC3-6FFD-457E-B07B-DF631D4ED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5A00C-4C02-4F5A-9068-0C261A91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8C520-AC1C-4FA6-883D-9CB64D94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67126-FF2B-4745-BA02-68CD33AF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3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7F79-633F-4012-8DD5-1F7B5923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24FC-7485-4CB6-B152-2E46F9ED9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13C11-EE2F-42A9-919B-BADD6DC34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EC0CD-6580-43D3-ADC1-29404D7B0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CF05E-1BFF-4F04-A2B3-55AA501D9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CA9E0F-1D1B-466E-A65B-9EE6D165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2BAA9-39FE-49CE-9985-E72A010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FE3CF-5499-401A-9170-B552CCF8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9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1EBC-67BC-4868-B155-AFF1A965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37579-1C0F-4883-A76C-8CC747C4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BAADA-9AAD-49AE-8740-082234C3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803B0-AACB-4B4D-9C93-FDA0FD85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8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490C2-8098-4841-A6FC-F97EE96F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96303-E48B-4DB9-BF0C-E9B7EBC6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252F-C232-455D-AEEE-F809D66A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4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4B97-A363-4766-92D3-B5405419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CC281-B0BB-4635-BB12-F4EEE22A4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37B1A-5920-4DB8-AAE6-8E8914239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D6EAE-FFB4-4538-BD0D-63CE243D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F77DA-C01A-4BDF-847C-DB554C03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EEF2B-9D7D-4EB5-B4F2-963AF851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3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C86A-BF89-4871-ADD3-7BB576E7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3D883-A5DA-40D2-8ABB-86DC49118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9F1E8-D1D5-42E4-8061-96FB7BE18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6C316-F2B4-4395-B555-66BB6265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F365E-854E-46E9-8D36-1B2CC648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78C0A-647E-4E4D-BABD-8F93921F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5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8A1D-5DE7-4C7F-8463-3288F0F3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0DFC4-DCB8-47BB-8FA4-0331C87F0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16136-3392-41CC-AD14-F8803CAF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2D710-12C1-4DE4-BBA4-4D2ECA8F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D0A66-F8E9-4202-983A-42F3F9C6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2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910D2-EC0D-4BD5-8FDE-D08F26261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C531D-EE9F-4427-9204-0A39346D5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FF32F-503A-4670-83BC-F6BF0176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892D2-891F-401A-B8AA-C6A61EED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778C-4D99-4E22-91F0-B93BA202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8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1240FE-0183-4308-8174-D6B8D826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65EEC-5BD1-438C-8D2C-E667CDE68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5F1D-6EF5-4848-A5EF-809CC7732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AD26F-7064-4F06-B43D-7F7F34DB404B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4C84-C444-4840-A78F-9F9B4E671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05AED-07DC-49D9-B375-B2CC18CF3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20E08-31C6-4F45-99C8-A05695FCF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1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28216-6024-4173-B6FE-8840607731A7}"/>
              </a:ext>
            </a:extLst>
          </p:cNvPr>
          <p:cNvSpPr txBox="1"/>
          <p:nvPr/>
        </p:nvSpPr>
        <p:spPr>
          <a:xfrm>
            <a:off x="329609" y="179581"/>
            <a:ext cx="6445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Coating on a Window for Asymmetric Absorption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BD010-62CE-485E-BA2F-84B9427F5592}"/>
              </a:ext>
            </a:extLst>
          </p:cNvPr>
          <p:cNvSpPr/>
          <p:nvPr/>
        </p:nvSpPr>
        <p:spPr>
          <a:xfrm>
            <a:off x="2205167" y="1382522"/>
            <a:ext cx="2593777" cy="34424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BE304F-0467-4D3B-AD37-E455FDB71C25}"/>
              </a:ext>
            </a:extLst>
          </p:cNvPr>
          <p:cNvGrpSpPr/>
          <p:nvPr/>
        </p:nvGrpSpPr>
        <p:grpSpPr>
          <a:xfrm>
            <a:off x="3041052" y="2657719"/>
            <a:ext cx="3835543" cy="347832"/>
            <a:chOff x="1905243" y="2294124"/>
            <a:chExt cx="3835543" cy="347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F180B2-75BF-4067-9396-7BE189D322CB}"/>
                </a:ext>
              </a:extLst>
            </p:cNvPr>
            <p:cNvSpPr/>
            <p:nvPr/>
          </p:nvSpPr>
          <p:spPr>
            <a:xfrm>
              <a:off x="1905243" y="2294124"/>
              <a:ext cx="914400" cy="34783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7904FF-05BF-4983-853A-CC6336743FB9}"/>
                </a:ext>
              </a:extLst>
            </p:cNvPr>
            <p:cNvSpPr/>
            <p:nvPr/>
          </p:nvSpPr>
          <p:spPr>
            <a:xfrm>
              <a:off x="2984969" y="2294124"/>
              <a:ext cx="914400" cy="34424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A09E34-E0EA-4C66-B077-738C204231D1}"/>
                </a:ext>
              </a:extLst>
            </p:cNvPr>
            <p:cNvSpPr/>
            <p:nvPr/>
          </p:nvSpPr>
          <p:spPr>
            <a:xfrm>
              <a:off x="2819643" y="2294124"/>
              <a:ext cx="152709" cy="3442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6660E2-E7FD-4821-96F1-81EFEB021475}"/>
                </a:ext>
              </a:extLst>
            </p:cNvPr>
            <p:cNvSpPr/>
            <p:nvPr/>
          </p:nvSpPr>
          <p:spPr>
            <a:xfrm>
              <a:off x="3911986" y="2294124"/>
              <a:ext cx="1828800" cy="3442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B53A0-C18E-494F-88AC-54D8777A9444}"/>
              </a:ext>
            </a:extLst>
          </p:cNvPr>
          <p:cNvSpPr/>
          <p:nvPr/>
        </p:nvSpPr>
        <p:spPr>
          <a:xfrm>
            <a:off x="4806115" y="1382522"/>
            <a:ext cx="152709" cy="344242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D9285C-0DA4-4165-B10B-1FE37731DEA1}"/>
              </a:ext>
            </a:extLst>
          </p:cNvPr>
          <p:cNvSpPr/>
          <p:nvPr/>
        </p:nvSpPr>
        <p:spPr>
          <a:xfrm>
            <a:off x="4720857" y="1244009"/>
            <a:ext cx="340242" cy="584791"/>
          </a:xfrm>
          <a:prstGeom prst="ellipse">
            <a:avLst/>
          </a:prstGeom>
          <a:noFill/>
          <a:ln w="190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E69BFF-5D88-41B1-B860-299DF9145313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2945220" y="1828800"/>
            <a:ext cx="1945758" cy="50528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243AD6-9503-46BD-B065-DAB11F6345A7}"/>
              </a:ext>
            </a:extLst>
          </p:cNvPr>
          <p:cNvCxnSpPr>
            <a:cxnSpLocks/>
            <a:endCxn id="13" idx="4"/>
          </p:cNvCxnSpPr>
          <p:nvPr/>
        </p:nvCxnSpPr>
        <p:spPr>
          <a:xfrm flipH="1" flipV="1">
            <a:off x="4890978" y="1828800"/>
            <a:ext cx="2094614" cy="50528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36B29FF-91DD-47EA-AE8B-80AA5813B7C1}"/>
              </a:ext>
            </a:extLst>
          </p:cNvPr>
          <p:cNvSpPr/>
          <p:nvPr/>
        </p:nvSpPr>
        <p:spPr>
          <a:xfrm>
            <a:off x="2934587" y="2339163"/>
            <a:ext cx="4051005" cy="99946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0F8C1-6E3D-4AC4-ABE9-67DF20E5D46C}"/>
              </a:ext>
            </a:extLst>
          </p:cNvPr>
          <p:cNvSpPr txBox="1"/>
          <p:nvPr/>
        </p:nvSpPr>
        <p:spPr>
          <a:xfrm>
            <a:off x="3371435" y="1046870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079E45-2759-4189-8CD5-EAE54DD90504}"/>
              </a:ext>
            </a:extLst>
          </p:cNvPr>
          <p:cNvSpPr txBox="1"/>
          <p:nvPr/>
        </p:nvSpPr>
        <p:spPr>
          <a:xfrm>
            <a:off x="3371435" y="2331345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(2)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DF4073-7BF8-41BF-BF27-C9D74412DA57}"/>
              </a:ext>
            </a:extLst>
          </p:cNvPr>
          <p:cNvSpPr txBox="1"/>
          <p:nvPr/>
        </p:nvSpPr>
        <p:spPr>
          <a:xfrm>
            <a:off x="3825138" y="2981963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4E0D85-E685-4D28-B12A-31F444CB1C57}"/>
              </a:ext>
            </a:extLst>
          </p:cNvPr>
          <p:cNvSpPr txBox="1"/>
          <p:nvPr/>
        </p:nvSpPr>
        <p:spPr>
          <a:xfrm>
            <a:off x="4379736" y="2331345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(4)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B531D3-A275-4EF1-BEBE-1B2E4B7629BE}"/>
              </a:ext>
            </a:extLst>
          </p:cNvPr>
          <p:cNvSpPr txBox="1"/>
          <p:nvPr/>
        </p:nvSpPr>
        <p:spPr>
          <a:xfrm>
            <a:off x="5755247" y="2999123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(5)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F00454-D045-400A-AD2A-485F23D628CA}"/>
              </a:ext>
            </a:extLst>
          </p:cNvPr>
          <p:cNvSpPr txBox="1"/>
          <p:nvPr/>
        </p:nvSpPr>
        <p:spPr>
          <a:xfrm>
            <a:off x="564209" y="1046870"/>
            <a:ext cx="93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B5AC4D-BBCD-4EDB-9CBD-13619595CD1C}"/>
              </a:ext>
            </a:extLst>
          </p:cNvPr>
          <p:cNvSpPr txBox="1"/>
          <p:nvPr/>
        </p:nvSpPr>
        <p:spPr>
          <a:xfrm>
            <a:off x="5769686" y="1050905"/>
            <a:ext cx="87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027D529-E3D0-4869-8097-7630A81021B6}"/>
              </a:ext>
            </a:extLst>
          </p:cNvPr>
          <p:cNvCxnSpPr>
            <a:cxnSpLocks/>
          </p:cNvCxnSpPr>
          <p:nvPr/>
        </p:nvCxnSpPr>
        <p:spPr>
          <a:xfrm>
            <a:off x="1496580" y="1263435"/>
            <a:ext cx="608667" cy="1509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754868-26B2-4800-BD71-41E441FC1568}"/>
              </a:ext>
            </a:extLst>
          </p:cNvPr>
          <p:cNvCxnSpPr>
            <a:cxnSpLocks/>
          </p:cNvCxnSpPr>
          <p:nvPr/>
        </p:nvCxnSpPr>
        <p:spPr>
          <a:xfrm flipH="1">
            <a:off x="5105430" y="1267470"/>
            <a:ext cx="664256" cy="1806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8D80EBA-6C9D-41E2-9D36-D6FFF4B0EFBC}"/>
              </a:ext>
            </a:extLst>
          </p:cNvPr>
          <p:cNvGraphicFramePr>
            <a:graphicFrameLocks noGrp="1"/>
          </p:cNvGraphicFramePr>
          <p:nvPr/>
        </p:nvGraphicFramePr>
        <p:xfrm>
          <a:off x="7949015" y="911634"/>
          <a:ext cx="3383271" cy="31779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27757">
                  <a:extLst>
                    <a:ext uri="{9D8B030D-6E8A-4147-A177-3AD203B41FA5}">
                      <a16:colId xmlns:a16="http://schemas.microsoft.com/office/drawing/2014/main" val="3195450066"/>
                    </a:ext>
                  </a:extLst>
                </a:gridCol>
                <a:gridCol w="1127757">
                  <a:extLst>
                    <a:ext uri="{9D8B030D-6E8A-4147-A177-3AD203B41FA5}">
                      <a16:colId xmlns:a16="http://schemas.microsoft.com/office/drawing/2014/main" val="2621671764"/>
                    </a:ext>
                  </a:extLst>
                </a:gridCol>
                <a:gridCol w="1127757">
                  <a:extLst>
                    <a:ext uri="{9D8B030D-6E8A-4147-A177-3AD203B41FA5}">
                      <a16:colId xmlns:a16="http://schemas.microsoft.com/office/drawing/2014/main" val="601739832"/>
                    </a:ext>
                  </a:extLst>
                </a:gridCol>
              </a:tblGrid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Thickness (</a:t>
                      </a:r>
                      <a:r>
                        <a:rPr lang="en-US" sz="1500" dirty="0" err="1"/>
                        <a:t>μm</a:t>
                      </a:r>
                      <a:r>
                        <a:rPr lang="en-US" sz="15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14652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Zinc Sulfide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602258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Silicon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204931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Graphite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036487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Silica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63387"/>
                  </a:ext>
                </a:extLst>
              </a:tr>
              <a:tr h="5258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Zinc Sulfide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933671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8F9639FE-E69B-4CA1-A913-D14B0E564AC8}"/>
              </a:ext>
            </a:extLst>
          </p:cNvPr>
          <p:cNvGrpSpPr>
            <a:grpSpLocks noChangeAspect="1"/>
          </p:cNvGrpSpPr>
          <p:nvPr/>
        </p:nvGrpSpPr>
        <p:grpSpPr>
          <a:xfrm>
            <a:off x="3683726" y="3709641"/>
            <a:ext cx="3557837" cy="2968778"/>
            <a:chOff x="1986625" y="0"/>
            <a:chExt cx="8218750" cy="685800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F54A8A9-7E64-4040-AA2D-E7FFBDCDDEB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986625" y="0"/>
              <a:ext cx="8218750" cy="68580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9EB1514-5215-477E-BB33-D55668EDE9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/>
            <a:srcRect l="10441" t="8298" r="11317" b="10984"/>
            <a:stretch/>
          </p:blipFill>
          <p:spPr>
            <a:xfrm>
              <a:off x="8143570" y="552986"/>
              <a:ext cx="1652754" cy="1420897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85FE75F-9EDA-4E16-8BFC-25E032F407F9}"/>
              </a:ext>
            </a:extLst>
          </p:cNvPr>
          <p:cNvSpPr txBox="1"/>
          <p:nvPr/>
        </p:nvSpPr>
        <p:spPr>
          <a:xfrm>
            <a:off x="384937" y="4979012"/>
            <a:ext cx="2656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dirty="0"/>
              <a:t>arrows signify direction of incident light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586169-27D9-4E89-BB5A-1BFF15EEE04D}"/>
              </a:ext>
            </a:extLst>
          </p:cNvPr>
          <p:cNvCxnSpPr/>
          <p:nvPr/>
        </p:nvCxnSpPr>
        <p:spPr>
          <a:xfrm>
            <a:off x="1882302" y="4137950"/>
            <a:ext cx="60089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27DC05-0BDD-4C09-BD5F-AA7F7C8B6D20}"/>
              </a:ext>
            </a:extLst>
          </p:cNvPr>
          <p:cNvCxnSpPr>
            <a:cxnSpLocks/>
          </p:cNvCxnSpPr>
          <p:nvPr/>
        </p:nvCxnSpPr>
        <p:spPr>
          <a:xfrm flipH="1">
            <a:off x="892697" y="4137950"/>
            <a:ext cx="567239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25183C3-330F-4828-B8FE-C76B7DE41BB2}"/>
              </a:ext>
            </a:extLst>
          </p:cNvPr>
          <p:cNvSpPr txBox="1"/>
          <p:nvPr/>
        </p:nvSpPr>
        <p:spPr>
          <a:xfrm>
            <a:off x="1979005" y="429137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DA0D49-417B-4205-A146-37E736E96964}"/>
              </a:ext>
            </a:extLst>
          </p:cNvPr>
          <p:cNvSpPr txBox="1"/>
          <p:nvPr/>
        </p:nvSpPr>
        <p:spPr>
          <a:xfrm>
            <a:off x="1075035" y="429137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404E96-1810-48A1-A3F3-4E0B8A871179}"/>
              </a:ext>
            </a:extLst>
          </p:cNvPr>
          <p:cNvSpPr txBox="1"/>
          <p:nvPr/>
        </p:nvSpPr>
        <p:spPr>
          <a:xfrm>
            <a:off x="8312592" y="4778531"/>
            <a:ext cx="2656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thank you for helping us fabricate this!</a:t>
            </a:r>
          </a:p>
          <a:p>
            <a:pPr algn="ctr"/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6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AA55-E229-87D7-6985-359D132B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652124-620F-293E-F45E-7F22CDC7668E}"/>
              </a:ext>
            </a:extLst>
          </p:cNvPr>
          <p:cNvSpPr/>
          <p:nvPr/>
        </p:nvSpPr>
        <p:spPr>
          <a:xfrm>
            <a:off x="2169540" y="729381"/>
            <a:ext cx="2593777" cy="34424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CD7263-3A9A-2889-D00E-764A21BF5AD2}"/>
              </a:ext>
            </a:extLst>
          </p:cNvPr>
          <p:cNvGrpSpPr/>
          <p:nvPr/>
        </p:nvGrpSpPr>
        <p:grpSpPr>
          <a:xfrm>
            <a:off x="3005425" y="2004578"/>
            <a:ext cx="3835543" cy="347832"/>
            <a:chOff x="1905243" y="2294124"/>
            <a:chExt cx="3835543" cy="347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497D0A-0BB5-02AD-46B3-E7064BC3ECF5}"/>
                </a:ext>
              </a:extLst>
            </p:cNvPr>
            <p:cNvSpPr/>
            <p:nvPr/>
          </p:nvSpPr>
          <p:spPr>
            <a:xfrm>
              <a:off x="1905243" y="2294124"/>
              <a:ext cx="914400" cy="34783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809AC6-D217-D4DD-CFDA-A235CC58E9AE}"/>
                </a:ext>
              </a:extLst>
            </p:cNvPr>
            <p:cNvSpPr/>
            <p:nvPr/>
          </p:nvSpPr>
          <p:spPr>
            <a:xfrm>
              <a:off x="2984969" y="2294124"/>
              <a:ext cx="914400" cy="34424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D99070-F85D-3D57-0E68-6B0965CAB2B4}"/>
                </a:ext>
              </a:extLst>
            </p:cNvPr>
            <p:cNvSpPr/>
            <p:nvPr/>
          </p:nvSpPr>
          <p:spPr>
            <a:xfrm>
              <a:off x="2819643" y="2294124"/>
              <a:ext cx="152709" cy="34424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7C1AE9-FDB7-53E1-C50C-1E8D815F4799}"/>
                </a:ext>
              </a:extLst>
            </p:cNvPr>
            <p:cNvSpPr/>
            <p:nvPr/>
          </p:nvSpPr>
          <p:spPr>
            <a:xfrm>
              <a:off x="3911986" y="2294124"/>
              <a:ext cx="1828800" cy="3442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9A8D1-C2B9-BBF9-ECB4-D3AA2FFEE620}"/>
              </a:ext>
            </a:extLst>
          </p:cNvPr>
          <p:cNvSpPr/>
          <p:nvPr/>
        </p:nvSpPr>
        <p:spPr>
          <a:xfrm>
            <a:off x="4770488" y="729381"/>
            <a:ext cx="152709" cy="344242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05B23E-BD05-BB97-D453-F094AD3D92B0}"/>
              </a:ext>
            </a:extLst>
          </p:cNvPr>
          <p:cNvSpPr/>
          <p:nvPr/>
        </p:nvSpPr>
        <p:spPr>
          <a:xfrm>
            <a:off x="4685230" y="590868"/>
            <a:ext cx="340242" cy="584791"/>
          </a:xfrm>
          <a:prstGeom prst="ellipse">
            <a:avLst/>
          </a:prstGeom>
          <a:noFill/>
          <a:ln w="190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0B1921-625B-C40C-4868-5D7295B33A9D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2909593" y="1175659"/>
            <a:ext cx="1945758" cy="50528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22A786-D384-FBF8-B655-12F792002452}"/>
              </a:ext>
            </a:extLst>
          </p:cNvPr>
          <p:cNvCxnSpPr>
            <a:cxnSpLocks/>
            <a:endCxn id="13" idx="4"/>
          </p:cNvCxnSpPr>
          <p:nvPr/>
        </p:nvCxnSpPr>
        <p:spPr>
          <a:xfrm flipH="1" flipV="1">
            <a:off x="4855351" y="1175659"/>
            <a:ext cx="2094614" cy="50528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80B9C07-5085-E4D6-1166-CC2ECA00A810}"/>
              </a:ext>
            </a:extLst>
          </p:cNvPr>
          <p:cNvSpPr/>
          <p:nvPr/>
        </p:nvSpPr>
        <p:spPr>
          <a:xfrm>
            <a:off x="2898960" y="1686022"/>
            <a:ext cx="4051005" cy="99946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F4523-1B65-EC68-ECA0-8C34F1D5FECA}"/>
              </a:ext>
            </a:extLst>
          </p:cNvPr>
          <p:cNvSpPr txBox="1"/>
          <p:nvPr/>
        </p:nvSpPr>
        <p:spPr>
          <a:xfrm>
            <a:off x="3335808" y="393729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C2470B-548E-797A-0D5E-CEA625BA53F0}"/>
              </a:ext>
            </a:extLst>
          </p:cNvPr>
          <p:cNvSpPr txBox="1"/>
          <p:nvPr/>
        </p:nvSpPr>
        <p:spPr>
          <a:xfrm>
            <a:off x="3335808" y="1678204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(2)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F0E908-F259-E844-144F-B5C86AA05BAB}"/>
              </a:ext>
            </a:extLst>
          </p:cNvPr>
          <p:cNvSpPr txBox="1"/>
          <p:nvPr/>
        </p:nvSpPr>
        <p:spPr>
          <a:xfrm>
            <a:off x="3789511" y="2328822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FADA83-4E0C-6CC6-303E-FA9011945FDD}"/>
              </a:ext>
            </a:extLst>
          </p:cNvPr>
          <p:cNvSpPr txBox="1"/>
          <p:nvPr/>
        </p:nvSpPr>
        <p:spPr>
          <a:xfrm>
            <a:off x="4344109" y="1678204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(4)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F6EAB3-A385-1E3A-2B16-976735613BC5}"/>
              </a:ext>
            </a:extLst>
          </p:cNvPr>
          <p:cNvSpPr txBox="1"/>
          <p:nvPr/>
        </p:nvSpPr>
        <p:spPr>
          <a:xfrm>
            <a:off x="5719620" y="2345982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(5)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97BF36-7A45-0EF5-07A2-ECA056485DBF}"/>
              </a:ext>
            </a:extLst>
          </p:cNvPr>
          <p:cNvSpPr txBox="1"/>
          <p:nvPr/>
        </p:nvSpPr>
        <p:spPr>
          <a:xfrm>
            <a:off x="2340896" y="381733"/>
            <a:ext cx="93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04DD50-5D9E-88D8-75FA-F454DD48649A}"/>
              </a:ext>
            </a:extLst>
          </p:cNvPr>
          <p:cNvSpPr txBox="1"/>
          <p:nvPr/>
        </p:nvSpPr>
        <p:spPr>
          <a:xfrm>
            <a:off x="5734059" y="397764"/>
            <a:ext cx="87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19A35EB-07D8-4393-71B1-F64E7AC9A8A3}"/>
              </a:ext>
            </a:extLst>
          </p:cNvPr>
          <p:cNvCxnSpPr>
            <a:cxnSpLocks/>
          </p:cNvCxnSpPr>
          <p:nvPr/>
        </p:nvCxnSpPr>
        <p:spPr>
          <a:xfrm flipH="1">
            <a:off x="5069803" y="614329"/>
            <a:ext cx="664256" cy="1806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EF003A8-DE34-80F9-5A35-BE2F14900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47198"/>
              </p:ext>
            </p:extLst>
          </p:nvPr>
        </p:nvGraphicFramePr>
        <p:xfrm>
          <a:off x="7885491" y="267678"/>
          <a:ext cx="3504348" cy="26547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8116">
                  <a:extLst>
                    <a:ext uri="{9D8B030D-6E8A-4147-A177-3AD203B41FA5}">
                      <a16:colId xmlns:a16="http://schemas.microsoft.com/office/drawing/2014/main" val="3195450066"/>
                    </a:ext>
                  </a:extLst>
                </a:gridCol>
                <a:gridCol w="1168116">
                  <a:extLst>
                    <a:ext uri="{9D8B030D-6E8A-4147-A177-3AD203B41FA5}">
                      <a16:colId xmlns:a16="http://schemas.microsoft.com/office/drawing/2014/main" val="2621671764"/>
                    </a:ext>
                  </a:extLst>
                </a:gridCol>
                <a:gridCol w="1168116">
                  <a:extLst>
                    <a:ext uri="{9D8B030D-6E8A-4147-A177-3AD203B41FA5}">
                      <a16:colId xmlns:a16="http://schemas.microsoft.com/office/drawing/2014/main" val="601739832"/>
                    </a:ext>
                  </a:extLst>
                </a:gridCol>
              </a:tblGrid>
              <a:tr h="43947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Thickness (</a:t>
                      </a:r>
                      <a:r>
                        <a:rPr lang="en-US" sz="1500" dirty="0" err="1"/>
                        <a:t>μm</a:t>
                      </a:r>
                      <a:r>
                        <a:rPr lang="en-US" sz="15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14652"/>
                  </a:ext>
                </a:extLst>
              </a:tr>
              <a:tr h="4212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Zinc Sulfide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602258"/>
                  </a:ext>
                </a:extLst>
              </a:tr>
              <a:tr h="4212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Silicon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204931"/>
                  </a:ext>
                </a:extLst>
              </a:tr>
              <a:tr h="4212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Graphite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036487"/>
                  </a:ext>
                </a:extLst>
              </a:tr>
              <a:tr h="4212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Silica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63387"/>
                  </a:ext>
                </a:extLst>
              </a:tr>
              <a:tr h="4212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Zinc Sulfide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933671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FD123154-2012-24F9-5030-2641EA39EFCD}"/>
              </a:ext>
            </a:extLst>
          </p:cNvPr>
          <p:cNvGrpSpPr>
            <a:grpSpLocks noChangeAspect="1"/>
          </p:cNvGrpSpPr>
          <p:nvPr/>
        </p:nvGrpSpPr>
        <p:grpSpPr>
          <a:xfrm>
            <a:off x="7253179" y="3169583"/>
            <a:ext cx="4420265" cy="3688417"/>
            <a:chOff x="1986625" y="0"/>
            <a:chExt cx="8218750" cy="685800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7A1E894-ABD5-47BC-CD37-0413BC2C0105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986625" y="0"/>
              <a:ext cx="8218750" cy="68580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6EB7D80-36AD-F9AF-EDC9-6B47197E3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/>
            <a:srcRect l="10441" t="8298" r="11317" b="10984"/>
            <a:stretch/>
          </p:blipFill>
          <p:spPr>
            <a:xfrm>
              <a:off x="8143570" y="552986"/>
              <a:ext cx="1652754" cy="1420897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DEB735-507C-9638-0BAB-3C551F71459F}"/>
              </a:ext>
            </a:extLst>
          </p:cNvPr>
          <p:cNvGrpSpPr>
            <a:grpSpLocks noChangeAspect="1"/>
          </p:cNvGrpSpPr>
          <p:nvPr/>
        </p:nvGrpSpPr>
        <p:grpSpPr>
          <a:xfrm>
            <a:off x="2695549" y="3165973"/>
            <a:ext cx="4149877" cy="3692027"/>
            <a:chOff x="2241768" y="0"/>
            <a:chExt cx="7708464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6D721F6-1CC7-5136-ADA4-3F6659574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1768" y="0"/>
              <a:ext cx="7708464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18A2FEF-82F6-08AD-7C18-8BA43B48AC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9" t="19831" r="6733" b="21952"/>
            <a:stretch/>
          </p:blipFill>
          <p:spPr>
            <a:xfrm>
              <a:off x="8167618" y="644063"/>
              <a:ext cx="1483606" cy="826659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59D6AD-0B79-5FCD-BBDD-7C613E893728}"/>
              </a:ext>
            </a:extLst>
          </p:cNvPr>
          <p:cNvSpPr txBox="1"/>
          <p:nvPr/>
        </p:nvSpPr>
        <p:spPr>
          <a:xfrm>
            <a:off x="4138954" y="3496043"/>
            <a:ext cx="848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graphite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4663FC-E4B6-DD2F-9FE8-40C7C2602929}"/>
              </a:ext>
            </a:extLst>
          </p:cNvPr>
          <p:cNvSpPr txBox="1"/>
          <p:nvPr/>
        </p:nvSpPr>
        <p:spPr>
          <a:xfrm>
            <a:off x="4312520" y="4053552"/>
            <a:ext cx="687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silicon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A24D86-5310-4225-1489-D2876789D6B4}"/>
              </a:ext>
            </a:extLst>
          </p:cNvPr>
          <p:cNvSpPr txBox="1"/>
          <p:nvPr/>
        </p:nvSpPr>
        <p:spPr>
          <a:xfrm>
            <a:off x="5013597" y="5469077"/>
            <a:ext cx="577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silica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9C3D58-8038-AF02-DB41-253A8BE76560}"/>
              </a:ext>
            </a:extLst>
          </p:cNvPr>
          <p:cNvSpPr txBox="1"/>
          <p:nvPr/>
        </p:nvSpPr>
        <p:spPr>
          <a:xfrm>
            <a:off x="3645175" y="4704209"/>
            <a:ext cx="474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ZnS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F11EA6-3E87-2323-A92E-113E1809F0A0}"/>
              </a:ext>
            </a:extLst>
          </p:cNvPr>
          <p:cNvSpPr txBox="1"/>
          <p:nvPr/>
        </p:nvSpPr>
        <p:spPr>
          <a:xfrm>
            <a:off x="5871231" y="4714921"/>
            <a:ext cx="474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ZnS</a:t>
            </a:r>
          </a:p>
        </p:txBody>
      </p:sp>
    </p:spTree>
    <p:extLst>
      <p:ext uri="{BB962C8B-B14F-4D97-AF65-F5344CB8AC3E}">
        <p14:creationId xmlns:p14="http://schemas.microsoft.com/office/powerpoint/2010/main" val="4017561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22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22755</TotalTime>
  <Words>129</Words>
  <Application>Microsoft Macintosh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2</cp:revision>
  <dcterms:created xsi:type="dcterms:W3CDTF">2025-04-07T23:27:06Z</dcterms:created>
  <dcterms:modified xsi:type="dcterms:W3CDTF">2025-09-15T04:46:45Z</dcterms:modified>
</cp:coreProperties>
</file>