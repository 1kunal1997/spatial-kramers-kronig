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8" r:id="rId2"/>
    <p:sldId id="267" r:id="rId3"/>
    <p:sldId id="259" r:id="rId4"/>
    <p:sldId id="260" r:id="rId5"/>
    <p:sldId id="261" r:id="rId6"/>
    <p:sldId id="262" r:id="rId7"/>
    <p:sldId id="263" r:id="rId8"/>
    <p:sldId id="264" r:id="rId9"/>
    <p:sldId id="265" r:id="rId10"/>
    <p:sldId id="266"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64"/>
    <p:restoredTop sz="94610"/>
  </p:normalViewPr>
  <p:slideViewPr>
    <p:cSldViewPr snapToGrid="0" snapToObjects="1">
      <p:cViewPr varScale="1">
        <p:scale>
          <a:sx n="142" d="100"/>
          <a:sy n="142" d="100"/>
        </p:scale>
        <p:origin x="6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8795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7" name="Shape 5"/>
          <p:cNvSpPr/>
          <p:nvPr/>
        </p:nvSpPr>
        <p:spPr>
          <a:xfrm>
            <a:off x="0" y="4505562"/>
            <a:ext cx="9144000" cy="637938"/>
          </a:xfrm>
          <a:prstGeom prst="rect">
            <a:avLst/>
          </a:prstGeom>
          <a:solidFill>
            <a:srgbClr val="F5F5F5"/>
          </a:solidFill>
          <a:ln/>
        </p:spPr>
        <p:txBody>
          <a:bodyPr/>
          <a:lstStyle/>
          <a:p>
            <a:endParaRPr lang="en-US"/>
          </a:p>
        </p:txBody>
      </p:sp>
      <p:sp>
        <p:nvSpPr>
          <p:cNvPr id="8" name="Text 6"/>
          <p:cNvSpPr/>
          <p:nvPr/>
        </p:nvSpPr>
        <p:spPr>
          <a:xfrm>
            <a:off x="457200" y="4579122"/>
            <a:ext cx="8229600" cy="490818"/>
          </a:xfrm>
          <a:prstGeom prst="rect">
            <a:avLst/>
          </a:prstGeom>
          <a:noFill/>
          <a:ln/>
        </p:spPr>
        <p:txBody>
          <a:bodyPr wrap="square" lIns="0" tIns="0" rIns="0" bIns="0" rtlCol="0" anchor="ctr"/>
          <a:lstStyle/>
          <a:p>
            <a:pPr marL="0" indent="0">
              <a:buNone/>
            </a:pPr>
            <a:r>
              <a:rPr lang="en-US" sz="1200" b="1" dirty="0">
                <a:solidFill>
                  <a:srgbClr val="333333"/>
                </a:solidFill>
                <a:latin typeface="Arial" pitchFamily="34" charset="0"/>
                <a:ea typeface="Arial" pitchFamily="34" charset="-122"/>
                <a:cs typeface="Arial" pitchFamily="34" charset="-120"/>
              </a:rPr>
              <a:t>Conventional BIC systems: </a:t>
            </a:r>
            <a:r>
              <a:rPr lang="en-US" sz="1200" dirty="0">
                <a:solidFill>
                  <a:srgbClr val="333333"/>
                </a:solidFill>
                <a:latin typeface="Arial" pitchFamily="34" charset="0"/>
                <a:ea typeface="Arial" pitchFamily="34" charset="-122"/>
                <a:cs typeface="Arial" pitchFamily="34" charset="-120"/>
              </a:rPr>
              <a:t>critical coupling persists over wide angles → emission at many wavelengths (rainbow). </a:t>
            </a:r>
          </a:p>
          <a:p>
            <a:pPr marL="0" indent="0">
              <a:buNone/>
            </a:pPr>
            <a:r>
              <a:rPr lang="en-US" sz="1200" b="1" dirty="0">
                <a:solidFill>
                  <a:srgbClr val="333333"/>
                </a:solidFill>
                <a:latin typeface="Arial" pitchFamily="34" charset="0"/>
                <a:ea typeface="Arial" pitchFamily="34" charset="-122"/>
                <a:cs typeface="Arial" pitchFamily="34" charset="-120"/>
              </a:rPr>
              <a:t>This work: </a:t>
            </a:r>
            <a:r>
              <a:rPr lang="en-US" sz="1200" dirty="0">
                <a:solidFill>
                  <a:srgbClr val="333333"/>
                </a:solidFill>
                <a:latin typeface="Arial" pitchFamily="34" charset="0"/>
                <a:ea typeface="Arial" pitchFamily="34" charset="-122"/>
                <a:cs typeface="Arial" pitchFamily="34" charset="-120"/>
              </a:rPr>
              <a:t>confines critical coupling to a narrow angular + spectral window.</a:t>
            </a:r>
            <a:endParaRPr lang="en-US" sz="1200" dirty="0"/>
          </a:p>
        </p:txBody>
      </p:sp>
      <p:pic>
        <p:nvPicPr>
          <p:cNvPr id="9" name="Picture 8">
            <a:extLst>
              <a:ext uri="{FF2B5EF4-FFF2-40B4-BE49-F238E27FC236}">
                <a16:creationId xmlns:a16="http://schemas.microsoft.com/office/drawing/2014/main" id="{6A12405B-BD8D-A249-4022-7A037E9565DB}"/>
              </a:ext>
            </a:extLst>
          </p:cNvPr>
          <p:cNvPicPr>
            <a:picLocks noChangeAspect="1"/>
          </p:cNvPicPr>
          <p:nvPr/>
        </p:nvPicPr>
        <p:blipFill>
          <a:blip r:embed="rId3"/>
          <a:stretch>
            <a:fillRect/>
          </a:stretch>
        </p:blipFill>
        <p:spPr>
          <a:xfrm>
            <a:off x="5212591" y="396339"/>
            <a:ext cx="3474209" cy="4109223"/>
          </a:xfrm>
          <a:prstGeom prst="rect">
            <a:avLst/>
          </a:prstGeom>
        </p:spPr>
      </p:pic>
      <p:sp>
        <p:nvSpPr>
          <p:cNvPr id="10" name="Text 0">
            <a:extLst>
              <a:ext uri="{FF2B5EF4-FFF2-40B4-BE49-F238E27FC236}">
                <a16:creationId xmlns:a16="http://schemas.microsoft.com/office/drawing/2014/main" id="{BF557E42-3CCB-83F1-7361-FA46AD91499D}"/>
              </a:ext>
            </a:extLst>
          </p:cNvPr>
          <p:cNvSpPr/>
          <p:nvPr/>
        </p:nvSpPr>
        <p:spPr>
          <a:xfrm>
            <a:off x="8965" y="9859"/>
            <a:ext cx="9093797" cy="412376"/>
          </a:xfrm>
          <a:prstGeom prst="rect">
            <a:avLst/>
          </a:prstGeom>
          <a:noFill/>
          <a:ln/>
        </p:spPr>
        <p:txBody>
          <a:bodyPr wrap="square" rtlCol="0" anchor="ctr"/>
          <a:lstStyle/>
          <a:p>
            <a:pPr marL="0" indent="0" algn="l">
              <a:lnSpc>
                <a:spcPct val="120000"/>
              </a:lnSpc>
              <a:buNone/>
            </a:pPr>
            <a:r>
              <a:rPr lang="en-US" sz="2000" b="1" dirty="0">
                <a:latin typeface="Arial" pitchFamily="34" charset="0"/>
                <a:ea typeface="Arial" pitchFamily="34" charset="-122"/>
                <a:cs typeface="Arial" pitchFamily="34" charset="-120"/>
              </a:rPr>
              <a:t>Structured Coherent Thermal Emission</a:t>
            </a:r>
            <a:r>
              <a:rPr lang="en-US" sz="2000" dirty="0"/>
              <a:t> </a:t>
            </a:r>
            <a:r>
              <a:rPr lang="en-US" sz="2000" b="1" dirty="0">
                <a:latin typeface="Arial" pitchFamily="34" charset="0"/>
                <a:ea typeface="Arial" pitchFamily="34" charset="-122"/>
                <a:cs typeface="Arial" pitchFamily="34" charset="-120"/>
              </a:rPr>
              <a:t>from Non-Hermitian </a:t>
            </a:r>
            <a:r>
              <a:rPr lang="en-US" sz="2000" b="1" dirty="0" err="1">
                <a:latin typeface="Arial" pitchFamily="34" charset="0"/>
                <a:ea typeface="Arial" pitchFamily="34" charset="-122"/>
                <a:cs typeface="Arial" pitchFamily="34" charset="-120"/>
              </a:rPr>
              <a:t>Metasurfaces</a:t>
            </a:r>
            <a:endParaRPr lang="en-US" sz="2000" dirty="0"/>
          </a:p>
        </p:txBody>
      </p:sp>
      <p:grpSp>
        <p:nvGrpSpPr>
          <p:cNvPr id="13" name="Group 12">
            <a:extLst>
              <a:ext uri="{FF2B5EF4-FFF2-40B4-BE49-F238E27FC236}">
                <a16:creationId xmlns:a16="http://schemas.microsoft.com/office/drawing/2014/main" id="{ACD3FD2D-91D3-4B7F-F2D7-2096F93FDD03}"/>
              </a:ext>
            </a:extLst>
          </p:cNvPr>
          <p:cNvGrpSpPr/>
          <p:nvPr/>
        </p:nvGrpSpPr>
        <p:grpSpPr>
          <a:xfrm>
            <a:off x="403412" y="465414"/>
            <a:ext cx="4598894" cy="1498005"/>
            <a:chOff x="457200" y="698347"/>
            <a:chExt cx="4598894" cy="1498005"/>
          </a:xfrm>
        </p:grpSpPr>
        <p:sp>
          <p:nvSpPr>
            <p:cNvPr id="11" name="Shape 1">
              <a:extLst>
                <a:ext uri="{FF2B5EF4-FFF2-40B4-BE49-F238E27FC236}">
                  <a16:creationId xmlns:a16="http://schemas.microsoft.com/office/drawing/2014/main" id="{DC65207B-41E7-7849-832C-BFDD8DFBD165}"/>
                </a:ext>
              </a:extLst>
            </p:cNvPr>
            <p:cNvSpPr/>
            <p:nvPr/>
          </p:nvSpPr>
          <p:spPr>
            <a:xfrm>
              <a:off x="457200" y="860612"/>
              <a:ext cx="4598894" cy="1174376"/>
            </a:xfrm>
            <a:prstGeom prst="rect">
              <a:avLst/>
            </a:prstGeom>
            <a:solidFill>
              <a:srgbClr val="EBF2FA"/>
            </a:solidFill>
            <a:ln w="19050">
              <a:solidFill>
                <a:srgbClr val="2E75B6"/>
              </a:solidFill>
              <a:prstDash val="solid"/>
            </a:ln>
          </p:spPr>
          <p:txBody>
            <a:bodyPr/>
            <a:lstStyle/>
            <a:p>
              <a:endParaRPr lang="en-US"/>
            </a:p>
          </p:txBody>
        </p:sp>
        <p:sp>
          <p:nvSpPr>
            <p:cNvPr id="12" name="Text 2">
              <a:extLst>
                <a:ext uri="{FF2B5EF4-FFF2-40B4-BE49-F238E27FC236}">
                  <a16:creationId xmlns:a16="http://schemas.microsoft.com/office/drawing/2014/main" id="{5E3A8642-66CE-8539-41A0-D1FAADDAE17A}"/>
                </a:ext>
              </a:extLst>
            </p:cNvPr>
            <p:cNvSpPr/>
            <p:nvPr/>
          </p:nvSpPr>
          <p:spPr>
            <a:xfrm>
              <a:off x="694765" y="698347"/>
              <a:ext cx="4271682" cy="1498005"/>
            </a:xfrm>
            <a:prstGeom prst="rect">
              <a:avLst/>
            </a:prstGeom>
            <a:noFill/>
            <a:ln/>
          </p:spPr>
          <p:txBody>
            <a:bodyPr wrap="square" lIns="0" tIns="0" rIns="0" bIns="0" rtlCol="0" anchor="ctr"/>
            <a:lstStyle/>
            <a:p>
              <a:pPr marL="0" indent="0">
                <a:buNone/>
              </a:pPr>
              <a:r>
                <a:rPr lang="en-US" sz="1400" dirty="0">
                  <a:solidFill>
                    <a:srgbClr val="333333"/>
                  </a:solidFill>
                  <a:latin typeface="Arial" pitchFamily="34" charset="0"/>
                  <a:ea typeface="Arial" pitchFamily="34" charset="-122"/>
                  <a:cs typeface="Arial" pitchFamily="34" charset="-120"/>
                </a:rPr>
                <a:t>First demonstration of coherent, vectorially polarized thermal emission from a heated metasurface — narrowband, highly directional, rainbow-free, doughnut-shaped beams in the 3–5 </a:t>
              </a:r>
              <a:r>
                <a:rPr lang="en-US" sz="1400" dirty="0" err="1">
                  <a:solidFill>
                    <a:srgbClr val="333333"/>
                  </a:solidFill>
                  <a:latin typeface="Arial" pitchFamily="34" charset="0"/>
                  <a:ea typeface="Arial" pitchFamily="34" charset="-122"/>
                  <a:cs typeface="Arial" pitchFamily="34" charset="-120"/>
                </a:rPr>
                <a:t>μm</a:t>
              </a:r>
              <a:r>
                <a:rPr lang="en-US" sz="1400" dirty="0">
                  <a:solidFill>
                    <a:srgbClr val="333333"/>
                  </a:solidFill>
                  <a:latin typeface="Arial" pitchFamily="34" charset="0"/>
                  <a:ea typeface="Arial" pitchFamily="34" charset="-122"/>
                  <a:cs typeface="Arial" pitchFamily="34" charset="-120"/>
                </a:rPr>
                <a:t> window.</a:t>
              </a:r>
              <a:endParaRPr lang="en-US" sz="1400" dirty="0"/>
            </a:p>
          </p:txBody>
        </p:sp>
      </p:grpSp>
      <p:sp>
        <p:nvSpPr>
          <p:cNvPr id="14" name="Text 3">
            <a:extLst>
              <a:ext uri="{FF2B5EF4-FFF2-40B4-BE49-F238E27FC236}">
                <a16:creationId xmlns:a16="http://schemas.microsoft.com/office/drawing/2014/main" id="{7A9557EA-EC11-23CC-17A1-73587DDFE3E8}"/>
              </a:ext>
            </a:extLst>
          </p:cNvPr>
          <p:cNvSpPr/>
          <p:nvPr/>
        </p:nvSpPr>
        <p:spPr>
          <a:xfrm>
            <a:off x="329646" y="2102248"/>
            <a:ext cx="4746426" cy="2103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333333"/>
                </a:solidFill>
                <a:latin typeface="Arial" pitchFamily="34" charset="0"/>
                <a:ea typeface="Arial" pitchFamily="34" charset="-122"/>
                <a:cs typeface="Arial" pitchFamily="34" charset="-120"/>
              </a:rPr>
              <a:t>Thermal radiation is normally broadband, omnidirectional, incoherent, and unpolarized</a:t>
            </a:r>
            <a:endParaRPr lang="en-US" sz="1300" dirty="0"/>
          </a:p>
          <a:p>
            <a:pPr marL="342900" indent="-342900">
              <a:spcAft>
                <a:spcPts val="800"/>
              </a:spcAft>
              <a:buSzPct val="100000"/>
              <a:buChar char="•"/>
            </a:pPr>
            <a:r>
              <a:rPr lang="en-US" sz="1300" dirty="0">
                <a:solidFill>
                  <a:srgbClr val="333333"/>
                </a:solidFill>
                <a:latin typeface="Arial" pitchFamily="34" charset="0"/>
                <a:ea typeface="Arial" pitchFamily="34" charset="-122"/>
                <a:cs typeface="Arial" pitchFamily="34" charset="-120"/>
              </a:rPr>
              <a:t>Their method transforms it into laser-like structured light — no external optics needed</a:t>
            </a:r>
            <a:endParaRPr lang="en-US" sz="1300" dirty="0"/>
          </a:p>
          <a:p>
            <a:pPr marL="342900" indent="-342900">
              <a:spcAft>
                <a:spcPts val="800"/>
              </a:spcAft>
              <a:buSzPct val="100000"/>
              <a:buChar char="•"/>
            </a:pPr>
            <a:r>
              <a:rPr lang="en-US" sz="1300" dirty="0">
                <a:solidFill>
                  <a:srgbClr val="333333"/>
                </a:solidFill>
                <a:latin typeface="Arial" pitchFamily="34" charset="0"/>
                <a:ea typeface="Arial" pitchFamily="34" charset="-122"/>
                <a:cs typeface="Arial" pitchFamily="34" charset="-120"/>
              </a:rPr>
              <a:t>Key mechanism: non-Hermitian engineering (exceptional points + mini-flatbands + BICs)</a:t>
            </a:r>
            <a:endParaRPr lang="en-US" sz="1300" dirty="0"/>
          </a:p>
          <a:p>
            <a:pPr marL="342900" indent="-342900">
              <a:spcAft>
                <a:spcPts val="800"/>
              </a:spcAft>
              <a:buSzPct val="100000"/>
              <a:buChar char="•"/>
            </a:pPr>
            <a:r>
              <a:rPr lang="en-US" sz="1300" dirty="0">
                <a:solidFill>
                  <a:srgbClr val="333333"/>
                </a:solidFill>
                <a:latin typeface="Arial" pitchFamily="34" charset="0"/>
                <a:ea typeface="Arial" pitchFamily="34" charset="-122"/>
                <a:cs typeface="Arial" pitchFamily="34" charset="-120"/>
              </a:rPr>
              <a:t>Applications: on-chip IR sources, thermal imaging, infrared optical manipulation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4144C20-718D-218C-F300-3BE5F2E14F68}"/>
              </a:ext>
            </a:extLst>
          </p:cNvPr>
          <p:cNvSpPr/>
          <p:nvPr/>
        </p:nvSpPr>
        <p:spPr>
          <a:xfrm>
            <a:off x="116542" y="99506"/>
            <a:ext cx="9093797" cy="412376"/>
          </a:xfrm>
          <a:prstGeom prst="rect">
            <a:avLst/>
          </a:prstGeom>
          <a:noFill/>
          <a:ln/>
        </p:spPr>
        <p:txBody>
          <a:bodyPr wrap="square" rtlCol="0" anchor="ctr"/>
          <a:lstStyle/>
          <a:p>
            <a:pPr marL="0" indent="0" algn="l">
              <a:lnSpc>
                <a:spcPct val="120000"/>
              </a:lnSpc>
              <a:buNone/>
            </a:pPr>
            <a:r>
              <a:rPr lang="en-US" sz="2000" b="1" dirty="0">
                <a:latin typeface="Arial" pitchFamily="34" charset="0"/>
                <a:ea typeface="Arial" pitchFamily="34" charset="-122"/>
                <a:cs typeface="Arial" pitchFamily="34" charset="-120"/>
              </a:rPr>
              <a:t>Some Concepts to Understand</a:t>
            </a:r>
            <a:endParaRPr lang="en-US" sz="2000" dirty="0"/>
          </a:p>
        </p:txBody>
      </p:sp>
      <p:sp>
        <p:nvSpPr>
          <p:cNvPr id="3" name="TextBox 2">
            <a:extLst>
              <a:ext uri="{FF2B5EF4-FFF2-40B4-BE49-F238E27FC236}">
                <a16:creationId xmlns:a16="http://schemas.microsoft.com/office/drawing/2014/main" id="{50CF9A01-8353-B890-9ED1-1273AA42A964}"/>
              </a:ext>
            </a:extLst>
          </p:cNvPr>
          <p:cNvSpPr txBox="1"/>
          <p:nvPr/>
        </p:nvSpPr>
        <p:spPr>
          <a:xfrm>
            <a:off x="436581" y="568843"/>
            <a:ext cx="8453717" cy="2769989"/>
          </a:xfrm>
          <a:prstGeom prst="rect">
            <a:avLst/>
          </a:prstGeom>
          <a:noFill/>
        </p:spPr>
        <p:txBody>
          <a:bodyPr wrap="square" rtlCol="0">
            <a:spAutoFit/>
          </a:bodyPr>
          <a:lstStyle/>
          <a:p>
            <a:pPr marL="285750" indent="-285750">
              <a:spcAft>
                <a:spcPts val="600"/>
              </a:spcAft>
              <a:buFontTx/>
              <a:buChar char="-"/>
            </a:pPr>
            <a:r>
              <a:rPr lang="en-US" sz="1600" dirty="0"/>
              <a:t>BIC: </a:t>
            </a:r>
            <a:r>
              <a:rPr lang="en-US" sz="1600" b="1" dirty="0"/>
              <a:t>B</a:t>
            </a:r>
            <a:r>
              <a:rPr lang="en-US" sz="1600" dirty="0"/>
              <a:t>ound </a:t>
            </a:r>
            <a:r>
              <a:rPr lang="en-US" sz="1600" b="1" dirty="0"/>
              <a:t>S</a:t>
            </a:r>
            <a:r>
              <a:rPr lang="en-US" sz="1600" dirty="0"/>
              <a:t>tate in the </a:t>
            </a:r>
            <a:r>
              <a:rPr lang="en-US" sz="1600" b="1" dirty="0"/>
              <a:t>C</a:t>
            </a:r>
            <a:r>
              <a:rPr lang="en-US" sz="1600" dirty="0"/>
              <a:t>ontinuum. a mode that sits above the light line, but cannot radiate.</a:t>
            </a:r>
          </a:p>
          <a:p>
            <a:pPr marL="285750" indent="-285750">
              <a:spcAft>
                <a:spcPts val="600"/>
              </a:spcAft>
              <a:buFontTx/>
              <a:buChar char="-"/>
            </a:pPr>
            <a:r>
              <a:rPr lang="en-US" sz="1600" dirty="0"/>
              <a:t>Guided Modes (GMs): photonic modes that sit below the light line. trapped within structure. </a:t>
            </a:r>
          </a:p>
          <a:p>
            <a:pPr marL="285750" indent="-285750">
              <a:spcAft>
                <a:spcPts val="600"/>
              </a:spcAft>
              <a:buFontTx/>
              <a:buChar char="-"/>
            </a:pPr>
            <a:r>
              <a:rPr lang="en-US" sz="1600" dirty="0"/>
              <a:t>Q-factor: ratio of energy stored in the mode to energy lost per oscillation cycle.</a:t>
            </a:r>
          </a:p>
          <a:p>
            <a:pPr marL="742950" lvl="1" indent="-285750">
              <a:spcAft>
                <a:spcPts val="600"/>
              </a:spcAft>
              <a:buFontTx/>
              <a:buChar char="-"/>
            </a:pPr>
            <a:r>
              <a:rPr lang="en-US" sz="1600" dirty="0" err="1"/>
              <a:t>Q</a:t>
            </a:r>
            <a:r>
              <a:rPr lang="en-US" sz="1600" baseline="-25000" dirty="0" err="1"/>
              <a:t>abs</a:t>
            </a:r>
            <a:r>
              <a:rPr lang="en-US" sz="1600" dirty="0"/>
              <a:t>:  energy lost to material absorption</a:t>
            </a:r>
          </a:p>
          <a:p>
            <a:pPr marL="742950" lvl="1" indent="-285750">
              <a:spcAft>
                <a:spcPts val="600"/>
              </a:spcAft>
              <a:buFontTx/>
              <a:buChar char="-"/>
            </a:pPr>
            <a:r>
              <a:rPr lang="en-US" sz="1600" dirty="0" err="1"/>
              <a:t>Q</a:t>
            </a:r>
            <a:r>
              <a:rPr lang="en-US" sz="1600" baseline="-25000" dirty="0" err="1"/>
              <a:t>rad</a:t>
            </a:r>
            <a:r>
              <a:rPr lang="en-US" sz="1600" dirty="0"/>
              <a:t>: energy lost by radiation into free space. infinitely large for a BIC</a:t>
            </a:r>
          </a:p>
          <a:p>
            <a:pPr marL="742950" lvl="1" indent="-285750">
              <a:spcAft>
                <a:spcPts val="600"/>
              </a:spcAft>
              <a:buFontTx/>
              <a:buChar char="-"/>
            </a:pPr>
            <a:r>
              <a:rPr lang="en-US" sz="1600" dirty="0"/>
              <a:t>Perfect emission occurs at critical coupling condition: </a:t>
            </a:r>
            <a:r>
              <a:rPr lang="en-US" sz="1600" b="1" dirty="0" err="1"/>
              <a:t>Q</a:t>
            </a:r>
            <a:r>
              <a:rPr lang="en-US" sz="1600" b="1" baseline="-25000" dirty="0" err="1"/>
              <a:t>abs</a:t>
            </a:r>
            <a:r>
              <a:rPr lang="en-US" sz="1600" b="1" dirty="0"/>
              <a:t> = </a:t>
            </a:r>
            <a:r>
              <a:rPr lang="en-US" sz="1600" b="1" dirty="0" err="1"/>
              <a:t>Q</a:t>
            </a:r>
            <a:r>
              <a:rPr lang="en-US" sz="1600" b="1" baseline="-25000" dirty="0" err="1"/>
              <a:t>rad</a:t>
            </a:r>
            <a:endParaRPr lang="en-US" sz="1600" b="1" baseline="-25000" dirty="0"/>
          </a:p>
          <a:p>
            <a:pPr marL="285750" indent="-285750">
              <a:spcAft>
                <a:spcPts val="600"/>
              </a:spcAft>
              <a:buFontTx/>
              <a:buChar char="-"/>
            </a:pPr>
            <a:r>
              <a:rPr lang="en-US" sz="1600" dirty="0"/>
              <a:t>Non-Hermitian System: an open system that can have loss or gain (or both). complex eigenvalues, with the real part gives resonant frequency of the photonic mode, and imaginary part gives the decay rate (radiative loss). </a:t>
            </a:r>
          </a:p>
        </p:txBody>
      </p:sp>
      <p:pic>
        <p:nvPicPr>
          <p:cNvPr id="4" name="Picture 3">
            <a:extLst>
              <a:ext uri="{FF2B5EF4-FFF2-40B4-BE49-F238E27FC236}">
                <a16:creationId xmlns:a16="http://schemas.microsoft.com/office/drawing/2014/main" id="{57B46E2F-7ECD-F5C5-8CEA-B07E0D592399}"/>
              </a:ext>
            </a:extLst>
          </p:cNvPr>
          <p:cNvPicPr>
            <a:picLocks noChangeAspect="1"/>
          </p:cNvPicPr>
          <p:nvPr/>
        </p:nvPicPr>
        <p:blipFill>
          <a:blip r:embed="rId2"/>
          <a:stretch>
            <a:fillRect/>
          </a:stretch>
        </p:blipFill>
        <p:spPr>
          <a:xfrm>
            <a:off x="4392706" y="3106063"/>
            <a:ext cx="2558675" cy="1937931"/>
          </a:xfrm>
          <a:prstGeom prst="rect">
            <a:avLst/>
          </a:prstGeom>
        </p:spPr>
      </p:pic>
      <p:pic>
        <p:nvPicPr>
          <p:cNvPr id="5" name="Picture 4">
            <a:extLst>
              <a:ext uri="{FF2B5EF4-FFF2-40B4-BE49-F238E27FC236}">
                <a16:creationId xmlns:a16="http://schemas.microsoft.com/office/drawing/2014/main" id="{979CC348-465A-F8A5-A7A7-B2C6CA39AFCF}"/>
              </a:ext>
            </a:extLst>
          </p:cNvPr>
          <p:cNvPicPr>
            <a:picLocks noChangeAspect="1"/>
          </p:cNvPicPr>
          <p:nvPr/>
        </p:nvPicPr>
        <p:blipFill>
          <a:blip r:embed="rId3"/>
          <a:stretch>
            <a:fillRect/>
          </a:stretch>
        </p:blipFill>
        <p:spPr>
          <a:xfrm>
            <a:off x="6951381" y="3155058"/>
            <a:ext cx="1959536" cy="1839939"/>
          </a:xfrm>
          <a:prstGeom prst="rect">
            <a:avLst/>
          </a:prstGeom>
        </p:spPr>
      </p:pic>
      <p:pic>
        <p:nvPicPr>
          <p:cNvPr id="6" name="Picture 5">
            <a:extLst>
              <a:ext uri="{FF2B5EF4-FFF2-40B4-BE49-F238E27FC236}">
                <a16:creationId xmlns:a16="http://schemas.microsoft.com/office/drawing/2014/main" id="{3E3175FF-2D1C-E4D9-0F5E-E091FB4B67F3}"/>
              </a:ext>
            </a:extLst>
          </p:cNvPr>
          <p:cNvPicPr>
            <a:picLocks noChangeAspect="1"/>
          </p:cNvPicPr>
          <p:nvPr/>
        </p:nvPicPr>
        <p:blipFill>
          <a:blip r:embed="rId4"/>
          <a:srcRect l="25779"/>
          <a:stretch>
            <a:fillRect/>
          </a:stretch>
        </p:blipFill>
        <p:spPr>
          <a:xfrm>
            <a:off x="627529" y="3461135"/>
            <a:ext cx="3446929" cy="1460556"/>
          </a:xfrm>
          <a:prstGeom prst="rect">
            <a:avLst/>
          </a:prstGeom>
        </p:spPr>
      </p:pic>
    </p:spTree>
    <p:extLst>
      <p:ext uri="{BB962C8B-B14F-4D97-AF65-F5344CB8AC3E}">
        <p14:creationId xmlns:p14="http://schemas.microsoft.com/office/powerpoint/2010/main" val="2222840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4471" y="-40790"/>
            <a:ext cx="8229600" cy="548640"/>
          </a:xfrm>
          <a:prstGeom prst="rect">
            <a:avLst/>
          </a:prstGeom>
          <a:noFill/>
          <a:ln/>
        </p:spPr>
        <p:txBody>
          <a:bodyPr wrap="square" lIns="0" tIns="0" rIns="0" bIns="0" rtlCol="0" anchor="ctr"/>
          <a:lstStyle/>
          <a:p>
            <a:pPr marL="0" indent="0">
              <a:buNone/>
            </a:pPr>
            <a:r>
              <a:rPr lang="en-US" sz="2000" b="1" dirty="0">
                <a:solidFill>
                  <a:srgbClr val="1A1A1A"/>
                </a:solidFill>
                <a:latin typeface="Arial" pitchFamily="34" charset="0"/>
                <a:ea typeface="Arial" pitchFamily="34" charset="-122"/>
                <a:cs typeface="Arial" pitchFamily="34" charset="-120"/>
              </a:rPr>
              <a:t>Their Method: Three-Pronged Non-Hermitian Engineering</a:t>
            </a:r>
            <a:endParaRPr lang="en-US" sz="2000" dirty="0"/>
          </a:p>
        </p:txBody>
      </p:sp>
      <p:grpSp>
        <p:nvGrpSpPr>
          <p:cNvPr id="20" name="Group 19">
            <a:extLst>
              <a:ext uri="{FF2B5EF4-FFF2-40B4-BE49-F238E27FC236}">
                <a16:creationId xmlns:a16="http://schemas.microsoft.com/office/drawing/2014/main" id="{DB4F9CAD-1D73-84F6-B49C-8691698EEC45}"/>
              </a:ext>
            </a:extLst>
          </p:cNvPr>
          <p:cNvGrpSpPr/>
          <p:nvPr/>
        </p:nvGrpSpPr>
        <p:grpSpPr>
          <a:xfrm>
            <a:off x="415962" y="651286"/>
            <a:ext cx="2159873" cy="1738256"/>
            <a:chOff x="457200" y="960120"/>
            <a:chExt cx="2159873" cy="1738256"/>
          </a:xfrm>
        </p:grpSpPr>
        <p:sp>
          <p:nvSpPr>
            <p:cNvPr id="3" name="Shape 1"/>
            <p:cNvSpPr/>
            <p:nvPr/>
          </p:nvSpPr>
          <p:spPr>
            <a:xfrm>
              <a:off x="457200" y="960120"/>
              <a:ext cx="2159873" cy="1738256"/>
            </a:xfrm>
            <a:prstGeom prst="rect">
              <a:avLst/>
            </a:prstGeom>
            <a:solidFill>
              <a:srgbClr val="FFFFFF"/>
            </a:solidFill>
            <a:ln w="12700">
              <a:solidFill>
                <a:srgbClr val="E8E8E8"/>
              </a:solidFill>
              <a:prstDash val="solid"/>
            </a:ln>
            <a:effectLst>
              <a:outerShdw blurRad="50800" dist="12700" dir="8100000" algn="bl" rotWithShape="0">
                <a:srgbClr val="000000">
                  <a:alpha val="8000"/>
                </a:srgbClr>
              </a:outerShdw>
            </a:effectLst>
          </p:spPr>
          <p:txBody>
            <a:bodyPr/>
            <a:lstStyle/>
            <a:p>
              <a:endParaRPr lang="en-US"/>
            </a:p>
          </p:txBody>
        </p:sp>
        <p:sp>
          <p:nvSpPr>
            <p:cNvPr id="4" name="Shape 2"/>
            <p:cNvSpPr/>
            <p:nvPr/>
          </p:nvSpPr>
          <p:spPr>
            <a:xfrm>
              <a:off x="457200" y="960120"/>
              <a:ext cx="2159873" cy="45719"/>
            </a:xfrm>
            <a:prstGeom prst="rect">
              <a:avLst/>
            </a:prstGeom>
            <a:solidFill>
              <a:srgbClr val="2E75B6"/>
            </a:solidFill>
            <a:ln/>
          </p:spPr>
          <p:txBody>
            <a:bodyPr/>
            <a:lstStyle/>
            <a:p>
              <a:endParaRPr lang="en-US"/>
            </a:p>
          </p:txBody>
        </p:sp>
        <p:sp>
          <p:nvSpPr>
            <p:cNvPr id="5" name="Text 3"/>
            <p:cNvSpPr/>
            <p:nvPr/>
          </p:nvSpPr>
          <p:spPr>
            <a:xfrm>
              <a:off x="594360" y="1097280"/>
              <a:ext cx="1135828" cy="594360"/>
            </a:xfrm>
            <a:prstGeom prst="rect">
              <a:avLst/>
            </a:prstGeom>
            <a:noFill/>
            <a:ln/>
          </p:spPr>
          <p:txBody>
            <a:bodyPr wrap="square" lIns="0" tIns="0" rIns="0" bIns="0" rtlCol="0" anchor="t"/>
            <a:lstStyle/>
            <a:p>
              <a:pPr marL="0" indent="0">
                <a:lnSpc>
                  <a:spcPct val="110000"/>
                </a:lnSpc>
                <a:buNone/>
              </a:pPr>
              <a:r>
                <a:rPr lang="en-US" sz="1400" b="1" dirty="0">
                  <a:solidFill>
                    <a:srgbClr val="2E75B6"/>
                  </a:solidFill>
                  <a:latin typeface="Arial" pitchFamily="34" charset="0"/>
                  <a:ea typeface="Arial" pitchFamily="34" charset="-122"/>
                  <a:cs typeface="Arial" pitchFamily="34" charset="-120"/>
                </a:rPr>
                <a:t>Topological</a:t>
              </a:r>
              <a:endParaRPr lang="en-US" sz="1400" dirty="0"/>
            </a:p>
            <a:p>
              <a:pPr marL="0" indent="0">
                <a:lnSpc>
                  <a:spcPct val="110000"/>
                </a:lnSpc>
                <a:buNone/>
              </a:pPr>
              <a:r>
                <a:rPr lang="en-US" sz="1400" b="1" dirty="0">
                  <a:solidFill>
                    <a:srgbClr val="2E75B6"/>
                  </a:solidFill>
                  <a:latin typeface="Arial" pitchFamily="34" charset="0"/>
                  <a:ea typeface="Arial" pitchFamily="34" charset="-122"/>
                  <a:cs typeface="Arial" pitchFamily="34" charset="-120"/>
                </a:rPr>
                <a:t>Engineering</a:t>
              </a:r>
              <a:endParaRPr lang="en-US" sz="1400" dirty="0"/>
            </a:p>
          </p:txBody>
        </p:sp>
        <p:sp>
          <p:nvSpPr>
            <p:cNvPr id="6" name="Text 4"/>
            <p:cNvSpPr/>
            <p:nvPr/>
          </p:nvSpPr>
          <p:spPr>
            <a:xfrm>
              <a:off x="594360" y="1737360"/>
              <a:ext cx="1915758" cy="912607"/>
            </a:xfrm>
            <a:prstGeom prst="rect">
              <a:avLst/>
            </a:prstGeom>
            <a:noFill/>
            <a:ln/>
          </p:spPr>
          <p:txBody>
            <a:bodyPr wrap="square" lIns="0" tIns="0" rIns="0" bIns="0" rtlCol="0" anchor="t"/>
            <a:lstStyle/>
            <a:p>
              <a:pPr marL="0" indent="0">
                <a:lnSpc>
                  <a:spcPct val="120000"/>
                </a:lnSpc>
                <a:buNone/>
              </a:pPr>
              <a:r>
                <a:rPr lang="en-US" sz="1200" dirty="0">
                  <a:solidFill>
                    <a:srgbClr val="666666"/>
                  </a:solidFill>
                  <a:latin typeface="Arial" pitchFamily="34" charset="0"/>
                  <a:ea typeface="Arial" pitchFamily="34" charset="-122"/>
                  <a:cs typeface="Arial" pitchFamily="34" charset="-120"/>
                </a:rPr>
                <a:t>Brillouin zone folding</a:t>
              </a:r>
              <a:endParaRPr lang="en-US" sz="1200" dirty="0"/>
            </a:p>
            <a:p>
              <a:pPr marL="0" indent="0">
                <a:lnSpc>
                  <a:spcPct val="120000"/>
                </a:lnSpc>
                <a:buNone/>
              </a:pPr>
              <a:r>
                <a:rPr lang="en-US" sz="1200" dirty="0">
                  <a:solidFill>
                    <a:srgbClr val="666666"/>
                  </a:solidFill>
                  <a:latin typeface="Arial" pitchFamily="34" charset="0"/>
                  <a:ea typeface="Arial" pitchFamily="34" charset="-122"/>
                  <a:cs typeface="Arial" pitchFamily="34" charset="-120"/>
                </a:rPr>
                <a:t>→ BICs with topological</a:t>
              </a:r>
              <a:endParaRPr lang="en-US" sz="1200" dirty="0"/>
            </a:p>
            <a:p>
              <a:pPr marL="0" indent="0">
                <a:lnSpc>
                  <a:spcPct val="120000"/>
                </a:lnSpc>
                <a:buNone/>
              </a:pPr>
              <a:r>
                <a:rPr lang="en-US" sz="1200" dirty="0">
                  <a:solidFill>
                    <a:srgbClr val="666666"/>
                  </a:solidFill>
                  <a:latin typeface="Arial" pitchFamily="34" charset="0"/>
                  <a:ea typeface="Arial" pitchFamily="34" charset="-122"/>
                  <a:cs typeface="Arial" pitchFamily="34" charset="-120"/>
                </a:rPr>
                <a:t>charges −1 and +1</a:t>
              </a:r>
              <a:endParaRPr lang="en-US" sz="1200" dirty="0"/>
            </a:p>
            <a:p>
              <a:pPr marL="0" indent="0">
                <a:lnSpc>
                  <a:spcPct val="120000"/>
                </a:lnSpc>
                <a:buNone/>
              </a:pPr>
              <a:r>
                <a:rPr lang="en-US" sz="1200" dirty="0">
                  <a:solidFill>
                    <a:srgbClr val="666666"/>
                  </a:solidFill>
                  <a:latin typeface="Arial" pitchFamily="34" charset="0"/>
                  <a:ea typeface="Arial" pitchFamily="34" charset="-122"/>
                  <a:cs typeface="Arial" pitchFamily="34" charset="-120"/>
                </a:rPr>
                <a:t>→ vectorial polarizations</a:t>
              </a:r>
              <a:endParaRPr lang="en-US" sz="1200" dirty="0"/>
            </a:p>
          </p:txBody>
        </p:sp>
      </p:grpSp>
      <p:grpSp>
        <p:nvGrpSpPr>
          <p:cNvPr id="21" name="Group 20">
            <a:extLst>
              <a:ext uri="{FF2B5EF4-FFF2-40B4-BE49-F238E27FC236}">
                <a16:creationId xmlns:a16="http://schemas.microsoft.com/office/drawing/2014/main" id="{3C36B7CD-AA90-C332-378C-6EF376B17637}"/>
              </a:ext>
            </a:extLst>
          </p:cNvPr>
          <p:cNvGrpSpPr/>
          <p:nvPr/>
        </p:nvGrpSpPr>
        <p:grpSpPr>
          <a:xfrm>
            <a:off x="3337560" y="651286"/>
            <a:ext cx="2023334" cy="1738256"/>
            <a:chOff x="3337560" y="960120"/>
            <a:chExt cx="2023334" cy="1738256"/>
          </a:xfrm>
        </p:grpSpPr>
        <p:sp>
          <p:nvSpPr>
            <p:cNvPr id="7" name="Shape 5"/>
            <p:cNvSpPr/>
            <p:nvPr/>
          </p:nvSpPr>
          <p:spPr>
            <a:xfrm>
              <a:off x="3337560" y="960120"/>
              <a:ext cx="2023334" cy="1738256"/>
            </a:xfrm>
            <a:prstGeom prst="rect">
              <a:avLst/>
            </a:prstGeom>
            <a:solidFill>
              <a:srgbClr val="FFFFFF"/>
            </a:solidFill>
            <a:ln w="12700">
              <a:solidFill>
                <a:srgbClr val="E8E8E8"/>
              </a:solidFill>
              <a:prstDash val="solid"/>
            </a:ln>
            <a:effectLst>
              <a:outerShdw blurRad="50800" dist="12700" dir="8100000" algn="bl" rotWithShape="0">
                <a:srgbClr val="000000">
                  <a:alpha val="8000"/>
                </a:srgbClr>
              </a:outerShdw>
            </a:effectLst>
          </p:spPr>
          <p:txBody>
            <a:bodyPr/>
            <a:lstStyle/>
            <a:p>
              <a:endParaRPr lang="en-US"/>
            </a:p>
          </p:txBody>
        </p:sp>
        <p:sp>
          <p:nvSpPr>
            <p:cNvPr id="8" name="Shape 6"/>
            <p:cNvSpPr/>
            <p:nvPr/>
          </p:nvSpPr>
          <p:spPr>
            <a:xfrm>
              <a:off x="3337560" y="960120"/>
              <a:ext cx="2023334" cy="45719"/>
            </a:xfrm>
            <a:prstGeom prst="rect">
              <a:avLst/>
            </a:prstGeom>
            <a:solidFill>
              <a:srgbClr val="548235"/>
            </a:solidFill>
            <a:ln/>
          </p:spPr>
          <p:txBody>
            <a:bodyPr/>
            <a:lstStyle/>
            <a:p>
              <a:endParaRPr lang="en-US"/>
            </a:p>
          </p:txBody>
        </p:sp>
        <p:sp>
          <p:nvSpPr>
            <p:cNvPr id="9" name="Text 7"/>
            <p:cNvSpPr/>
            <p:nvPr/>
          </p:nvSpPr>
          <p:spPr>
            <a:xfrm>
              <a:off x="3474720" y="1097280"/>
              <a:ext cx="1097280" cy="594360"/>
            </a:xfrm>
            <a:prstGeom prst="rect">
              <a:avLst/>
            </a:prstGeom>
            <a:noFill/>
            <a:ln/>
          </p:spPr>
          <p:txBody>
            <a:bodyPr wrap="square" lIns="0" tIns="0" rIns="0" bIns="0" rtlCol="0" anchor="t"/>
            <a:lstStyle/>
            <a:p>
              <a:pPr marL="0" indent="0">
                <a:lnSpc>
                  <a:spcPct val="110000"/>
                </a:lnSpc>
                <a:buNone/>
              </a:pPr>
              <a:r>
                <a:rPr lang="en-US" sz="1400" b="1" dirty="0">
                  <a:solidFill>
                    <a:srgbClr val="548235"/>
                  </a:solidFill>
                  <a:latin typeface="Arial" pitchFamily="34" charset="0"/>
                  <a:ea typeface="Arial" pitchFamily="34" charset="-122"/>
                  <a:cs typeface="Arial" pitchFamily="34" charset="-120"/>
                </a:rPr>
                <a:t>Band</a:t>
              </a:r>
              <a:endParaRPr lang="en-US" sz="1400" dirty="0"/>
            </a:p>
            <a:p>
              <a:pPr marL="0" indent="0">
                <a:lnSpc>
                  <a:spcPct val="110000"/>
                </a:lnSpc>
                <a:buNone/>
              </a:pPr>
              <a:r>
                <a:rPr lang="en-US" sz="1400" b="1" dirty="0">
                  <a:solidFill>
                    <a:srgbClr val="548235"/>
                  </a:solidFill>
                  <a:latin typeface="Arial" pitchFamily="34" charset="0"/>
                  <a:ea typeface="Arial" pitchFamily="34" charset="-122"/>
                  <a:cs typeface="Arial" pitchFamily="34" charset="-120"/>
                </a:rPr>
                <a:t>Engineering</a:t>
              </a:r>
              <a:endParaRPr lang="en-US" sz="1400" dirty="0"/>
            </a:p>
          </p:txBody>
        </p:sp>
        <p:sp>
          <p:nvSpPr>
            <p:cNvPr id="10" name="Text 8"/>
            <p:cNvSpPr/>
            <p:nvPr/>
          </p:nvSpPr>
          <p:spPr>
            <a:xfrm>
              <a:off x="3474720" y="1737360"/>
              <a:ext cx="1886174" cy="912607"/>
            </a:xfrm>
            <a:prstGeom prst="rect">
              <a:avLst/>
            </a:prstGeom>
            <a:noFill/>
            <a:ln/>
          </p:spPr>
          <p:txBody>
            <a:bodyPr wrap="square" lIns="0" tIns="0" rIns="0" bIns="0" rtlCol="0" anchor="t"/>
            <a:lstStyle/>
            <a:p>
              <a:pPr marL="0" indent="0">
                <a:lnSpc>
                  <a:spcPct val="120000"/>
                </a:lnSpc>
                <a:buNone/>
              </a:pPr>
              <a:r>
                <a:rPr lang="en-US" sz="1200" dirty="0">
                  <a:solidFill>
                    <a:srgbClr val="666666"/>
                  </a:solidFill>
                  <a:latin typeface="Arial" pitchFamily="34" charset="0"/>
                  <a:ea typeface="Arial" pitchFamily="34" charset="-122"/>
                  <a:cs typeface="Arial" pitchFamily="34" charset="-120"/>
                </a:rPr>
                <a:t>Mode coupling via δ-tuning</a:t>
              </a:r>
              <a:endParaRPr lang="en-US" sz="1200" dirty="0"/>
            </a:p>
            <a:p>
              <a:pPr marL="0" indent="0">
                <a:lnSpc>
                  <a:spcPct val="120000"/>
                </a:lnSpc>
                <a:buNone/>
              </a:pPr>
              <a:r>
                <a:rPr lang="en-US" sz="1200" dirty="0">
                  <a:solidFill>
                    <a:srgbClr val="666666"/>
                  </a:solidFill>
                  <a:latin typeface="Arial" pitchFamily="34" charset="0"/>
                  <a:ea typeface="Arial" pitchFamily="34" charset="-122"/>
                  <a:cs typeface="Arial" pitchFamily="34" charset="-120"/>
                </a:rPr>
                <a:t>→ exceptional points form</a:t>
              </a:r>
              <a:endParaRPr lang="en-US" sz="1200" dirty="0"/>
            </a:p>
            <a:p>
              <a:pPr marL="0" indent="0">
                <a:lnSpc>
                  <a:spcPct val="120000"/>
                </a:lnSpc>
                <a:buNone/>
              </a:pPr>
              <a:r>
                <a:rPr lang="en-US" sz="1200" dirty="0">
                  <a:solidFill>
                    <a:srgbClr val="666666"/>
                  </a:solidFill>
                  <a:latin typeface="Arial" pitchFamily="34" charset="0"/>
                  <a:ea typeface="Arial" pitchFamily="34" charset="-122"/>
                  <a:cs typeface="Arial" pitchFamily="34" charset="-120"/>
                </a:rPr>
                <a:t>→ mini-flatbands emerge</a:t>
              </a:r>
              <a:endParaRPr lang="en-US" sz="1200" dirty="0"/>
            </a:p>
            <a:p>
              <a:pPr marL="0" indent="0">
                <a:lnSpc>
                  <a:spcPct val="120000"/>
                </a:lnSpc>
                <a:buNone/>
              </a:pPr>
              <a:r>
                <a:rPr lang="en-US" sz="1200" dirty="0">
                  <a:solidFill>
                    <a:srgbClr val="666666"/>
                  </a:solidFill>
                  <a:latin typeface="Arial" pitchFamily="34" charset="0"/>
                  <a:ea typeface="Arial" pitchFamily="34" charset="-122"/>
                  <a:cs typeface="Arial" pitchFamily="34" charset="-120"/>
                </a:rPr>
                <a:t>→ flat dispersion</a:t>
              </a:r>
              <a:endParaRPr lang="en-US" sz="1200" dirty="0"/>
            </a:p>
          </p:txBody>
        </p:sp>
      </p:grpSp>
      <p:grpSp>
        <p:nvGrpSpPr>
          <p:cNvPr id="22" name="Group 21">
            <a:extLst>
              <a:ext uri="{FF2B5EF4-FFF2-40B4-BE49-F238E27FC236}">
                <a16:creationId xmlns:a16="http://schemas.microsoft.com/office/drawing/2014/main" id="{C02FF0E0-ADFD-5224-87A7-41CA2535ABEA}"/>
              </a:ext>
            </a:extLst>
          </p:cNvPr>
          <p:cNvGrpSpPr/>
          <p:nvPr/>
        </p:nvGrpSpPr>
        <p:grpSpPr>
          <a:xfrm>
            <a:off x="1913068" y="2642796"/>
            <a:ext cx="2023334" cy="1738256"/>
            <a:chOff x="2800574" y="2651312"/>
            <a:chExt cx="2023334" cy="1738256"/>
          </a:xfrm>
        </p:grpSpPr>
        <p:sp>
          <p:nvSpPr>
            <p:cNvPr id="11" name="Shape 9"/>
            <p:cNvSpPr/>
            <p:nvPr/>
          </p:nvSpPr>
          <p:spPr>
            <a:xfrm>
              <a:off x="2800574" y="2651312"/>
              <a:ext cx="2023334" cy="1738256"/>
            </a:xfrm>
            <a:prstGeom prst="rect">
              <a:avLst/>
            </a:prstGeom>
            <a:solidFill>
              <a:srgbClr val="FFFFFF"/>
            </a:solidFill>
            <a:ln w="12700">
              <a:solidFill>
                <a:srgbClr val="E8E8E8"/>
              </a:solidFill>
              <a:prstDash val="solid"/>
            </a:ln>
            <a:effectLst>
              <a:outerShdw blurRad="50800" dist="12700" dir="8100000" algn="bl" rotWithShape="0">
                <a:srgbClr val="000000">
                  <a:alpha val="8000"/>
                </a:srgbClr>
              </a:outerShdw>
            </a:effectLst>
          </p:spPr>
          <p:txBody>
            <a:bodyPr/>
            <a:lstStyle/>
            <a:p>
              <a:endParaRPr lang="en-US"/>
            </a:p>
          </p:txBody>
        </p:sp>
        <p:sp>
          <p:nvSpPr>
            <p:cNvPr id="12" name="Shape 10"/>
            <p:cNvSpPr/>
            <p:nvPr/>
          </p:nvSpPr>
          <p:spPr>
            <a:xfrm>
              <a:off x="2800574" y="2651312"/>
              <a:ext cx="2023334" cy="45719"/>
            </a:xfrm>
            <a:prstGeom prst="rect">
              <a:avLst/>
            </a:prstGeom>
            <a:solidFill>
              <a:srgbClr val="BF4B28"/>
            </a:solidFill>
            <a:ln/>
          </p:spPr>
          <p:txBody>
            <a:bodyPr/>
            <a:lstStyle/>
            <a:p>
              <a:endParaRPr lang="en-US"/>
            </a:p>
          </p:txBody>
        </p:sp>
        <p:sp>
          <p:nvSpPr>
            <p:cNvPr id="13" name="Text 11"/>
            <p:cNvSpPr/>
            <p:nvPr/>
          </p:nvSpPr>
          <p:spPr>
            <a:xfrm>
              <a:off x="2937734" y="2788472"/>
              <a:ext cx="1194995" cy="594360"/>
            </a:xfrm>
            <a:prstGeom prst="rect">
              <a:avLst/>
            </a:prstGeom>
            <a:noFill/>
            <a:ln/>
          </p:spPr>
          <p:txBody>
            <a:bodyPr wrap="square" lIns="0" tIns="0" rIns="0" bIns="0" rtlCol="0" anchor="t"/>
            <a:lstStyle/>
            <a:p>
              <a:pPr marL="0" indent="0">
                <a:lnSpc>
                  <a:spcPct val="110000"/>
                </a:lnSpc>
                <a:buNone/>
              </a:pPr>
              <a:r>
                <a:rPr lang="en-US" sz="1400" b="1" dirty="0">
                  <a:solidFill>
                    <a:srgbClr val="BF4B28"/>
                  </a:solidFill>
                  <a:latin typeface="Arial" pitchFamily="34" charset="0"/>
                  <a:ea typeface="Arial" pitchFamily="34" charset="-122"/>
                  <a:cs typeface="Arial" pitchFamily="34" charset="-120"/>
                </a:rPr>
                <a:t>Dissipation</a:t>
              </a:r>
              <a:endParaRPr lang="en-US" sz="1400" dirty="0"/>
            </a:p>
            <a:p>
              <a:pPr marL="0" indent="0">
                <a:lnSpc>
                  <a:spcPct val="110000"/>
                </a:lnSpc>
                <a:buNone/>
              </a:pPr>
              <a:r>
                <a:rPr lang="en-US" sz="1400" b="1" dirty="0">
                  <a:solidFill>
                    <a:srgbClr val="BF4B28"/>
                  </a:solidFill>
                  <a:latin typeface="Arial" pitchFamily="34" charset="0"/>
                  <a:ea typeface="Arial" pitchFamily="34" charset="-122"/>
                  <a:cs typeface="Arial" pitchFamily="34" charset="-120"/>
                </a:rPr>
                <a:t>Engineering</a:t>
              </a:r>
              <a:endParaRPr lang="en-US" sz="1400" dirty="0"/>
            </a:p>
          </p:txBody>
        </p:sp>
        <p:sp>
          <p:nvSpPr>
            <p:cNvPr id="14" name="Text 12"/>
            <p:cNvSpPr/>
            <p:nvPr/>
          </p:nvSpPr>
          <p:spPr>
            <a:xfrm>
              <a:off x="2937734" y="3428552"/>
              <a:ext cx="1886174" cy="913952"/>
            </a:xfrm>
            <a:prstGeom prst="rect">
              <a:avLst/>
            </a:prstGeom>
            <a:noFill/>
            <a:ln/>
          </p:spPr>
          <p:txBody>
            <a:bodyPr wrap="square" lIns="0" tIns="0" rIns="0" bIns="0" rtlCol="0" anchor="t"/>
            <a:lstStyle/>
            <a:p>
              <a:pPr marL="0" indent="0">
                <a:lnSpc>
                  <a:spcPct val="120000"/>
                </a:lnSpc>
                <a:buNone/>
              </a:pPr>
              <a:r>
                <a:rPr lang="en-US" sz="1200" dirty="0">
                  <a:solidFill>
                    <a:srgbClr val="666666"/>
                  </a:solidFill>
                  <a:latin typeface="Arial" pitchFamily="34" charset="0"/>
                  <a:ea typeface="Arial" pitchFamily="34" charset="-122"/>
                  <a:cs typeface="Arial" pitchFamily="34" charset="-120"/>
                </a:rPr>
                <a:t>EP-induced steep </a:t>
              </a:r>
              <a:r>
                <a:rPr lang="en-US" sz="1200" dirty="0" err="1">
                  <a:solidFill>
                    <a:srgbClr val="666666"/>
                  </a:solidFill>
                  <a:latin typeface="Arial" pitchFamily="34" charset="0"/>
                  <a:ea typeface="Arial" pitchFamily="34" charset="-122"/>
                  <a:cs typeface="Arial" pitchFamily="34" charset="-120"/>
                </a:rPr>
                <a:t>Q</a:t>
              </a:r>
              <a:r>
                <a:rPr lang="en-US" sz="1200" baseline="-25000" dirty="0" err="1">
                  <a:solidFill>
                    <a:srgbClr val="666666"/>
                  </a:solidFill>
                  <a:latin typeface="Arial" pitchFamily="34" charset="0"/>
                  <a:ea typeface="Arial" pitchFamily="34" charset="-122"/>
                  <a:cs typeface="Arial" pitchFamily="34" charset="-120"/>
                </a:rPr>
                <a:t>rad</a:t>
              </a:r>
              <a:r>
                <a:rPr lang="en-US" sz="1200" dirty="0">
                  <a:solidFill>
                    <a:srgbClr val="666666"/>
                  </a:solidFill>
                  <a:latin typeface="Arial" pitchFamily="34" charset="0"/>
                  <a:ea typeface="Arial" pitchFamily="34" charset="-122"/>
                  <a:cs typeface="Arial" pitchFamily="34" charset="-120"/>
                </a:rPr>
                <a:t>(k)</a:t>
              </a:r>
              <a:endParaRPr lang="en-US" sz="1200" dirty="0"/>
            </a:p>
            <a:p>
              <a:pPr marL="0" indent="0">
                <a:lnSpc>
                  <a:spcPct val="120000"/>
                </a:lnSpc>
                <a:buNone/>
              </a:pPr>
              <a:r>
                <a:rPr lang="en-US" sz="1200" dirty="0">
                  <a:solidFill>
                    <a:srgbClr val="666666"/>
                  </a:solidFill>
                  <a:latin typeface="Arial" pitchFamily="34" charset="0"/>
                  <a:ea typeface="Arial" pitchFamily="34" charset="-122"/>
                  <a:cs typeface="Arial" pitchFamily="34" charset="-120"/>
                </a:rPr>
                <a:t>→ critical coupling only at</a:t>
              </a:r>
              <a:endParaRPr lang="en-US" sz="1200" dirty="0"/>
            </a:p>
            <a:p>
              <a:pPr marL="0" indent="0">
                <a:lnSpc>
                  <a:spcPct val="120000"/>
                </a:lnSpc>
                <a:buNone/>
              </a:pPr>
              <a:r>
                <a:rPr lang="en-US" sz="1200" dirty="0">
                  <a:solidFill>
                    <a:srgbClr val="666666"/>
                  </a:solidFill>
                  <a:latin typeface="Arial" pitchFamily="34" charset="0"/>
                  <a:ea typeface="Arial" pitchFamily="34" charset="-122"/>
                  <a:cs typeface="Arial" pitchFamily="34" charset="-120"/>
                </a:rPr>
                <a:t>small angles (~1.2°)</a:t>
              </a:r>
              <a:endParaRPr lang="en-US" sz="1200" dirty="0"/>
            </a:p>
            <a:p>
              <a:pPr marL="0" indent="0">
                <a:lnSpc>
                  <a:spcPct val="120000"/>
                </a:lnSpc>
                <a:buNone/>
              </a:pPr>
              <a:r>
                <a:rPr lang="en-US" sz="1200" dirty="0">
                  <a:solidFill>
                    <a:srgbClr val="666666"/>
                  </a:solidFill>
                  <a:latin typeface="Arial" pitchFamily="34" charset="0"/>
                  <a:ea typeface="Arial" pitchFamily="34" charset="-122"/>
                  <a:cs typeface="Arial" pitchFamily="34" charset="-120"/>
                </a:rPr>
                <a:t>→ rainbow-free emission</a:t>
              </a:r>
              <a:endParaRPr lang="en-US" sz="1200" dirty="0"/>
            </a:p>
          </p:txBody>
        </p:sp>
      </p:grpSp>
      <p:sp>
        <p:nvSpPr>
          <p:cNvPr id="17" name="Shape 15"/>
          <p:cNvSpPr/>
          <p:nvPr/>
        </p:nvSpPr>
        <p:spPr>
          <a:xfrm>
            <a:off x="0" y="4594860"/>
            <a:ext cx="9144000" cy="548640"/>
          </a:xfrm>
          <a:prstGeom prst="rect">
            <a:avLst/>
          </a:prstGeom>
          <a:solidFill>
            <a:srgbClr val="F5F5F5"/>
          </a:solidFill>
          <a:ln/>
        </p:spPr>
        <p:txBody>
          <a:bodyPr/>
          <a:lstStyle/>
          <a:p>
            <a:endParaRPr lang="en-US"/>
          </a:p>
        </p:txBody>
      </p:sp>
      <p:sp>
        <p:nvSpPr>
          <p:cNvPr id="18" name="Text 16"/>
          <p:cNvSpPr/>
          <p:nvPr/>
        </p:nvSpPr>
        <p:spPr>
          <a:xfrm>
            <a:off x="457200" y="4662992"/>
            <a:ext cx="8229600" cy="412376"/>
          </a:xfrm>
          <a:prstGeom prst="rect">
            <a:avLst/>
          </a:prstGeom>
          <a:noFill/>
          <a:ln/>
        </p:spPr>
        <p:txBody>
          <a:bodyPr wrap="square" lIns="0" tIns="0" rIns="0" bIns="0" rtlCol="0" anchor="ctr"/>
          <a:lstStyle/>
          <a:p>
            <a:pPr marL="0" indent="0">
              <a:buNone/>
            </a:pPr>
            <a:r>
              <a:rPr lang="en-US" sz="1200" dirty="0">
                <a:solidFill>
                  <a:srgbClr val="333333"/>
                </a:solidFill>
                <a:latin typeface="Arial" pitchFamily="34" charset="0"/>
                <a:ea typeface="Arial" pitchFamily="34" charset="-122"/>
                <a:cs typeface="Arial" pitchFamily="34" charset="-120"/>
              </a:rPr>
              <a:t>All three mechanisms operate within a single Ge/ZnS/Au metasurface with a four-hole unit cell. No external optics, filters, or gain media required.</a:t>
            </a:r>
            <a:endParaRPr lang="en-US" sz="1200" dirty="0"/>
          </a:p>
        </p:txBody>
      </p:sp>
      <p:pic>
        <p:nvPicPr>
          <p:cNvPr id="19" name="Picture 18">
            <a:extLst>
              <a:ext uri="{FF2B5EF4-FFF2-40B4-BE49-F238E27FC236}">
                <a16:creationId xmlns:a16="http://schemas.microsoft.com/office/drawing/2014/main" id="{C0706DAE-E078-B06C-E13C-134BCD2F014C}"/>
              </a:ext>
            </a:extLst>
          </p:cNvPr>
          <p:cNvPicPr>
            <a:picLocks noChangeAspect="1"/>
          </p:cNvPicPr>
          <p:nvPr/>
        </p:nvPicPr>
        <p:blipFill>
          <a:blip r:embed="rId3"/>
          <a:stretch>
            <a:fillRect/>
          </a:stretch>
        </p:blipFill>
        <p:spPr>
          <a:xfrm>
            <a:off x="6122619" y="425017"/>
            <a:ext cx="2635899" cy="41285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0"/>
            <a:ext cx="8229600" cy="548640"/>
          </a:xfrm>
          <a:prstGeom prst="rect">
            <a:avLst/>
          </a:prstGeom>
          <a:noFill/>
          <a:ln/>
        </p:spPr>
        <p:txBody>
          <a:bodyPr wrap="square" lIns="0" tIns="0" rIns="0" bIns="0" rtlCol="0" anchor="ctr"/>
          <a:lstStyle/>
          <a:p>
            <a:pPr marL="0" indent="0">
              <a:buNone/>
            </a:pPr>
            <a:r>
              <a:rPr lang="en-US" sz="2000" b="1" dirty="0">
                <a:solidFill>
                  <a:srgbClr val="1A1A1A"/>
                </a:solidFill>
                <a:latin typeface="Arial" pitchFamily="34" charset="0"/>
                <a:ea typeface="Arial" pitchFamily="34" charset="-122"/>
                <a:cs typeface="Arial" pitchFamily="34" charset="-120"/>
              </a:rPr>
              <a:t>Device Structure and Supported Modes</a:t>
            </a:r>
            <a:endParaRPr lang="en-US" sz="2000" dirty="0"/>
          </a:p>
        </p:txBody>
      </p:sp>
      <p:pic>
        <p:nvPicPr>
          <p:cNvPr id="9" name="Picture 8">
            <a:extLst>
              <a:ext uri="{FF2B5EF4-FFF2-40B4-BE49-F238E27FC236}">
                <a16:creationId xmlns:a16="http://schemas.microsoft.com/office/drawing/2014/main" id="{9628F5E0-5F25-387D-CD8A-F85A23656E97}"/>
              </a:ext>
            </a:extLst>
          </p:cNvPr>
          <p:cNvPicPr>
            <a:picLocks noChangeAspect="1"/>
          </p:cNvPicPr>
          <p:nvPr/>
        </p:nvPicPr>
        <p:blipFill>
          <a:blip r:embed="rId3"/>
          <a:stretch>
            <a:fillRect/>
          </a:stretch>
        </p:blipFill>
        <p:spPr>
          <a:xfrm>
            <a:off x="685800" y="766850"/>
            <a:ext cx="7772400" cy="2444390"/>
          </a:xfrm>
          <a:prstGeom prst="rect">
            <a:avLst/>
          </a:prstGeom>
        </p:spPr>
      </p:pic>
      <p:sp>
        <p:nvSpPr>
          <p:cNvPr id="10" name="TextBox 9">
            <a:extLst>
              <a:ext uri="{FF2B5EF4-FFF2-40B4-BE49-F238E27FC236}">
                <a16:creationId xmlns:a16="http://schemas.microsoft.com/office/drawing/2014/main" id="{9FA333A7-B6BE-9FD1-40A5-2782A8F26A27}"/>
              </a:ext>
            </a:extLst>
          </p:cNvPr>
          <p:cNvSpPr txBox="1"/>
          <p:nvPr/>
        </p:nvSpPr>
        <p:spPr>
          <a:xfrm>
            <a:off x="177060" y="3516461"/>
            <a:ext cx="8966940" cy="1231106"/>
          </a:xfrm>
          <a:prstGeom prst="rect">
            <a:avLst/>
          </a:prstGeom>
          <a:noFill/>
        </p:spPr>
        <p:txBody>
          <a:bodyPr wrap="square" rtlCol="0">
            <a:spAutoFit/>
          </a:bodyPr>
          <a:lstStyle/>
          <a:p>
            <a:pPr>
              <a:spcAft>
                <a:spcPts val="600"/>
              </a:spcAft>
            </a:pPr>
            <a:r>
              <a:rPr lang="en-US" sz="1600" b="1" dirty="0"/>
              <a:t>Au Layer</a:t>
            </a:r>
            <a:r>
              <a:rPr lang="en-US" sz="1600" dirty="0"/>
              <a:t>: supplies thermal emission that the rest of the MS confines, and provides absorption channel</a:t>
            </a:r>
          </a:p>
          <a:p>
            <a:pPr>
              <a:spcAft>
                <a:spcPts val="600"/>
              </a:spcAft>
            </a:pPr>
            <a:r>
              <a:rPr lang="en-US" sz="1600" b="1" dirty="0"/>
              <a:t>Patterned Ge Layer</a:t>
            </a:r>
            <a:r>
              <a:rPr lang="en-US" sz="1600" dirty="0"/>
              <a:t>: Takes the thermal emission and confines it through physics explained later. supports guided modes (GMs) that run laterally within Ge layer, while Fabry-Perot (FP) mode propagates vertically</a:t>
            </a:r>
          </a:p>
          <a:p>
            <a:pPr>
              <a:spcAft>
                <a:spcPts val="600"/>
              </a:spcAft>
            </a:pPr>
            <a:r>
              <a:rPr lang="en-US" sz="1600" b="1" dirty="0"/>
              <a:t>ZnS Spacer</a:t>
            </a:r>
            <a:r>
              <a:rPr lang="en-US" sz="1600" dirty="0"/>
              <a:t>: separates GMs in Ge layer from being absorbed by gold layer, and tunes the FP mode.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51012" y="45720"/>
            <a:ext cx="8229600" cy="548640"/>
          </a:xfrm>
          <a:prstGeom prst="rect">
            <a:avLst/>
          </a:prstGeom>
          <a:noFill/>
          <a:ln/>
        </p:spPr>
        <p:txBody>
          <a:bodyPr wrap="square" lIns="0" tIns="0" rIns="0" bIns="0" rtlCol="0" anchor="ctr"/>
          <a:lstStyle/>
          <a:p>
            <a:pPr marL="0" indent="0">
              <a:buNone/>
            </a:pPr>
            <a:r>
              <a:rPr lang="en-US" sz="2000" b="1" dirty="0">
                <a:solidFill>
                  <a:srgbClr val="1A1A1A"/>
                </a:solidFill>
                <a:latin typeface="Arial" pitchFamily="34" charset="0"/>
                <a:ea typeface="Arial" pitchFamily="34" charset="-122"/>
                <a:cs typeface="Arial" pitchFamily="34" charset="-120"/>
              </a:rPr>
              <a:t>Topological Engineering: Brillouin Zone Folding</a:t>
            </a:r>
            <a:endParaRPr lang="en-US" sz="2000" dirty="0"/>
          </a:p>
        </p:txBody>
      </p:sp>
      <p:sp>
        <p:nvSpPr>
          <p:cNvPr id="3" name="Text 1"/>
          <p:cNvSpPr/>
          <p:nvPr/>
        </p:nvSpPr>
        <p:spPr>
          <a:xfrm>
            <a:off x="457200" y="3353738"/>
            <a:ext cx="8023412" cy="1366918"/>
          </a:xfrm>
          <a:prstGeom prst="rect">
            <a:avLst/>
          </a:prstGeom>
          <a:noFill/>
          <a:ln/>
        </p:spPr>
        <p:txBody>
          <a:bodyPr wrap="square" lIns="0" tIns="0" rIns="0" bIns="0" rtlCol="0" anchor="t"/>
          <a:lstStyle/>
          <a:p>
            <a:pPr>
              <a:lnSpc>
                <a:spcPct val="115000"/>
              </a:lnSpc>
              <a:spcAft>
                <a:spcPts val="400"/>
              </a:spcAft>
              <a:buSzPct val="100000"/>
            </a:pPr>
            <a:r>
              <a:rPr lang="en-US" sz="1300" dirty="0">
                <a:solidFill>
                  <a:srgbClr val="333333"/>
                </a:solidFill>
                <a:latin typeface="Arial" pitchFamily="34" charset="0"/>
                <a:ea typeface="Arial" pitchFamily="34" charset="-122"/>
                <a:cs typeface="Arial" pitchFamily="34" charset="-120"/>
              </a:rPr>
              <a:t>1. This mechanism makes the emission vectorially polarized</a:t>
            </a:r>
          </a:p>
          <a:p>
            <a:pPr>
              <a:lnSpc>
                <a:spcPct val="115000"/>
              </a:lnSpc>
              <a:spcAft>
                <a:spcPts val="400"/>
              </a:spcAft>
              <a:buSzPct val="100000"/>
            </a:pPr>
            <a:r>
              <a:rPr lang="en-US" sz="1300" dirty="0">
                <a:solidFill>
                  <a:srgbClr val="333333"/>
                </a:solidFill>
                <a:latin typeface="Arial" pitchFamily="34" charset="0"/>
                <a:ea typeface="Arial" pitchFamily="34" charset="-122"/>
                <a:cs typeface="Arial" pitchFamily="34" charset="-120"/>
              </a:rPr>
              <a:t>2. Introduce perturbation δ in hole positions</a:t>
            </a:r>
            <a:r>
              <a:rPr lang="en-US" sz="1300" dirty="0"/>
              <a:t>, </a:t>
            </a:r>
            <a:r>
              <a:rPr lang="en-US" sz="1300" dirty="0">
                <a:solidFill>
                  <a:srgbClr val="333333"/>
                </a:solidFill>
                <a:latin typeface="Arial" pitchFamily="34" charset="0"/>
                <a:ea typeface="Arial" pitchFamily="34" charset="-122"/>
                <a:cs typeface="Arial" pitchFamily="34" charset="-120"/>
              </a:rPr>
              <a:t>unit cell doubles (4 holes), FBZ shrinks</a:t>
            </a:r>
            <a:endParaRPr lang="en-US" sz="1300" dirty="0"/>
          </a:p>
          <a:p>
            <a:pPr>
              <a:lnSpc>
                <a:spcPct val="115000"/>
              </a:lnSpc>
              <a:spcAft>
                <a:spcPts val="400"/>
              </a:spcAft>
              <a:buSzPct val="100000"/>
            </a:pPr>
            <a:r>
              <a:rPr lang="en-US" sz="1300" dirty="0">
                <a:solidFill>
                  <a:srgbClr val="333333"/>
                </a:solidFill>
                <a:latin typeface="Arial" pitchFamily="34" charset="0"/>
                <a:ea typeface="Arial" pitchFamily="34" charset="-122"/>
                <a:cs typeface="Arial" pitchFamily="34" charset="-120"/>
              </a:rPr>
              <a:t>3. Guided modes fold above light cone</a:t>
            </a:r>
            <a:r>
              <a:rPr lang="en-US" sz="1300" dirty="0"/>
              <a:t>, </a:t>
            </a:r>
            <a:r>
              <a:rPr lang="en-US" sz="1300" dirty="0">
                <a:solidFill>
                  <a:srgbClr val="333333"/>
                </a:solidFill>
                <a:latin typeface="Arial" pitchFamily="34" charset="0"/>
                <a:ea typeface="Arial" pitchFamily="34" charset="-122"/>
                <a:cs typeface="Arial" pitchFamily="34" charset="-120"/>
              </a:rPr>
              <a:t>become quasi-guided modes (QGMs) that can radiate</a:t>
            </a:r>
            <a:endParaRPr lang="en-US" sz="1300" dirty="0"/>
          </a:p>
          <a:p>
            <a:pPr>
              <a:lnSpc>
                <a:spcPct val="115000"/>
              </a:lnSpc>
              <a:spcAft>
                <a:spcPts val="400"/>
              </a:spcAft>
              <a:buSzPct val="100000"/>
            </a:pPr>
            <a:r>
              <a:rPr lang="en-US" sz="1300" dirty="0">
                <a:solidFill>
                  <a:srgbClr val="333333"/>
                </a:solidFill>
                <a:latin typeface="Arial" pitchFamily="34" charset="0"/>
                <a:ea typeface="Arial" pitchFamily="34" charset="-122"/>
                <a:cs typeface="Arial" pitchFamily="34" charset="-120"/>
              </a:rPr>
              <a:t>4. C₄ᵥ symmetry → symmetry-protected BICs at </a:t>
            </a:r>
            <a:r>
              <a:rPr lang="en-US" sz="1300" dirty="0" err="1">
                <a:solidFill>
                  <a:srgbClr val="333333"/>
                </a:solidFill>
                <a:latin typeface="Arial" pitchFamily="34" charset="0"/>
                <a:ea typeface="Arial" pitchFamily="34" charset="-122"/>
                <a:cs typeface="Arial" pitchFamily="34" charset="-120"/>
              </a:rPr>
              <a:t>Γ</a:t>
            </a:r>
            <a:endParaRPr lang="en-US" sz="1300" dirty="0"/>
          </a:p>
          <a:p>
            <a:pPr>
              <a:lnSpc>
                <a:spcPct val="115000"/>
              </a:lnSpc>
              <a:spcAft>
                <a:spcPts val="400"/>
              </a:spcAft>
              <a:buSzPct val="100000"/>
            </a:pPr>
            <a:r>
              <a:rPr lang="en-US" sz="1300" dirty="0">
                <a:solidFill>
                  <a:srgbClr val="333333"/>
                </a:solidFill>
                <a:latin typeface="Arial" pitchFamily="34" charset="0"/>
                <a:ea typeface="Arial" pitchFamily="34" charset="-122"/>
                <a:cs typeface="Arial" pitchFamily="34" charset="-120"/>
              </a:rPr>
              <a:t>5. Topological charge conservation:</a:t>
            </a:r>
            <a:r>
              <a:rPr lang="en-US" sz="1300" dirty="0"/>
              <a:t> </a:t>
            </a:r>
            <a:r>
              <a:rPr lang="en-US" sz="1300" dirty="0">
                <a:solidFill>
                  <a:srgbClr val="333333"/>
                </a:solidFill>
                <a:latin typeface="Arial" pitchFamily="34" charset="0"/>
                <a:ea typeface="Arial" pitchFamily="34" charset="-122"/>
                <a:cs typeface="Arial" pitchFamily="34" charset="-120"/>
              </a:rPr>
              <a:t>QGM</a:t>
            </a:r>
            <a:r>
              <a:rPr lang="en-US" sz="1300" baseline="-25000" dirty="0">
                <a:solidFill>
                  <a:srgbClr val="333333"/>
                </a:solidFill>
                <a:latin typeface="Arial" pitchFamily="34" charset="0"/>
                <a:ea typeface="Arial" pitchFamily="34" charset="-122"/>
                <a:cs typeface="Arial" pitchFamily="34" charset="-120"/>
              </a:rPr>
              <a:t>A</a:t>
            </a:r>
            <a:r>
              <a:rPr lang="en-US" sz="1300" dirty="0">
                <a:solidFill>
                  <a:srgbClr val="333333"/>
                </a:solidFill>
                <a:latin typeface="Arial" pitchFamily="34" charset="0"/>
                <a:ea typeface="Arial" pitchFamily="34" charset="-122"/>
                <a:cs typeface="Arial" pitchFamily="34" charset="-120"/>
              </a:rPr>
              <a:t> (BIC</a:t>
            </a:r>
            <a:r>
              <a:rPr lang="en-US" sz="1300" baseline="-25000" dirty="0">
                <a:solidFill>
                  <a:srgbClr val="333333"/>
                </a:solidFill>
                <a:latin typeface="Arial" pitchFamily="34" charset="0"/>
                <a:ea typeface="Arial" pitchFamily="34" charset="-122"/>
                <a:cs typeface="Arial" pitchFamily="34" charset="-120"/>
              </a:rPr>
              <a:t>A</a:t>
            </a:r>
            <a:r>
              <a:rPr lang="en-US" sz="1300" dirty="0">
                <a:solidFill>
                  <a:srgbClr val="333333"/>
                </a:solidFill>
                <a:latin typeface="Arial" pitchFamily="34" charset="0"/>
                <a:ea typeface="Arial" pitchFamily="34" charset="-122"/>
                <a:cs typeface="Arial" pitchFamily="34" charset="-120"/>
              </a:rPr>
              <a:t>): charge = −1</a:t>
            </a:r>
            <a:r>
              <a:rPr lang="en-US" sz="1300" dirty="0"/>
              <a:t>, </a:t>
            </a:r>
            <a:r>
              <a:rPr lang="en-US" sz="1300" dirty="0">
                <a:solidFill>
                  <a:srgbClr val="333333"/>
                </a:solidFill>
                <a:latin typeface="Arial" pitchFamily="34" charset="0"/>
                <a:ea typeface="Arial" pitchFamily="34" charset="-122"/>
                <a:cs typeface="Arial" pitchFamily="34" charset="-120"/>
              </a:rPr>
              <a:t>QGM</a:t>
            </a:r>
            <a:r>
              <a:rPr lang="en-US" sz="1300" baseline="-25000" dirty="0">
                <a:solidFill>
                  <a:srgbClr val="333333"/>
                </a:solidFill>
                <a:latin typeface="Arial" pitchFamily="34" charset="0"/>
                <a:ea typeface="Arial" pitchFamily="34" charset="-122"/>
                <a:cs typeface="Arial" pitchFamily="34" charset="-120"/>
              </a:rPr>
              <a:t>B</a:t>
            </a:r>
            <a:r>
              <a:rPr lang="en-US" sz="1300" dirty="0">
                <a:solidFill>
                  <a:srgbClr val="333333"/>
                </a:solidFill>
                <a:latin typeface="Arial" pitchFamily="34" charset="0"/>
                <a:ea typeface="Arial" pitchFamily="34" charset="-122"/>
                <a:cs typeface="Arial" pitchFamily="34" charset="-120"/>
              </a:rPr>
              <a:t> (BIC</a:t>
            </a:r>
            <a:r>
              <a:rPr lang="en-US" sz="1300" baseline="-25000" dirty="0">
                <a:solidFill>
                  <a:srgbClr val="333333"/>
                </a:solidFill>
                <a:latin typeface="Arial" pitchFamily="34" charset="0"/>
                <a:ea typeface="Arial" pitchFamily="34" charset="-122"/>
                <a:cs typeface="Arial" pitchFamily="34" charset="-120"/>
              </a:rPr>
              <a:t>B</a:t>
            </a:r>
            <a:r>
              <a:rPr lang="en-US" sz="1300" dirty="0">
                <a:solidFill>
                  <a:srgbClr val="333333"/>
                </a:solidFill>
                <a:latin typeface="Arial" pitchFamily="34" charset="0"/>
                <a:ea typeface="Arial" pitchFamily="34" charset="-122"/>
                <a:cs typeface="Arial" pitchFamily="34" charset="-120"/>
              </a:rPr>
              <a:t>): charge = +1</a:t>
            </a:r>
            <a:endParaRPr lang="en-US" sz="1300" dirty="0"/>
          </a:p>
        </p:txBody>
      </p:sp>
      <p:pic>
        <p:nvPicPr>
          <p:cNvPr id="10" name="Picture 9">
            <a:extLst>
              <a:ext uri="{FF2B5EF4-FFF2-40B4-BE49-F238E27FC236}">
                <a16:creationId xmlns:a16="http://schemas.microsoft.com/office/drawing/2014/main" id="{378D4026-ADAE-4A50-B01C-7F2512196F6C}"/>
              </a:ext>
            </a:extLst>
          </p:cNvPr>
          <p:cNvPicPr>
            <a:picLocks noChangeAspect="1"/>
          </p:cNvPicPr>
          <p:nvPr/>
        </p:nvPicPr>
        <p:blipFill>
          <a:blip r:embed="rId3"/>
          <a:stretch>
            <a:fillRect/>
          </a:stretch>
        </p:blipFill>
        <p:spPr>
          <a:xfrm>
            <a:off x="97111" y="957453"/>
            <a:ext cx="7223702" cy="2234412"/>
          </a:xfrm>
          <a:prstGeom prst="rect">
            <a:avLst/>
          </a:prstGeom>
        </p:spPr>
      </p:pic>
      <p:pic>
        <p:nvPicPr>
          <p:cNvPr id="11" name="Picture 10">
            <a:extLst>
              <a:ext uri="{FF2B5EF4-FFF2-40B4-BE49-F238E27FC236}">
                <a16:creationId xmlns:a16="http://schemas.microsoft.com/office/drawing/2014/main" id="{DAA9CF7A-15C8-F264-527A-C6257DF502CF}"/>
              </a:ext>
            </a:extLst>
          </p:cNvPr>
          <p:cNvPicPr>
            <a:picLocks noChangeAspect="1"/>
          </p:cNvPicPr>
          <p:nvPr/>
        </p:nvPicPr>
        <p:blipFill>
          <a:blip r:embed="rId4"/>
          <a:stretch>
            <a:fillRect/>
          </a:stretch>
        </p:blipFill>
        <p:spPr>
          <a:xfrm>
            <a:off x="7427685" y="1509268"/>
            <a:ext cx="1619204" cy="272515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7905" y="49306"/>
            <a:ext cx="8229600" cy="548640"/>
          </a:xfrm>
          <a:prstGeom prst="rect">
            <a:avLst/>
          </a:prstGeom>
          <a:noFill/>
          <a:ln/>
        </p:spPr>
        <p:txBody>
          <a:bodyPr wrap="square" lIns="0" tIns="0" rIns="0" bIns="0" rtlCol="0" anchor="ctr"/>
          <a:lstStyle/>
          <a:p>
            <a:pPr marL="0" indent="0">
              <a:buNone/>
            </a:pPr>
            <a:r>
              <a:rPr lang="en-US" sz="2000" b="1" dirty="0">
                <a:solidFill>
                  <a:srgbClr val="1A1A1A"/>
                </a:solidFill>
                <a:latin typeface="Arial" pitchFamily="34" charset="0"/>
                <a:ea typeface="Arial" pitchFamily="34" charset="-122"/>
                <a:cs typeface="Arial" pitchFamily="34" charset="-120"/>
              </a:rPr>
              <a:t>Band + Dissipation Engineering: δ-Tuning and Exceptional Points</a:t>
            </a:r>
            <a:endParaRPr lang="en-US" sz="2000" dirty="0"/>
          </a:p>
        </p:txBody>
      </p:sp>
      <p:sp>
        <p:nvSpPr>
          <p:cNvPr id="5" name="Text 3"/>
          <p:cNvSpPr/>
          <p:nvPr/>
        </p:nvSpPr>
        <p:spPr>
          <a:xfrm>
            <a:off x="412375" y="3965987"/>
            <a:ext cx="8229600" cy="1005840"/>
          </a:xfrm>
          <a:prstGeom prst="rect">
            <a:avLst/>
          </a:prstGeom>
          <a:noFill/>
          <a:ln/>
        </p:spPr>
        <p:txBody>
          <a:bodyPr wrap="square" lIns="0" tIns="0" rIns="0" bIns="0" rtlCol="0" anchor="t"/>
          <a:lstStyle/>
          <a:p>
            <a:pPr marL="0" indent="0">
              <a:lnSpc>
                <a:spcPct val="135000"/>
              </a:lnSpc>
              <a:buNone/>
            </a:pPr>
            <a:r>
              <a:rPr lang="en-US" sz="1200" b="1" dirty="0">
                <a:solidFill>
                  <a:srgbClr val="333333"/>
                </a:solidFill>
                <a:latin typeface="Arial" pitchFamily="34" charset="0"/>
                <a:ea typeface="Arial" pitchFamily="34" charset="-122"/>
                <a:cs typeface="Arial" pitchFamily="34" charset="-120"/>
              </a:rPr>
              <a:t>4×4 Hamiltonian: </a:t>
            </a:r>
            <a:r>
              <a:rPr lang="en-US" sz="1200" dirty="0">
                <a:solidFill>
                  <a:srgbClr val="333333"/>
                </a:solidFill>
                <a:latin typeface="Arial" pitchFamily="34" charset="0"/>
                <a:ea typeface="Arial" pitchFamily="34" charset="-122"/>
                <a:cs typeface="Arial" pitchFamily="34" charset="-120"/>
              </a:rPr>
              <a:t>QGM</a:t>
            </a:r>
            <a:r>
              <a:rPr lang="en-US" sz="1200" baseline="-25000" dirty="0">
                <a:solidFill>
                  <a:srgbClr val="333333"/>
                </a:solidFill>
                <a:latin typeface="Arial" pitchFamily="34" charset="0"/>
                <a:ea typeface="Arial" pitchFamily="34" charset="-122"/>
                <a:cs typeface="Arial" pitchFamily="34" charset="-120"/>
              </a:rPr>
              <a:t>A</a:t>
            </a:r>
            <a:r>
              <a:rPr lang="en-US" sz="1200" dirty="0">
                <a:solidFill>
                  <a:srgbClr val="333333"/>
                </a:solidFill>
                <a:latin typeface="Arial" pitchFamily="34" charset="0"/>
                <a:ea typeface="Arial" pitchFamily="34" charset="-122"/>
                <a:cs typeface="Arial" pitchFamily="34" charset="-120"/>
              </a:rPr>
              <a:t>, QGM</a:t>
            </a:r>
            <a:r>
              <a:rPr lang="en-US" sz="1200" baseline="-25000" dirty="0">
                <a:solidFill>
                  <a:srgbClr val="333333"/>
                </a:solidFill>
                <a:latin typeface="Arial" pitchFamily="34" charset="0"/>
                <a:ea typeface="Arial" pitchFamily="34" charset="-122"/>
                <a:cs typeface="Arial" pitchFamily="34" charset="-120"/>
              </a:rPr>
              <a:t>B</a:t>
            </a:r>
            <a:r>
              <a:rPr lang="en-US" sz="1200" dirty="0">
                <a:solidFill>
                  <a:srgbClr val="333333"/>
                </a:solidFill>
                <a:latin typeface="Arial" pitchFamily="34" charset="0"/>
                <a:ea typeface="Arial" pitchFamily="34" charset="-122"/>
                <a:cs typeface="Arial" pitchFamily="34" charset="-120"/>
              </a:rPr>
              <a:t>, QGM</a:t>
            </a:r>
            <a:r>
              <a:rPr lang="en-US" sz="1200" baseline="-25000" dirty="0">
                <a:solidFill>
                  <a:srgbClr val="333333"/>
                </a:solidFill>
                <a:latin typeface="Arial" pitchFamily="34" charset="0"/>
                <a:ea typeface="Arial" pitchFamily="34" charset="-122"/>
                <a:cs typeface="Arial" pitchFamily="34" charset="-120"/>
              </a:rPr>
              <a:t>C</a:t>
            </a:r>
            <a:r>
              <a:rPr lang="en-US" sz="1200" dirty="0">
                <a:solidFill>
                  <a:srgbClr val="333333"/>
                </a:solidFill>
                <a:latin typeface="Arial" pitchFamily="34" charset="0"/>
                <a:ea typeface="Arial" pitchFamily="34" charset="-122"/>
                <a:cs typeface="Arial" pitchFamily="34" charset="-120"/>
              </a:rPr>
              <a:t>, FP. describes mode coupling. Simplifies to 2×2 near EPs.</a:t>
            </a:r>
            <a:endParaRPr lang="en-US" sz="1200" dirty="0"/>
          </a:p>
          <a:p>
            <a:pPr marL="0" indent="0">
              <a:lnSpc>
                <a:spcPct val="135000"/>
              </a:lnSpc>
              <a:buNone/>
            </a:pPr>
            <a:r>
              <a:rPr lang="en-US" sz="1200" b="1" dirty="0">
                <a:solidFill>
                  <a:srgbClr val="333333"/>
                </a:solidFill>
                <a:latin typeface="Arial" pitchFamily="34" charset="0"/>
                <a:ea typeface="Arial" pitchFamily="34" charset="-122"/>
                <a:cs typeface="Arial" pitchFamily="34" charset="-120"/>
              </a:rPr>
              <a:t>Exceptional points: </a:t>
            </a:r>
            <a:r>
              <a:rPr lang="en-US" sz="1200" dirty="0">
                <a:solidFill>
                  <a:srgbClr val="333333"/>
                </a:solidFill>
                <a:latin typeface="Arial" pitchFamily="34" charset="0"/>
                <a:ea typeface="Arial" pitchFamily="34" charset="-122"/>
                <a:cs typeface="Arial" pitchFamily="34" charset="-120"/>
              </a:rPr>
              <a:t>both real and imaginary parts of two eigenvalues coalesce → sharp features in between EPs</a:t>
            </a:r>
            <a:endParaRPr lang="en-US" sz="1200" dirty="0"/>
          </a:p>
          <a:p>
            <a:pPr marL="0" indent="0">
              <a:lnSpc>
                <a:spcPct val="135000"/>
              </a:lnSpc>
              <a:buNone/>
            </a:pPr>
            <a:r>
              <a:rPr lang="en-US" sz="1200" b="1" dirty="0">
                <a:solidFill>
                  <a:srgbClr val="333333"/>
                </a:solidFill>
                <a:latin typeface="Arial" pitchFamily="34" charset="0"/>
                <a:ea typeface="Arial" pitchFamily="34" charset="-122"/>
                <a:cs typeface="Arial" pitchFamily="34" charset="-120"/>
              </a:rPr>
              <a:t>δ = 173 nm: </a:t>
            </a:r>
            <a:r>
              <a:rPr lang="en-US" sz="1200" dirty="0">
                <a:solidFill>
                  <a:srgbClr val="333333"/>
                </a:solidFill>
                <a:latin typeface="Arial" pitchFamily="34" charset="0"/>
                <a:ea typeface="Arial" pitchFamily="34" charset="-122"/>
                <a:cs typeface="Arial" pitchFamily="34" charset="-120"/>
              </a:rPr>
              <a:t>two mini-</a:t>
            </a:r>
            <a:r>
              <a:rPr lang="en-US" sz="1200" dirty="0" err="1">
                <a:solidFill>
                  <a:srgbClr val="333333"/>
                </a:solidFill>
                <a:latin typeface="Arial" pitchFamily="34" charset="0"/>
                <a:ea typeface="Arial" pitchFamily="34" charset="-122"/>
                <a:cs typeface="Arial" pitchFamily="34" charset="-120"/>
              </a:rPr>
              <a:t>flatbands</a:t>
            </a:r>
            <a:r>
              <a:rPr lang="en-US" sz="1200" dirty="0">
                <a:solidFill>
                  <a:srgbClr val="333333"/>
                </a:solidFill>
                <a:latin typeface="Arial" pitchFamily="34" charset="0"/>
                <a:ea typeface="Arial" pitchFamily="34" charset="-122"/>
                <a:cs typeface="Arial" pitchFamily="34" charset="-120"/>
              </a:rPr>
              <a:t> emerge — nearly flat dispersion near Γ. imaginary part quickly rises and decays. </a:t>
            </a:r>
            <a:endParaRPr lang="en-US" sz="1200" dirty="0"/>
          </a:p>
          <a:p>
            <a:pPr marL="0" indent="0">
              <a:lnSpc>
                <a:spcPct val="135000"/>
              </a:lnSpc>
              <a:buNone/>
            </a:pPr>
            <a:r>
              <a:rPr lang="en-US" sz="1200" b="1" dirty="0">
                <a:solidFill>
                  <a:srgbClr val="333333"/>
                </a:solidFill>
                <a:latin typeface="Arial" pitchFamily="34" charset="0"/>
                <a:ea typeface="Arial" pitchFamily="34" charset="-122"/>
                <a:cs typeface="Arial" pitchFamily="34" charset="-120"/>
              </a:rPr>
              <a:t>No gain required: </a:t>
            </a:r>
            <a:r>
              <a:rPr lang="en-US" sz="1200" dirty="0">
                <a:solidFill>
                  <a:srgbClr val="333333"/>
                </a:solidFill>
                <a:latin typeface="Arial" pitchFamily="34" charset="0"/>
                <a:ea typeface="Arial" pitchFamily="34" charset="-122"/>
                <a:cs typeface="Arial" pitchFamily="34" charset="-120"/>
              </a:rPr>
              <a:t>all non-Hermitian behavior arises from radiative losses alone (open channels to free space).</a:t>
            </a:r>
            <a:endParaRPr lang="en-US" sz="1200" dirty="0"/>
          </a:p>
        </p:txBody>
      </p:sp>
      <p:pic>
        <p:nvPicPr>
          <p:cNvPr id="6" name="Picture 5">
            <a:extLst>
              <a:ext uri="{FF2B5EF4-FFF2-40B4-BE49-F238E27FC236}">
                <a16:creationId xmlns:a16="http://schemas.microsoft.com/office/drawing/2014/main" id="{7E6276AA-2E44-1B86-04EF-C8AC2C1EE846}"/>
              </a:ext>
            </a:extLst>
          </p:cNvPr>
          <p:cNvPicPr>
            <a:picLocks noChangeAspect="1"/>
          </p:cNvPicPr>
          <p:nvPr/>
        </p:nvPicPr>
        <p:blipFill>
          <a:blip r:embed="rId3"/>
          <a:stretch>
            <a:fillRect/>
          </a:stretch>
        </p:blipFill>
        <p:spPr>
          <a:xfrm>
            <a:off x="649940" y="594275"/>
            <a:ext cx="7570694" cy="33444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80682"/>
            <a:ext cx="8229600" cy="548640"/>
          </a:xfrm>
          <a:prstGeom prst="rect">
            <a:avLst/>
          </a:prstGeom>
          <a:noFill/>
          <a:ln/>
        </p:spPr>
        <p:txBody>
          <a:bodyPr wrap="square" lIns="0" tIns="0" rIns="0" bIns="0" rtlCol="0" anchor="ctr"/>
          <a:lstStyle/>
          <a:p>
            <a:pPr marL="0" indent="0">
              <a:buNone/>
            </a:pPr>
            <a:r>
              <a:rPr lang="en-US" sz="2000" b="1" dirty="0">
                <a:solidFill>
                  <a:srgbClr val="1A1A1A"/>
                </a:solidFill>
                <a:latin typeface="Arial" pitchFamily="34" charset="0"/>
                <a:ea typeface="Arial" pitchFamily="34" charset="-122"/>
                <a:cs typeface="Arial" pitchFamily="34" charset="-120"/>
              </a:rPr>
              <a:t>Thermal Emission of a Traditional BIC</a:t>
            </a:r>
            <a:endParaRPr lang="en-US" sz="2000" dirty="0"/>
          </a:p>
        </p:txBody>
      </p:sp>
      <p:sp>
        <p:nvSpPr>
          <p:cNvPr id="8" name="Text 6"/>
          <p:cNvSpPr/>
          <p:nvPr/>
        </p:nvSpPr>
        <p:spPr>
          <a:xfrm>
            <a:off x="640080" y="3366248"/>
            <a:ext cx="7863840" cy="1280160"/>
          </a:xfrm>
          <a:prstGeom prst="rect">
            <a:avLst/>
          </a:prstGeom>
          <a:noFill/>
          <a:ln/>
        </p:spPr>
        <p:txBody>
          <a:bodyPr wrap="square" lIns="0" tIns="0" rIns="0" bIns="0" rtlCol="0" anchor="t"/>
          <a:lstStyle/>
          <a:p>
            <a:pPr marL="0" indent="0">
              <a:lnSpc>
                <a:spcPct val="140000"/>
              </a:lnSpc>
              <a:spcAft>
                <a:spcPts val="600"/>
              </a:spcAft>
              <a:buNone/>
            </a:pPr>
            <a:r>
              <a:rPr lang="en-US" sz="1400" b="1" dirty="0">
                <a:solidFill>
                  <a:srgbClr val="333333"/>
                </a:solidFill>
                <a:latin typeface="Arial" pitchFamily="34" charset="0"/>
                <a:ea typeface="Arial" pitchFamily="34" charset="-122"/>
                <a:cs typeface="Arial" pitchFamily="34" charset="-120"/>
              </a:rPr>
              <a:t>Critical coupling condition: </a:t>
            </a:r>
            <a:r>
              <a:rPr lang="en-US" sz="1400" dirty="0">
                <a:solidFill>
                  <a:srgbClr val="333333"/>
                </a:solidFill>
                <a:latin typeface="Arial" pitchFamily="34" charset="0"/>
                <a:ea typeface="Arial" pitchFamily="34" charset="-122"/>
                <a:cs typeface="Arial" pitchFamily="34" charset="-120"/>
              </a:rPr>
              <a:t>emissivity peaks (→ 1) when </a:t>
            </a:r>
            <a:r>
              <a:rPr lang="en-US" sz="1400" dirty="0" err="1">
                <a:solidFill>
                  <a:srgbClr val="333333"/>
                </a:solidFill>
                <a:latin typeface="Arial" pitchFamily="34" charset="0"/>
                <a:ea typeface="Arial" pitchFamily="34" charset="-122"/>
                <a:cs typeface="Arial" pitchFamily="34" charset="-120"/>
              </a:rPr>
              <a:t>Q</a:t>
            </a:r>
            <a:r>
              <a:rPr lang="en-US" sz="1400" baseline="-25000" dirty="0" err="1">
                <a:solidFill>
                  <a:srgbClr val="333333"/>
                </a:solidFill>
                <a:latin typeface="Arial" pitchFamily="34" charset="0"/>
                <a:ea typeface="Arial" pitchFamily="34" charset="-122"/>
                <a:cs typeface="Arial" pitchFamily="34" charset="-120"/>
              </a:rPr>
              <a:t>rad</a:t>
            </a:r>
            <a:r>
              <a:rPr lang="en-US" sz="1400" dirty="0">
                <a:solidFill>
                  <a:srgbClr val="333333"/>
                </a:solidFill>
                <a:latin typeface="Arial" pitchFamily="34" charset="0"/>
                <a:ea typeface="Arial" pitchFamily="34" charset="-122"/>
                <a:cs typeface="Arial" pitchFamily="34" charset="-120"/>
              </a:rPr>
              <a:t> ≈ </a:t>
            </a:r>
            <a:r>
              <a:rPr lang="en-US" sz="1400" dirty="0" err="1">
                <a:solidFill>
                  <a:srgbClr val="333333"/>
                </a:solidFill>
                <a:latin typeface="Arial" pitchFamily="34" charset="0"/>
                <a:ea typeface="Arial" pitchFamily="34" charset="-122"/>
                <a:cs typeface="Arial" pitchFamily="34" charset="-120"/>
              </a:rPr>
              <a:t>Q</a:t>
            </a:r>
            <a:r>
              <a:rPr lang="en-US" sz="1400" baseline="-25000" dirty="0" err="1">
                <a:solidFill>
                  <a:srgbClr val="333333"/>
                </a:solidFill>
                <a:latin typeface="Arial" pitchFamily="34" charset="0"/>
                <a:ea typeface="Arial" pitchFamily="34" charset="-122"/>
                <a:cs typeface="Arial" pitchFamily="34" charset="-120"/>
              </a:rPr>
              <a:t>abs</a:t>
            </a:r>
            <a:r>
              <a:rPr lang="en-US" sz="1400" dirty="0">
                <a:solidFill>
                  <a:srgbClr val="333333"/>
                </a:solidFill>
                <a:latin typeface="Arial" pitchFamily="34" charset="0"/>
                <a:ea typeface="Arial" pitchFamily="34" charset="-122"/>
                <a:cs typeface="Arial" pitchFamily="34" charset="-120"/>
              </a:rPr>
              <a:t>. </a:t>
            </a:r>
          </a:p>
          <a:p>
            <a:pPr marL="0" indent="0">
              <a:spcAft>
                <a:spcPts val="600"/>
              </a:spcAft>
              <a:buNone/>
            </a:pPr>
            <a:r>
              <a:rPr lang="en-US" sz="1400" b="1" dirty="0">
                <a:solidFill>
                  <a:srgbClr val="333333"/>
                </a:solidFill>
                <a:latin typeface="Arial" pitchFamily="34" charset="0"/>
                <a:ea typeface="Arial" pitchFamily="34" charset="-122"/>
                <a:cs typeface="Arial" pitchFamily="34" charset="-120"/>
              </a:rPr>
              <a:t>Conventional BIC: </a:t>
            </a:r>
            <a:r>
              <a:rPr lang="en-US" sz="1400" dirty="0">
                <a:solidFill>
                  <a:srgbClr val="333333"/>
                </a:solidFill>
                <a:latin typeface="Arial" pitchFamily="34" charset="0"/>
                <a:ea typeface="Arial" pitchFamily="34" charset="-122"/>
                <a:cs typeface="Arial" pitchFamily="34" charset="-120"/>
              </a:rPr>
              <a:t>Q_rad ∝ k⁻² but transitions to weak k-dependence → critical coupling sustained over broad angles.</a:t>
            </a:r>
            <a:endParaRPr lang="en-US" sz="1400" dirty="0"/>
          </a:p>
        </p:txBody>
      </p:sp>
      <p:pic>
        <p:nvPicPr>
          <p:cNvPr id="10" name="Picture 9">
            <a:extLst>
              <a:ext uri="{FF2B5EF4-FFF2-40B4-BE49-F238E27FC236}">
                <a16:creationId xmlns:a16="http://schemas.microsoft.com/office/drawing/2014/main" id="{9F46C9A2-2EB5-0AB7-A666-04F38C7CF947}"/>
              </a:ext>
            </a:extLst>
          </p:cNvPr>
          <p:cNvPicPr>
            <a:picLocks noChangeAspect="1"/>
          </p:cNvPicPr>
          <p:nvPr/>
        </p:nvPicPr>
        <p:blipFill>
          <a:blip r:embed="rId3"/>
          <a:stretch>
            <a:fillRect/>
          </a:stretch>
        </p:blipFill>
        <p:spPr>
          <a:xfrm>
            <a:off x="162694" y="745864"/>
            <a:ext cx="8818612" cy="224834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39378"/>
            <a:ext cx="8229600" cy="548640"/>
          </a:xfrm>
          <a:prstGeom prst="rect">
            <a:avLst/>
          </a:prstGeom>
          <a:noFill/>
          <a:ln/>
        </p:spPr>
        <p:txBody>
          <a:bodyPr wrap="square" lIns="0" tIns="0" rIns="0" bIns="0" rtlCol="0" anchor="ctr"/>
          <a:lstStyle/>
          <a:p>
            <a:pPr marL="0" indent="0">
              <a:buNone/>
            </a:pPr>
            <a:r>
              <a:rPr lang="en-US" sz="2000" b="1" dirty="0">
                <a:solidFill>
                  <a:srgbClr val="1A1A1A"/>
                </a:solidFill>
                <a:latin typeface="Arial" pitchFamily="34" charset="0"/>
                <a:ea typeface="Arial" pitchFamily="34" charset="-122"/>
                <a:cs typeface="Arial" pitchFamily="34" charset="-120"/>
              </a:rPr>
              <a:t>TE of their Structure: Two Mini-Flatbands</a:t>
            </a:r>
            <a:endParaRPr lang="en-US" sz="2000" dirty="0"/>
          </a:p>
        </p:txBody>
      </p:sp>
      <p:sp>
        <p:nvSpPr>
          <p:cNvPr id="22" name="TextBox 21">
            <a:extLst>
              <a:ext uri="{FF2B5EF4-FFF2-40B4-BE49-F238E27FC236}">
                <a16:creationId xmlns:a16="http://schemas.microsoft.com/office/drawing/2014/main" id="{BBF716FC-2165-4421-1C59-79E787F3B8BC}"/>
              </a:ext>
            </a:extLst>
          </p:cNvPr>
          <p:cNvSpPr txBox="1"/>
          <p:nvPr/>
        </p:nvSpPr>
        <p:spPr>
          <a:xfrm>
            <a:off x="327212" y="4441777"/>
            <a:ext cx="8489576" cy="523220"/>
          </a:xfrm>
          <a:prstGeom prst="rect">
            <a:avLst/>
          </a:prstGeom>
          <a:noFill/>
        </p:spPr>
        <p:txBody>
          <a:bodyPr wrap="square">
            <a:spAutoFit/>
          </a:bodyPr>
          <a:lstStyle/>
          <a:p>
            <a:pPr marL="0" indent="0">
              <a:buNone/>
            </a:pPr>
            <a:r>
              <a:rPr lang="en-US" sz="1400" dirty="0">
                <a:solidFill>
                  <a:srgbClr val="333333"/>
                </a:solidFill>
                <a:latin typeface="Arial" pitchFamily="34" charset="0"/>
                <a:ea typeface="Arial" pitchFamily="34" charset="-122"/>
                <a:cs typeface="Arial" pitchFamily="34" charset="-120"/>
              </a:rPr>
              <a:t>Because of EP, steep </a:t>
            </a:r>
            <a:r>
              <a:rPr lang="en-US" sz="1400" dirty="0" err="1">
                <a:solidFill>
                  <a:srgbClr val="333333"/>
                </a:solidFill>
                <a:latin typeface="Arial" pitchFamily="34" charset="0"/>
                <a:ea typeface="Arial" pitchFamily="34" charset="-122"/>
                <a:cs typeface="Arial" pitchFamily="34" charset="-120"/>
              </a:rPr>
              <a:t>Q</a:t>
            </a:r>
            <a:r>
              <a:rPr lang="en-US" sz="1400" baseline="-25000" dirty="0" err="1">
                <a:solidFill>
                  <a:srgbClr val="333333"/>
                </a:solidFill>
                <a:latin typeface="Arial" pitchFamily="34" charset="0"/>
                <a:ea typeface="Arial" pitchFamily="34" charset="-122"/>
                <a:cs typeface="Arial" pitchFamily="34" charset="-120"/>
              </a:rPr>
              <a:t>rad</a:t>
            </a:r>
            <a:r>
              <a:rPr lang="en-US" sz="1400" dirty="0">
                <a:solidFill>
                  <a:srgbClr val="333333"/>
                </a:solidFill>
                <a:latin typeface="Arial" pitchFamily="34" charset="0"/>
                <a:ea typeface="Arial" pitchFamily="34" charset="-122"/>
                <a:cs typeface="Arial" pitchFamily="34" charset="-120"/>
              </a:rPr>
              <a:t> variation keeps </a:t>
            </a:r>
            <a:r>
              <a:rPr lang="en-US" sz="1400" dirty="0" err="1">
                <a:solidFill>
                  <a:srgbClr val="333333"/>
                </a:solidFill>
                <a:latin typeface="Arial" pitchFamily="34" charset="0"/>
                <a:ea typeface="Arial" pitchFamily="34" charset="-122"/>
                <a:cs typeface="Arial" pitchFamily="34" charset="-120"/>
              </a:rPr>
              <a:t>Q</a:t>
            </a:r>
            <a:r>
              <a:rPr lang="en-US" sz="1400" baseline="-25000" dirty="0" err="1">
                <a:solidFill>
                  <a:srgbClr val="333333"/>
                </a:solidFill>
                <a:latin typeface="Arial" pitchFamily="34" charset="0"/>
                <a:ea typeface="Arial" pitchFamily="34" charset="-122"/>
                <a:cs typeface="Arial" pitchFamily="34" charset="-120"/>
              </a:rPr>
              <a:t>rad</a:t>
            </a:r>
            <a:r>
              <a:rPr lang="en-US" sz="1400" dirty="0">
                <a:solidFill>
                  <a:srgbClr val="333333"/>
                </a:solidFill>
                <a:latin typeface="Arial" pitchFamily="34" charset="0"/>
                <a:ea typeface="Arial" pitchFamily="34" charset="-122"/>
                <a:cs typeface="Arial" pitchFamily="34" charset="-120"/>
              </a:rPr>
              <a:t> highly sensitive even at the critical coupling point. ~10× reduction in emission angle. Beyond ~1.5°, </a:t>
            </a:r>
            <a:r>
              <a:rPr lang="en-US" sz="1400" dirty="0" err="1">
                <a:solidFill>
                  <a:srgbClr val="333333"/>
                </a:solidFill>
                <a:latin typeface="Arial" pitchFamily="34" charset="0"/>
                <a:ea typeface="Arial" pitchFamily="34" charset="-122"/>
                <a:cs typeface="Arial" pitchFamily="34" charset="-120"/>
              </a:rPr>
              <a:t>Q</a:t>
            </a:r>
            <a:r>
              <a:rPr lang="en-US" sz="1400" baseline="-25000" dirty="0" err="1">
                <a:solidFill>
                  <a:srgbClr val="333333"/>
                </a:solidFill>
                <a:latin typeface="Arial" pitchFamily="34" charset="0"/>
                <a:ea typeface="Arial" pitchFamily="34" charset="-122"/>
                <a:cs typeface="Arial" pitchFamily="34" charset="-120"/>
              </a:rPr>
              <a:t>rad</a:t>
            </a:r>
            <a:r>
              <a:rPr lang="en-US" sz="1400" dirty="0">
                <a:solidFill>
                  <a:srgbClr val="333333"/>
                </a:solidFill>
                <a:latin typeface="Arial" pitchFamily="34" charset="0"/>
                <a:ea typeface="Arial" pitchFamily="34" charset="-122"/>
                <a:cs typeface="Arial" pitchFamily="34" charset="-120"/>
              </a:rPr>
              <a:t> drops far below </a:t>
            </a:r>
            <a:r>
              <a:rPr lang="en-US" sz="1400" dirty="0" err="1">
                <a:solidFill>
                  <a:srgbClr val="333333"/>
                </a:solidFill>
                <a:latin typeface="Arial" pitchFamily="34" charset="0"/>
                <a:ea typeface="Arial" pitchFamily="34" charset="-122"/>
                <a:cs typeface="Arial" pitchFamily="34" charset="-120"/>
              </a:rPr>
              <a:t>Q</a:t>
            </a:r>
            <a:r>
              <a:rPr lang="en-US" sz="1400" baseline="-25000" dirty="0" err="1">
                <a:solidFill>
                  <a:srgbClr val="333333"/>
                </a:solidFill>
                <a:latin typeface="Arial" pitchFamily="34" charset="0"/>
                <a:ea typeface="Arial" pitchFamily="34" charset="-122"/>
                <a:cs typeface="Arial" pitchFamily="34" charset="-120"/>
              </a:rPr>
              <a:t>abs</a:t>
            </a:r>
            <a:r>
              <a:rPr lang="en-US" sz="1400" dirty="0">
                <a:solidFill>
                  <a:srgbClr val="333333"/>
                </a:solidFill>
                <a:latin typeface="Arial" pitchFamily="34" charset="0"/>
                <a:ea typeface="Arial" pitchFamily="34" charset="-122"/>
                <a:cs typeface="Arial" pitchFamily="34" charset="-120"/>
              </a:rPr>
              <a:t> → emissivity collapses.</a:t>
            </a:r>
            <a:endParaRPr lang="en-US" sz="1400" dirty="0"/>
          </a:p>
        </p:txBody>
      </p:sp>
      <p:pic>
        <p:nvPicPr>
          <p:cNvPr id="23" name="Picture 22">
            <a:extLst>
              <a:ext uri="{FF2B5EF4-FFF2-40B4-BE49-F238E27FC236}">
                <a16:creationId xmlns:a16="http://schemas.microsoft.com/office/drawing/2014/main" id="{4C9A3319-275D-F3CC-3154-3A9BCAB86CC5}"/>
              </a:ext>
            </a:extLst>
          </p:cNvPr>
          <p:cNvPicPr>
            <a:picLocks noChangeAspect="1"/>
          </p:cNvPicPr>
          <p:nvPr/>
        </p:nvPicPr>
        <p:blipFill>
          <a:blip r:embed="rId3"/>
          <a:stretch>
            <a:fillRect/>
          </a:stretch>
        </p:blipFill>
        <p:spPr>
          <a:xfrm>
            <a:off x="1295402" y="407673"/>
            <a:ext cx="6979024" cy="3902453"/>
          </a:xfrm>
          <a:prstGeom prst="rect">
            <a:avLst/>
          </a:prstGeom>
        </p:spPr>
      </p:pic>
      <p:pic>
        <p:nvPicPr>
          <p:cNvPr id="24" name="Picture 23">
            <a:extLst>
              <a:ext uri="{FF2B5EF4-FFF2-40B4-BE49-F238E27FC236}">
                <a16:creationId xmlns:a16="http://schemas.microsoft.com/office/drawing/2014/main" id="{06BAA7A4-242B-F500-3163-9519E00F6674}"/>
              </a:ext>
            </a:extLst>
          </p:cNvPr>
          <p:cNvPicPr>
            <a:picLocks noChangeAspect="1"/>
          </p:cNvPicPr>
          <p:nvPr/>
        </p:nvPicPr>
        <p:blipFill>
          <a:blip r:embed="rId4"/>
          <a:stretch>
            <a:fillRect/>
          </a:stretch>
        </p:blipFill>
        <p:spPr>
          <a:xfrm>
            <a:off x="577777" y="2131493"/>
            <a:ext cx="583593" cy="52322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0220" y="-11783"/>
            <a:ext cx="8229600" cy="548640"/>
          </a:xfrm>
          <a:prstGeom prst="rect">
            <a:avLst/>
          </a:prstGeom>
          <a:noFill/>
          <a:ln/>
        </p:spPr>
        <p:txBody>
          <a:bodyPr wrap="square" lIns="0" tIns="0" rIns="0" bIns="0" rtlCol="0" anchor="ctr"/>
          <a:lstStyle/>
          <a:p>
            <a:pPr marL="0" indent="0">
              <a:buNone/>
            </a:pPr>
            <a:r>
              <a:rPr lang="en-US" sz="2000" b="1" dirty="0">
                <a:solidFill>
                  <a:srgbClr val="1A1A1A"/>
                </a:solidFill>
                <a:latin typeface="Arial" pitchFamily="34" charset="0"/>
                <a:ea typeface="Arial" pitchFamily="34" charset="-122"/>
                <a:cs typeface="Arial" pitchFamily="34" charset="-120"/>
              </a:rPr>
              <a:t>Experimental Validation</a:t>
            </a:r>
            <a:endParaRPr lang="en-US" sz="2000" dirty="0"/>
          </a:p>
        </p:txBody>
      </p:sp>
      <p:pic>
        <p:nvPicPr>
          <p:cNvPr id="12" name="Picture 11">
            <a:extLst>
              <a:ext uri="{FF2B5EF4-FFF2-40B4-BE49-F238E27FC236}">
                <a16:creationId xmlns:a16="http://schemas.microsoft.com/office/drawing/2014/main" id="{5898C71D-A8A5-988F-2CE1-D055EC0FC96A}"/>
              </a:ext>
            </a:extLst>
          </p:cNvPr>
          <p:cNvPicPr>
            <a:picLocks noChangeAspect="1"/>
          </p:cNvPicPr>
          <p:nvPr/>
        </p:nvPicPr>
        <p:blipFill>
          <a:blip r:embed="rId3"/>
          <a:stretch>
            <a:fillRect/>
          </a:stretch>
        </p:blipFill>
        <p:spPr>
          <a:xfrm>
            <a:off x="148302" y="483068"/>
            <a:ext cx="6635112" cy="4091142"/>
          </a:xfrm>
          <a:prstGeom prst="rect">
            <a:avLst/>
          </a:prstGeom>
        </p:spPr>
      </p:pic>
      <p:pic>
        <p:nvPicPr>
          <p:cNvPr id="13" name="Picture 12">
            <a:extLst>
              <a:ext uri="{FF2B5EF4-FFF2-40B4-BE49-F238E27FC236}">
                <a16:creationId xmlns:a16="http://schemas.microsoft.com/office/drawing/2014/main" id="{21D508B2-DE04-C3A0-9F4E-22A9EF950547}"/>
              </a:ext>
            </a:extLst>
          </p:cNvPr>
          <p:cNvPicPr>
            <a:picLocks noChangeAspect="1"/>
          </p:cNvPicPr>
          <p:nvPr/>
        </p:nvPicPr>
        <p:blipFill>
          <a:blip r:embed="rId4"/>
          <a:stretch>
            <a:fillRect/>
          </a:stretch>
        </p:blipFill>
        <p:spPr>
          <a:xfrm>
            <a:off x="148302" y="4569900"/>
            <a:ext cx="7772400" cy="51064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1">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346038" y="96012"/>
            <a:ext cx="7315200" cy="548640"/>
          </a:xfrm>
          <a:prstGeom prst="rect">
            <a:avLst/>
          </a:prstGeom>
          <a:noFill/>
          <a:ln/>
        </p:spPr>
        <p:txBody>
          <a:bodyPr wrap="square" lIns="0" tIns="0" rIns="0" bIns="0" rtlCol="0" anchor="ctr"/>
          <a:lstStyle/>
          <a:p>
            <a:pPr marL="0" indent="0">
              <a:buNone/>
            </a:pPr>
            <a:r>
              <a:rPr lang="en-US" sz="2000" b="1" dirty="0">
                <a:latin typeface="Arial" pitchFamily="34" charset="0"/>
                <a:ea typeface="Arial" pitchFamily="34" charset="-122"/>
                <a:cs typeface="Arial" pitchFamily="34" charset="-120"/>
              </a:rPr>
              <a:t>Summary</a:t>
            </a:r>
            <a:endParaRPr lang="en-US" sz="2000" dirty="0"/>
          </a:p>
        </p:txBody>
      </p:sp>
      <p:sp>
        <p:nvSpPr>
          <p:cNvPr id="5" name="Text 3"/>
          <p:cNvSpPr/>
          <p:nvPr/>
        </p:nvSpPr>
        <p:spPr>
          <a:xfrm>
            <a:off x="1051560" y="1024128"/>
            <a:ext cx="7498080" cy="457200"/>
          </a:xfrm>
          <a:prstGeom prst="rect">
            <a:avLst/>
          </a:prstGeom>
          <a:noFill/>
          <a:ln/>
        </p:spPr>
        <p:txBody>
          <a:bodyPr wrap="square" lIns="0" tIns="0" rIns="0" bIns="0" rtlCol="0" anchor="ctr"/>
          <a:lstStyle/>
          <a:p>
            <a:pPr marL="0" indent="0">
              <a:buNone/>
            </a:pPr>
            <a:r>
              <a:rPr lang="en-US" sz="1300" dirty="0">
                <a:latin typeface="Arial" pitchFamily="34" charset="0"/>
                <a:ea typeface="Arial" pitchFamily="34" charset="-122"/>
                <a:cs typeface="Arial" pitchFamily="34" charset="-120"/>
              </a:rPr>
              <a:t>First coherent, vectorially polarized thermal emitter with strong directionality</a:t>
            </a:r>
            <a:endParaRPr lang="en-US" sz="1300" dirty="0"/>
          </a:p>
        </p:txBody>
      </p:sp>
      <p:sp>
        <p:nvSpPr>
          <p:cNvPr id="7" name="Text 5"/>
          <p:cNvSpPr/>
          <p:nvPr/>
        </p:nvSpPr>
        <p:spPr>
          <a:xfrm>
            <a:off x="1051560" y="1527048"/>
            <a:ext cx="7498080" cy="457200"/>
          </a:xfrm>
          <a:prstGeom prst="rect">
            <a:avLst/>
          </a:prstGeom>
          <a:noFill/>
          <a:ln/>
        </p:spPr>
        <p:txBody>
          <a:bodyPr wrap="square" lIns="0" tIns="0" rIns="0" bIns="0" rtlCol="0" anchor="ctr"/>
          <a:lstStyle/>
          <a:p>
            <a:pPr marL="0" indent="0">
              <a:buNone/>
            </a:pPr>
            <a:r>
              <a:rPr lang="en-US" sz="1300" dirty="0">
                <a:latin typeface="Arial" pitchFamily="34" charset="0"/>
                <a:ea typeface="Arial" pitchFamily="34" charset="-122"/>
                <a:cs typeface="Arial" pitchFamily="34" charset="-120"/>
              </a:rPr>
              <a:t>Non-Hermitian engineering transforms broadband thermal noise → structured light, no laser required</a:t>
            </a:r>
            <a:endParaRPr lang="en-US" sz="1300" dirty="0"/>
          </a:p>
        </p:txBody>
      </p:sp>
      <p:sp>
        <p:nvSpPr>
          <p:cNvPr id="9" name="Text 7"/>
          <p:cNvSpPr/>
          <p:nvPr/>
        </p:nvSpPr>
        <p:spPr>
          <a:xfrm>
            <a:off x="1051560" y="2029968"/>
            <a:ext cx="7498080" cy="457200"/>
          </a:xfrm>
          <a:prstGeom prst="rect">
            <a:avLst/>
          </a:prstGeom>
          <a:noFill/>
          <a:ln/>
        </p:spPr>
        <p:txBody>
          <a:bodyPr wrap="square" lIns="0" tIns="0" rIns="0" bIns="0" rtlCol="0" anchor="ctr"/>
          <a:lstStyle/>
          <a:p>
            <a:pPr marL="0" indent="0">
              <a:buNone/>
            </a:pPr>
            <a:r>
              <a:rPr lang="en-US" sz="1300" dirty="0">
                <a:latin typeface="Arial" pitchFamily="34" charset="0"/>
                <a:ea typeface="Arial" pitchFamily="34" charset="-122"/>
                <a:cs typeface="Arial" pitchFamily="34" charset="-120"/>
              </a:rPr>
              <a:t>Topological engineering: BZF gives BICs with charges −1 and +1 → vectorial polarization control</a:t>
            </a:r>
            <a:endParaRPr lang="en-US" sz="1300" dirty="0"/>
          </a:p>
        </p:txBody>
      </p:sp>
      <p:sp>
        <p:nvSpPr>
          <p:cNvPr id="11" name="Text 9"/>
          <p:cNvSpPr/>
          <p:nvPr/>
        </p:nvSpPr>
        <p:spPr>
          <a:xfrm>
            <a:off x="1051560" y="2532888"/>
            <a:ext cx="7498080" cy="457200"/>
          </a:xfrm>
          <a:prstGeom prst="rect">
            <a:avLst/>
          </a:prstGeom>
          <a:noFill/>
          <a:ln/>
        </p:spPr>
        <p:txBody>
          <a:bodyPr wrap="square" lIns="0" tIns="0" rIns="0" bIns="0" rtlCol="0" anchor="ctr"/>
          <a:lstStyle/>
          <a:p>
            <a:pPr marL="0" indent="0">
              <a:buNone/>
            </a:pPr>
            <a:r>
              <a:rPr lang="en-US" sz="1300" dirty="0">
                <a:latin typeface="Arial" pitchFamily="34" charset="0"/>
                <a:ea typeface="Arial" pitchFamily="34" charset="-122"/>
                <a:cs typeface="Arial" pitchFamily="34" charset="-120"/>
              </a:rPr>
              <a:t>Band engineering: δ-tuning through EPs produces mini-flatbands → flat dispersion kills rainbow</a:t>
            </a:r>
            <a:endParaRPr lang="en-US" sz="1300" dirty="0"/>
          </a:p>
        </p:txBody>
      </p:sp>
      <p:sp>
        <p:nvSpPr>
          <p:cNvPr id="13" name="Text 11"/>
          <p:cNvSpPr/>
          <p:nvPr/>
        </p:nvSpPr>
        <p:spPr>
          <a:xfrm>
            <a:off x="1051560" y="3035808"/>
            <a:ext cx="7498080" cy="457200"/>
          </a:xfrm>
          <a:prstGeom prst="rect">
            <a:avLst/>
          </a:prstGeom>
          <a:noFill/>
          <a:ln/>
        </p:spPr>
        <p:txBody>
          <a:bodyPr wrap="square" lIns="0" tIns="0" rIns="0" bIns="0" rtlCol="0" anchor="ctr"/>
          <a:lstStyle/>
          <a:p>
            <a:pPr marL="0" indent="0">
              <a:buNone/>
            </a:pPr>
            <a:r>
              <a:rPr lang="en-US" sz="1300" dirty="0">
                <a:latin typeface="Arial" pitchFamily="34" charset="0"/>
                <a:ea typeface="Arial" pitchFamily="34" charset="-122"/>
                <a:cs typeface="Arial" pitchFamily="34" charset="-120"/>
              </a:rPr>
              <a:t>Dissipation engineering: EP-induced steep Q_rad(k) → critical coupling at ~1.2° only → extreme directionality</a:t>
            </a:r>
            <a:endParaRPr lang="en-US" sz="1300" dirty="0"/>
          </a:p>
        </p:txBody>
      </p:sp>
      <p:sp>
        <p:nvSpPr>
          <p:cNvPr id="15" name="Text 13"/>
          <p:cNvSpPr/>
          <p:nvPr/>
        </p:nvSpPr>
        <p:spPr>
          <a:xfrm>
            <a:off x="1051560" y="3538728"/>
            <a:ext cx="7498080" cy="457200"/>
          </a:xfrm>
          <a:prstGeom prst="rect">
            <a:avLst/>
          </a:prstGeom>
          <a:noFill/>
          <a:ln/>
        </p:spPr>
        <p:txBody>
          <a:bodyPr wrap="square" lIns="0" tIns="0" rIns="0" bIns="0" rtlCol="0" anchor="ctr"/>
          <a:lstStyle/>
          <a:p>
            <a:pPr marL="0" indent="0">
              <a:buNone/>
            </a:pPr>
            <a:r>
              <a:rPr lang="en-US" sz="1300" dirty="0">
                <a:latin typeface="Arial" pitchFamily="34" charset="0"/>
                <a:ea typeface="Arial" pitchFamily="34" charset="-122"/>
                <a:cs typeface="Arial" pitchFamily="34" charset="-120"/>
              </a:rPr>
              <a:t>Single device, two wavelengths, two distinct vectorial polarization states</a:t>
            </a:r>
            <a:endParaRPr lang="en-US" sz="1300" dirty="0"/>
          </a:p>
        </p:txBody>
      </p:sp>
      <p:sp>
        <p:nvSpPr>
          <p:cNvPr id="17" name="Text 15"/>
          <p:cNvSpPr/>
          <p:nvPr/>
        </p:nvSpPr>
        <p:spPr>
          <a:xfrm>
            <a:off x="1051560" y="4041648"/>
            <a:ext cx="7498080" cy="457200"/>
          </a:xfrm>
          <a:prstGeom prst="rect">
            <a:avLst/>
          </a:prstGeom>
          <a:noFill/>
          <a:ln/>
        </p:spPr>
        <p:txBody>
          <a:bodyPr wrap="square" lIns="0" tIns="0" rIns="0" bIns="0" rtlCol="0" anchor="ctr"/>
          <a:lstStyle/>
          <a:p>
            <a:pPr marL="0" indent="0">
              <a:buNone/>
            </a:pPr>
            <a:r>
              <a:rPr lang="en-US" sz="1300" dirty="0">
                <a:latin typeface="Arial" pitchFamily="34" charset="0"/>
                <a:ea typeface="Arial" pitchFamily="34" charset="-122"/>
                <a:cs typeface="Arial" pitchFamily="34" charset="-120"/>
              </a:rPr>
              <a:t>Scalable to other wavelength regimes — general non-Hermitian platform for structured thermal radiation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1098</TotalTime>
  <Words>799</Words>
  <Application>Microsoft Macintosh PowerPoint</Application>
  <PresentationFormat>On-screen Show (16:9)</PresentationFormat>
  <Paragraphs>74</Paragraphs>
  <Slides>10</Slides>
  <Notes>9</Notes>
  <HiddenSlides>1</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Structured Coherent Thermal Emission from Non-Hermitian Metasurfaces</dc:title>
  <dc:subject>PptxGenJS Presentation</dc:subject>
  <dc:creator>Presentation</dc:creator>
  <cp:lastModifiedBy>Kunal Lakhanpal</cp:lastModifiedBy>
  <cp:revision>43</cp:revision>
  <dcterms:created xsi:type="dcterms:W3CDTF">2026-03-27T03:12:50Z</dcterms:created>
  <dcterms:modified xsi:type="dcterms:W3CDTF">2026-03-27T21:41:07Z</dcterms:modified>
</cp:coreProperties>
</file>