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410" r:id="rId3"/>
    <p:sldId id="258" r:id="rId4"/>
    <p:sldId id="260" r:id="rId5"/>
    <p:sldId id="261" r:id="rId6"/>
    <p:sldId id="411" r:id="rId7"/>
    <p:sldId id="412" r:id="rId8"/>
    <p:sldId id="413" r:id="rId9"/>
    <p:sldId id="414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6692-2619-6C57-F22B-67B68E240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3767-2D70-CEA2-9276-4F15F87F8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223EE-A8AE-4310-A7C3-E3F5DEF3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820A-E0EE-689E-5C35-8EFA895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61A3-821B-9D5E-5490-DAAAB8E6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7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7A61-8600-76B5-1634-51EEBA21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B847-7C5B-4E5C-2DD3-C39765758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5E297-3B51-368F-FCE3-319E0BA8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9050D-F56A-98A2-E71E-99B37A3C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C12E6-65C0-D694-29B7-0C09CD52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0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007D-4D9E-FF74-B0BB-52BB2172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DD4B3-09AD-8575-B265-E4638347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1817-BB87-0D5E-2558-12850EFA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1919F-EA4E-92BD-D5AB-ECBDD098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29ED-8B8A-3272-CEB9-21E2EB0D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83D1-D949-E794-C980-3A0F4983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B14D0-C690-B170-E4DA-C2008E4EB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F775F-1DDA-0100-ABED-AF52B0D93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BD8E-E7A1-859D-6232-6AC1D094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BF7B-41D4-57C3-EA3F-3FB5FB11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5B0D8-2447-B45A-9659-0C81389F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1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27D1-33B6-28B1-902B-10374AD6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8DEF3-74F7-9406-6AB0-29CE7E69B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01C3F-FD69-AE37-C6F6-7118558CD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DCA32-AF3B-E587-F324-DB15E8AE5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1ADCF-25EA-4191-0F86-E17901DB5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16F9B-F3EE-F20F-73BF-6646691B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6B5CB-7C2F-6012-490E-AD6231F4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32E9D-218C-28C9-3FDC-C5B1047C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9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B7B8-FAD0-6786-B75C-9C2F5E18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910509-9E0A-9FBA-B79A-42CFFDA8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5AD33-2440-78D8-BBC6-3442B578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A6A08-44BE-BDC4-5B05-27A1B10F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2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6FB0C-08D0-287F-B036-8E50CD84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11231-64A9-0305-FC72-C86C85E8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4AE57-0D1F-B5BD-E64D-2F83D030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6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0CB8-8637-AEDB-BF2D-0407E7C7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F6453-656F-74DA-4EFA-74E6D0B9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43D93-23C1-06D5-9B81-A604029F5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F16FA-A1CD-1595-96B8-5709A793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7684A-1E75-FC39-868B-B96EBA24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7CABB-542D-098F-0D4F-859492F9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45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377B-C319-0E29-43C2-CB0C9517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2B227-0453-43BC-33F1-AE63254EC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00CC6-E56A-D5C2-B973-419F1BD49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CF50-CEAB-4473-D951-D6C02291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C82D3-76B6-A1C6-41CA-356FF8FC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153E2-8156-B857-C9E2-FE0E7D1B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9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52C3-30F9-E69C-78AA-7C34E573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46AA9-809C-3E36-58B9-DCB613742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C5FDC-BD6A-247B-BAF6-BC92CED7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187E3-BAAD-3C9F-DC41-783A895B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CB7ED-BDB4-6A98-1F84-89E22C2B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50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D219E-51FA-4F48-4D84-374F229C0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688A9-5853-52C6-5316-85A537E29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AEA7B-19B5-BCD4-7808-5F00014B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4B08-78D5-E14F-7B4F-EA140047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0013-6FA7-8A56-60A6-0E552223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9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2AF03-4261-979F-0878-B16FC8F3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8C5EF-1A13-9BC2-8970-982F399AE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9B7B-0225-728C-9EF9-92BF75EBD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889D6-31C6-F742-A70A-4A1C15B5366C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8C88-61C2-1542-E03A-E65E2B256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E8E2-76B2-7092-A8AE-A097F26C8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4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55B1AA-429A-47A6-8907-27999002F792}"/>
              </a:ext>
            </a:extLst>
          </p:cNvPr>
          <p:cNvSpPr/>
          <p:nvPr/>
        </p:nvSpPr>
        <p:spPr>
          <a:xfrm>
            <a:off x="145445" y="107301"/>
            <a:ext cx="61333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Spatial </a:t>
            </a:r>
            <a:r>
              <a:rPr lang="en-US" sz="2400" b="1" dirty="0" err="1"/>
              <a:t>Kramers-Kronig</a:t>
            </a:r>
            <a:r>
              <a:rPr lang="en-US" sz="2400" b="1" dirty="0"/>
              <a:t> </a:t>
            </a:r>
            <a:r>
              <a:rPr lang="en-US" sz="2400" b="1" dirty="0" err="1"/>
              <a:t>Metawindow</a:t>
            </a:r>
            <a:endParaRPr lang="en-US" sz="2400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F0C3C9-CA32-4B0F-9519-EB9B79CEBBBD}"/>
              </a:ext>
            </a:extLst>
          </p:cNvPr>
          <p:cNvSpPr/>
          <p:nvPr/>
        </p:nvSpPr>
        <p:spPr>
          <a:xfrm>
            <a:off x="564114" y="851720"/>
            <a:ext cx="9419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spatial </a:t>
            </a:r>
            <a:r>
              <a:rPr lang="en-US" dirty="0" err="1"/>
              <a:t>Kramers-Kronig</a:t>
            </a:r>
            <a:r>
              <a:rPr lang="en-US" dirty="0"/>
              <a:t> (KK) </a:t>
            </a:r>
            <a:r>
              <a:rPr lang="en-US" dirty="0" err="1"/>
              <a:t>metawindow</a:t>
            </a:r>
            <a:r>
              <a:rPr lang="en-US" dirty="0"/>
              <a:t> (MW) is capable of redirecting its own emission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Broadband zero reflectivity for any incident angle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6E0B323-C655-4B01-9065-B9252A8E63B9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6"/>
          <a:stretch/>
        </p:blipFill>
        <p:spPr bwMode="auto">
          <a:xfrm>
            <a:off x="5166621" y="3221189"/>
            <a:ext cx="3142779" cy="300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847157-6699-40D3-B52A-68785E32C9C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83"/>
          <a:stretch/>
        </p:blipFill>
        <p:spPr bwMode="auto">
          <a:xfrm>
            <a:off x="8384820" y="3221189"/>
            <a:ext cx="3222594" cy="300629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25D63FE-8ADD-42A8-A384-2DE2D9F080D6}"/>
              </a:ext>
            </a:extLst>
          </p:cNvPr>
          <p:cNvSpPr/>
          <p:nvPr/>
        </p:nvSpPr>
        <p:spPr>
          <a:xfrm>
            <a:off x="5087978" y="1799696"/>
            <a:ext cx="6633713" cy="4460410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239E70-8426-43D5-8A53-EC63B14D91B8}"/>
              </a:ext>
            </a:extLst>
          </p:cNvPr>
          <p:cNvSpPr/>
          <p:nvPr/>
        </p:nvSpPr>
        <p:spPr>
          <a:xfrm>
            <a:off x="5224018" y="1767306"/>
            <a:ext cx="6361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Intuition: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KK in frequency enforces temporal causality (waves </a:t>
            </a:r>
            <a:r>
              <a:rPr lang="en-US" i="1" u="sng" dirty="0"/>
              <a:t>only</a:t>
            </a:r>
            <a:r>
              <a:rPr lang="en-US" dirty="0"/>
              <a:t> move forward in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KK in space enforces momentum causality (waves </a:t>
            </a:r>
            <a:r>
              <a:rPr lang="en-US" i="1" u="sng" dirty="0"/>
              <a:t>only</a:t>
            </a:r>
            <a:r>
              <a:rPr lang="en-US" dirty="0"/>
              <a:t> move forward in space)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FD45715-3362-4EA8-A981-467F7BBDD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657" y="1767306"/>
            <a:ext cx="1867511" cy="222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3262C2-078A-4B59-A8A5-C0B945CCA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962" y="4327413"/>
            <a:ext cx="2264463" cy="19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9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0F9577C-CA54-4590-844E-2D559CF47FB5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Calculation of Transmittance, Reflectance, Absorbance Using TMM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5F6CE4-D28E-42F7-8FC0-899B60D61D2F}"/>
              </a:ext>
            </a:extLst>
          </p:cNvPr>
          <p:cNvGrpSpPr>
            <a:grpSpLocks noChangeAspect="1"/>
          </p:cNvGrpSpPr>
          <p:nvPr/>
        </p:nvGrpSpPr>
        <p:grpSpPr>
          <a:xfrm>
            <a:off x="3840480" y="3077505"/>
            <a:ext cx="4370146" cy="3646596"/>
            <a:chOff x="3325362" y="1117087"/>
            <a:chExt cx="5541275" cy="46238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983B0E-E3D3-4D6D-A15A-4ADD983A9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362" y="1117087"/>
              <a:ext cx="5541275" cy="46238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DB3726-442E-45B8-8B47-4C6897DBA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3874" y="2200872"/>
              <a:ext cx="1097282" cy="1563627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9C45C0-A092-4447-941E-2BEBD5BD5417}"/>
              </a:ext>
            </a:extLst>
          </p:cNvPr>
          <p:cNvGrpSpPr>
            <a:grpSpLocks noChangeAspect="1"/>
          </p:cNvGrpSpPr>
          <p:nvPr/>
        </p:nvGrpSpPr>
        <p:grpSpPr>
          <a:xfrm>
            <a:off x="8351521" y="807647"/>
            <a:ext cx="3654261" cy="2980383"/>
            <a:chOff x="186219" y="966479"/>
            <a:chExt cx="5669292" cy="46238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9BE269-6819-4703-802F-29957E15A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219" y="966479"/>
              <a:ext cx="5669292" cy="46238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751D0DA-0162-4DA3-9D81-F1381F9F9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7432" y="1275084"/>
              <a:ext cx="1264923" cy="91440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8F91AB-8310-4D04-AFAF-85C652030477}"/>
              </a:ext>
            </a:extLst>
          </p:cNvPr>
          <p:cNvGrpSpPr>
            <a:grpSpLocks noChangeAspect="1"/>
          </p:cNvGrpSpPr>
          <p:nvPr/>
        </p:nvGrpSpPr>
        <p:grpSpPr>
          <a:xfrm>
            <a:off x="186219" y="807647"/>
            <a:ext cx="3654262" cy="2980384"/>
            <a:chOff x="6095999" y="966480"/>
            <a:chExt cx="5669292" cy="46238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FC3646-CDAD-4AEE-857D-2A772B312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9" y="966480"/>
              <a:ext cx="5669292" cy="46238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EE720EF-9023-4B92-BD16-BDEB23A1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9902" y="1288532"/>
              <a:ext cx="1264923" cy="91440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C4FF4F-BF3B-46F3-84FF-DBE243A61A7E}"/>
                  </a:ext>
                </a:extLst>
              </p:cNvPr>
              <p:cNvSpPr/>
              <p:nvPr/>
            </p:nvSpPr>
            <p:spPr>
              <a:xfrm>
                <a:off x="4683595" y="1242790"/>
                <a:ext cx="2416431" cy="1275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sz="2000" dirty="0" err="1"/>
                  <a:t>n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2.7</a:t>
                </a:r>
              </a:p>
              <a:p>
                <a:pPr algn="ctr"/>
                <a:r>
                  <a:rPr lang="en-US" sz="2000" dirty="0" err="1"/>
                  <a:t>ε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n</a:t>
                </a:r>
                <a:r>
                  <a:rPr lang="en-US" sz="2000" baseline="-25000" dirty="0"/>
                  <a:t>b</a:t>
                </a:r>
                <a:r>
                  <a:rPr lang="en-US" sz="2000" baseline="30000" dirty="0"/>
                  <a:t>2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C4FF4F-BF3B-46F3-84FF-DBE243A61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95" y="1242790"/>
                <a:ext cx="2416431" cy="1275349"/>
              </a:xfrm>
              <a:prstGeom prst="rect">
                <a:avLst/>
              </a:prstGeom>
              <a:blipFill>
                <a:blip r:embed="rId7"/>
                <a:stretch>
                  <a:fillRect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5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8D7552-B06E-5A98-72A0-3DFC4A46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50" y="3524693"/>
            <a:ext cx="5260750" cy="3034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725E25-10FB-6F52-E590-A165504D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90" y="3524693"/>
            <a:ext cx="5260751" cy="3034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6F4C5-D712-29DB-8F25-64CA5B1829CC}"/>
              </a:ext>
            </a:extLst>
          </p:cNvPr>
          <p:cNvSpPr txBox="1"/>
          <p:nvPr/>
        </p:nvSpPr>
        <p:spPr>
          <a:xfrm>
            <a:off x="2595379" y="2939917"/>
            <a:ext cx="1740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left side 𝜀</a:t>
            </a:r>
            <a:r>
              <a:rPr lang="en-US" sz="1600" baseline="-25000" dirty="0"/>
              <a:t>r</a:t>
            </a:r>
            <a:r>
              <a:rPr lang="en-US" sz="1600" dirty="0"/>
              <a:t>=1, right side 𝜀</a:t>
            </a:r>
            <a:r>
              <a:rPr lang="en-US" sz="1600" baseline="-25000" dirty="0"/>
              <a:t>r</a:t>
            </a:r>
            <a:r>
              <a:rPr lang="en-US" sz="1600" dirty="0"/>
              <a:t>=3</a:t>
            </a:r>
            <a:r>
              <a:rPr lang="en-US" sz="1600" dirty="0">
                <a:highlight>
                  <a:srgbClr val="FFFF00"/>
                </a:highlight>
              </a:rPr>
              <a:t>-1i</a:t>
            </a:r>
            <a:r>
              <a:rPr lang="en-US" sz="16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289FE-2A67-ED51-2851-CA883B1CBB7E}"/>
              </a:ext>
            </a:extLst>
          </p:cNvPr>
          <p:cNvSpPr txBox="1"/>
          <p:nvPr/>
        </p:nvSpPr>
        <p:spPr>
          <a:xfrm>
            <a:off x="8352021" y="2939918"/>
            <a:ext cx="1740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left side 𝜀</a:t>
            </a:r>
            <a:r>
              <a:rPr lang="en-US" sz="1600" baseline="-25000" dirty="0"/>
              <a:t>r</a:t>
            </a:r>
            <a:r>
              <a:rPr lang="en-US" sz="1600" dirty="0"/>
              <a:t>=1, right side 𝜀</a:t>
            </a:r>
            <a:r>
              <a:rPr lang="en-US" sz="1600" baseline="-25000" dirty="0"/>
              <a:t>r</a:t>
            </a:r>
            <a:r>
              <a:rPr lang="en-US" sz="1600" dirty="0"/>
              <a:t>=3</a:t>
            </a:r>
            <a:r>
              <a:rPr lang="en-US" sz="1600" dirty="0">
                <a:highlight>
                  <a:srgbClr val="FFFF00"/>
                </a:highlight>
              </a:rPr>
              <a:t>+1i</a:t>
            </a:r>
            <a:r>
              <a:rPr lang="en-US" sz="16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45958A-865E-6FA2-37F0-83C505BB30CF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Issues with ‘</a:t>
            </a:r>
            <a:r>
              <a:rPr lang="en-US" sz="2400" b="1" dirty="0" err="1"/>
              <a:t>emt</a:t>
            </a:r>
            <a:r>
              <a:rPr lang="en-US" sz="2400" b="1" dirty="0"/>
              <a:t>’ Module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EBAA9-D83E-7467-6978-2620B04E4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301" y="741757"/>
            <a:ext cx="4483927" cy="20519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49EAE7-90C9-7760-A577-12FD358EB234}"/>
              </a:ext>
            </a:extLst>
          </p:cNvPr>
          <p:cNvSpPr txBox="1"/>
          <p:nvPr/>
        </p:nvSpPr>
        <p:spPr>
          <a:xfrm>
            <a:off x="1231013" y="939369"/>
            <a:ext cx="4869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directly plugging in </a:t>
            </a:r>
            <a:r>
              <a:rPr lang="en-US" sz="1600" dirty="0" err="1"/>
              <a:t>sKK</a:t>
            </a:r>
            <a:r>
              <a:rPr lang="en-US" sz="1600" dirty="0"/>
              <a:t> permittivity into ‘relative permittivity’ section was making fields diverge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looked at simple system with air on one side and complex permittivity on other, same issue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even changing sign of imaginary part did not help </a:t>
            </a:r>
          </a:p>
        </p:txBody>
      </p:sp>
    </p:spTree>
    <p:extLst>
      <p:ext uri="{BB962C8B-B14F-4D97-AF65-F5344CB8AC3E}">
        <p14:creationId xmlns:p14="http://schemas.microsoft.com/office/powerpoint/2010/main" val="265465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B16914-B85B-02F6-DE09-CD87868CC487}"/>
                  </a:ext>
                </a:extLst>
              </p:cNvPr>
              <p:cNvSpPr txBox="1"/>
              <p:nvPr/>
            </p:nvSpPr>
            <p:spPr>
              <a:xfrm>
                <a:off x="2982764" y="1592273"/>
                <a:ext cx="2479781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𝐾𝐾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B16914-B85B-02F6-DE09-CD87868CC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764" y="1592273"/>
                <a:ext cx="2479781" cy="617348"/>
              </a:xfrm>
              <a:prstGeom prst="rect">
                <a:avLst/>
              </a:prstGeom>
              <a:blipFill>
                <a:blip r:embed="rId2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9E3AD-0064-E11D-28E2-B0851D9A41AE}"/>
                  </a:ext>
                </a:extLst>
              </p:cNvPr>
              <p:cNvSpPr txBox="1"/>
              <p:nvPr/>
            </p:nvSpPr>
            <p:spPr>
              <a:xfrm>
                <a:off x="1206541" y="2317268"/>
                <a:ext cx="2610073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9E3AD-0064-E11D-28E2-B0851D9A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41" y="2317268"/>
                <a:ext cx="2610073" cy="617348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F92AA4-29EA-4C1E-4E78-808454DA20FD}"/>
                  </a:ext>
                </a:extLst>
              </p:cNvPr>
              <p:cNvSpPr txBox="1"/>
              <p:nvPr/>
            </p:nvSpPr>
            <p:spPr>
              <a:xfrm>
                <a:off x="5035328" y="2284686"/>
                <a:ext cx="2056782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F92AA4-29EA-4C1E-4E78-808454DA2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328" y="2284686"/>
                <a:ext cx="2056782" cy="617348"/>
              </a:xfrm>
              <a:prstGeom prst="rect">
                <a:avLst/>
              </a:prstGeom>
              <a:blipFill>
                <a:blip r:embed="rId4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A8BB61-1E16-F844-30F8-ED0F95A5FADB}"/>
                  </a:ext>
                </a:extLst>
              </p:cNvPr>
              <p:cNvSpPr txBox="1"/>
              <p:nvPr/>
            </p:nvSpPr>
            <p:spPr>
              <a:xfrm>
                <a:off x="2511578" y="753768"/>
                <a:ext cx="3422154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A8BB61-1E16-F844-30F8-ED0F95A5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578" y="753768"/>
                <a:ext cx="3422154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131CB1-6BBA-DF10-EBAE-0695BCE6000B}"/>
              </a:ext>
            </a:extLst>
          </p:cNvPr>
          <p:cNvSpPr txBox="1"/>
          <p:nvPr/>
        </p:nvSpPr>
        <p:spPr>
          <a:xfrm>
            <a:off x="705831" y="3106253"/>
            <a:ext cx="6407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pick a carrier frequency </a:t>
            </a:r>
            <a:r>
              <a:rPr lang="en-US" sz="1600" dirty="0" err="1"/>
              <a:t>ω</a:t>
            </a:r>
            <a:r>
              <a:rPr lang="en-US" sz="1600" baseline="-25000" dirty="0" err="1"/>
              <a:t>c</a:t>
            </a:r>
            <a:r>
              <a:rPr lang="en-US" sz="1600" baseline="-25000" dirty="0"/>
              <a:t> </a:t>
            </a:r>
            <a:r>
              <a:rPr lang="en-US" sz="1600" dirty="0"/>
              <a:t>of pulse, set real and imaginary parts equal: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FC1ABF-A1AC-A903-7C85-934AC1AEAC32}"/>
                  </a:ext>
                </a:extLst>
              </p:cNvPr>
              <p:cNvSpPr txBox="1"/>
              <p:nvPr/>
            </p:nvSpPr>
            <p:spPr>
              <a:xfrm>
                <a:off x="859078" y="3550197"/>
                <a:ext cx="3363576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0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FC1ABF-A1AC-A903-7C85-934AC1AEA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78" y="3550197"/>
                <a:ext cx="3363576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38687C-2D47-AEE2-FDAF-321E2DE97C0C}"/>
                  </a:ext>
                </a:extLst>
              </p:cNvPr>
              <p:cNvSpPr txBox="1"/>
              <p:nvPr/>
            </p:nvSpPr>
            <p:spPr>
              <a:xfrm>
                <a:off x="4297999" y="3552085"/>
                <a:ext cx="3271465" cy="67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0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38687C-2D47-AEE2-FDAF-321E2DE97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999" y="3552085"/>
                <a:ext cx="3271465" cy="679032"/>
              </a:xfrm>
              <a:prstGeom prst="rect">
                <a:avLst/>
              </a:prstGeom>
              <a:blipFill>
                <a:blip r:embed="rId7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AEB559-5A88-B4ED-65C7-846298E8E8E7}"/>
              </a:ext>
            </a:extLst>
          </p:cNvPr>
          <p:cNvSpPr txBox="1"/>
          <p:nvPr/>
        </p:nvSpPr>
        <p:spPr>
          <a:xfrm>
            <a:off x="705831" y="4402663"/>
            <a:ext cx="5546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write </a:t>
            </a:r>
            <a:r>
              <a:rPr lang="en-US" sz="1600" dirty="0" err="1"/>
              <a:t>ω</a:t>
            </a:r>
            <a:r>
              <a:rPr lang="en-US" sz="1600" baseline="-25000" dirty="0" err="1"/>
              <a:t>p</a:t>
            </a:r>
            <a:r>
              <a:rPr lang="en-US" sz="1600" baseline="-25000" dirty="0"/>
              <a:t> </a:t>
            </a:r>
            <a:r>
              <a:rPr lang="en-US" sz="1600" dirty="0"/>
              <a:t>in terms of </a:t>
            </a:r>
            <a:r>
              <a:rPr lang="en-US" sz="1600" dirty="0" err="1"/>
              <a:t>ε</a:t>
            </a:r>
            <a:r>
              <a:rPr lang="en-US" sz="1600" baseline="-25000" dirty="0" err="1"/>
              <a:t>KK</a:t>
            </a:r>
            <a:r>
              <a:rPr lang="en-US" sz="1600" dirty="0"/>
              <a:t>’’(x) in right equation and plug into left: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A446EA-1151-3C88-2DAB-48C887E9B8B5}"/>
                  </a:ext>
                </a:extLst>
              </p:cNvPr>
              <p:cNvSpPr txBox="1"/>
              <p:nvPr/>
            </p:nvSpPr>
            <p:spPr>
              <a:xfrm>
                <a:off x="2098969" y="4831086"/>
                <a:ext cx="3363576" cy="682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𝐾𝐾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A446EA-1151-3C88-2DAB-48C887E9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969" y="4831086"/>
                <a:ext cx="3363576" cy="682944"/>
              </a:xfrm>
              <a:prstGeom prst="rect">
                <a:avLst/>
              </a:prstGeom>
              <a:blipFill>
                <a:blip r:embed="rId8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C27F273-EC8F-7910-B993-DB9FD5808157}"/>
              </a:ext>
            </a:extLst>
          </p:cNvPr>
          <p:cNvSpPr txBox="1"/>
          <p:nvPr/>
        </p:nvSpPr>
        <p:spPr>
          <a:xfrm>
            <a:off x="705831" y="5588400"/>
            <a:ext cx="58131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underdetermined (2 equations, 3 unknowns). intuitively set </a:t>
            </a:r>
            <a:r>
              <a:rPr lang="en-US" sz="1600" dirty="0" err="1"/>
              <a:t>Γ</a:t>
            </a:r>
            <a:r>
              <a:rPr lang="en-US" sz="1600" dirty="0"/>
              <a:t>(x):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052579C-4C03-84F9-3F47-8C827AED091F}"/>
                  </a:ext>
                </a:extLst>
              </p:cNvPr>
              <p:cNvSpPr txBox="1"/>
              <p:nvPr/>
            </p:nvSpPr>
            <p:spPr>
              <a:xfrm>
                <a:off x="859078" y="5948163"/>
                <a:ext cx="6097772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𝐾𝐾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052579C-4C03-84F9-3F47-8C827AED0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78" y="5948163"/>
                <a:ext cx="6097772" cy="634789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207AC25-DB59-42BB-5F6F-9CE1EAD4B204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Represent </a:t>
            </a:r>
            <a:r>
              <a:rPr lang="en-US" sz="2400" b="1" dirty="0" err="1"/>
              <a:t>sKK</a:t>
            </a:r>
            <a:r>
              <a:rPr lang="en-US" sz="2400" b="1" dirty="0"/>
              <a:t> Profile as a Drude Material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0498991-A7EF-B200-2795-27AA802593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170" y="595564"/>
            <a:ext cx="3789179" cy="31903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347D0C-9C42-45D1-4FF9-90C12F1453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5361" y="4189996"/>
            <a:ext cx="3982041" cy="17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9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5528FD-FBD6-284C-DB3B-20CAFD5B92D8}"/>
                  </a:ext>
                </a:extLst>
              </p:cNvPr>
              <p:cNvSpPr txBox="1"/>
              <p:nvPr/>
            </p:nvSpPr>
            <p:spPr>
              <a:xfrm>
                <a:off x="707534" y="2080648"/>
                <a:ext cx="2435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5528FD-FBD6-284C-DB3B-20CAFD5B9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34" y="2080648"/>
                <a:ext cx="2435000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31F472-D1B2-6B3B-79F9-ACBB105FA274}"/>
                  </a:ext>
                </a:extLst>
              </p:cNvPr>
              <p:cNvSpPr txBox="1"/>
              <p:nvPr/>
            </p:nvSpPr>
            <p:spPr>
              <a:xfrm>
                <a:off x="6311434" y="1908459"/>
                <a:ext cx="3271465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′′(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31F472-D1B2-6B3B-79F9-ACBB105FA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434" y="1908459"/>
                <a:ext cx="3271465" cy="708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2280DB3-4059-B553-126A-766168D3E8EA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Represent </a:t>
            </a:r>
            <a:r>
              <a:rPr lang="en-US" sz="2400" b="1" dirty="0" err="1"/>
              <a:t>sKK</a:t>
            </a:r>
            <a:r>
              <a:rPr lang="en-US" sz="2400" b="1" dirty="0"/>
              <a:t> Profile as a Drude Material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101567-419B-4E87-6350-7EC4C606C95F}"/>
                  </a:ext>
                </a:extLst>
              </p:cNvPr>
              <p:cNvSpPr txBox="1"/>
              <p:nvPr/>
            </p:nvSpPr>
            <p:spPr>
              <a:xfrm>
                <a:off x="3305959" y="1945425"/>
                <a:ext cx="284205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𝐾𝐾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101567-419B-4E87-6350-7EC4C606C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59" y="1945425"/>
                <a:ext cx="2842050" cy="634789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A5CD31-0C11-3804-AF1A-B31EE375FAFA}"/>
                  </a:ext>
                </a:extLst>
              </p:cNvPr>
              <p:cNvSpPr txBox="1"/>
              <p:nvPr/>
            </p:nvSpPr>
            <p:spPr>
              <a:xfrm>
                <a:off x="4042673" y="958139"/>
                <a:ext cx="3422154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A5CD31-0C11-3804-AF1A-B31EE375F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673" y="958139"/>
                <a:ext cx="3422154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A93E42-A02D-9645-A144-292CE722A0F9}"/>
              </a:ext>
            </a:extLst>
          </p:cNvPr>
          <p:cNvSpPr txBox="1"/>
          <p:nvPr/>
        </p:nvSpPr>
        <p:spPr>
          <a:xfrm>
            <a:off x="7464827" y="110802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 with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AE9FF-8EE0-5419-0039-AA3557A1AEC0}"/>
              </a:ext>
            </a:extLst>
          </p:cNvPr>
          <p:cNvSpPr txBox="1"/>
          <p:nvPr/>
        </p:nvSpPr>
        <p:spPr>
          <a:xfrm>
            <a:off x="3220864" y="208794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B3FB6-0669-0BA9-7A3D-BF8644372E88}"/>
              </a:ext>
            </a:extLst>
          </p:cNvPr>
          <p:cNvSpPr txBox="1"/>
          <p:nvPr/>
        </p:nvSpPr>
        <p:spPr>
          <a:xfrm>
            <a:off x="5897619" y="208794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F0213-485B-0D55-607E-F3E35C3C95B2}"/>
              </a:ext>
            </a:extLst>
          </p:cNvPr>
          <p:cNvSpPr txBox="1"/>
          <p:nvPr/>
        </p:nvSpPr>
        <p:spPr>
          <a:xfrm>
            <a:off x="9746324" y="2087947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2BCF87-D71F-BC43-6374-1C4D257335DB}"/>
                  </a:ext>
                </a:extLst>
              </p:cNvPr>
              <p:cNvSpPr txBox="1"/>
              <p:nvPr/>
            </p:nvSpPr>
            <p:spPr>
              <a:xfrm>
                <a:off x="9996714" y="2087947"/>
                <a:ext cx="11403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2BCF87-D71F-BC43-6374-1C4D25733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714" y="2087947"/>
                <a:ext cx="11403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3E3A49B-2A0B-C7A9-9C3E-5D7DF7117536}"/>
              </a:ext>
            </a:extLst>
          </p:cNvPr>
          <p:cNvSpPr txBox="1"/>
          <p:nvPr/>
        </p:nvSpPr>
        <p:spPr>
          <a:xfrm>
            <a:off x="4262852" y="3059668"/>
            <a:ext cx="115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</a:t>
            </a:r>
            <a:r>
              <a:rPr lang="en-US" dirty="0" err="1"/>
              <a:t>ω</a:t>
            </a:r>
            <a:r>
              <a:rPr lang="en-US" dirty="0"/>
              <a:t>=</a:t>
            </a:r>
            <a:r>
              <a:rPr lang="en-US" dirty="0" err="1"/>
              <a:t>ω</a:t>
            </a:r>
            <a:r>
              <a:rPr lang="en-US" baseline="-25000" dirty="0" err="1"/>
              <a:t>c</a:t>
            </a:r>
            <a:r>
              <a:rPr lang="en-US" dirty="0"/>
              <a:t> 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CA68E7-AADE-5872-F007-F9E29A49B18A}"/>
                  </a:ext>
                </a:extLst>
              </p:cNvPr>
              <p:cNvSpPr txBox="1"/>
              <p:nvPr/>
            </p:nvSpPr>
            <p:spPr>
              <a:xfrm>
                <a:off x="5263113" y="3059668"/>
                <a:ext cx="26076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𝐾𝐾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CA68E7-AADE-5872-F007-F9E29A49B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113" y="3059668"/>
                <a:ext cx="2607635" cy="36933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3A12CFF-2B7B-D8FB-4FA0-9F289470490D}"/>
              </a:ext>
            </a:extLst>
          </p:cNvPr>
          <p:cNvGrpSpPr/>
          <p:nvPr/>
        </p:nvGrpSpPr>
        <p:grpSpPr>
          <a:xfrm>
            <a:off x="3262519" y="4861435"/>
            <a:ext cx="5460530" cy="617348"/>
            <a:chOff x="3273969" y="3889714"/>
            <a:chExt cx="5460530" cy="61734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AFD4D7F-17EC-F888-025A-2C768E80FE58}"/>
                    </a:ext>
                  </a:extLst>
                </p:cNvPr>
                <p:cNvSpPr txBox="1"/>
                <p:nvPr/>
              </p:nvSpPr>
              <p:spPr>
                <a:xfrm>
                  <a:off x="6022090" y="4015514"/>
                  <a:ext cx="27124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baseline="-2500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LR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−1(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AFD4D7F-17EC-F888-025A-2C768E80F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090" y="4015514"/>
                  <a:ext cx="271240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A31F79-2386-37B2-867A-6A590B6F26FE}"/>
                    </a:ext>
                  </a:extLst>
                </p:cNvPr>
                <p:cNvSpPr txBox="1"/>
                <p:nvPr/>
              </p:nvSpPr>
              <p:spPr>
                <a:xfrm>
                  <a:off x="3273969" y="3889714"/>
                  <a:ext cx="2710614" cy="6173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𝐾𝐾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baseline="-2500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𝑖𝑥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A31F79-2386-37B2-867A-6A590B6F2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969" y="3889714"/>
                  <a:ext cx="2710614" cy="617348"/>
                </a:xfrm>
                <a:prstGeom prst="rect">
                  <a:avLst/>
                </a:prstGeom>
                <a:blipFill>
                  <a:blip r:embed="rId9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E510BF1-0E27-1611-2C0A-53013A31249E}"/>
              </a:ext>
            </a:extLst>
          </p:cNvPr>
          <p:cNvSpPr txBox="1"/>
          <p:nvPr/>
        </p:nvSpPr>
        <p:spPr>
          <a:xfrm>
            <a:off x="1925034" y="3983741"/>
            <a:ext cx="8244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multiply spatial term in </a:t>
            </a:r>
            <a:r>
              <a:rPr lang="en-US" dirty="0" err="1"/>
              <a:t>sKK</a:t>
            </a:r>
            <a:r>
              <a:rPr lang="en-US" dirty="0"/>
              <a:t> permittivity by -1 or 1 to flip direction of propagation: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4499C5-B93B-00D7-2C91-E237E94A2040}"/>
              </a:ext>
            </a:extLst>
          </p:cNvPr>
          <p:cNvSpPr txBox="1"/>
          <p:nvPr/>
        </p:nvSpPr>
        <p:spPr>
          <a:xfrm>
            <a:off x="1925034" y="5802479"/>
            <a:ext cx="774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can modify ‘</a:t>
            </a:r>
            <a:r>
              <a:rPr lang="en-US" dirty="0" err="1"/>
              <a:t>s</a:t>
            </a:r>
            <a:r>
              <a:rPr lang="en-US" baseline="-25000" dirty="0" err="1"/>
              <a:t>x</a:t>
            </a:r>
            <a:r>
              <a:rPr lang="en-US" dirty="0"/>
              <a:t>’ in study sweeps without changing geometry or material info.</a:t>
            </a:r>
          </a:p>
        </p:txBody>
      </p:sp>
    </p:spTree>
    <p:extLst>
      <p:ext uri="{BB962C8B-B14F-4D97-AF65-F5344CB8AC3E}">
        <p14:creationId xmlns:p14="http://schemas.microsoft.com/office/powerpoint/2010/main" val="36050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41B9BA-CD9B-D8E0-DC8D-7FE340EC15E2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Baseline Run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F62A62-96D5-6AC5-54FB-C64DE7484075}"/>
                  </a:ext>
                </a:extLst>
              </p:cNvPr>
              <p:cNvSpPr txBox="1"/>
              <p:nvPr/>
            </p:nvSpPr>
            <p:spPr>
              <a:xfrm>
                <a:off x="2634217" y="568213"/>
                <a:ext cx="5653535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𝐾𝐾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,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 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F62A62-96D5-6AC5-54FB-C64DE7484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217" y="568213"/>
                <a:ext cx="5653535" cy="617348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AC3716F-EF96-52BD-0358-5261136AE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13" y="107195"/>
            <a:ext cx="2943723" cy="2414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247014-4B3B-79E2-245E-650D1F214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11" y="3471788"/>
            <a:ext cx="4937866" cy="32718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21719-E324-E70B-E204-3AB7E7B71C92}"/>
                  </a:ext>
                </a:extLst>
              </p:cNvPr>
              <p:cNvSpPr txBox="1"/>
              <p:nvPr/>
            </p:nvSpPr>
            <p:spPr>
              <a:xfrm>
                <a:off x="1800415" y="1680187"/>
                <a:ext cx="587090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𝑝𝑢𝑙𝑠𝑒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21719-E324-E70B-E204-3AB7E7B71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415" y="1680187"/>
                <a:ext cx="5870903" cy="622350"/>
              </a:xfrm>
              <a:prstGeom prst="rect">
                <a:avLst/>
              </a:prstGeom>
              <a:blipFill>
                <a:blip r:embed="rId5"/>
                <a:stretch>
                  <a:fillRect l="-216" r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CD08AA-E8B8-51B7-4DB0-CEA17E1F65F8}"/>
                  </a:ext>
                </a:extLst>
              </p:cNvPr>
              <p:cNvSpPr txBox="1"/>
              <p:nvPr/>
            </p:nvSpPr>
            <p:spPr>
              <a:xfrm>
                <a:off x="1800415" y="2422073"/>
                <a:ext cx="6523517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𝑏𝑎𝑛𝑑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𝑘𝑐𝑥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CD08AA-E8B8-51B7-4DB0-CEA17E1F6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415" y="2422073"/>
                <a:ext cx="6523517" cy="518540"/>
              </a:xfrm>
              <a:prstGeom prst="rect">
                <a:avLst/>
              </a:prstGeom>
              <a:blipFill>
                <a:blip r:embed="rId6"/>
                <a:stretch>
                  <a:fillRect l="-777" r="-1359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813B486C-DEB8-5D7C-935B-037D1EF994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7105" y="3575217"/>
            <a:ext cx="3786717" cy="5563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2A93F2-99DA-5882-95FA-18D6CBE3E74F}"/>
                  </a:ext>
                </a:extLst>
              </p:cNvPr>
              <p:cNvSpPr txBox="1"/>
              <p:nvPr/>
            </p:nvSpPr>
            <p:spPr>
              <a:xfrm>
                <a:off x="2412098" y="3128070"/>
                <a:ext cx="6097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𝑝𝑢𝑙𝑠𝑒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𝑏𝑎𝑛𝑑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2A93F2-99DA-5882-95FA-18D6CBE3E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098" y="3128070"/>
                <a:ext cx="6097772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ADD235CA-4149-7794-8935-21F2A19511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6874" y="4107824"/>
            <a:ext cx="4827181" cy="25717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6AD3A29-9055-B1F7-51B6-783D15F177AC}"/>
              </a:ext>
            </a:extLst>
          </p:cNvPr>
          <p:cNvSpPr txBox="1"/>
          <p:nvPr/>
        </p:nvSpPr>
        <p:spPr>
          <a:xfrm>
            <a:off x="557626" y="730278"/>
            <a:ext cx="198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KK profile: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356C4C-AB9C-6676-9CC2-4B0C23E78FDF}"/>
              </a:ext>
            </a:extLst>
          </p:cNvPr>
          <p:cNvSpPr txBox="1"/>
          <p:nvPr/>
        </p:nvSpPr>
        <p:spPr>
          <a:xfrm>
            <a:off x="238089" y="211787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pulse: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69D98F-E9F6-AA07-3F0C-6C9C4ED8B468}"/>
              </a:ext>
            </a:extLst>
          </p:cNvPr>
          <p:cNvSpPr txBox="1"/>
          <p:nvPr/>
        </p:nvSpPr>
        <p:spPr>
          <a:xfrm>
            <a:off x="8948218" y="3398210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</a:t>
            </a:r>
            <a:r>
              <a:rPr lang="en-US" sz="1400" baseline="-25000" dirty="0"/>
              <a:t>x</a:t>
            </a:r>
            <a:r>
              <a:rPr lang="en-US" sz="1400" dirty="0"/>
              <a:t> = 20um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9A104-E5EA-BED0-49E5-D4C76834374E}"/>
              </a:ext>
            </a:extLst>
          </p:cNvPr>
          <p:cNvSpPr txBox="1"/>
          <p:nvPr/>
        </p:nvSpPr>
        <p:spPr>
          <a:xfrm>
            <a:off x="6710950" y="3699519"/>
            <a:ext cx="844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</a:t>
            </a:r>
            <a:r>
              <a:rPr lang="en-US" sz="1400" baseline="-25000" dirty="0"/>
              <a:t>y</a:t>
            </a:r>
            <a:r>
              <a:rPr lang="en-US" sz="1400" dirty="0"/>
              <a:t> = 2um</a:t>
            </a:r>
          </a:p>
        </p:txBody>
      </p:sp>
    </p:spTree>
    <p:extLst>
      <p:ext uri="{BB962C8B-B14F-4D97-AF65-F5344CB8AC3E}">
        <p14:creationId xmlns:p14="http://schemas.microsoft.com/office/powerpoint/2010/main" val="3587835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992F53-F9E4-5ED6-A31D-21B061F08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915" y="1321097"/>
            <a:ext cx="3924173" cy="625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DADCC7-9C64-45FF-752C-0D585DFE1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017" y="3065091"/>
            <a:ext cx="7040580" cy="34183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99F8DDF-0635-4409-556A-2B44C3822A9E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40D1D1-1F92-F413-3EB1-402A5B47F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672" y="1713720"/>
            <a:ext cx="3924173" cy="6083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03AEC3-D24A-394B-0480-1B89AFAE2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673" y="919715"/>
            <a:ext cx="3924173" cy="582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49EA8C-1A25-4C41-825E-84A704B77BB8}"/>
              </a:ext>
            </a:extLst>
          </p:cNvPr>
          <p:cNvSpPr txBox="1"/>
          <p:nvPr/>
        </p:nvSpPr>
        <p:spPr>
          <a:xfrm>
            <a:off x="11339820" y="102636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</a:t>
            </a:r>
            <a:r>
              <a:rPr lang="en-US" baseline="-25000" dirty="0" err="1"/>
              <a:t>x</a:t>
            </a:r>
            <a:r>
              <a:rPr lang="en-US" dirty="0"/>
              <a:t> =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846D8-A7BC-E2C8-51DB-D2EC0D180B39}"/>
              </a:ext>
            </a:extLst>
          </p:cNvPr>
          <p:cNvSpPr txBox="1"/>
          <p:nvPr/>
        </p:nvSpPr>
        <p:spPr>
          <a:xfrm>
            <a:off x="11309234" y="1833220"/>
            <a:ext cx="76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</a:t>
            </a:r>
            <a:r>
              <a:rPr lang="en-US" baseline="-25000" dirty="0" err="1"/>
              <a:t>x</a:t>
            </a:r>
            <a:r>
              <a:rPr lang="en-US" dirty="0"/>
              <a:t> = -1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D9B97C-8CF4-7683-5A5E-32248122506A}"/>
              </a:ext>
            </a:extLst>
          </p:cNvPr>
          <p:cNvSpPr txBox="1"/>
          <p:nvPr/>
        </p:nvSpPr>
        <p:spPr>
          <a:xfrm>
            <a:off x="186219" y="3622798"/>
            <a:ext cx="48735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calculated outgoing power and dissipated power as a function of time. legend: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left: surface integral of outgoing power from the left (</a:t>
            </a:r>
            <a:r>
              <a:rPr lang="en-US" sz="1600" dirty="0" err="1"/>
              <a:t>ewt.nPo</a:t>
            </a:r>
            <a:r>
              <a:rPr lang="en-US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right: surface integral of outgoing power from the right (</a:t>
            </a:r>
            <a:r>
              <a:rPr lang="en-US" sz="1600" dirty="0" err="1"/>
              <a:t>ewt.nPo</a:t>
            </a:r>
            <a:r>
              <a:rPr lang="en-US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abs: volume integral of resistive losses (</a:t>
            </a:r>
            <a:r>
              <a:rPr lang="en-US" sz="1600" dirty="0" err="1"/>
              <a:t>ewt.Qrh</a:t>
            </a:r>
            <a:r>
              <a:rPr lang="en-US" sz="16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1FED8-7A20-1B0A-9E9F-8E594587B319}"/>
              </a:ext>
            </a:extLst>
          </p:cNvPr>
          <p:cNvSpPr txBox="1"/>
          <p:nvPr/>
        </p:nvSpPr>
        <p:spPr>
          <a:xfrm>
            <a:off x="311051" y="1420562"/>
            <a:ext cx="2315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color plot of </a:t>
            </a:r>
            <a:r>
              <a:rPr lang="en-US" sz="1600" dirty="0" err="1"/>
              <a:t>ewt.normE</a:t>
            </a:r>
            <a:r>
              <a:rPr lang="en-US" sz="1600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D239A6-6EEA-A3D6-E39C-8AF06EC21981}"/>
              </a:ext>
            </a:extLst>
          </p:cNvPr>
          <p:cNvSpPr txBox="1"/>
          <p:nvPr/>
        </p:nvSpPr>
        <p:spPr>
          <a:xfrm>
            <a:off x="4281984" y="1865597"/>
            <a:ext cx="820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 = 50fs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399CC4-2D20-271B-BF17-0EE59A65DCD6}"/>
              </a:ext>
            </a:extLst>
          </p:cNvPr>
          <p:cNvSpPr txBox="1"/>
          <p:nvPr/>
        </p:nvSpPr>
        <p:spPr>
          <a:xfrm>
            <a:off x="8810239" y="2302810"/>
            <a:ext cx="929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 = 150fs</a:t>
            </a:r>
          </a:p>
        </p:txBody>
      </p:sp>
    </p:spTree>
    <p:extLst>
      <p:ext uri="{BB962C8B-B14F-4D97-AF65-F5344CB8AC3E}">
        <p14:creationId xmlns:p14="http://schemas.microsoft.com/office/powerpoint/2010/main" val="421399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D1B1F7-B304-E417-8318-CE86D3240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57" y="4189229"/>
            <a:ext cx="10648445" cy="7900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C4B676-FB01-7263-16B8-979B2C3DB035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F2936-B21C-A788-EFE4-C22A246925A8}"/>
              </a:ext>
            </a:extLst>
          </p:cNvPr>
          <p:cNvSpPr txBox="1"/>
          <p:nvPr/>
        </p:nvSpPr>
        <p:spPr>
          <a:xfrm>
            <a:off x="640660" y="3606196"/>
            <a:ext cx="7731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calculated total, transmitted, reflected, and absorbed energy by integrating over time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65DB5-EB81-E6A6-0F5A-B94A1A5F639A}"/>
              </a:ext>
            </a:extLst>
          </p:cNvPr>
          <p:cNvSpPr txBox="1"/>
          <p:nvPr/>
        </p:nvSpPr>
        <p:spPr>
          <a:xfrm>
            <a:off x="2220782" y="5124484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LR</a:t>
            </a:r>
            <a:r>
              <a:rPr lang="en-US" dirty="0"/>
              <a:t> = 0.75 , T</a:t>
            </a:r>
            <a:r>
              <a:rPr lang="en-US" baseline="-25000" dirty="0"/>
              <a:t>RL</a:t>
            </a:r>
            <a:r>
              <a:rPr lang="en-US" dirty="0"/>
              <a:t> = 0.75 , R</a:t>
            </a:r>
            <a:r>
              <a:rPr lang="en-US" baseline="-25000" dirty="0"/>
              <a:t>LR</a:t>
            </a:r>
            <a:r>
              <a:rPr lang="en-US" dirty="0"/>
              <a:t> = 0.0005 , R</a:t>
            </a:r>
            <a:r>
              <a:rPr lang="en-US" baseline="-25000" dirty="0"/>
              <a:t>RL</a:t>
            </a:r>
            <a:r>
              <a:rPr lang="en-US" dirty="0"/>
              <a:t> = 0.05 , A</a:t>
            </a:r>
            <a:r>
              <a:rPr lang="en-US" baseline="-25000" dirty="0"/>
              <a:t>LR</a:t>
            </a:r>
            <a:r>
              <a:rPr lang="en-US" dirty="0"/>
              <a:t> = 0.25 , A</a:t>
            </a:r>
            <a:r>
              <a:rPr lang="en-US" baseline="-25000" dirty="0"/>
              <a:t>RL</a:t>
            </a:r>
            <a:r>
              <a:rPr lang="en-US" dirty="0"/>
              <a:t> = 0.2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8E4A7-7D65-6892-3A75-42CF712FA581}"/>
              </a:ext>
            </a:extLst>
          </p:cNvPr>
          <p:cNvSpPr txBox="1"/>
          <p:nvPr/>
        </p:nvSpPr>
        <p:spPr>
          <a:xfrm>
            <a:off x="640660" y="5740862"/>
            <a:ext cx="61713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ran a quick TMM calculation with the same parameters (</a:t>
            </a:r>
            <a:r>
              <a:rPr lang="en-US" sz="1600" dirty="0" err="1"/>
              <a:t>λ</a:t>
            </a:r>
            <a:r>
              <a:rPr lang="en-US" sz="1600" dirty="0"/>
              <a:t> = 1.88um):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E0B4C-8DA5-F9B5-95A3-6999A4956249}"/>
              </a:ext>
            </a:extLst>
          </p:cNvPr>
          <p:cNvSpPr txBox="1"/>
          <p:nvPr/>
        </p:nvSpPr>
        <p:spPr>
          <a:xfrm>
            <a:off x="2220782" y="6247339"/>
            <a:ext cx="681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LR</a:t>
            </a:r>
            <a:r>
              <a:rPr lang="en-US" dirty="0"/>
              <a:t> = 0.74 , T</a:t>
            </a:r>
            <a:r>
              <a:rPr lang="en-US" baseline="-25000" dirty="0"/>
              <a:t>RL</a:t>
            </a:r>
            <a:r>
              <a:rPr lang="en-US" dirty="0"/>
              <a:t> = 0.74 , R</a:t>
            </a:r>
            <a:r>
              <a:rPr lang="en-US" baseline="-25000" dirty="0"/>
              <a:t>LR</a:t>
            </a:r>
            <a:r>
              <a:rPr lang="en-US" dirty="0"/>
              <a:t> = 5e-6 , R</a:t>
            </a:r>
            <a:r>
              <a:rPr lang="en-US" baseline="-25000" dirty="0"/>
              <a:t>RL</a:t>
            </a:r>
            <a:r>
              <a:rPr lang="en-US" dirty="0"/>
              <a:t> = 0.056 , A</a:t>
            </a:r>
            <a:r>
              <a:rPr lang="en-US" baseline="-25000" dirty="0"/>
              <a:t>LR</a:t>
            </a:r>
            <a:r>
              <a:rPr lang="en-US" dirty="0"/>
              <a:t> = 0.26 , A</a:t>
            </a:r>
            <a:r>
              <a:rPr lang="en-US" baseline="-25000" dirty="0"/>
              <a:t>RL</a:t>
            </a:r>
            <a:r>
              <a:rPr lang="en-US" dirty="0"/>
              <a:t> = 0.21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73E09B-EE43-8920-E798-4C83CC84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821" y="528556"/>
            <a:ext cx="5889978" cy="285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7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A28371-1AD3-F77C-6A3F-EB4E2C0E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719" y="364731"/>
            <a:ext cx="4858578" cy="32505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600A90-974A-0EDE-2F09-11E7BF28A8C0}"/>
              </a:ext>
            </a:extLst>
          </p:cNvPr>
          <p:cNvSpPr/>
          <p:nvPr/>
        </p:nvSpPr>
        <p:spPr>
          <a:xfrm>
            <a:off x="186219" y="133899"/>
            <a:ext cx="11411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DE2CC-30D8-06F7-4606-A16673697620}"/>
              </a:ext>
            </a:extLst>
          </p:cNvPr>
          <p:cNvSpPr txBox="1"/>
          <p:nvPr/>
        </p:nvSpPr>
        <p:spPr>
          <a:xfrm>
            <a:off x="1102719" y="1963073"/>
            <a:ext cx="42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alpha (</a:t>
            </a:r>
            <a:r>
              <a:rPr lang="en-US" dirty="0" err="1"/>
              <a:t>AoI</a:t>
            </a:r>
            <a:r>
              <a:rPr lang="en-US" dirty="0"/>
              <a:t>) = 30° , x</a:t>
            </a:r>
            <a:r>
              <a:rPr lang="en-US" baseline="-25000" dirty="0"/>
              <a:t>0</a:t>
            </a:r>
            <a:r>
              <a:rPr lang="en-US" dirty="0"/>
              <a:t> = 0.05um (broader)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1DDA7-7C87-1845-FFB3-1B4CD9C9E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42730"/>
            <a:ext cx="4858579" cy="3250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24E2F4-31B2-4910-AEC8-FE85F77AFEBA}"/>
              </a:ext>
            </a:extLst>
          </p:cNvPr>
          <p:cNvSpPr txBox="1"/>
          <p:nvPr/>
        </p:nvSpPr>
        <p:spPr>
          <a:xfrm>
            <a:off x="947035" y="4334210"/>
            <a:ext cx="45324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𝜏 = 2fs (5 times smaller):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what about the physics is changing here?</a:t>
            </a:r>
          </a:p>
          <a:p>
            <a:pPr marL="285750" indent="-285750">
              <a:buFontTx/>
              <a:buChar char="-"/>
            </a:pPr>
            <a:r>
              <a:rPr lang="en-US" dirty="0"/>
              <a:t>what about the model needs to change?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4698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D9C9D2-0948-D572-DDD5-889E3F9B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A0A2AA-399D-DD85-9760-C8546EE5D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50163" y="165197"/>
            <a:ext cx="5658441" cy="3263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121074-FE6F-88C5-277E-B17BA967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50163" y="3535914"/>
            <a:ext cx="5658441" cy="32638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575352-1EBF-CC92-DE2D-29E9C83CF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553" y="3181350"/>
            <a:ext cx="3689350" cy="49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AC67E-06BB-85A8-E585-2A562D3682EE}"/>
              </a:ext>
            </a:extLst>
          </p:cNvPr>
          <p:cNvSpPr txBox="1"/>
          <p:nvPr/>
        </p:nvSpPr>
        <p:spPr>
          <a:xfrm>
            <a:off x="10696354" y="3045714"/>
            <a:ext cx="2952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D5E98-8AF1-9281-E2BF-0214D9455CB6}"/>
              </a:ext>
            </a:extLst>
          </p:cNvPr>
          <p:cNvSpPr txBox="1"/>
          <p:nvPr/>
        </p:nvSpPr>
        <p:spPr>
          <a:xfrm>
            <a:off x="7857461" y="2876437"/>
            <a:ext cx="682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E_left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AA0C-53B4-B08D-98CC-3F93C3476F2C}"/>
              </a:ext>
            </a:extLst>
          </p:cNvPr>
          <p:cNvSpPr txBox="1"/>
          <p:nvPr/>
        </p:nvSpPr>
        <p:spPr>
          <a:xfrm>
            <a:off x="10448690" y="2876437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/>
                </a:solidFill>
              </a:rPr>
              <a:t>E_right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2E705-363C-6B60-9F4D-08D6BB391C7D}"/>
              </a:ext>
            </a:extLst>
          </p:cNvPr>
          <p:cNvSpPr txBox="1"/>
          <p:nvPr/>
        </p:nvSpPr>
        <p:spPr>
          <a:xfrm>
            <a:off x="439183" y="1468333"/>
            <a:ext cx="1462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both sides air (𝜀</a:t>
            </a:r>
            <a:r>
              <a:rPr lang="en-US" sz="1600" baseline="-25000" dirty="0"/>
              <a:t>r</a:t>
            </a:r>
            <a:r>
              <a:rPr lang="en-US" sz="1600" dirty="0"/>
              <a:t>=1)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C503F-EEC4-C3A2-A87F-815F0A5B0754}"/>
              </a:ext>
            </a:extLst>
          </p:cNvPr>
          <p:cNvSpPr txBox="1"/>
          <p:nvPr/>
        </p:nvSpPr>
        <p:spPr>
          <a:xfrm>
            <a:off x="439183" y="4804892"/>
            <a:ext cx="1462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left side 𝜀</a:t>
            </a:r>
            <a:r>
              <a:rPr lang="en-US" sz="1600" baseline="-25000" dirty="0"/>
              <a:t>r</a:t>
            </a:r>
            <a:r>
              <a:rPr lang="en-US" sz="1600" dirty="0"/>
              <a:t>=1, right side 𝜀</a:t>
            </a:r>
            <a:r>
              <a:rPr lang="en-US" sz="1600" baseline="-25000" dirty="0"/>
              <a:t>r</a:t>
            </a:r>
            <a:r>
              <a:rPr lang="en-US" sz="1600" dirty="0"/>
              <a:t>=3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A89F8-37EC-17E0-EACC-6D95736A2ADD}"/>
              </a:ext>
            </a:extLst>
          </p:cNvPr>
          <p:cNvSpPr txBox="1"/>
          <p:nvPr/>
        </p:nvSpPr>
        <p:spPr>
          <a:xfrm>
            <a:off x="8029966" y="2875002"/>
            <a:ext cx="2952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6280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35495</TotalTime>
  <Words>659</Words>
  <Application>Microsoft Macintosh PowerPoint</Application>
  <PresentationFormat>Widescreen</PresentationFormat>
  <Paragraphs>82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28</cp:revision>
  <dcterms:created xsi:type="dcterms:W3CDTF">2026-02-12T19:58:36Z</dcterms:created>
  <dcterms:modified xsi:type="dcterms:W3CDTF">2026-03-16T20:59:36Z</dcterms:modified>
</cp:coreProperties>
</file>