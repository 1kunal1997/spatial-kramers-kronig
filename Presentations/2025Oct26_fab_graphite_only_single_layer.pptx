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0" r:id="rId4"/>
    <p:sldId id="259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57"/>
    <p:restoredTop sz="94681"/>
  </p:normalViewPr>
  <p:slideViewPr>
    <p:cSldViewPr snapToGrid="0">
      <p:cViewPr varScale="1">
        <p:scale>
          <a:sx n="173" d="100"/>
          <a:sy n="173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02F25-B03A-40FE-E4C9-1AE01C0611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CC0129-664C-41BC-D2E2-D40750158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E8CC0-6886-DA00-10BD-78F062D95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FAC33-DF1D-D247-982C-4C80A80A0765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51348-7F99-E67D-0319-14DC9ED31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2A8A7-AD8B-9075-E06F-4227D78EA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DC01A-B601-ED40-A4C3-ED24F593F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509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511B-6E25-DB9E-BA2E-14E9C5745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307CA-472B-2D51-651C-ECA97613E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4ECFC-F270-45C1-3A71-9F2940FCD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FAC33-DF1D-D247-982C-4C80A80A0765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D05EE-D6CE-230D-41B8-D904281FE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69FA5-7EF0-F967-1825-4DB62E33E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DC01A-B601-ED40-A4C3-ED24F593F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147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A39CC-D44C-05D2-AA2F-087B3B7CB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CAA98-E2EC-DB9D-97D9-E10690118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A365B-6E65-F708-EAD4-50AD4B6E3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FAC33-DF1D-D247-982C-4C80A80A0765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E8C35-D2DB-58FB-7F2F-D38C43938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6B513-3BB6-5B34-10AB-0DD059B59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DC01A-B601-ED40-A4C3-ED24F593F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16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36117-E433-9F48-F0C0-73BABBC42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6F014-B9FE-1120-530F-7B1A00A29C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4530B0-497E-EC61-8518-84D2959AC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3EB5F-4607-EC9F-5B3D-AC57D1332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FAC33-DF1D-D247-982C-4C80A80A0765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E987A2-B284-EB53-25E5-EB0547300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523B7-F717-47A0-263E-55BB21798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DC01A-B601-ED40-A4C3-ED24F593F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632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6BCE6-88CE-C30C-CB09-6CE73C246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F5EC7-5A34-8D98-5385-48D4B5A15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E047A-7398-C03C-05CA-DD72BD13EA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DC7071-69C5-5D93-D238-635F676A24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708B0-A038-6FDE-23F7-5EE0E8B651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3BF3BE-4C23-94ED-4A9C-285B329D6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FAC33-DF1D-D247-982C-4C80A80A0765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C3E322-112C-BD80-D641-EEB90E6CE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BFD9BE-1EC2-2544-80B0-AEE810E50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DC01A-B601-ED40-A4C3-ED24F593F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151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1E23E-8B65-CF40-72E8-6070AA72F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521F87-5CB6-0680-C44D-01BD24220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FAC33-DF1D-D247-982C-4C80A80A0765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FD1931-F1FD-4E9F-F06E-5AD328BA9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8155E4-5B26-161F-7710-00462E945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DC01A-B601-ED40-A4C3-ED24F593F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031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6F2AC1-FA23-A4C9-5B7F-7FD1E8E8D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FAC33-DF1D-D247-982C-4C80A80A0765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2C01E2-6ED9-E75A-D277-EF22EBDA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F2191-9940-D11B-EA11-E9FFE748E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DC01A-B601-ED40-A4C3-ED24F593F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682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EFEC5-F88A-9D82-B7F9-53CA7F419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ED18D-BC7B-B847-759F-F385EAB91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53076A-F95B-9B81-4108-09811D3D0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47A646-628B-3501-1059-35FC92A9E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FAC33-DF1D-D247-982C-4C80A80A0765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A5169-D5A5-96CD-C59A-9AC488AA2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B41D87-82AE-3ACE-180C-FE77D1D7B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DC01A-B601-ED40-A4C3-ED24F593F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259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EC393-4677-68D1-A2B4-646242DEA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C9A5E4-7086-41E4-4DDD-9B45DB3824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09F1A8-23EF-E791-E70F-3456F582D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F4E353-E8A9-FA7C-AF2D-9DC277E02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FAC33-DF1D-D247-982C-4C80A80A0765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D03D4-7D4D-1C84-778A-98D218F3C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01D076-6993-03C3-1D3D-93800CA82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DC01A-B601-ED40-A4C3-ED24F593F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838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C8BCE-64A0-8DEA-1062-90FA65B26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B835BA-AD41-4005-BC3E-8F15AFC755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0C161-1C5D-1107-5D18-EA0DB1E72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FAC33-DF1D-D247-982C-4C80A80A0765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DD228-876D-17B9-0FD2-3BA1EE76C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B548C-83CD-4D5C-D045-34B47198C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DC01A-B601-ED40-A4C3-ED24F593F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866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DF0EDB-3C8B-FC69-8549-DDB773E5CB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54126-0D7C-C367-66CC-4C400F26E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86368-D441-E8FA-A54D-454B41358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FAC33-DF1D-D247-982C-4C80A80A0765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E5C7D-47AD-8F90-DFA6-FD6D0592F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DA855-8C98-307C-9D9C-6CED5782A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DC01A-B601-ED40-A4C3-ED24F593F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2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D2577A-F8E4-621D-2FB2-F8501EA9C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7A95A-F0F3-A70B-0D7D-7E1321663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975E0-991B-F1E8-5CFE-AA7DC27997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2FAC33-DF1D-D247-982C-4C80A80A0765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CA912-E859-2242-D4BF-E98021D481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4E74A-6265-9089-1671-3049F5822A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ADC01A-B601-ED40-A4C3-ED24F593F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093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EB610A-B212-0719-6EAB-65F538DE3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103" y="3766967"/>
            <a:ext cx="3526242" cy="29404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D8BEC8-432E-6D3E-3246-FC253E5EE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7345" y="3766968"/>
            <a:ext cx="3526242" cy="29404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D8AE8D-1ECF-A858-9F27-CB0C6BB9E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1103" y="778591"/>
            <a:ext cx="3526243" cy="27872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119B42-E6EA-21C4-E958-872186AF66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7345" y="778589"/>
            <a:ext cx="3526243" cy="27872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151AAA-7085-0F5E-0144-F9FE705A802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412" t="10438" r="5440" b="11000"/>
          <a:stretch>
            <a:fillRect/>
          </a:stretch>
        </p:blipFill>
        <p:spPr>
          <a:xfrm>
            <a:off x="9039651" y="932868"/>
            <a:ext cx="1038059" cy="6530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FB3B3A0-CAF0-FE93-7D75-D46EE1027AD4}"/>
              </a:ext>
            </a:extLst>
          </p:cNvPr>
          <p:cNvSpPr txBox="1"/>
          <p:nvPr/>
        </p:nvSpPr>
        <p:spPr>
          <a:xfrm>
            <a:off x="212742" y="136009"/>
            <a:ext cx="78386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Restricting Lossy Material to Graphite Hardly Changes (</a:t>
            </a:r>
            <a:r>
              <a:rPr lang="en-US" sz="2000" b="1" dirty="0" err="1"/>
              <a:t>n,k</a:t>
            </a:r>
            <a:r>
              <a:rPr lang="en-US" sz="2000" b="1" dirty="0"/>
              <a:t>) Profile</a:t>
            </a:r>
            <a:endParaRPr lang="en-US" sz="2000" b="1" dirty="0">
              <a:highlight>
                <a:srgbClr val="FFFF00"/>
              </a:highlight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B35824-CEC5-A9FF-9A20-5C0D7CD5540D}"/>
              </a:ext>
            </a:extLst>
          </p:cNvPr>
          <p:cNvCxnSpPr>
            <a:cxnSpLocks/>
          </p:cNvCxnSpPr>
          <p:nvPr/>
        </p:nvCxnSpPr>
        <p:spPr>
          <a:xfrm>
            <a:off x="212742" y="3672349"/>
            <a:ext cx="882690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6EFDFD5-A3B3-B083-01B1-D698CDAD816A}"/>
              </a:ext>
            </a:extLst>
          </p:cNvPr>
          <p:cNvSpPr txBox="1"/>
          <p:nvPr/>
        </p:nvSpPr>
        <p:spPr>
          <a:xfrm>
            <a:off x="281404" y="1774647"/>
            <a:ext cx="16296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original design (including metals)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8FF65A-4F38-7ED9-CE48-535153CBD39D}"/>
              </a:ext>
            </a:extLst>
          </p:cNvPr>
          <p:cNvSpPr txBox="1"/>
          <p:nvPr/>
        </p:nvSpPr>
        <p:spPr>
          <a:xfrm>
            <a:off x="281404" y="4910878"/>
            <a:ext cx="16296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graphite-only design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1CC2F0-5D1A-343A-F86F-4C0B50368E55}"/>
              </a:ext>
            </a:extLst>
          </p:cNvPr>
          <p:cNvSpPr txBox="1"/>
          <p:nvPr/>
        </p:nvSpPr>
        <p:spPr>
          <a:xfrm>
            <a:off x="9179760" y="2511718"/>
            <a:ext cx="295816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sz="1400" dirty="0"/>
              <a:t>Bruggeman model was able to find graphite mixtures for each layer without losing accuracy to target s-KK profile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sz="1400" dirty="0"/>
              <a:t>Replacing metals with their oxide counterparts did not work (most oxides are relatively lossless)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sz="1400" dirty="0"/>
              <a:t>Pure material (no mixtures) designs did not work either (algorithm was either picking materials with no losses, or materials with losses but very high/dispersive n) 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82278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CEBA97-B0BE-79C1-15ED-20F59E360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163" y="1076032"/>
            <a:ext cx="4323736" cy="3618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45DA8B-29EF-E2F4-EF2C-7245C294C7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18417" y="1076032"/>
            <a:ext cx="4323735" cy="3618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29C191-6E58-6552-9857-E4D9FD9902F4}"/>
              </a:ext>
            </a:extLst>
          </p:cNvPr>
          <p:cNvSpPr txBox="1"/>
          <p:nvPr/>
        </p:nvSpPr>
        <p:spPr>
          <a:xfrm>
            <a:off x="256987" y="188088"/>
            <a:ext cx="83892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Identical Optical Response Between Original and Graphite-only Design</a:t>
            </a:r>
            <a:endParaRPr lang="en-US" sz="20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7CDC74-68B2-6B5B-6B03-CE8EE2D40B2A}"/>
              </a:ext>
            </a:extLst>
          </p:cNvPr>
          <p:cNvSpPr txBox="1"/>
          <p:nvPr/>
        </p:nvSpPr>
        <p:spPr>
          <a:xfrm>
            <a:off x="2626165" y="5182124"/>
            <a:ext cx="63479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quick sanity check to make sure we can safely switch to graphite-only design. now to look for critical layers…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E5BE96-D818-3DFD-C922-755DD8041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9106" y="1346874"/>
            <a:ext cx="965423" cy="117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533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74DE9-1E49-A5F7-3E3B-EDF2CBF6C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3D9691-CFFA-F388-C83D-B58105937CFF}"/>
              </a:ext>
            </a:extLst>
          </p:cNvPr>
          <p:cNvSpPr txBox="1"/>
          <p:nvPr/>
        </p:nvSpPr>
        <p:spPr>
          <a:xfrm>
            <a:off x="255855" y="156744"/>
            <a:ext cx="33885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Single Layers Of Interest</a:t>
            </a:r>
            <a:endParaRPr lang="en-US" sz="2200" b="1" dirty="0">
              <a:highlight>
                <a:srgbClr val="FFFF00"/>
              </a:highligh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EB20A5-CD40-5DC8-06FA-F7B8E32FE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781" y="3590242"/>
            <a:ext cx="3476199" cy="31594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849FEE-9373-E6CA-9F10-E59DF56E3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2038" y="3583255"/>
            <a:ext cx="3476196" cy="31594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56B788-A68A-A86A-4109-059B1E67F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524" y="3590243"/>
            <a:ext cx="3476199" cy="31594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8119CF-15AF-BCE5-99B6-747D3EF6DB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1180" y="285928"/>
            <a:ext cx="3476196" cy="28987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F687ED-7BFC-5680-16BF-D364C020FE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7041" y="285928"/>
            <a:ext cx="3476199" cy="289874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9BA4F1B2-1F2D-27FB-647D-87A9BA540D61}"/>
              </a:ext>
            </a:extLst>
          </p:cNvPr>
          <p:cNvSpPr/>
          <p:nvPr/>
        </p:nvSpPr>
        <p:spPr>
          <a:xfrm>
            <a:off x="5586880" y="905889"/>
            <a:ext cx="171155" cy="22122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0DAB6DD-8AD0-5BB5-0329-17751366BE61}"/>
              </a:ext>
            </a:extLst>
          </p:cNvPr>
          <p:cNvSpPr/>
          <p:nvPr/>
        </p:nvSpPr>
        <p:spPr>
          <a:xfrm>
            <a:off x="9176148" y="669916"/>
            <a:ext cx="171155" cy="22122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A68ADD5-03C3-AD90-056B-435715FF65EF}"/>
              </a:ext>
            </a:extLst>
          </p:cNvPr>
          <p:cNvSpPr/>
          <p:nvPr/>
        </p:nvSpPr>
        <p:spPr>
          <a:xfrm>
            <a:off x="5465443" y="493129"/>
            <a:ext cx="171155" cy="221225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04E4947-0CA0-F28C-D25C-927BE556D00C}"/>
              </a:ext>
            </a:extLst>
          </p:cNvPr>
          <p:cNvSpPr/>
          <p:nvPr/>
        </p:nvSpPr>
        <p:spPr>
          <a:xfrm>
            <a:off x="9041968" y="1617312"/>
            <a:ext cx="171155" cy="221225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209905A-65B9-F93A-5DE0-354319BD8EB1}"/>
              </a:ext>
            </a:extLst>
          </p:cNvPr>
          <p:cNvSpPr/>
          <p:nvPr/>
        </p:nvSpPr>
        <p:spPr>
          <a:xfrm>
            <a:off x="5744301" y="1809307"/>
            <a:ext cx="171155" cy="221225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B40DBD6-BD1E-1280-3D86-8F90C45D8534}"/>
              </a:ext>
            </a:extLst>
          </p:cNvPr>
          <p:cNvSpPr/>
          <p:nvPr/>
        </p:nvSpPr>
        <p:spPr>
          <a:xfrm>
            <a:off x="9343296" y="1589227"/>
            <a:ext cx="171155" cy="221225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845978-A988-BC52-038D-1A5372843A31}"/>
              </a:ext>
            </a:extLst>
          </p:cNvPr>
          <p:cNvSpPr txBox="1"/>
          <p:nvPr/>
        </p:nvSpPr>
        <p:spPr>
          <a:xfrm>
            <a:off x="2066080" y="3294966"/>
            <a:ext cx="989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LAYER 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DC6F6B-97A2-8902-0077-7C7CF03BFDB7}"/>
              </a:ext>
            </a:extLst>
          </p:cNvPr>
          <p:cNvSpPr txBox="1"/>
          <p:nvPr/>
        </p:nvSpPr>
        <p:spPr>
          <a:xfrm>
            <a:off x="5603635" y="3294966"/>
            <a:ext cx="1112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LAYER 11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22FE37-57EA-6C6C-41B7-64D5D8212F69}"/>
              </a:ext>
            </a:extLst>
          </p:cNvPr>
          <p:cNvSpPr txBox="1"/>
          <p:nvPr/>
        </p:nvSpPr>
        <p:spPr>
          <a:xfrm>
            <a:off x="9133669" y="3294966"/>
            <a:ext cx="1112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LAYER 15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A49BC44-E5EA-AA62-789D-3D2A5064DD8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412" t="10438" r="5440" b="11000"/>
          <a:stretch>
            <a:fillRect/>
          </a:stretch>
        </p:blipFill>
        <p:spPr>
          <a:xfrm>
            <a:off x="10995762" y="564605"/>
            <a:ext cx="1038059" cy="65307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75BE77C-F1E7-2EDA-7562-2063D281E72E}"/>
              </a:ext>
            </a:extLst>
          </p:cNvPr>
          <p:cNvSpPr txBox="1"/>
          <p:nvPr/>
        </p:nvSpPr>
        <p:spPr>
          <a:xfrm>
            <a:off x="200672" y="815180"/>
            <a:ext cx="3476196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1600" dirty="0"/>
              <a:t>Fundamental features of spatial </a:t>
            </a:r>
            <a:r>
              <a:rPr lang="en-US" sz="1600" dirty="0" err="1"/>
              <a:t>Kramers-Kronig</a:t>
            </a:r>
            <a:r>
              <a:rPr lang="en-US" sz="1600" dirty="0"/>
              <a:t> profile: </a:t>
            </a:r>
          </a:p>
          <a:p>
            <a:pPr marL="342900" indent="-342900">
              <a:spcAft>
                <a:spcPts val="600"/>
              </a:spcAft>
              <a:buAutoNum type="arabicParenR"/>
            </a:pPr>
            <a:r>
              <a:rPr lang="en-US" sz="1600" dirty="0"/>
              <a:t>Layers with similar </a:t>
            </a:r>
            <a:r>
              <a:rPr lang="en-US" sz="1600" dirty="0" err="1"/>
              <a:t>Im</a:t>
            </a:r>
            <a:r>
              <a:rPr lang="en-US" sz="1600" dirty="0"/>
              <a:t>(n), but very different Re(n) (Ex. </a:t>
            </a:r>
            <a:r>
              <a:rPr lang="en-US" sz="1600" dirty="0">
                <a:solidFill>
                  <a:schemeClr val="accent2"/>
                </a:solidFill>
              </a:rPr>
              <a:t>LAYER 8 </a:t>
            </a:r>
            <a:r>
              <a:rPr lang="en-US" sz="1600" dirty="0"/>
              <a:t>and</a:t>
            </a:r>
            <a:r>
              <a:rPr lang="en-US" sz="1600" dirty="0">
                <a:solidFill>
                  <a:schemeClr val="accent2"/>
                </a:solidFill>
              </a:rPr>
              <a:t> </a:t>
            </a: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LAYER 15</a:t>
            </a:r>
            <a:r>
              <a:rPr lang="en-US" sz="1600" dirty="0"/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en-US" sz="1600" dirty="0"/>
              <a:t>Central layer with high </a:t>
            </a:r>
            <a:r>
              <a:rPr lang="en-US" sz="1600" dirty="0" err="1"/>
              <a:t>Im</a:t>
            </a:r>
            <a:r>
              <a:rPr lang="en-US" sz="1600" dirty="0"/>
              <a:t>(n), medium Re(n) (Ex. </a:t>
            </a:r>
            <a:r>
              <a:rPr lang="en-US" sz="1600" dirty="0">
                <a:solidFill>
                  <a:schemeClr val="accent6"/>
                </a:solidFill>
              </a:rPr>
              <a:t>LAYER 11</a:t>
            </a:r>
            <a:r>
              <a:rPr lang="en-US" sz="160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192744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118F29C7-F3A7-0259-1E2F-BA91689C9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9849" y="849666"/>
            <a:ext cx="3476196" cy="28987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78C569-A861-EDEF-F273-E289BC6B338D}"/>
              </a:ext>
            </a:extLst>
          </p:cNvPr>
          <p:cNvSpPr txBox="1"/>
          <p:nvPr/>
        </p:nvSpPr>
        <p:spPr>
          <a:xfrm>
            <a:off x="264362" y="182952"/>
            <a:ext cx="82477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Single Mixed Layer to Test Mixing: </a:t>
            </a:r>
            <a:r>
              <a:rPr lang="en-US" sz="2200" b="1" dirty="0">
                <a:highlight>
                  <a:srgbClr val="FFFF00"/>
                </a:highlight>
              </a:rPr>
              <a:t>64% Sapphire &amp; 36% Graphite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7333C8-D2C8-37B2-CF77-A6B4592A1AC3}"/>
              </a:ext>
            </a:extLst>
          </p:cNvPr>
          <p:cNvSpPr txBox="1"/>
          <p:nvPr/>
        </p:nvSpPr>
        <p:spPr>
          <a:xfrm>
            <a:off x="285562" y="1046604"/>
            <a:ext cx="3767449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sz="1600" dirty="0"/>
              <a:t>Chose a central layer in s-KK with appreciable losses, and common material (sapphire)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sz="1600" dirty="0"/>
              <a:t>From Bruggeman Model: </a:t>
            </a:r>
            <a:r>
              <a:rPr lang="en-US" sz="1600" dirty="0" err="1">
                <a:highlight>
                  <a:srgbClr val="FFFF00"/>
                </a:highlight>
              </a:rPr>
              <a:t>n</a:t>
            </a:r>
            <a:r>
              <a:rPr lang="en-US" sz="1600" baseline="-25000" dirty="0" err="1">
                <a:highlight>
                  <a:srgbClr val="FFFF00"/>
                </a:highlight>
              </a:rPr>
              <a:t>eff</a:t>
            </a:r>
            <a:r>
              <a:rPr lang="en-US" sz="1600" dirty="0">
                <a:highlight>
                  <a:srgbClr val="FFFF00"/>
                </a:highlight>
              </a:rPr>
              <a:t> = 2.63</a:t>
            </a:r>
            <a:r>
              <a:rPr lang="en-US" sz="1600" dirty="0"/>
              <a:t>, </a:t>
            </a:r>
            <a:r>
              <a:rPr lang="en-US" sz="1600" dirty="0" err="1">
                <a:highlight>
                  <a:srgbClr val="FFFF00"/>
                </a:highlight>
              </a:rPr>
              <a:t>k</a:t>
            </a:r>
            <a:r>
              <a:rPr lang="en-US" sz="1600" baseline="-25000" dirty="0" err="1">
                <a:highlight>
                  <a:srgbClr val="FFFF00"/>
                </a:highlight>
              </a:rPr>
              <a:t>eff</a:t>
            </a:r>
            <a:r>
              <a:rPr lang="en-US" sz="1600" dirty="0">
                <a:highlight>
                  <a:srgbClr val="FFFF00"/>
                </a:highlight>
              </a:rPr>
              <a:t> = 0.93</a:t>
            </a:r>
            <a:r>
              <a:rPr lang="en-US" sz="1600" dirty="0"/>
              <a:t> @ </a:t>
            </a:r>
            <a:r>
              <a:rPr lang="en-US" sz="1600" dirty="0" err="1"/>
              <a:t>λ</a:t>
            </a:r>
            <a:r>
              <a:rPr lang="en-US" sz="1600" dirty="0"/>
              <a:t>=3um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sz="1600" dirty="0"/>
              <a:t>For 10nm thick layer deposited on 300um ZnS substrate (air background included): 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0DF073-9A27-D9A6-AE52-01031EDB3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412" y="3816593"/>
            <a:ext cx="3476199" cy="2916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3B7637-CE70-3F22-DCFF-25D8EA948D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2589" y="3816593"/>
            <a:ext cx="3476200" cy="2916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620A8B-2E89-63D0-5E05-6C9EAF2BA3A3}"/>
              </a:ext>
            </a:extLst>
          </p:cNvPr>
          <p:cNvSpPr txBox="1"/>
          <p:nvPr/>
        </p:nvSpPr>
        <p:spPr>
          <a:xfrm>
            <a:off x="8611741" y="4065503"/>
            <a:ext cx="332483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800"/>
              </a:spcAft>
              <a:buFontTx/>
              <a:buChar char="-"/>
            </a:pPr>
            <a:r>
              <a:rPr lang="en-US" sz="1600" dirty="0"/>
              <a:t>Thickness of layer, type of substrate, and % of graphite mixed can be modified and recalculated</a:t>
            </a:r>
          </a:p>
          <a:p>
            <a:pPr marL="285750" indent="-285750">
              <a:spcAft>
                <a:spcPts val="1800"/>
              </a:spcAft>
              <a:buFontTx/>
              <a:buChar char="-"/>
            </a:pPr>
            <a:r>
              <a:rPr lang="en-US" sz="1600" dirty="0"/>
              <a:t>Will include dispersion of graphite for wavelength dependence </a:t>
            </a:r>
          </a:p>
          <a:p>
            <a:pPr marL="285750" indent="-285750">
              <a:spcAft>
                <a:spcPts val="1800"/>
              </a:spcAft>
              <a:buFontTx/>
              <a:buChar char="-"/>
            </a:pPr>
            <a:endParaRPr lang="en-US" sz="16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0C9F275-0585-7B49-5BDE-A80F91ACF677}"/>
              </a:ext>
            </a:extLst>
          </p:cNvPr>
          <p:cNvGrpSpPr/>
          <p:nvPr/>
        </p:nvGrpSpPr>
        <p:grpSpPr>
          <a:xfrm>
            <a:off x="8779788" y="268728"/>
            <a:ext cx="2779403" cy="344242"/>
            <a:chOff x="9989157" y="246334"/>
            <a:chExt cx="2779403" cy="34424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4911796-E7D8-0C2B-632E-67E0C62B89AB}"/>
                </a:ext>
              </a:extLst>
            </p:cNvPr>
            <p:cNvSpPr/>
            <p:nvPr/>
          </p:nvSpPr>
          <p:spPr>
            <a:xfrm>
              <a:off x="9989157" y="246334"/>
              <a:ext cx="2593777" cy="3442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8FEE83D-C886-82F0-BD32-C6D3BDEC979D}"/>
                </a:ext>
              </a:extLst>
            </p:cNvPr>
            <p:cNvSpPr/>
            <p:nvPr/>
          </p:nvSpPr>
          <p:spPr>
            <a:xfrm>
              <a:off x="12582934" y="246335"/>
              <a:ext cx="185626" cy="34424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A36EE64-BAF6-7952-7475-43BFF19365C0}"/>
              </a:ext>
            </a:extLst>
          </p:cNvPr>
          <p:cNvSpPr txBox="1"/>
          <p:nvPr/>
        </p:nvSpPr>
        <p:spPr>
          <a:xfrm>
            <a:off x="9527262" y="19255"/>
            <a:ext cx="10988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ZnS substrate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2FC1BF-8C10-2060-E58E-E890FDC5961D}"/>
              </a:ext>
            </a:extLst>
          </p:cNvPr>
          <p:cNvSpPr txBox="1"/>
          <p:nvPr/>
        </p:nvSpPr>
        <p:spPr>
          <a:xfrm>
            <a:off x="10996185" y="588703"/>
            <a:ext cx="9403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mixed layer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BC0853A-B9F1-0023-5D1E-5819F92136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3410" y="846888"/>
            <a:ext cx="3476199" cy="2898743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A2A1EC32-1F9E-1CE1-AA73-C0B2180C7724}"/>
              </a:ext>
            </a:extLst>
          </p:cNvPr>
          <p:cNvSpPr/>
          <p:nvPr/>
        </p:nvSpPr>
        <p:spPr>
          <a:xfrm>
            <a:off x="9584903" y="1216741"/>
            <a:ext cx="171155" cy="221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3F2A742-97B4-E41A-2AFF-748CEDC25E97}"/>
              </a:ext>
            </a:extLst>
          </p:cNvPr>
          <p:cNvSpPr/>
          <p:nvPr/>
        </p:nvSpPr>
        <p:spPr>
          <a:xfrm>
            <a:off x="5992566" y="1466321"/>
            <a:ext cx="171155" cy="221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E1423E6-187B-DB9A-4544-E3912F0D665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412" t="10438" r="5440" b="11000"/>
          <a:stretch>
            <a:fillRect/>
          </a:stretch>
        </p:blipFill>
        <p:spPr>
          <a:xfrm>
            <a:off x="11318467" y="1105818"/>
            <a:ext cx="774585" cy="48731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A1ACF95-785E-0118-06CC-C7D7483A8D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362" y="3979461"/>
            <a:ext cx="874477" cy="106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539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8E3EA-313E-5CE6-535B-99672A02C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DA9EA172-01E7-8DE7-C6F0-C6EEE89EE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9849" y="849666"/>
            <a:ext cx="3476196" cy="28987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EF37D7-0181-4931-EFF0-0E4E1BF912AF}"/>
              </a:ext>
            </a:extLst>
          </p:cNvPr>
          <p:cNvSpPr txBox="1"/>
          <p:nvPr/>
        </p:nvSpPr>
        <p:spPr>
          <a:xfrm>
            <a:off x="264362" y="182952"/>
            <a:ext cx="75130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Layer with High </a:t>
            </a:r>
            <a:r>
              <a:rPr lang="en-US" sz="2200" b="1" i="1" dirty="0"/>
              <a:t>n</a:t>
            </a:r>
            <a:r>
              <a:rPr lang="en-US" sz="2200" b="1" dirty="0"/>
              <a:t>, Appreciable </a:t>
            </a:r>
            <a:r>
              <a:rPr lang="en-US" sz="2200" b="1" i="1" dirty="0"/>
              <a:t>k</a:t>
            </a:r>
            <a:r>
              <a:rPr lang="en-US" sz="2200" b="1" dirty="0"/>
              <a:t>: </a:t>
            </a:r>
            <a:r>
              <a:rPr lang="en-US" sz="2200" b="1" dirty="0">
                <a:highlight>
                  <a:srgbClr val="FFFF00"/>
                </a:highlight>
              </a:rPr>
              <a:t>80% ZnS &amp; 20% Graphite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182C82-2029-D387-A32B-23EA0FAB9E95}"/>
              </a:ext>
            </a:extLst>
          </p:cNvPr>
          <p:cNvSpPr txBox="1"/>
          <p:nvPr/>
        </p:nvSpPr>
        <p:spPr>
          <a:xfrm>
            <a:off x="309783" y="1196489"/>
            <a:ext cx="378338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sz="1600" dirty="0"/>
              <a:t>Left side of spatial </a:t>
            </a:r>
            <a:r>
              <a:rPr lang="en-US" sz="1600" dirty="0" err="1"/>
              <a:t>Kramers-Kronig</a:t>
            </a:r>
            <a:r>
              <a:rPr lang="en-US" sz="1600" dirty="0"/>
              <a:t> profile, high Re(n) and appreciable </a:t>
            </a:r>
            <a:r>
              <a:rPr lang="en-US" sz="1600" dirty="0" err="1"/>
              <a:t>Im</a:t>
            </a:r>
            <a:r>
              <a:rPr lang="en-US" sz="1600" dirty="0"/>
              <a:t>(n)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sz="1600" dirty="0"/>
              <a:t>From Bruggeman Model: </a:t>
            </a:r>
            <a:r>
              <a:rPr lang="en-US" sz="1600" dirty="0" err="1">
                <a:highlight>
                  <a:srgbClr val="FFFF00"/>
                </a:highlight>
              </a:rPr>
              <a:t>n</a:t>
            </a:r>
            <a:r>
              <a:rPr lang="en-US" sz="1600" baseline="-25000" dirty="0" err="1">
                <a:highlight>
                  <a:srgbClr val="FFFF00"/>
                </a:highlight>
              </a:rPr>
              <a:t>eff</a:t>
            </a:r>
            <a:r>
              <a:rPr lang="en-US" sz="1600" dirty="0">
                <a:highlight>
                  <a:srgbClr val="FFFF00"/>
                </a:highlight>
              </a:rPr>
              <a:t> = 2.84</a:t>
            </a:r>
            <a:r>
              <a:rPr lang="en-US" sz="1600" dirty="0"/>
              <a:t>, </a:t>
            </a:r>
            <a:r>
              <a:rPr lang="en-US" sz="1600" dirty="0" err="1">
                <a:highlight>
                  <a:srgbClr val="FFFF00"/>
                </a:highlight>
              </a:rPr>
              <a:t>k</a:t>
            </a:r>
            <a:r>
              <a:rPr lang="en-US" sz="1600" baseline="-25000" dirty="0" err="1">
                <a:highlight>
                  <a:srgbClr val="FFFF00"/>
                </a:highlight>
              </a:rPr>
              <a:t>eff</a:t>
            </a:r>
            <a:r>
              <a:rPr lang="en-US" sz="1600" dirty="0">
                <a:highlight>
                  <a:srgbClr val="FFFF00"/>
                </a:highlight>
              </a:rPr>
              <a:t> = 0.47</a:t>
            </a:r>
            <a:r>
              <a:rPr lang="en-US" sz="1600" dirty="0"/>
              <a:t> @ </a:t>
            </a:r>
            <a:r>
              <a:rPr lang="en-US" sz="1600" dirty="0" err="1"/>
              <a:t>λ</a:t>
            </a:r>
            <a:r>
              <a:rPr lang="en-US" sz="1600" dirty="0"/>
              <a:t>=3um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sz="1600" dirty="0"/>
              <a:t>Same thickness of layer (10nm) and substrate: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98D259-09D2-36E4-6794-DAC576FA77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77412" y="3816593"/>
            <a:ext cx="3476198" cy="2916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CA1A4D-7587-DFF1-13C5-900EED14A9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42590" y="3816593"/>
            <a:ext cx="3476198" cy="291670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F595DF01-D23D-49A8-6A0A-8FEF49B29FAE}"/>
              </a:ext>
            </a:extLst>
          </p:cNvPr>
          <p:cNvGrpSpPr/>
          <p:nvPr/>
        </p:nvGrpSpPr>
        <p:grpSpPr>
          <a:xfrm>
            <a:off x="8779788" y="268728"/>
            <a:ext cx="2779403" cy="344242"/>
            <a:chOff x="9989157" y="246334"/>
            <a:chExt cx="2779403" cy="34424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1EA62D-2151-9D07-8441-81B6B35E5DBA}"/>
                </a:ext>
              </a:extLst>
            </p:cNvPr>
            <p:cNvSpPr/>
            <p:nvPr/>
          </p:nvSpPr>
          <p:spPr>
            <a:xfrm>
              <a:off x="9989157" y="246334"/>
              <a:ext cx="2593777" cy="3442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A23A674-366D-C325-C54B-BB9FDE99DAC9}"/>
                </a:ext>
              </a:extLst>
            </p:cNvPr>
            <p:cNvSpPr/>
            <p:nvPr/>
          </p:nvSpPr>
          <p:spPr>
            <a:xfrm>
              <a:off x="12582934" y="246335"/>
              <a:ext cx="185626" cy="34424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72321552-007F-D657-4980-0A7703D473AA}"/>
              </a:ext>
            </a:extLst>
          </p:cNvPr>
          <p:cNvSpPr txBox="1"/>
          <p:nvPr/>
        </p:nvSpPr>
        <p:spPr>
          <a:xfrm>
            <a:off x="9527262" y="19255"/>
            <a:ext cx="10988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ZnS substrate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8A9C08-7F1E-3750-B418-447BCCCD11A7}"/>
              </a:ext>
            </a:extLst>
          </p:cNvPr>
          <p:cNvSpPr txBox="1"/>
          <p:nvPr/>
        </p:nvSpPr>
        <p:spPr>
          <a:xfrm>
            <a:off x="10996185" y="588703"/>
            <a:ext cx="9403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mixed layer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7EBAA28-4A22-4BE7-C0C1-E4983CCA81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3410" y="846888"/>
            <a:ext cx="3476199" cy="2898743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3AA8A151-4CBC-14D7-EDD8-4481BCD3D18B}"/>
              </a:ext>
            </a:extLst>
          </p:cNvPr>
          <p:cNvSpPr/>
          <p:nvPr/>
        </p:nvSpPr>
        <p:spPr>
          <a:xfrm>
            <a:off x="9466919" y="2168016"/>
            <a:ext cx="171155" cy="221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55DF4E5-DA0E-30A5-0DB5-35BB90C14D04}"/>
              </a:ext>
            </a:extLst>
          </p:cNvPr>
          <p:cNvSpPr/>
          <p:nvPr/>
        </p:nvSpPr>
        <p:spPr>
          <a:xfrm>
            <a:off x="5867208" y="1060742"/>
            <a:ext cx="171155" cy="221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3048F39-A184-8852-0115-2109A81E23D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412" t="10438" r="5440" b="11000"/>
          <a:stretch>
            <a:fillRect/>
          </a:stretch>
        </p:blipFill>
        <p:spPr>
          <a:xfrm>
            <a:off x="11318467" y="1105818"/>
            <a:ext cx="774585" cy="48731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D2BCB9F-59EB-177D-8171-6684D3636F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362" y="3979461"/>
            <a:ext cx="874477" cy="10639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9C9801-9EA8-587C-014E-7A590FDB020F}"/>
              </a:ext>
            </a:extLst>
          </p:cNvPr>
          <p:cNvSpPr txBox="1"/>
          <p:nvPr/>
        </p:nvSpPr>
        <p:spPr>
          <a:xfrm>
            <a:off x="8481738" y="4435612"/>
            <a:ext cx="3611314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800"/>
              </a:spcAft>
              <a:buFontTx/>
              <a:buChar char="-"/>
            </a:pPr>
            <a:r>
              <a:rPr lang="en-US" sz="1600" dirty="0"/>
              <a:t>Hopefully thin layer composing of same material as substrate (ZnS) is not a problem (graphite diffusing into the substrate)</a:t>
            </a:r>
          </a:p>
          <a:p>
            <a:pPr marL="285750" indent="-285750">
              <a:spcAft>
                <a:spcPts val="1800"/>
              </a:spcAft>
              <a:buFontTx/>
              <a:buChar char="-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8116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9F937-4444-D1EA-336C-97941F2E2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DA806224-FDA3-0964-05C9-1486E517B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9849" y="849666"/>
            <a:ext cx="3476196" cy="28987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AD97DF-394F-A8F4-8E7E-C11171714E21}"/>
              </a:ext>
            </a:extLst>
          </p:cNvPr>
          <p:cNvSpPr txBox="1"/>
          <p:nvPr/>
        </p:nvSpPr>
        <p:spPr>
          <a:xfrm>
            <a:off x="264362" y="182952"/>
            <a:ext cx="76356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Layer with Low </a:t>
            </a:r>
            <a:r>
              <a:rPr lang="en-US" sz="2200" b="1" i="1" dirty="0"/>
              <a:t>n</a:t>
            </a:r>
            <a:r>
              <a:rPr lang="en-US" sz="2200" b="1" dirty="0"/>
              <a:t>, Appreciable </a:t>
            </a:r>
            <a:r>
              <a:rPr lang="en-US" sz="2200" b="1" i="1" dirty="0"/>
              <a:t>k</a:t>
            </a:r>
            <a:r>
              <a:rPr lang="en-US" sz="2200" b="1" dirty="0"/>
              <a:t>: </a:t>
            </a:r>
            <a:r>
              <a:rPr lang="en-US" sz="2200" b="1" dirty="0">
                <a:highlight>
                  <a:srgbClr val="FFFF00"/>
                </a:highlight>
              </a:rPr>
              <a:t>73% MgF</a:t>
            </a:r>
            <a:r>
              <a:rPr lang="en-US" sz="2200" b="1" baseline="-25000" dirty="0">
                <a:highlight>
                  <a:srgbClr val="FFFF00"/>
                </a:highlight>
              </a:rPr>
              <a:t>2</a:t>
            </a:r>
            <a:r>
              <a:rPr lang="en-US" sz="2200" b="1" dirty="0">
                <a:highlight>
                  <a:srgbClr val="FFFF00"/>
                </a:highlight>
              </a:rPr>
              <a:t> &amp; 27% Graphite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30BD62-9652-34D7-F954-904DECAFE2ED}"/>
              </a:ext>
            </a:extLst>
          </p:cNvPr>
          <p:cNvSpPr txBox="1"/>
          <p:nvPr/>
        </p:nvSpPr>
        <p:spPr>
          <a:xfrm>
            <a:off x="287660" y="1202051"/>
            <a:ext cx="380551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sz="1600" dirty="0"/>
              <a:t>Right side of s-KK profile: layer with similar </a:t>
            </a:r>
            <a:r>
              <a:rPr lang="en-US" sz="1600" dirty="0" err="1"/>
              <a:t>Im</a:t>
            </a:r>
            <a:r>
              <a:rPr lang="en-US" sz="1600" dirty="0"/>
              <a:t>(n) as previous layer, but lower Re(n)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sz="1600" dirty="0"/>
              <a:t>From Bruggeman Model: </a:t>
            </a:r>
            <a:r>
              <a:rPr lang="en-US" sz="1600" dirty="0" err="1">
                <a:highlight>
                  <a:srgbClr val="FFFF00"/>
                </a:highlight>
              </a:rPr>
              <a:t>n</a:t>
            </a:r>
            <a:r>
              <a:rPr lang="en-US" sz="1600" baseline="-25000" dirty="0" err="1">
                <a:highlight>
                  <a:srgbClr val="FFFF00"/>
                </a:highlight>
              </a:rPr>
              <a:t>eff</a:t>
            </a:r>
            <a:r>
              <a:rPr lang="en-US" sz="1600" dirty="0">
                <a:highlight>
                  <a:srgbClr val="FFFF00"/>
                </a:highlight>
              </a:rPr>
              <a:t> = 2.17</a:t>
            </a:r>
            <a:r>
              <a:rPr lang="en-US" sz="1600" dirty="0"/>
              <a:t>, </a:t>
            </a:r>
            <a:r>
              <a:rPr lang="en-US" sz="1600" dirty="0" err="1">
                <a:highlight>
                  <a:srgbClr val="FFFF00"/>
                </a:highlight>
              </a:rPr>
              <a:t>k</a:t>
            </a:r>
            <a:r>
              <a:rPr lang="en-US" sz="1600" baseline="-25000" dirty="0" err="1">
                <a:highlight>
                  <a:srgbClr val="FFFF00"/>
                </a:highlight>
              </a:rPr>
              <a:t>eff</a:t>
            </a:r>
            <a:r>
              <a:rPr lang="en-US" sz="1600" dirty="0">
                <a:highlight>
                  <a:srgbClr val="FFFF00"/>
                </a:highlight>
              </a:rPr>
              <a:t> = 0.48</a:t>
            </a:r>
            <a:r>
              <a:rPr lang="en-US" sz="1600" dirty="0"/>
              <a:t> @ </a:t>
            </a:r>
            <a:r>
              <a:rPr lang="en-US" sz="1600" dirty="0" err="1"/>
              <a:t>λ</a:t>
            </a:r>
            <a:r>
              <a:rPr lang="en-US" sz="1600" dirty="0"/>
              <a:t>=3um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sz="1600" dirty="0"/>
              <a:t>Same thickness of layer (10nm) and substrate: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BDDA17-07FA-5E68-EB3D-7F4E561E23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77412" y="3816593"/>
            <a:ext cx="3476198" cy="29166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5ABE70-2705-337E-E70F-084C1056DE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42590" y="3816593"/>
            <a:ext cx="3476198" cy="2916699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726F70D1-33D8-BCCA-195B-BA01286BD6E9}"/>
              </a:ext>
            </a:extLst>
          </p:cNvPr>
          <p:cNvGrpSpPr/>
          <p:nvPr/>
        </p:nvGrpSpPr>
        <p:grpSpPr>
          <a:xfrm>
            <a:off x="8779788" y="268728"/>
            <a:ext cx="2779403" cy="344242"/>
            <a:chOff x="9989157" y="246334"/>
            <a:chExt cx="2779403" cy="34424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B325F49-2045-2A48-B9BE-02F107BD371B}"/>
                </a:ext>
              </a:extLst>
            </p:cNvPr>
            <p:cNvSpPr/>
            <p:nvPr/>
          </p:nvSpPr>
          <p:spPr>
            <a:xfrm>
              <a:off x="9989157" y="246334"/>
              <a:ext cx="2593777" cy="3442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245B75D-3A15-0EEB-6F1F-39E55E766208}"/>
                </a:ext>
              </a:extLst>
            </p:cNvPr>
            <p:cNvSpPr/>
            <p:nvPr/>
          </p:nvSpPr>
          <p:spPr>
            <a:xfrm>
              <a:off x="12582934" y="246335"/>
              <a:ext cx="185626" cy="34424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B864C94-715B-43A2-156E-5227656127AE}"/>
              </a:ext>
            </a:extLst>
          </p:cNvPr>
          <p:cNvSpPr txBox="1"/>
          <p:nvPr/>
        </p:nvSpPr>
        <p:spPr>
          <a:xfrm>
            <a:off x="9527262" y="19255"/>
            <a:ext cx="10988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ZnS substrate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34AF10-5553-786D-373F-BCBBFF998BB1}"/>
              </a:ext>
            </a:extLst>
          </p:cNvPr>
          <p:cNvSpPr txBox="1"/>
          <p:nvPr/>
        </p:nvSpPr>
        <p:spPr>
          <a:xfrm>
            <a:off x="10996185" y="588703"/>
            <a:ext cx="9403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mixed layer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1059B4B-528E-8334-CBE6-CD7E1E6269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3410" y="846888"/>
            <a:ext cx="3476199" cy="2898743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8502A77A-00ED-DDBB-E761-866B1F3978D9}"/>
              </a:ext>
            </a:extLst>
          </p:cNvPr>
          <p:cNvSpPr/>
          <p:nvPr/>
        </p:nvSpPr>
        <p:spPr>
          <a:xfrm>
            <a:off x="9754513" y="2153268"/>
            <a:ext cx="171155" cy="221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3F2F6-0035-B448-2FA9-9D53D1E34F9D}"/>
              </a:ext>
            </a:extLst>
          </p:cNvPr>
          <p:cNvSpPr/>
          <p:nvPr/>
        </p:nvSpPr>
        <p:spPr>
          <a:xfrm>
            <a:off x="6161878" y="2370401"/>
            <a:ext cx="171155" cy="221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055215C-B578-47E5-CF4C-D0F4CA88468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412" t="10438" r="5440" b="11000"/>
          <a:stretch>
            <a:fillRect/>
          </a:stretch>
        </p:blipFill>
        <p:spPr>
          <a:xfrm>
            <a:off x="11318467" y="1105818"/>
            <a:ext cx="774585" cy="48731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9DC9FA4-7880-0BE6-D1B3-055BEC420A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362" y="3979461"/>
            <a:ext cx="874477" cy="10639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427199-0EFB-766B-8A16-F96807974CCA}"/>
              </a:ext>
            </a:extLst>
          </p:cNvPr>
          <p:cNvSpPr txBox="1"/>
          <p:nvPr/>
        </p:nvSpPr>
        <p:spPr>
          <a:xfrm>
            <a:off x="8497947" y="4050768"/>
            <a:ext cx="3438624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800"/>
              </a:spcAft>
              <a:buFontTx/>
              <a:buChar char="-"/>
            </a:pPr>
            <a:r>
              <a:rPr lang="en-US" sz="1600" dirty="0"/>
              <a:t>After fabrication team has made one (or several) of these mixed thin layers, we will compare their (</a:t>
            </a:r>
            <a:r>
              <a:rPr lang="en-US" sz="1600" dirty="0" err="1"/>
              <a:t>n,k</a:t>
            </a:r>
            <a:r>
              <a:rPr lang="en-US" sz="1600" dirty="0"/>
              <a:t>)</a:t>
            </a:r>
            <a:r>
              <a:rPr lang="en-US" sz="1600" baseline="-25000" dirty="0"/>
              <a:t>eff</a:t>
            </a:r>
            <a:r>
              <a:rPr lang="en-US" sz="1600" dirty="0"/>
              <a:t> with Bruggeman model</a:t>
            </a:r>
          </a:p>
          <a:p>
            <a:pPr marL="285750" indent="-285750">
              <a:spcAft>
                <a:spcPts val="1800"/>
              </a:spcAft>
              <a:buFontTx/>
              <a:buChar char="-"/>
            </a:pPr>
            <a:r>
              <a:rPr lang="en-US" sz="1600" dirty="0"/>
              <a:t>If very different, need to use different effective medium theory (Maxwell Garnet) or empirically fit model to data.</a:t>
            </a:r>
          </a:p>
          <a:p>
            <a:pPr marL="285750" indent="-285750">
              <a:spcAft>
                <a:spcPts val="1800"/>
              </a:spcAft>
              <a:buFontTx/>
              <a:buChar char="-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45610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467</Words>
  <Application>Microsoft Macintosh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Lakhanpal</dc:creator>
  <cp:lastModifiedBy>Kunal Lakhanpal</cp:lastModifiedBy>
  <cp:revision>19</cp:revision>
  <dcterms:created xsi:type="dcterms:W3CDTF">2025-10-27T05:52:21Z</dcterms:created>
  <dcterms:modified xsi:type="dcterms:W3CDTF">2025-10-27T11:09:21Z</dcterms:modified>
</cp:coreProperties>
</file>