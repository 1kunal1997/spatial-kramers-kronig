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1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0" roundtripDataSignature="AMtx7mj7cpugz84eZCs8mJaVUrzmnQZy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20"/>
  </p:normalViewPr>
  <p:slideViewPr>
    <p:cSldViewPr snapToGrid="0">
      <p:cViewPr varScale="1">
        <p:scale>
          <a:sx n="214" d="100"/>
          <a:sy n="214" d="100"/>
        </p:scale>
        <p:origin x="1016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customschemas.google.com/relationships/presentationmetadata" Target="metadata"/><Relationship Id="rId4" Type="http://schemas.openxmlformats.org/officeDocument/2006/relationships/slide" Target="slides/slide3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8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8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1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1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5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5.png"/><Relationship Id="rId5" Type="http://schemas.openxmlformats.org/officeDocument/2006/relationships/image" Target="../media/image10.png"/><Relationship Id="rId10" Type="http://schemas.openxmlformats.org/officeDocument/2006/relationships/image" Target="../media/image7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pn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Relationship Id="rId9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1387737" y="1108688"/>
            <a:ext cx="8986222" cy="1290918"/>
            <a:chOff x="2259106" y="2398955"/>
            <a:chExt cx="8986222" cy="1290918"/>
          </a:xfrm>
        </p:grpSpPr>
        <p:sp>
          <p:nvSpPr>
            <p:cNvPr id="85" name="Google Shape;85;p1"/>
            <p:cNvSpPr/>
            <p:nvPr/>
          </p:nvSpPr>
          <p:spPr>
            <a:xfrm>
              <a:off x="2259106" y="2398955"/>
              <a:ext cx="1452282" cy="1290918"/>
            </a:xfrm>
            <a:prstGeom prst="rect">
              <a:avLst/>
            </a:prstGeom>
            <a:solidFill>
              <a:srgbClr val="B3C6E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/>
            <p:nvPr/>
          </p:nvSpPr>
          <p:spPr>
            <a:xfrm>
              <a:off x="6752217" y="2398955"/>
              <a:ext cx="1452282" cy="1290918"/>
            </a:xfrm>
            <a:prstGeom prst="rect">
              <a:avLst/>
            </a:prstGeom>
            <a:solidFill>
              <a:srgbClr val="B3C6E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7" name="Google Shape;87;p1"/>
            <p:cNvSpPr/>
            <p:nvPr/>
          </p:nvSpPr>
          <p:spPr>
            <a:xfrm>
              <a:off x="8204499" y="2398955"/>
              <a:ext cx="3040829" cy="1290918"/>
            </a:xfrm>
            <a:prstGeom prst="rect">
              <a:avLst/>
            </a:prstGeom>
            <a:solidFill>
              <a:srgbClr val="FFF2C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" name="Google Shape;88;p1"/>
            <p:cNvSpPr/>
            <p:nvPr/>
          </p:nvSpPr>
          <p:spPr>
            <a:xfrm>
              <a:off x="3711388" y="2398955"/>
              <a:ext cx="3040829" cy="1290918"/>
            </a:xfrm>
            <a:prstGeom prst="rect">
              <a:avLst/>
            </a:prstGeom>
            <a:solidFill>
              <a:srgbClr val="FFF2CC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89" name="Google Shape;89;p1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476484" y="1342787"/>
            <a:ext cx="1290978" cy="7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/>
          <p:nvPr/>
        </p:nvSpPr>
        <p:spPr>
          <a:xfrm>
            <a:off x="2333718" y="1421542"/>
            <a:ext cx="198729" cy="214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"/>
          <p:cNvSpPr/>
          <p:nvPr/>
        </p:nvSpPr>
        <p:spPr>
          <a:xfrm>
            <a:off x="1576499" y="1724212"/>
            <a:ext cx="336737" cy="226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2" name="Google Shape;92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64163" y="1359003"/>
            <a:ext cx="1290978" cy="762851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/>
          <p:nvPr/>
        </p:nvSpPr>
        <p:spPr>
          <a:xfrm>
            <a:off x="6821397" y="1437758"/>
            <a:ext cx="198729" cy="2143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"/>
          <p:cNvSpPr/>
          <p:nvPr/>
        </p:nvSpPr>
        <p:spPr>
          <a:xfrm>
            <a:off x="6064178" y="1740428"/>
            <a:ext cx="336737" cy="226772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5" name="Google Shape;95;p1"/>
          <p:cNvCxnSpPr/>
          <p:nvPr/>
        </p:nvCxnSpPr>
        <p:spPr>
          <a:xfrm flipH="1">
            <a:off x="1387737" y="2798447"/>
            <a:ext cx="8986223" cy="12012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miter lim="800000"/>
            <a:headEnd type="triangle" w="med" len="med"/>
            <a:tailEnd type="triangle" w="med" len="med"/>
          </a:ln>
        </p:spPr>
      </p:cxnSp>
      <p:sp>
        <p:nvSpPr>
          <p:cNvPr id="96" name="Google Shape;96;p1"/>
          <p:cNvSpPr/>
          <p:nvPr/>
        </p:nvSpPr>
        <p:spPr>
          <a:xfrm>
            <a:off x="5673987" y="2395337"/>
            <a:ext cx="580352" cy="36933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7" name="Google Shape;97;p1"/>
          <p:cNvSpPr/>
          <p:nvPr/>
        </p:nvSpPr>
        <p:spPr>
          <a:xfrm>
            <a:off x="1387737" y="3006965"/>
            <a:ext cx="8986222" cy="1290918"/>
          </a:xfrm>
          <a:prstGeom prst="rect">
            <a:avLst/>
          </a:prstGeom>
          <a:solidFill>
            <a:srgbClr val="FFF2CC"/>
          </a:solidFill>
          <a:ln w="1270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>
            <a:off x="4472065" y="3285877"/>
            <a:ext cx="2817566" cy="760593"/>
          </a:xfrm>
          <a:prstGeom prst="rect">
            <a:avLst/>
          </a:pr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99" name="Google Shape;99;p1"/>
          <p:cNvSpPr txBox="1"/>
          <p:nvPr/>
        </p:nvSpPr>
        <p:spPr>
          <a:xfrm>
            <a:off x="7812209" y="5466463"/>
            <a:ext cx="2367507" cy="276999"/>
          </a:xfrm>
          <a:prstGeom prst="rect">
            <a:avLst/>
          </a:prstGeom>
          <a:blipFill rotWithShape="1">
            <a:blip r:embed="rId6">
              <a:alphaModFix/>
            </a:blip>
            <a:stretch>
              <a:fillRect l="-1030" b="-17777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0" name="Google Shape;100;p1"/>
          <p:cNvSpPr txBox="1"/>
          <p:nvPr/>
        </p:nvSpPr>
        <p:spPr>
          <a:xfrm>
            <a:off x="7884024" y="4836964"/>
            <a:ext cx="2295692" cy="406073"/>
          </a:xfrm>
          <a:prstGeom prst="rect">
            <a:avLst/>
          </a:prstGeom>
          <a:blipFill rotWithShape="1">
            <a:blip r:embed="rId7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1" name="Google Shape;101;p1"/>
          <p:cNvSpPr txBox="1"/>
          <p:nvPr/>
        </p:nvSpPr>
        <p:spPr>
          <a:xfrm>
            <a:off x="1563653" y="4786709"/>
            <a:ext cx="3323859" cy="939616"/>
          </a:xfrm>
          <a:prstGeom prst="rect">
            <a:avLst/>
          </a:prstGeom>
          <a:blipFill rotWithShape="1">
            <a:blip r:embed="rId8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sp>
        <p:nvSpPr>
          <p:cNvPr id="102" name="Google Shape;102;p1"/>
          <p:cNvSpPr txBox="1"/>
          <p:nvPr/>
        </p:nvSpPr>
        <p:spPr>
          <a:xfrm>
            <a:off x="744781" y="1281979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3" name="Google Shape;103;p1"/>
          <p:cNvSpPr txBox="1"/>
          <p:nvPr/>
        </p:nvSpPr>
        <p:spPr>
          <a:xfrm>
            <a:off x="10472216" y="3134087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4" name="Google Shape;104;p1"/>
          <p:cNvSpPr txBox="1"/>
          <p:nvPr/>
        </p:nvSpPr>
        <p:spPr>
          <a:xfrm>
            <a:off x="744781" y="3134087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5" name="Google Shape;105;p1"/>
          <p:cNvSpPr txBox="1"/>
          <p:nvPr/>
        </p:nvSpPr>
        <p:spPr>
          <a:xfrm>
            <a:off x="10472216" y="1281979"/>
            <a:ext cx="538930" cy="7078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…</a:t>
            </a:r>
            <a:endParaRPr/>
          </a:p>
        </p:txBody>
      </p:sp>
      <p:sp>
        <p:nvSpPr>
          <p:cNvPr id="106" name="Google Shape;106;p1"/>
          <p:cNvSpPr/>
          <p:nvPr/>
        </p:nvSpPr>
        <p:spPr>
          <a:xfrm rot="5400000">
            <a:off x="3447546" y="-1442916"/>
            <a:ext cx="373491" cy="4493110"/>
          </a:xfrm>
          <a:prstGeom prst="leftBrace">
            <a:avLst>
              <a:gd name="adj1" fmla="val 8333"/>
              <a:gd name="adj2" fmla="val 50000"/>
            </a:avLst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"/>
          <p:cNvSpPr txBox="1"/>
          <p:nvPr/>
        </p:nvSpPr>
        <p:spPr>
          <a:xfrm>
            <a:off x="3210745" y="135984"/>
            <a:ext cx="84709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Stack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6CB39BB5-3A33-291E-32B2-154D4AEEC38A}"/>
              </a:ext>
            </a:extLst>
          </p:cNvPr>
          <p:cNvGrpSpPr/>
          <p:nvPr/>
        </p:nvGrpSpPr>
        <p:grpSpPr>
          <a:xfrm>
            <a:off x="3215290" y="2812796"/>
            <a:ext cx="2353176" cy="2091713"/>
            <a:chOff x="1387737" y="1108688"/>
            <a:chExt cx="1452282" cy="1290918"/>
          </a:xfrm>
        </p:grpSpPr>
        <p:sp>
          <p:nvSpPr>
            <p:cNvPr id="2" name="Google Shape;85;p1">
              <a:extLst>
                <a:ext uri="{FF2B5EF4-FFF2-40B4-BE49-F238E27FC236}">
                  <a16:creationId xmlns:a16="http://schemas.microsoft.com/office/drawing/2014/main" id="{C588FDC8-5C8F-8244-98F9-DF87E56C98F2}"/>
                </a:ext>
              </a:extLst>
            </p:cNvPr>
            <p:cNvSpPr/>
            <p:nvPr/>
          </p:nvSpPr>
          <p:spPr>
            <a:xfrm>
              <a:off x="1387737" y="1108688"/>
              <a:ext cx="1452282" cy="1290918"/>
            </a:xfrm>
            <a:prstGeom prst="rect">
              <a:avLst/>
            </a:prstGeom>
            <a:solidFill>
              <a:srgbClr val="B3C6E7"/>
            </a:solidFill>
            <a:ln w="1270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 dirty="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3" name="Google Shape;89;p1">
              <a:extLst>
                <a:ext uri="{FF2B5EF4-FFF2-40B4-BE49-F238E27FC236}">
                  <a16:creationId xmlns:a16="http://schemas.microsoft.com/office/drawing/2014/main" id="{02C226F7-30A5-84AC-8EA7-C2BBFBF7900F}"/>
                </a:ext>
              </a:extLst>
            </p:cNvPr>
            <p:cNvPicPr preferRelativeResize="0">
              <a:picLocks/>
            </p:cNvPicPr>
            <p:nvPr/>
          </p:nvPicPr>
          <p:blipFill rotWithShape="1">
            <a:blip r:embed="rId2">
              <a:alphaModFix/>
            </a:blip>
            <a:srcRect/>
            <a:stretch/>
          </p:blipFill>
          <p:spPr>
            <a:xfrm>
              <a:off x="1476484" y="1342787"/>
              <a:ext cx="1290978" cy="76285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" name="Google Shape;90;p1">
              <a:extLst>
                <a:ext uri="{FF2B5EF4-FFF2-40B4-BE49-F238E27FC236}">
                  <a16:creationId xmlns:a16="http://schemas.microsoft.com/office/drawing/2014/main" id="{F9E0E767-C80E-04D5-521F-ED8E192BFE45}"/>
                </a:ext>
              </a:extLst>
            </p:cNvPr>
            <p:cNvSpPr/>
            <p:nvPr/>
          </p:nvSpPr>
          <p:spPr>
            <a:xfrm>
              <a:off x="2333718" y="1421542"/>
              <a:ext cx="198729" cy="21438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91;p1">
              <a:extLst>
                <a:ext uri="{FF2B5EF4-FFF2-40B4-BE49-F238E27FC236}">
                  <a16:creationId xmlns:a16="http://schemas.microsoft.com/office/drawing/2014/main" id="{748F4649-0F39-1197-EF52-84B77FD3F323}"/>
                </a:ext>
              </a:extLst>
            </p:cNvPr>
            <p:cNvSpPr/>
            <p:nvPr/>
          </p:nvSpPr>
          <p:spPr>
            <a:xfrm>
              <a:off x="1576499" y="1706398"/>
              <a:ext cx="365116" cy="226772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b="0" i="0" u="none" strike="noStrike" cap="non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3F877FC6-2157-CC95-AFB9-982E87930318}"/>
              </a:ext>
            </a:extLst>
          </p:cNvPr>
          <p:cNvCxnSpPr/>
          <p:nvPr/>
        </p:nvCxnSpPr>
        <p:spPr>
          <a:xfrm>
            <a:off x="2131607" y="3661152"/>
            <a:ext cx="878774" cy="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83C5FE5-F13C-CA2A-6E2B-F8C9BCB56BB0}"/>
              </a:ext>
            </a:extLst>
          </p:cNvPr>
          <p:cNvCxnSpPr/>
          <p:nvPr/>
        </p:nvCxnSpPr>
        <p:spPr>
          <a:xfrm>
            <a:off x="5781290" y="3661152"/>
            <a:ext cx="878774" cy="0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Freeform 23">
            <a:extLst>
              <a:ext uri="{FF2B5EF4-FFF2-40B4-BE49-F238E27FC236}">
                <a16:creationId xmlns:a16="http://schemas.microsoft.com/office/drawing/2014/main" id="{7B69C5B1-5219-0BE9-327A-F181D8055209}"/>
              </a:ext>
            </a:extLst>
          </p:cNvPr>
          <p:cNvSpPr/>
          <p:nvPr/>
        </p:nvSpPr>
        <p:spPr>
          <a:xfrm>
            <a:off x="2066293" y="4215736"/>
            <a:ext cx="938151" cy="184072"/>
          </a:xfrm>
          <a:custGeom>
            <a:avLst/>
            <a:gdLst>
              <a:gd name="connsiteX0" fmla="*/ 938151 w 938151"/>
              <a:gd name="connsiteY0" fmla="*/ 184072 h 184072"/>
              <a:gd name="connsiteX1" fmla="*/ 748146 w 938151"/>
              <a:gd name="connsiteY1" fmla="*/ 4 h 184072"/>
              <a:gd name="connsiteX2" fmla="*/ 534390 w 938151"/>
              <a:gd name="connsiteY2" fmla="*/ 178134 h 184072"/>
              <a:gd name="connsiteX3" fmla="*/ 344385 w 938151"/>
              <a:gd name="connsiteY3" fmla="*/ 17817 h 184072"/>
              <a:gd name="connsiteX4" fmla="*/ 136566 w 938151"/>
              <a:gd name="connsiteY4" fmla="*/ 160321 h 184072"/>
              <a:gd name="connsiteX5" fmla="*/ 0 w 938151"/>
              <a:gd name="connsiteY5" fmla="*/ 178134 h 184072"/>
              <a:gd name="connsiteX6" fmla="*/ 0 w 938151"/>
              <a:gd name="connsiteY6" fmla="*/ 178134 h 184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938151" h="184072">
                <a:moveTo>
                  <a:pt x="938151" y="184072"/>
                </a:moveTo>
                <a:cubicBezTo>
                  <a:pt x="876795" y="92533"/>
                  <a:pt x="815439" y="994"/>
                  <a:pt x="748146" y="4"/>
                </a:cubicBezTo>
                <a:cubicBezTo>
                  <a:pt x="680853" y="-986"/>
                  <a:pt x="601683" y="175165"/>
                  <a:pt x="534390" y="178134"/>
                </a:cubicBezTo>
                <a:cubicBezTo>
                  <a:pt x="467097" y="181103"/>
                  <a:pt x="410689" y="20786"/>
                  <a:pt x="344385" y="17817"/>
                </a:cubicBezTo>
                <a:cubicBezTo>
                  <a:pt x="278081" y="14848"/>
                  <a:pt x="193963" y="133602"/>
                  <a:pt x="136566" y="160321"/>
                </a:cubicBezTo>
                <a:cubicBezTo>
                  <a:pt x="79169" y="187040"/>
                  <a:pt x="0" y="178134"/>
                  <a:pt x="0" y="178134"/>
                </a:cubicBezTo>
                <a:lnTo>
                  <a:pt x="0" y="178134"/>
                </a:ln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Freeform 26">
            <a:extLst>
              <a:ext uri="{FF2B5EF4-FFF2-40B4-BE49-F238E27FC236}">
                <a16:creationId xmlns:a16="http://schemas.microsoft.com/office/drawing/2014/main" id="{A9FC4AA3-9850-31E5-9B9C-D945FEA7B63A}"/>
              </a:ext>
            </a:extLst>
          </p:cNvPr>
          <p:cNvSpPr/>
          <p:nvPr/>
        </p:nvSpPr>
        <p:spPr>
          <a:xfrm>
            <a:off x="5747644" y="4286985"/>
            <a:ext cx="676893" cy="148449"/>
          </a:xfrm>
          <a:custGeom>
            <a:avLst/>
            <a:gdLst>
              <a:gd name="connsiteX0" fmla="*/ 0 w 676893"/>
              <a:gd name="connsiteY0" fmla="*/ 112823 h 148449"/>
              <a:gd name="connsiteX1" fmla="*/ 136566 w 676893"/>
              <a:gd name="connsiteY1" fmla="*/ 5945 h 148449"/>
              <a:gd name="connsiteX2" fmla="*/ 279070 w 676893"/>
              <a:gd name="connsiteY2" fmla="*/ 124698 h 148449"/>
              <a:gd name="connsiteX3" fmla="*/ 403761 w 676893"/>
              <a:gd name="connsiteY3" fmla="*/ 7 h 148449"/>
              <a:gd name="connsiteX4" fmla="*/ 570015 w 676893"/>
              <a:gd name="connsiteY4" fmla="*/ 118760 h 148449"/>
              <a:gd name="connsiteX5" fmla="*/ 676893 w 676893"/>
              <a:gd name="connsiteY5" fmla="*/ 148449 h 1484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76893" h="148449">
                <a:moveTo>
                  <a:pt x="0" y="112823"/>
                </a:moveTo>
                <a:cubicBezTo>
                  <a:pt x="45027" y="58394"/>
                  <a:pt x="90054" y="3966"/>
                  <a:pt x="136566" y="5945"/>
                </a:cubicBezTo>
                <a:cubicBezTo>
                  <a:pt x="183078" y="7924"/>
                  <a:pt x="234538" y="125688"/>
                  <a:pt x="279070" y="124698"/>
                </a:cubicBezTo>
                <a:cubicBezTo>
                  <a:pt x="323602" y="123708"/>
                  <a:pt x="355270" y="997"/>
                  <a:pt x="403761" y="7"/>
                </a:cubicBezTo>
                <a:cubicBezTo>
                  <a:pt x="452252" y="-983"/>
                  <a:pt x="524493" y="94020"/>
                  <a:pt x="570015" y="118760"/>
                </a:cubicBezTo>
                <a:cubicBezTo>
                  <a:pt x="615537" y="143500"/>
                  <a:pt x="646215" y="145974"/>
                  <a:pt x="676893" y="148449"/>
                </a:cubicBezTo>
              </a:path>
            </a:pathLst>
          </a:custGeom>
          <a:noFill/>
          <a:ln>
            <a:solidFill>
              <a:srgbClr val="FF0000"/>
            </a:solidFill>
            <a:headEnd type="none" w="med" len="med"/>
            <a:tailEnd type="arrow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8D5BE7-E4D7-3367-DC8A-6F9C1AA120C0}"/>
              </a:ext>
            </a:extLst>
          </p:cNvPr>
          <p:cNvSpPr txBox="1"/>
          <p:nvPr/>
        </p:nvSpPr>
        <p:spPr>
          <a:xfrm>
            <a:off x="1719048" y="3429000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999EE79-5DA8-6442-F329-211CEBF6B75E}"/>
              </a:ext>
            </a:extLst>
          </p:cNvPr>
          <p:cNvSpPr txBox="1"/>
          <p:nvPr/>
        </p:nvSpPr>
        <p:spPr>
          <a:xfrm>
            <a:off x="715246" y="4130376"/>
            <a:ext cx="135966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baseline="-25000" dirty="0">
                <a:solidFill>
                  <a:srgbClr val="FF0000"/>
                </a:solidFill>
              </a:rPr>
              <a:t>L</a:t>
            </a:r>
            <a:r>
              <a:rPr lang="en-US" sz="2400" dirty="0">
                <a:solidFill>
                  <a:srgbClr val="FF0000"/>
                </a:solidFill>
              </a:rPr>
              <a:t> = A</a:t>
            </a:r>
            <a:r>
              <a:rPr lang="en-US" sz="2400" baseline="-25000" dirty="0">
                <a:solidFill>
                  <a:srgbClr val="FF0000"/>
                </a:solidFill>
              </a:rPr>
              <a:t>LR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408954-63A9-63B8-415D-E7FE527D9459}"/>
              </a:ext>
            </a:extLst>
          </p:cNvPr>
          <p:cNvSpPr txBox="1"/>
          <p:nvPr/>
        </p:nvSpPr>
        <p:spPr>
          <a:xfrm>
            <a:off x="6708842" y="3436256"/>
            <a:ext cx="49725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T</a:t>
            </a:r>
            <a:r>
              <a:rPr lang="en-US" sz="2400" baseline="-25000" dirty="0">
                <a:solidFill>
                  <a:schemeClr val="accent1"/>
                </a:solidFill>
              </a:rPr>
              <a:t>o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C42F80A-6BA9-4163-9781-B5DA6FE2978D}"/>
              </a:ext>
            </a:extLst>
          </p:cNvPr>
          <p:cNvSpPr txBox="1"/>
          <p:nvPr/>
        </p:nvSpPr>
        <p:spPr>
          <a:xfrm>
            <a:off x="6470579" y="4197351"/>
            <a:ext cx="138211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baseline="-25000" dirty="0">
                <a:solidFill>
                  <a:srgbClr val="FF0000"/>
                </a:solidFill>
              </a:rPr>
              <a:t>R</a:t>
            </a:r>
            <a:r>
              <a:rPr lang="en-US" sz="2400" dirty="0">
                <a:solidFill>
                  <a:srgbClr val="FF0000"/>
                </a:solidFill>
              </a:rPr>
              <a:t> = A</a:t>
            </a:r>
            <a:r>
              <a:rPr lang="en-US" sz="2400" baseline="-25000" dirty="0">
                <a:solidFill>
                  <a:srgbClr val="FF0000"/>
                </a:solidFill>
              </a:rPr>
              <a:t>RL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0659929-8B49-3DCB-382F-6A5DB1355E19}"/>
              </a:ext>
            </a:extLst>
          </p:cNvPr>
          <p:cNvSpPr txBox="1"/>
          <p:nvPr/>
        </p:nvSpPr>
        <p:spPr>
          <a:xfrm>
            <a:off x="3690434" y="5032118"/>
            <a:ext cx="15359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R</a:t>
            </a:r>
            <a:r>
              <a:rPr lang="en-US" sz="2400" baseline="-25000" dirty="0">
                <a:solidFill>
                  <a:schemeClr val="accent6">
                    <a:lumMod val="75000"/>
                  </a:schemeClr>
                </a:solidFill>
              </a:rPr>
              <a:t>LR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= 0 </a:t>
            </a:r>
            <a:r>
              <a:rPr lang="en-US" sz="2400" dirty="0">
                <a:solidFill>
                  <a:schemeClr val="tx1"/>
                </a:solidFill>
              </a:rPr>
              <a:t>∴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</a:rPr>
              <a:t> </a:t>
            </a:r>
          </a:p>
          <a:p>
            <a:pPr algn="ctr"/>
            <a:r>
              <a:rPr lang="en-US" sz="2400" dirty="0">
                <a:solidFill>
                  <a:srgbClr val="FF0000"/>
                </a:solidFill>
              </a:rPr>
              <a:t>E</a:t>
            </a:r>
            <a:r>
              <a:rPr lang="en-US" sz="2400" baseline="-25000" dirty="0">
                <a:solidFill>
                  <a:srgbClr val="FF0000"/>
                </a:solidFill>
              </a:rPr>
              <a:t>R</a:t>
            </a:r>
            <a:r>
              <a:rPr lang="en-US" sz="2400" dirty="0">
                <a:solidFill>
                  <a:srgbClr val="FF0000"/>
                </a:solidFill>
              </a:rPr>
              <a:t> &lt; E</a:t>
            </a:r>
            <a:r>
              <a:rPr lang="en-US" sz="2400" baseline="-25000" dirty="0">
                <a:solidFill>
                  <a:srgbClr val="FF0000"/>
                </a:solidFill>
              </a:rPr>
              <a:t>L</a:t>
            </a:r>
          </a:p>
        </p:txBody>
      </p:sp>
      <p:sp>
        <p:nvSpPr>
          <p:cNvPr id="34" name="Google Shape;124;p2">
            <a:extLst>
              <a:ext uri="{FF2B5EF4-FFF2-40B4-BE49-F238E27FC236}">
                <a16:creationId xmlns:a16="http://schemas.microsoft.com/office/drawing/2014/main" id="{114CD550-4718-31E5-7510-4018AA7BBB1C}"/>
              </a:ext>
            </a:extLst>
          </p:cNvPr>
          <p:cNvSpPr/>
          <p:nvPr/>
        </p:nvSpPr>
        <p:spPr>
          <a:xfrm>
            <a:off x="3152035" y="2032140"/>
            <a:ext cx="2416431" cy="683649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951819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2"/>
          <p:cNvGrpSpPr/>
          <p:nvPr/>
        </p:nvGrpSpPr>
        <p:grpSpPr>
          <a:xfrm>
            <a:off x="408567" y="3369256"/>
            <a:ext cx="4203839" cy="3438059"/>
            <a:chOff x="457188" y="821969"/>
            <a:chExt cx="5638811" cy="4611633"/>
          </a:xfrm>
        </p:grpSpPr>
        <p:pic>
          <p:nvPicPr>
            <p:cNvPr id="113" name="Google Shape;113;p2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57188" y="821969"/>
              <a:ext cx="5638811" cy="4611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4" name="Google Shape;114;p2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667472" y="1819742"/>
              <a:ext cx="1264923" cy="9144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5" name="Google Shape;115;p2"/>
          <p:cNvGrpSpPr/>
          <p:nvPr/>
        </p:nvGrpSpPr>
        <p:grpSpPr>
          <a:xfrm>
            <a:off x="4751593" y="3394853"/>
            <a:ext cx="3965244" cy="3438059"/>
            <a:chOff x="6308906" y="821968"/>
            <a:chExt cx="5318771" cy="4611633"/>
          </a:xfrm>
        </p:grpSpPr>
        <p:pic>
          <p:nvPicPr>
            <p:cNvPr id="116" name="Google Shape;116;p2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308906" y="821968"/>
              <a:ext cx="5318771" cy="4611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7" name="Google Shape;117;p2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9918548" y="1179661"/>
              <a:ext cx="1584963" cy="109728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18" name="Google Shape;118;p2"/>
          <p:cNvGrpSpPr/>
          <p:nvPr/>
        </p:nvGrpSpPr>
        <p:grpSpPr>
          <a:xfrm>
            <a:off x="4731704" y="25088"/>
            <a:ext cx="4005022" cy="3438059"/>
            <a:chOff x="3404610" y="1118611"/>
            <a:chExt cx="5382779" cy="4620777"/>
          </a:xfrm>
        </p:grpSpPr>
        <p:pic>
          <p:nvPicPr>
            <p:cNvPr id="119" name="Google Shape;119;p2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404610" y="1118611"/>
              <a:ext cx="5382779" cy="46207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0" name="Google Shape;120;p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7433460" y="1476486"/>
              <a:ext cx="1264923" cy="9144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21" name="Google Shape;121;p2"/>
          <p:cNvGrpSpPr/>
          <p:nvPr/>
        </p:nvGrpSpPr>
        <p:grpSpPr>
          <a:xfrm>
            <a:off x="527865" y="25088"/>
            <a:ext cx="3965244" cy="3403912"/>
            <a:chOff x="1237870" y="0"/>
            <a:chExt cx="3965244" cy="3403912"/>
          </a:xfrm>
        </p:grpSpPr>
        <p:pic>
          <p:nvPicPr>
            <p:cNvPr id="122" name="Google Shape;122;p2"/>
            <p:cNvPicPr preferRelativeResize="0"/>
            <p:nvPr/>
          </p:nvPicPr>
          <p:blipFill rotWithShape="1">
            <a:blip r:embed="rId9">
              <a:alphaModFix/>
            </a:blip>
            <a:srcRect/>
            <a:stretch/>
          </p:blipFill>
          <p:spPr>
            <a:xfrm>
              <a:off x="1237870" y="0"/>
              <a:ext cx="3965244" cy="340391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3" name="Google Shape;123;p2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4191086" y="237930"/>
              <a:ext cx="931810" cy="6735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2"/>
          <p:cNvSpPr/>
          <p:nvPr/>
        </p:nvSpPr>
        <p:spPr>
          <a:xfrm>
            <a:off x="9247704" y="321649"/>
            <a:ext cx="2416431" cy="683649"/>
          </a:xfrm>
          <a:prstGeom prst="rect">
            <a:avLst/>
          </a:prstGeom>
          <a:blipFill rotWithShape="1">
            <a:blip r:embed="rId10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  <p:pic>
        <p:nvPicPr>
          <p:cNvPr id="125" name="Google Shape;125;p2"/>
          <p:cNvPicPr preferRelativeResize="0"/>
          <p:nvPr/>
        </p:nvPicPr>
        <p:blipFill rotWithShape="1">
          <a:blip r:embed="rId11">
            <a:alphaModFix/>
          </a:blip>
          <a:srcRect l="-1" t="-277" r="69628" b="5488"/>
          <a:stretch/>
        </p:blipFill>
        <p:spPr>
          <a:xfrm>
            <a:off x="10019865" y="1005298"/>
            <a:ext cx="872107" cy="41806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"/>
          <p:cNvSpPr txBox="1"/>
          <p:nvPr/>
        </p:nvSpPr>
        <p:spPr>
          <a:xfrm>
            <a:off x="8975322" y="1922346"/>
            <a:ext cx="3096936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Thickness of 1 KK layer: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0.4 um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k_bulk = </a:t>
            </a: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0.0116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 enhancement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decreases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number of stacks when calculated by </a:t>
            </a:r>
            <a:r>
              <a:rPr lang="en-US" sz="1800">
                <a:solidFill>
                  <a:schemeClr val="dk1"/>
                </a:solidFill>
                <a:highlight>
                  <a:srgbClr val="FFFF00"/>
                </a:highlight>
                <a:latin typeface="Calibri"/>
                <a:ea typeface="Calibri"/>
                <a:cs typeface="Calibri"/>
                <a:sym typeface="Calibri"/>
              </a:rPr>
              <a:t>TMM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but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increases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with </a:t>
            </a:r>
            <a:r>
              <a:rPr lang="en-US" sz="1800">
                <a:solidFill>
                  <a:schemeClr val="dk1"/>
                </a:solidFill>
                <a:highlight>
                  <a:srgbClr val="00FFFF"/>
                </a:highlight>
                <a:latin typeface="Calibri"/>
                <a:ea typeface="Calibri"/>
                <a:cs typeface="Calibri"/>
                <a:sym typeface="Calibri"/>
              </a:rPr>
              <a:t>semi-analytical</a:t>
            </a: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approximation.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" name="Google Shape;131;p3"/>
          <p:cNvGrpSpPr/>
          <p:nvPr/>
        </p:nvGrpSpPr>
        <p:grpSpPr>
          <a:xfrm>
            <a:off x="298051" y="122985"/>
            <a:ext cx="4161357" cy="3306015"/>
            <a:chOff x="3182106" y="1114039"/>
            <a:chExt cx="5827788" cy="4629921"/>
          </a:xfrm>
        </p:grpSpPr>
        <p:pic>
          <p:nvPicPr>
            <p:cNvPr id="132" name="Google Shape;132;p3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3182106" y="1114039"/>
              <a:ext cx="5827788" cy="4629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3" name="Google Shape;133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47921" y="1401183"/>
              <a:ext cx="1447803" cy="9144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34" name="Google Shape;134;p3"/>
          <p:cNvGrpSpPr/>
          <p:nvPr/>
        </p:nvGrpSpPr>
        <p:grpSpPr>
          <a:xfrm>
            <a:off x="4521847" y="85858"/>
            <a:ext cx="4254819" cy="3380267"/>
            <a:chOff x="3182106" y="1114039"/>
            <a:chExt cx="5827788" cy="4629921"/>
          </a:xfrm>
        </p:grpSpPr>
        <p:pic>
          <p:nvPicPr>
            <p:cNvPr id="135" name="Google Shape;135;p3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3182106" y="1114039"/>
              <a:ext cx="5827788" cy="4629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416909" y="1344029"/>
              <a:ext cx="1249683" cy="9144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7" name="Google Shape;137;p3"/>
          <p:cNvSpPr txBox="1"/>
          <p:nvPr/>
        </p:nvSpPr>
        <p:spPr>
          <a:xfrm>
            <a:off x="8839105" y="654487"/>
            <a:ext cx="3430794" cy="23083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1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FOM_RL is: 55.5313  FOM_RL_analytic is: 55.5313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 enh. (TMM) is: 1.01752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 enh. (analytical) is: 1.01752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FOM_bulk is: 54.58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FOM_LR is: 54.67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3"/>
          <p:cNvSpPr/>
          <p:nvPr/>
        </p:nvSpPr>
        <p:spPr>
          <a:xfrm>
            <a:off x="8770502" y="4065584"/>
            <a:ext cx="3486122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 = 2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FOM_RL is: 27.0458 FOM_RL_analytic is: 27.0503  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 enh. (TMM) is: 1.01737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 enh. (analytical) is: 1.01754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FOM_bulk is: 26.58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FOM_LR is: 26.63</a:t>
            </a:r>
            <a:endParaRPr/>
          </a:p>
        </p:txBody>
      </p:sp>
      <p:grpSp>
        <p:nvGrpSpPr>
          <p:cNvPr id="139" name="Google Shape;139;p3"/>
          <p:cNvGrpSpPr/>
          <p:nvPr/>
        </p:nvGrpSpPr>
        <p:grpSpPr>
          <a:xfrm>
            <a:off x="298051" y="3448557"/>
            <a:ext cx="4161357" cy="3380267"/>
            <a:chOff x="3246114" y="1114039"/>
            <a:chExt cx="5699772" cy="4629921"/>
          </a:xfrm>
        </p:grpSpPr>
        <p:pic>
          <p:nvPicPr>
            <p:cNvPr id="140" name="Google Shape;140;p3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3246114" y="1114039"/>
              <a:ext cx="5699772" cy="4629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1" name="Google Shape;141;p3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7344333" y="1401182"/>
              <a:ext cx="1447803" cy="9144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2" name="Google Shape;142;p3"/>
          <p:cNvGrpSpPr/>
          <p:nvPr/>
        </p:nvGrpSpPr>
        <p:grpSpPr>
          <a:xfrm>
            <a:off x="4565496" y="3448557"/>
            <a:ext cx="4161357" cy="3380267"/>
            <a:chOff x="3246114" y="1114039"/>
            <a:chExt cx="5699772" cy="4629921"/>
          </a:xfrm>
        </p:grpSpPr>
        <p:pic>
          <p:nvPicPr>
            <p:cNvPr id="143" name="Google Shape;143;p3"/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3246114" y="1114039"/>
              <a:ext cx="5699772" cy="462992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3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298574" y="1327135"/>
              <a:ext cx="1249683" cy="91440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3"/>
          <p:cNvSpPr txBox="1"/>
          <p:nvPr/>
        </p:nvSpPr>
        <p:spPr>
          <a:xfrm>
            <a:off x="8726853" y="2929486"/>
            <a:ext cx="3323859" cy="939616"/>
          </a:xfrm>
          <a:prstGeom prst="rect">
            <a:avLst/>
          </a:prstGeom>
          <a:blipFill rotWithShape="1">
            <a:blip r:embed="rId9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 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" name="Google Shape;150;p4"/>
          <p:cNvGrpSpPr/>
          <p:nvPr/>
        </p:nvGrpSpPr>
        <p:grpSpPr>
          <a:xfrm>
            <a:off x="1045029" y="3059766"/>
            <a:ext cx="4348138" cy="3798234"/>
            <a:chOff x="649213" y="700408"/>
            <a:chExt cx="5446787" cy="4757938"/>
          </a:xfrm>
        </p:grpSpPr>
        <p:pic>
          <p:nvPicPr>
            <p:cNvPr id="151" name="Google Shape;151;p4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649213" y="700408"/>
              <a:ext cx="5446787" cy="475793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4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4156215" y="1089210"/>
              <a:ext cx="1749556" cy="914402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3" name="Google Shape;153;p4"/>
          <p:cNvGrpSpPr/>
          <p:nvPr/>
        </p:nvGrpSpPr>
        <p:grpSpPr>
          <a:xfrm>
            <a:off x="0" y="0"/>
            <a:ext cx="6438730" cy="3078196"/>
            <a:chOff x="4796966" y="2297802"/>
            <a:chExt cx="8321134" cy="3978125"/>
          </a:xfrm>
        </p:grpSpPr>
        <p:pic>
          <p:nvPicPr>
            <p:cNvPr id="154" name="Google Shape;154;p4"/>
            <p:cNvPicPr preferRelativeResize="0"/>
            <p:nvPr/>
          </p:nvPicPr>
          <p:blipFill rotWithShape="1">
            <a:blip r:embed="rId5">
              <a:alphaModFix/>
            </a:blip>
            <a:srcRect b="71621"/>
            <a:stretch/>
          </p:blipFill>
          <p:spPr>
            <a:xfrm>
              <a:off x="4796966" y="2297802"/>
              <a:ext cx="8321133" cy="170020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5" name="Google Shape;155;p4"/>
            <p:cNvPicPr preferRelativeResize="0"/>
            <p:nvPr/>
          </p:nvPicPr>
          <p:blipFill rotWithShape="1">
            <a:blip r:embed="rId5">
              <a:alphaModFix/>
            </a:blip>
            <a:srcRect t="61979"/>
            <a:stretch/>
          </p:blipFill>
          <p:spPr>
            <a:xfrm>
              <a:off x="4796967" y="3998011"/>
              <a:ext cx="8321133" cy="227791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6" name="Google Shape;156;p4"/>
          <p:cNvSpPr txBox="1"/>
          <p:nvPr/>
        </p:nvSpPr>
        <p:spPr>
          <a:xfrm>
            <a:off x="7038015" y="4201404"/>
            <a:ext cx="4348138" cy="2031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Plotting the ‘small term’ over the supposed error in absorbance suggests that TMM code is correct.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-"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Have not verified for other combinations of A and x0, or for N &gt; 2 (unsure how to do that).</a:t>
            </a:r>
            <a:endParaRPr/>
          </a:p>
        </p:txBody>
      </p:sp>
      <p:cxnSp>
        <p:nvCxnSpPr>
          <p:cNvPr id="157" name="Google Shape;157;p4"/>
          <p:cNvCxnSpPr/>
          <p:nvPr/>
        </p:nvCxnSpPr>
        <p:spPr>
          <a:xfrm rot="5400000">
            <a:off x="4802499" y="2695058"/>
            <a:ext cx="1129500" cy="1097400"/>
          </a:xfrm>
          <a:prstGeom prst="bentConnector3">
            <a:avLst>
              <a:gd name="adj1" fmla="val 99529"/>
            </a:avLst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158" name="Google Shape;158;p4"/>
          <p:cNvSpPr/>
          <p:nvPr/>
        </p:nvSpPr>
        <p:spPr>
          <a:xfrm rot="-5400000">
            <a:off x="4754118" y="1922351"/>
            <a:ext cx="129092" cy="1003462"/>
          </a:xfrm>
          <a:prstGeom prst="leftBrace">
            <a:avLst>
              <a:gd name="adj1" fmla="val 8333"/>
              <a:gd name="adj2" fmla="val 50000"/>
            </a:avLst>
          </a:prstGeom>
          <a:noFill/>
          <a:ln w="12700" cap="flat" cmpd="sng">
            <a:solidFill>
              <a:schemeClr val="accent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59" name="Google Shape;159;p4"/>
          <p:cNvCxnSpPr/>
          <p:nvPr/>
        </p:nvCxnSpPr>
        <p:spPr>
          <a:xfrm>
            <a:off x="4818664" y="2679007"/>
            <a:ext cx="0" cy="881774"/>
          </a:xfrm>
          <a:prstGeom prst="straightConnector1">
            <a:avLst/>
          </a:prstGeom>
          <a:noFill/>
          <a:ln w="9525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160" name="Google Shape;160;p4"/>
          <p:cNvGrpSpPr/>
          <p:nvPr/>
        </p:nvGrpSpPr>
        <p:grpSpPr>
          <a:xfrm>
            <a:off x="6889965" y="144986"/>
            <a:ext cx="4644238" cy="3798234"/>
            <a:chOff x="457188" y="821969"/>
            <a:chExt cx="5638811" cy="4611633"/>
          </a:xfrm>
        </p:grpSpPr>
        <p:pic>
          <p:nvPicPr>
            <p:cNvPr id="161" name="Google Shape;161;p4"/>
            <p:cNvPicPr preferRelativeResize="0"/>
            <p:nvPr/>
          </p:nvPicPr>
          <p:blipFill rotWithShape="1">
            <a:blip r:embed="rId6">
              <a:alphaModFix/>
            </a:blip>
            <a:srcRect/>
            <a:stretch/>
          </p:blipFill>
          <p:spPr>
            <a:xfrm>
              <a:off x="457188" y="821969"/>
              <a:ext cx="5638811" cy="46116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4"/>
            <p:cNvPicPr preferRelativeResize="0"/>
            <p:nvPr/>
          </p:nvPicPr>
          <p:blipFill rotWithShape="1">
            <a:blip r:embed="rId7">
              <a:alphaModFix/>
            </a:blip>
            <a:srcRect/>
            <a:stretch/>
          </p:blipFill>
          <p:spPr>
            <a:xfrm>
              <a:off x="4667472" y="1819742"/>
              <a:ext cx="1264923" cy="91440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Show previous plots and hone into A=5, x0=0.001 case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Plot of FOM vs num_stacks at these vals (TMM and semi-analytical)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Plot of n and k at these vals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Plot of TRA at N = 1, N = 50 to show difference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Plot of TRA at N = 2</a:t>
            </a:r>
            <a:endParaRPr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</a:pPr>
            <a:r>
              <a:rPr lang="en-US"/>
              <a:t>Plot of Error in Absorbance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257</Words>
  <Application>Microsoft Macintosh PowerPoint</Application>
  <PresentationFormat>Widescreen</PresentationFormat>
  <Paragraphs>44</Paragraphs>
  <Slides>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Kunal Lakhanpal</dc:creator>
  <cp:lastModifiedBy>Kunal Lakhanpal</cp:lastModifiedBy>
  <cp:revision>1</cp:revision>
  <dcterms:created xsi:type="dcterms:W3CDTF">2025-01-24T07:55:45Z</dcterms:created>
  <dcterms:modified xsi:type="dcterms:W3CDTF">2025-09-11T19:04:03Z</dcterms:modified>
</cp:coreProperties>
</file>