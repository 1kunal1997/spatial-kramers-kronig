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3" r:id="rId7"/>
    <p:sldId id="259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C6573-2E02-9A10-5079-46B5655D97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283B13-8F5F-354D-2E47-69C087581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BD6801-910E-4920-12F8-F0EE8F3CD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895B-D061-9B43-BCC3-66DEF2EE775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F898D-D6AB-487E-ECE4-B60C96378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927B0-C300-A997-D467-24B3F2DB1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F39B-DA0F-4946-A69F-F860498F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532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0EF73-960B-8F19-218B-E55BBE6B4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2D0F7-7149-9FA6-B358-C12A579F1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816CB-32D5-6229-5B72-739CB82D6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895B-D061-9B43-BCC3-66DEF2EE775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06EB9-C2C3-F62B-F9A1-20295C24A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D00DA-530B-48D9-B76D-858A97BFC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F39B-DA0F-4946-A69F-F860498F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714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C71C0-C9CB-7C4B-6BDC-9704120B0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87958-7095-94E8-BCE3-7D6D23170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2E582-7BF7-CA59-BD8A-C3F0A2C10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895B-D061-9B43-BCC3-66DEF2EE775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AF233-382D-745A-2EF3-B635CFDDE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914EA-0EE7-C633-7B9A-05B4473DB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F39B-DA0F-4946-A69F-F860498F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629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DE691-8362-2DF6-41A3-A2C55A639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ECC56-A67F-770D-5BED-DDAD2FB62F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FD776-CF57-FDAE-10AB-C2C56CF315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C4F17C-4FC7-5F8E-129B-456DCB4EC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895B-D061-9B43-BCC3-66DEF2EE775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6422E-50B6-46E6-5C98-E55A65567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BAC8B-3923-BF26-0644-BB83C3936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F39B-DA0F-4946-A69F-F860498F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840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5D547-9042-B94B-9914-C2B41A124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183A4-0377-7C99-EE5A-F650616000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889C28-66C1-FC0F-8C21-5C1F66B8C9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9D85C7-2BD6-15B1-CDB1-39FA5E7BC0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AA73AF-45CA-D8D3-FEED-517DDC23DE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5EE850-CC7F-46DB-4C36-0C8532B4C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895B-D061-9B43-BCC3-66DEF2EE775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829C05-5C03-5F10-E12B-A8E3E5CF1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EA97BA-998E-68BC-7C7D-30563AAF8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F39B-DA0F-4946-A69F-F860498F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356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0855B-A83F-561B-292F-DD5220E23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21EB54-701B-B1C7-0083-5F62607A6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895B-D061-9B43-BCC3-66DEF2EE775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60BC30-066B-CB82-A469-9D0FC8B5F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7AFB17-9AF3-4C8C-E51E-48C4FDE96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F39B-DA0F-4946-A69F-F860498F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404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3EE785-C19D-55EB-5FE6-1F31503BF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895B-D061-9B43-BCC3-66DEF2EE775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7BDC3A-AE3C-6E53-A777-9B026B272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91A3F-4937-60DF-5685-3675F72C6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F39B-DA0F-4946-A69F-F860498F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323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AD9B1-1672-EE31-5042-266718BE5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27697-4D7D-2859-D63C-5F8018ABE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93FA3-A57F-5B8B-057C-B95D09B2D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820D1-732C-57EC-F7EF-75EC3E0CB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895B-D061-9B43-BCC3-66DEF2EE775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EBC8D-E114-FA5F-C55D-00531C66F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F6FA06-E59F-DD3B-55F0-D65260B55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F39B-DA0F-4946-A69F-F860498F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742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82D79-047F-F8C3-9074-BBD12BA31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D2B1B3-47DB-AA71-F93C-22433A3732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91552D-5398-9838-AE7F-FF408DED1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02F57F-70D2-B2DD-8A79-220361345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895B-D061-9B43-BCC3-66DEF2EE775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E9CA7-DAE5-A6ED-D4FF-C6E45FB08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D74DF-E490-47DF-92A3-5F40E418C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F39B-DA0F-4946-A69F-F860498F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34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423DD-D278-DB5C-DE5F-C2D2384FB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4810F9-983B-9F55-7D50-88A460BB9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4B7E5-5B29-728C-F28A-B604F80C4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895B-D061-9B43-BCC3-66DEF2EE775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3F650-C92A-454E-02DB-C3C486625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68C10-9D3A-1FB3-6ED5-94DF9598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F39B-DA0F-4946-A69F-F860498F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285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401F30-B030-3FB9-2BE1-A22919B82A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A95D36-FB3E-5C30-5FBD-FE1D5C4184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4FE27-B8B1-04BC-2B4E-964A0C023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7895B-D061-9B43-BCC3-66DEF2EE775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252C31-9FD0-C68D-F0DB-3522CBA70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7293DE-D052-6D0B-71E1-14531D1BA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54F39B-DA0F-4946-A69F-F860498F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493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F46778-E6D6-1430-E2D1-1D754B6FD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C0CF2-4E77-1E87-25B0-C662BDEA1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D5A3B-755B-ABF0-B4FD-01A4753689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87895B-D061-9B43-BCC3-66DEF2EE7753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BB367-E7D7-CB56-6991-5A2F7E5C4F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1076A-904C-B957-4E0D-F9699C49BE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54F39B-DA0F-4946-A69F-F860498FAF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36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3CE356-036F-9679-B3E7-85ECA7EE71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008" y="3163226"/>
            <a:ext cx="3886200" cy="32406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7F18F0-B2A7-F7F5-CFA8-5884AE056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3964" y="3163226"/>
            <a:ext cx="3886200" cy="32406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6D1750-6218-BA6A-CD07-5105D80B8A49}"/>
              </a:ext>
            </a:extLst>
          </p:cNvPr>
          <p:cNvSpPr txBox="1"/>
          <p:nvPr/>
        </p:nvSpPr>
        <p:spPr>
          <a:xfrm>
            <a:off x="287079" y="170121"/>
            <a:ext cx="889775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stratified layers do not match response from Bruggeman mixed layer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FA024F-6FA7-49B0-0580-07B4509DDBD1}"/>
              </a:ext>
            </a:extLst>
          </p:cNvPr>
          <p:cNvSpPr/>
          <p:nvPr/>
        </p:nvSpPr>
        <p:spPr>
          <a:xfrm>
            <a:off x="8732869" y="1293629"/>
            <a:ext cx="372139" cy="11695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F8952F-7C7C-1895-2879-023D4256DA6C}"/>
              </a:ext>
            </a:extLst>
          </p:cNvPr>
          <p:cNvSpPr/>
          <p:nvPr/>
        </p:nvSpPr>
        <p:spPr>
          <a:xfrm>
            <a:off x="8133904" y="1295755"/>
            <a:ext cx="372139" cy="11695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55D639-A004-B351-74C5-504C9EE4EADF}"/>
              </a:ext>
            </a:extLst>
          </p:cNvPr>
          <p:cNvSpPr/>
          <p:nvPr/>
        </p:nvSpPr>
        <p:spPr>
          <a:xfrm>
            <a:off x="7575696" y="1293630"/>
            <a:ext cx="372139" cy="11695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B1C806-B771-BF14-C561-194A90055363}"/>
              </a:ext>
            </a:extLst>
          </p:cNvPr>
          <p:cNvSpPr/>
          <p:nvPr/>
        </p:nvSpPr>
        <p:spPr>
          <a:xfrm>
            <a:off x="9101462" y="1293629"/>
            <a:ext cx="219739" cy="11695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FE3C44-2055-A9D2-B588-4D1D7C4C0BEC}"/>
              </a:ext>
            </a:extLst>
          </p:cNvPr>
          <p:cNvSpPr/>
          <p:nvPr/>
        </p:nvSpPr>
        <p:spPr>
          <a:xfrm>
            <a:off x="8506043" y="1293629"/>
            <a:ext cx="219739" cy="11695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1374EB-7CC2-DBEC-075D-8803245A7F8D}"/>
              </a:ext>
            </a:extLst>
          </p:cNvPr>
          <p:cNvSpPr/>
          <p:nvPr/>
        </p:nvSpPr>
        <p:spPr>
          <a:xfrm>
            <a:off x="7947835" y="1293629"/>
            <a:ext cx="219739" cy="11695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93149B-F989-5602-577A-0049A3BFD368}"/>
              </a:ext>
            </a:extLst>
          </p:cNvPr>
          <p:cNvSpPr txBox="1"/>
          <p:nvPr/>
        </p:nvSpPr>
        <p:spPr>
          <a:xfrm>
            <a:off x="6980277" y="1520458"/>
            <a:ext cx="4988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F63B8B-7CC0-B43B-EDA3-D096218F0D83}"/>
              </a:ext>
            </a:extLst>
          </p:cNvPr>
          <p:cNvSpPr txBox="1"/>
          <p:nvPr/>
        </p:nvSpPr>
        <p:spPr>
          <a:xfrm>
            <a:off x="9440366" y="1520458"/>
            <a:ext cx="4988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…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A749F8BC-1911-D252-7A43-C3A9ED470DCE}"/>
              </a:ext>
            </a:extLst>
          </p:cNvPr>
          <p:cNvSpPr/>
          <p:nvPr/>
        </p:nvSpPr>
        <p:spPr>
          <a:xfrm rot="16200000">
            <a:off x="7691326" y="2489348"/>
            <a:ext cx="140879" cy="37213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C7DD3F4C-06B6-8C7F-88AE-47FC212EC09B}"/>
              </a:ext>
            </a:extLst>
          </p:cNvPr>
          <p:cNvSpPr/>
          <p:nvPr/>
        </p:nvSpPr>
        <p:spPr>
          <a:xfrm rot="16200000">
            <a:off x="7970430" y="2582382"/>
            <a:ext cx="140880" cy="18606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C74121-7D51-B880-C4DF-3A0117046059}"/>
              </a:ext>
            </a:extLst>
          </p:cNvPr>
          <p:cNvSpPr txBox="1"/>
          <p:nvPr/>
        </p:nvSpPr>
        <p:spPr>
          <a:xfrm>
            <a:off x="7602523" y="274585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10E81C-0E93-1B2A-10C6-3B01CDA6988C}"/>
              </a:ext>
            </a:extLst>
          </p:cNvPr>
          <p:cNvSpPr txBox="1"/>
          <p:nvPr/>
        </p:nvSpPr>
        <p:spPr>
          <a:xfrm>
            <a:off x="7886821" y="274585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1D03AE-C7AA-D686-43A9-807D2C24BF3E}"/>
              </a:ext>
            </a:extLst>
          </p:cNvPr>
          <p:cNvSpPr txBox="1"/>
          <p:nvPr/>
        </p:nvSpPr>
        <p:spPr>
          <a:xfrm>
            <a:off x="2248088" y="901229"/>
            <a:ext cx="3092770" cy="17143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concentration f = 0.75</a:t>
            </a:r>
          </a:p>
          <a:p>
            <a:pPr>
              <a:lnSpc>
                <a:spcPct val="150000"/>
              </a:lnSpc>
            </a:pPr>
            <a:r>
              <a:rPr lang="en-US" dirty="0"/>
              <a:t>material A = sapphire</a:t>
            </a:r>
          </a:p>
          <a:p>
            <a:pPr>
              <a:lnSpc>
                <a:spcPct val="150000"/>
              </a:lnSpc>
            </a:pPr>
            <a:r>
              <a:rPr lang="en-US" dirty="0"/>
              <a:t>material B = graphite</a:t>
            </a:r>
          </a:p>
          <a:p>
            <a:pPr>
              <a:lnSpc>
                <a:spcPct val="150000"/>
              </a:lnSpc>
            </a:pPr>
            <a:r>
              <a:rPr lang="en-US" dirty="0"/>
              <a:t>total layer thickness = 100nm</a:t>
            </a:r>
          </a:p>
        </p:txBody>
      </p:sp>
    </p:spTree>
    <p:extLst>
      <p:ext uri="{BB962C8B-B14F-4D97-AF65-F5344CB8AC3E}">
        <p14:creationId xmlns:p14="http://schemas.microsoft.com/office/powerpoint/2010/main" val="1003980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3486D8F7-33F1-5B70-334D-8A58C93C30B3}"/>
              </a:ext>
            </a:extLst>
          </p:cNvPr>
          <p:cNvGrpSpPr/>
          <p:nvPr/>
        </p:nvGrpSpPr>
        <p:grpSpPr>
          <a:xfrm>
            <a:off x="8724289" y="734435"/>
            <a:ext cx="285656" cy="338554"/>
            <a:chOff x="7751135" y="255181"/>
            <a:chExt cx="285656" cy="33855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ACA48C5-1970-9E8D-9358-B320755BCAE8}"/>
                </a:ext>
              </a:extLst>
            </p:cNvPr>
            <p:cNvSpPr txBox="1"/>
            <p:nvPr/>
          </p:nvSpPr>
          <p:spPr>
            <a:xfrm>
              <a:off x="7751135" y="255181"/>
              <a:ext cx="2856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1"/>
                  </a:solidFill>
                </a:rPr>
                <a:t>x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D76ACA8-0B3D-E00C-3461-579432629496}"/>
                </a:ext>
              </a:extLst>
            </p:cNvPr>
            <p:cNvSpPr/>
            <p:nvPr/>
          </p:nvSpPr>
          <p:spPr>
            <a:xfrm>
              <a:off x="7792352" y="339083"/>
              <a:ext cx="201168" cy="20166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B7175AF-9119-76E7-C169-BA6394E88DC7}"/>
              </a:ext>
            </a:extLst>
          </p:cNvPr>
          <p:cNvSpPr txBox="1"/>
          <p:nvPr/>
        </p:nvSpPr>
        <p:spPr>
          <a:xfrm>
            <a:off x="489098" y="255181"/>
            <a:ext cx="548586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lamellar/</a:t>
            </a:r>
            <a:r>
              <a:rPr lang="en-US" sz="2200" b="1" dirty="0" err="1"/>
              <a:t>Rytov</a:t>
            </a:r>
            <a:r>
              <a:rPr lang="en-US" sz="2200" b="1" dirty="0"/>
              <a:t> effective medium theory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30F370-4D12-92EB-FE88-EF70B3CF2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169" y="1680497"/>
            <a:ext cx="2364416" cy="12610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565928-EB8C-2826-714D-77ADA1E84CD0}"/>
              </a:ext>
            </a:extLst>
          </p:cNvPr>
          <p:cNvSpPr/>
          <p:nvPr/>
        </p:nvSpPr>
        <p:spPr>
          <a:xfrm>
            <a:off x="9370826" y="1293629"/>
            <a:ext cx="372139" cy="11695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079939-9734-E9AB-CA6A-FDE9EDF5AD17}"/>
              </a:ext>
            </a:extLst>
          </p:cNvPr>
          <p:cNvSpPr/>
          <p:nvPr/>
        </p:nvSpPr>
        <p:spPr>
          <a:xfrm>
            <a:off x="8771861" y="1295755"/>
            <a:ext cx="372139" cy="11695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A8E1C5-3373-FCB5-4723-B08C65BC3285}"/>
              </a:ext>
            </a:extLst>
          </p:cNvPr>
          <p:cNvSpPr/>
          <p:nvPr/>
        </p:nvSpPr>
        <p:spPr>
          <a:xfrm>
            <a:off x="8213653" y="1293630"/>
            <a:ext cx="372139" cy="11695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70A3C7-5B7D-15A0-78DD-81E629C7239D}"/>
              </a:ext>
            </a:extLst>
          </p:cNvPr>
          <p:cNvSpPr/>
          <p:nvPr/>
        </p:nvSpPr>
        <p:spPr>
          <a:xfrm>
            <a:off x="9739419" y="1293629"/>
            <a:ext cx="219739" cy="11695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E1E4EC-B46A-2926-1FFF-8F3956BB0556}"/>
              </a:ext>
            </a:extLst>
          </p:cNvPr>
          <p:cNvSpPr/>
          <p:nvPr/>
        </p:nvSpPr>
        <p:spPr>
          <a:xfrm>
            <a:off x="9144000" y="1293629"/>
            <a:ext cx="219739" cy="11695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E1A92D-2068-D108-10B3-FA587DAF8C6C}"/>
              </a:ext>
            </a:extLst>
          </p:cNvPr>
          <p:cNvSpPr/>
          <p:nvPr/>
        </p:nvSpPr>
        <p:spPr>
          <a:xfrm>
            <a:off x="8585792" y="1293629"/>
            <a:ext cx="219739" cy="11695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41B5CB-09DC-C6E4-DB94-FA26BBE1CA8F}"/>
              </a:ext>
            </a:extLst>
          </p:cNvPr>
          <p:cNvSpPr txBox="1"/>
          <p:nvPr/>
        </p:nvSpPr>
        <p:spPr>
          <a:xfrm>
            <a:off x="7618234" y="1520458"/>
            <a:ext cx="4988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9AAF0B-901F-CB46-6FDA-6784A47DAEBA}"/>
              </a:ext>
            </a:extLst>
          </p:cNvPr>
          <p:cNvSpPr txBox="1"/>
          <p:nvPr/>
        </p:nvSpPr>
        <p:spPr>
          <a:xfrm>
            <a:off x="10078323" y="1520458"/>
            <a:ext cx="4988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…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430D1D0C-C874-DC25-04D4-B34207F9389B}"/>
              </a:ext>
            </a:extLst>
          </p:cNvPr>
          <p:cNvSpPr/>
          <p:nvPr/>
        </p:nvSpPr>
        <p:spPr>
          <a:xfrm rot="16200000">
            <a:off x="8329283" y="2489348"/>
            <a:ext cx="140879" cy="37213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D399491E-2851-3D38-8AB0-5B8C76FFD827}"/>
              </a:ext>
            </a:extLst>
          </p:cNvPr>
          <p:cNvSpPr/>
          <p:nvPr/>
        </p:nvSpPr>
        <p:spPr>
          <a:xfrm rot="16200000">
            <a:off x="8608387" y="2582382"/>
            <a:ext cx="140880" cy="18606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981CF1D-E400-DAEE-27A0-D35BCAEADB57}"/>
              </a:ext>
            </a:extLst>
          </p:cNvPr>
          <p:cNvSpPr txBox="1"/>
          <p:nvPr/>
        </p:nvSpPr>
        <p:spPr>
          <a:xfrm>
            <a:off x="8240480" y="274585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DD75F0-0110-F6A8-2B1F-E7A06E3F9CFE}"/>
              </a:ext>
            </a:extLst>
          </p:cNvPr>
          <p:cNvSpPr txBox="1"/>
          <p:nvPr/>
        </p:nvSpPr>
        <p:spPr>
          <a:xfrm>
            <a:off x="8524778" y="2745857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600C85-F8A2-23E0-4980-9EC2CBB3C22B}"/>
              </a:ext>
            </a:extLst>
          </p:cNvPr>
          <p:cNvSpPr txBox="1"/>
          <p:nvPr/>
        </p:nvSpPr>
        <p:spPr>
          <a:xfrm>
            <a:off x="4338091" y="1176669"/>
            <a:ext cx="1334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a + b &lt;&lt; </a:t>
            </a:r>
            <a:r>
              <a:rPr lang="en-US" dirty="0" err="1"/>
              <a:t>λ</a:t>
            </a:r>
            <a:r>
              <a:rPr lang="en-US" dirty="0"/>
              <a:t>: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488C3B4-1485-92E6-4339-3513A7F1B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971" y="3391574"/>
            <a:ext cx="3850953" cy="321124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836DD67-D02E-5B00-DE8C-8E12710E9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511" y="3384347"/>
            <a:ext cx="3939749" cy="328529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7E020D1-885F-B614-A8AF-28335F1A79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698" y="3391575"/>
            <a:ext cx="3850954" cy="3211246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9B0DC11-A0CC-37D3-0334-8268107022EF}"/>
              </a:ext>
            </a:extLst>
          </p:cNvPr>
          <p:cNvCxnSpPr/>
          <p:nvPr/>
        </p:nvCxnSpPr>
        <p:spPr>
          <a:xfrm>
            <a:off x="8378451" y="520993"/>
            <a:ext cx="0" cy="7194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D688C04-C90D-922C-8E09-0D4FE054D760}"/>
              </a:ext>
            </a:extLst>
          </p:cNvPr>
          <p:cNvSpPr txBox="1"/>
          <p:nvPr/>
        </p:nvSpPr>
        <p:spPr>
          <a:xfrm>
            <a:off x="7956023" y="703657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  <a:r>
              <a:rPr lang="en-US" baseline="-25000" dirty="0"/>
              <a:t>||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B7D42B-4BA4-550D-088A-1BC209E2C7DD}"/>
              </a:ext>
            </a:extLst>
          </p:cNvPr>
          <p:cNvSpPr txBox="1"/>
          <p:nvPr/>
        </p:nvSpPr>
        <p:spPr>
          <a:xfrm>
            <a:off x="9695117" y="719046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  <a:r>
              <a:rPr lang="en-US" baseline="-25000" dirty="0"/>
              <a:t>⟂</a:t>
            </a:r>
            <a:endParaRPr lang="en-US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AA78DD5-04D5-DBF3-1F09-44374366182D}"/>
              </a:ext>
            </a:extLst>
          </p:cNvPr>
          <p:cNvCxnSpPr>
            <a:cxnSpLocks/>
          </p:cNvCxnSpPr>
          <p:nvPr/>
        </p:nvCxnSpPr>
        <p:spPr>
          <a:xfrm>
            <a:off x="9519798" y="1123504"/>
            <a:ext cx="7885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6AF96D8-CCEB-5C8F-E753-1D706FADB31C}"/>
              </a:ext>
            </a:extLst>
          </p:cNvPr>
          <p:cNvSpPr txBox="1"/>
          <p:nvPr/>
        </p:nvSpPr>
        <p:spPr>
          <a:xfrm>
            <a:off x="8395556" y="734435"/>
            <a:ext cx="3674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1561236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9CA20EA-61C6-A441-7CF8-C24C1B3AE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056" y="722442"/>
            <a:ext cx="3636207" cy="303617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7D0C60-D7D2-3FAE-F105-EE6B7B1FF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161" y="722441"/>
            <a:ext cx="3636207" cy="30361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7117D24-C2BC-6CC1-B6C8-F5B5D06046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057" y="3785919"/>
            <a:ext cx="3636208" cy="30361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5281A1-C0FF-90B0-81DB-B7B1BCC09F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9161" y="3785918"/>
            <a:ext cx="3636208" cy="30361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BE65A2-1273-1E63-D347-170EF7521542}"/>
              </a:ext>
            </a:extLst>
          </p:cNvPr>
          <p:cNvSpPr txBox="1"/>
          <p:nvPr/>
        </p:nvSpPr>
        <p:spPr>
          <a:xfrm>
            <a:off x="329610" y="148855"/>
            <a:ext cx="24817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oblique incidence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E19E69-49AC-0B81-663C-E4AC03034703}"/>
              </a:ext>
            </a:extLst>
          </p:cNvPr>
          <p:cNvSpPr txBox="1"/>
          <p:nvPr/>
        </p:nvSpPr>
        <p:spPr>
          <a:xfrm>
            <a:off x="9154633" y="1063256"/>
            <a:ext cx="2743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current TMM software does not support anisotropic layers (different dielectric for different field components)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3799621-30C7-837F-676B-7A569E9085B9}"/>
              </a:ext>
            </a:extLst>
          </p:cNvPr>
          <p:cNvGrpSpPr/>
          <p:nvPr/>
        </p:nvGrpSpPr>
        <p:grpSpPr>
          <a:xfrm>
            <a:off x="9872606" y="4065969"/>
            <a:ext cx="285656" cy="338554"/>
            <a:chOff x="7751135" y="255181"/>
            <a:chExt cx="285656" cy="33855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4BEEC4F-313B-5B50-F04F-946809D183E4}"/>
                </a:ext>
              </a:extLst>
            </p:cNvPr>
            <p:cNvSpPr txBox="1"/>
            <p:nvPr/>
          </p:nvSpPr>
          <p:spPr>
            <a:xfrm>
              <a:off x="7751135" y="255181"/>
              <a:ext cx="2856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1"/>
                  </a:solidFill>
                </a:rPr>
                <a:t>x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8BD4FB0-E65D-892D-1876-323B5FFA5AF0}"/>
                </a:ext>
              </a:extLst>
            </p:cNvPr>
            <p:cNvSpPr/>
            <p:nvPr/>
          </p:nvSpPr>
          <p:spPr>
            <a:xfrm>
              <a:off x="7792352" y="339083"/>
              <a:ext cx="201168" cy="20166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90BC3127-05E0-E303-26D8-26C4B6830D01}"/>
              </a:ext>
            </a:extLst>
          </p:cNvPr>
          <p:cNvSpPr/>
          <p:nvPr/>
        </p:nvSpPr>
        <p:spPr>
          <a:xfrm>
            <a:off x="10519143" y="4625163"/>
            <a:ext cx="372139" cy="11695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F1AE58-C592-9FD2-AD46-E0A46C27CE00}"/>
              </a:ext>
            </a:extLst>
          </p:cNvPr>
          <p:cNvSpPr/>
          <p:nvPr/>
        </p:nvSpPr>
        <p:spPr>
          <a:xfrm>
            <a:off x="9920178" y="4627289"/>
            <a:ext cx="372139" cy="11695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FF2E0C8-BAC6-3FE6-6B98-A996D4F9E44F}"/>
              </a:ext>
            </a:extLst>
          </p:cNvPr>
          <p:cNvSpPr/>
          <p:nvPr/>
        </p:nvSpPr>
        <p:spPr>
          <a:xfrm>
            <a:off x="9361970" y="4625164"/>
            <a:ext cx="372139" cy="11695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E62C45-441A-FEB0-EFEF-841F5C9824F6}"/>
              </a:ext>
            </a:extLst>
          </p:cNvPr>
          <p:cNvSpPr/>
          <p:nvPr/>
        </p:nvSpPr>
        <p:spPr>
          <a:xfrm>
            <a:off x="10887736" y="4625163"/>
            <a:ext cx="219739" cy="11695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CD6341-FCB6-7AAA-7DB9-FA8C0CD47DA5}"/>
              </a:ext>
            </a:extLst>
          </p:cNvPr>
          <p:cNvSpPr/>
          <p:nvPr/>
        </p:nvSpPr>
        <p:spPr>
          <a:xfrm>
            <a:off x="10292317" y="4625163"/>
            <a:ext cx="219739" cy="11695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228056-2E06-4E37-DC89-A6CC44029FA7}"/>
              </a:ext>
            </a:extLst>
          </p:cNvPr>
          <p:cNvSpPr/>
          <p:nvPr/>
        </p:nvSpPr>
        <p:spPr>
          <a:xfrm>
            <a:off x="9734109" y="4625163"/>
            <a:ext cx="219739" cy="11695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82F146-69C2-FEEA-C1AC-AA3AED9FB299}"/>
              </a:ext>
            </a:extLst>
          </p:cNvPr>
          <p:cNvSpPr txBox="1"/>
          <p:nvPr/>
        </p:nvSpPr>
        <p:spPr>
          <a:xfrm>
            <a:off x="8766551" y="4851992"/>
            <a:ext cx="4988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…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85DA78-472E-E1FD-966D-C41701055E44}"/>
              </a:ext>
            </a:extLst>
          </p:cNvPr>
          <p:cNvSpPr txBox="1"/>
          <p:nvPr/>
        </p:nvSpPr>
        <p:spPr>
          <a:xfrm>
            <a:off x="11226640" y="4851992"/>
            <a:ext cx="4988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…</a:t>
            </a: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0746C1D2-84E4-9F6E-9160-36885C8145A7}"/>
              </a:ext>
            </a:extLst>
          </p:cNvPr>
          <p:cNvSpPr/>
          <p:nvPr/>
        </p:nvSpPr>
        <p:spPr>
          <a:xfrm rot="16200000">
            <a:off x="9477600" y="5820882"/>
            <a:ext cx="140879" cy="37213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09E3A213-1A75-18F9-BFDB-3DBE75222E62}"/>
              </a:ext>
            </a:extLst>
          </p:cNvPr>
          <p:cNvSpPr/>
          <p:nvPr/>
        </p:nvSpPr>
        <p:spPr>
          <a:xfrm rot="16200000">
            <a:off x="9756704" y="5913916"/>
            <a:ext cx="140880" cy="18606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7AAEE4-9C54-8EA9-E5B8-BBA3FB517D5D}"/>
              </a:ext>
            </a:extLst>
          </p:cNvPr>
          <p:cNvSpPr txBox="1"/>
          <p:nvPr/>
        </p:nvSpPr>
        <p:spPr>
          <a:xfrm>
            <a:off x="9388797" y="607739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88B920D-4F09-560D-99B7-030700E5DB53}"/>
              </a:ext>
            </a:extLst>
          </p:cNvPr>
          <p:cNvSpPr txBox="1"/>
          <p:nvPr/>
        </p:nvSpPr>
        <p:spPr>
          <a:xfrm>
            <a:off x="9673095" y="6077391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8EE863C-3AA1-7011-13E2-D7D8F9818196}"/>
              </a:ext>
            </a:extLst>
          </p:cNvPr>
          <p:cNvCxnSpPr/>
          <p:nvPr/>
        </p:nvCxnSpPr>
        <p:spPr>
          <a:xfrm>
            <a:off x="9526768" y="3852527"/>
            <a:ext cx="0" cy="7194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AA5A555-3D0C-B1EA-B477-31078B767AE3}"/>
              </a:ext>
            </a:extLst>
          </p:cNvPr>
          <p:cNvSpPr txBox="1"/>
          <p:nvPr/>
        </p:nvSpPr>
        <p:spPr>
          <a:xfrm>
            <a:off x="9104340" y="4035191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  <a:r>
              <a:rPr lang="en-US" baseline="-25000" dirty="0"/>
              <a:t>||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245E146-D2F1-DB07-CEB0-32B2DE3ACD84}"/>
              </a:ext>
            </a:extLst>
          </p:cNvPr>
          <p:cNvSpPr txBox="1"/>
          <p:nvPr/>
        </p:nvSpPr>
        <p:spPr>
          <a:xfrm>
            <a:off x="10843434" y="405058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  <a:r>
              <a:rPr lang="en-US" baseline="-25000" dirty="0"/>
              <a:t>⟂</a:t>
            </a:r>
            <a:endParaRPr lang="en-US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957392E-469E-E7EE-4AF1-A7BD2E840DC1}"/>
              </a:ext>
            </a:extLst>
          </p:cNvPr>
          <p:cNvCxnSpPr>
            <a:cxnSpLocks/>
          </p:cNvCxnSpPr>
          <p:nvPr/>
        </p:nvCxnSpPr>
        <p:spPr>
          <a:xfrm>
            <a:off x="10668115" y="4455038"/>
            <a:ext cx="7885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D86ACB8-5EDF-FE75-7383-BA93A94C3BBD}"/>
              </a:ext>
            </a:extLst>
          </p:cNvPr>
          <p:cNvSpPr txBox="1"/>
          <p:nvPr/>
        </p:nvSpPr>
        <p:spPr>
          <a:xfrm>
            <a:off x="9543873" y="4065969"/>
            <a:ext cx="3674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4030467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846E64C-D526-4499-A892-1DD0E526D69C}"/>
              </a:ext>
            </a:extLst>
          </p:cNvPr>
          <p:cNvGrpSpPr/>
          <p:nvPr/>
        </p:nvGrpSpPr>
        <p:grpSpPr>
          <a:xfrm>
            <a:off x="9151363" y="1446817"/>
            <a:ext cx="285656" cy="338554"/>
            <a:chOff x="7751135" y="255181"/>
            <a:chExt cx="285656" cy="33855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5D4035F-7A69-3CD0-74A6-AB63940A7B86}"/>
                </a:ext>
              </a:extLst>
            </p:cNvPr>
            <p:cNvSpPr txBox="1"/>
            <p:nvPr/>
          </p:nvSpPr>
          <p:spPr>
            <a:xfrm>
              <a:off x="7751135" y="255181"/>
              <a:ext cx="2856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1"/>
                  </a:solidFill>
                </a:rPr>
                <a:t>x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AEBE9A8D-6CC3-975D-CD3C-B44315EC462E}"/>
                </a:ext>
              </a:extLst>
            </p:cNvPr>
            <p:cNvSpPr/>
            <p:nvPr/>
          </p:nvSpPr>
          <p:spPr>
            <a:xfrm>
              <a:off x="7792352" y="339083"/>
              <a:ext cx="201168" cy="20166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4B40AA9A-4E62-8517-2E9D-9013C5B52A94}"/>
              </a:ext>
            </a:extLst>
          </p:cNvPr>
          <p:cNvSpPr/>
          <p:nvPr/>
        </p:nvSpPr>
        <p:spPr>
          <a:xfrm>
            <a:off x="9797900" y="2006011"/>
            <a:ext cx="372139" cy="11695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26A041-2080-AC14-E480-386608659D24}"/>
              </a:ext>
            </a:extLst>
          </p:cNvPr>
          <p:cNvSpPr/>
          <p:nvPr/>
        </p:nvSpPr>
        <p:spPr>
          <a:xfrm>
            <a:off x="9198935" y="2008137"/>
            <a:ext cx="372139" cy="11695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D1A43B-3063-284F-1542-F97DE25BA3BC}"/>
              </a:ext>
            </a:extLst>
          </p:cNvPr>
          <p:cNvSpPr/>
          <p:nvPr/>
        </p:nvSpPr>
        <p:spPr>
          <a:xfrm>
            <a:off x="8640727" y="2006012"/>
            <a:ext cx="372139" cy="11695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F7E511-7FFD-75DD-6551-F181A032C6B3}"/>
              </a:ext>
            </a:extLst>
          </p:cNvPr>
          <p:cNvSpPr/>
          <p:nvPr/>
        </p:nvSpPr>
        <p:spPr>
          <a:xfrm>
            <a:off x="10166493" y="2006011"/>
            <a:ext cx="219739" cy="11695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0B902A-0108-FACE-5FE8-809BA562F7F6}"/>
              </a:ext>
            </a:extLst>
          </p:cNvPr>
          <p:cNvSpPr/>
          <p:nvPr/>
        </p:nvSpPr>
        <p:spPr>
          <a:xfrm>
            <a:off x="9571074" y="2006011"/>
            <a:ext cx="219739" cy="11695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3ED49B-536D-8DF4-E583-CD6696F50A02}"/>
              </a:ext>
            </a:extLst>
          </p:cNvPr>
          <p:cNvSpPr/>
          <p:nvPr/>
        </p:nvSpPr>
        <p:spPr>
          <a:xfrm>
            <a:off x="9012866" y="2006011"/>
            <a:ext cx="219739" cy="11695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B755CD-65F2-0BB9-C92B-809B8AC20782}"/>
              </a:ext>
            </a:extLst>
          </p:cNvPr>
          <p:cNvSpPr txBox="1"/>
          <p:nvPr/>
        </p:nvSpPr>
        <p:spPr>
          <a:xfrm>
            <a:off x="8045308" y="2232840"/>
            <a:ext cx="4988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7FB2FB-4515-6A82-58B3-F87AE462FEC7}"/>
              </a:ext>
            </a:extLst>
          </p:cNvPr>
          <p:cNvSpPr txBox="1"/>
          <p:nvPr/>
        </p:nvSpPr>
        <p:spPr>
          <a:xfrm>
            <a:off x="10505397" y="2232840"/>
            <a:ext cx="4988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…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456E5AC7-4D52-CD7C-8248-52AD7BEB2DA0}"/>
              </a:ext>
            </a:extLst>
          </p:cNvPr>
          <p:cNvSpPr/>
          <p:nvPr/>
        </p:nvSpPr>
        <p:spPr>
          <a:xfrm rot="16200000">
            <a:off x="8756357" y="3201730"/>
            <a:ext cx="140879" cy="37213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A08B7234-FCB5-FE23-3DB5-89991CD99E87}"/>
              </a:ext>
            </a:extLst>
          </p:cNvPr>
          <p:cNvSpPr/>
          <p:nvPr/>
        </p:nvSpPr>
        <p:spPr>
          <a:xfrm rot="16200000">
            <a:off x="9035461" y="3294764"/>
            <a:ext cx="140880" cy="18606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8C7903-5C76-4515-6704-DFBD18AC1637}"/>
              </a:ext>
            </a:extLst>
          </p:cNvPr>
          <p:cNvSpPr txBox="1"/>
          <p:nvPr/>
        </p:nvSpPr>
        <p:spPr>
          <a:xfrm>
            <a:off x="8667554" y="345823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114C37-C590-58E9-1907-328ADFA8EC7F}"/>
              </a:ext>
            </a:extLst>
          </p:cNvPr>
          <p:cNvSpPr txBox="1"/>
          <p:nvPr/>
        </p:nvSpPr>
        <p:spPr>
          <a:xfrm>
            <a:off x="8951852" y="3458239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B21C655-C81B-E9E0-177B-342FCAA4DF8E}"/>
              </a:ext>
            </a:extLst>
          </p:cNvPr>
          <p:cNvCxnSpPr/>
          <p:nvPr/>
        </p:nvCxnSpPr>
        <p:spPr>
          <a:xfrm>
            <a:off x="8805525" y="1233375"/>
            <a:ext cx="0" cy="7194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DC31E46-4C98-FD92-EB7D-EF7EADAAE375}"/>
              </a:ext>
            </a:extLst>
          </p:cNvPr>
          <p:cNvSpPr txBox="1"/>
          <p:nvPr/>
        </p:nvSpPr>
        <p:spPr>
          <a:xfrm>
            <a:off x="8383097" y="1416039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  <a:r>
              <a:rPr lang="en-US" baseline="-25000" dirty="0"/>
              <a:t>||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FC2B69-2740-823A-7473-940356E99FD0}"/>
              </a:ext>
            </a:extLst>
          </p:cNvPr>
          <p:cNvSpPr txBox="1"/>
          <p:nvPr/>
        </p:nvSpPr>
        <p:spPr>
          <a:xfrm>
            <a:off x="10122191" y="143142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  <a:r>
              <a:rPr lang="en-US" baseline="-25000" dirty="0"/>
              <a:t>⟂</a:t>
            </a:r>
            <a:endParaRPr lang="en-US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A9D57EC-93A0-34D5-6B1D-9CF83516D45D}"/>
              </a:ext>
            </a:extLst>
          </p:cNvPr>
          <p:cNvCxnSpPr>
            <a:cxnSpLocks/>
          </p:cNvCxnSpPr>
          <p:nvPr/>
        </p:nvCxnSpPr>
        <p:spPr>
          <a:xfrm>
            <a:off x="9946872" y="1835886"/>
            <a:ext cx="7885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83A5871-138A-DD3C-0AA9-0968044602B5}"/>
              </a:ext>
            </a:extLst>
          </p:cNvPr>
          <p:cNvSpPr txBox="1"/>
          <p:nvPr/>
        </p:nvSpPr>
        <p:spPr>
          <a:xfrm>
            <a:off x="8822630" y="1446817"/>
            <a:ext cx="3674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or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134B30-5358-B81C-D744-569678F725FF}"/>
              </a:ext>
            </a:extLst>
          </p:cNvPr>
          <p:cNvSpPr txBox="1"/>
          <p:nvPr/>
        </p:nvSpPr>
        <p:spPr>
          <a:xfrm>
            <a:off x="329610" y="148855"/>
            <a:ext cx="665477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Expected RI from Lamellar EMT from 300–1400nm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C7BCAD9-000A-7D6F-79A9-07E49E449754}"/>
              </a:ext>
            </a:extLst>
          </p:cNvPr>
          <p:cNvGrpSpPr/>
          <p:nvPr/>
        </p:nvGrpSpPr>
        <p:grpSpPr>
          <a:xfrm>
            <a:off x="1800450" y="1087402"/>
            <a:ext cx="5523612" cy="4741673"/>
            <a:chOff x="1827277" y="983297"/>
            <a:chExt cx="5523612" cy="474167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48430B2-1F7D-4337-0E70-3544BEBE5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27277" y="983297"/>
              <a:ext cx="5523612" cy="4741673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C1B9E1BE-26EE-A87C-1E2F-F83727AA4E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3894" t="5088" r="13908" b="6283"/>
            <a:stretch>
              <a:fillRect/>
            </a:stretch>
          </p:blipFill>
          <p:spPr>
            <a:xfrm>
              <a:off x="2785148" y="2519103"/>
              <a:ext cx="871847" cy="1123802"/>
            </a:xfrm>
            <a:prstGeom prst="rect">
              <a:avLst/>
            </a:prstGeom>
          </p:spPr>
        </p:pic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1B602B57-988C-B6AF-E8CC-0E62EAC01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709" y="4150161"/>
            <a:ext cx="2364416" cy="1261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721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EAD03FF-D1E1-4F90-6DA1-54F76E951383}"/>
              </a:ext>
            </a:extLst>
          </p:cNvPr>
          <p:cNvGrpSpPr>
            <a:grpSpLocks noChangeAspect="1"/>
          </p:cNvGrpSpPr>
          <p:nvPr/>
        </p:nvGrpSpPr>
        <p:grpSpPr>
          <a:xfrm>
            <a:off x="8422601" y="148855"/>
            <a:ext cx="3424598" cy="2102444"/>
            <a:chOff x="5442955" y="1523258"/>
            <a:chExt cx="3424598" cy="210244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5B0B357-F6F3-F5DC-F075-984D051EFDC5}"/>
                </a:ext>
              </a:extLst>
            </p:cNvPr>
            <p:cNvSpPr/>
            <p:nvPr/>
          </p:nvSpPr>
          <p:spPr>
            <a:xfrm>
              <a:off x="5826642" y="2062718"/>
              <a:ext cx="641497" cy="116958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ECBF9DF-ECAC-C4CE-93EC-03262BE9FA4C}"/>
                </a:ext>
              </a:extLst>
            </p:cNvPr>
            <p:cNvSpPr/>
            <p:nvPr/>
          </p:nvSpPr>
          <p:spPr>
            <a:xfrm>
              <a:off x="6468139" y="2062717"/>
              <a:ext cx="372139" cy="1169581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C000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179F67A-9D35-AE5F-B20C-B837570C1243}"/>
                </a:ext>
              </a:extLst>
            </p:cNvPr>
            <p:cNvSpPr/>
            <p:nvPr/>
          </p:nvSpPr>
          <p:spPr>
            <a:xfrm>
              <a:off x="6840278" y="2062716"/>
              <a:ext cx="2027275" cy="1169581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17DD42E-5176-A4D1-A6A6-631D193DD953}"/>
                </a:ext>
              </a:extLst>
            </p:cNvPr>
            <p:cNvSpPr txBox="1"/>
            <p:nvPr/>
          </p:nvSpPr>
          <p:spPr>
            <a:xfrm>
              <a:off x="5442955" y="1523258"/>
              <a:ext cx="13973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100nm stratified layers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D3C75FB-CB00-E28E-957D-C0DB050F8804}"/>
                </a:ext>
              </a:extLst>
            </p:cNvPr>
            <p:cNvSpPr txBox="1"/>
            <p:nvPr/>
          </p:nvSpPr>
          <p:spPr>
            <a:xfrm>
              <a:off x="6154584" y="3317925"/>
              <a:ext cx="9992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50nm gold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BB6576-BC8E-81C0-3CD8-BA3A01E11D48}"/>
                </a:ext>
              </a:extLst>
            </p:cNvPr>
            <p:cNvSpPr txBox="1"/>
            <p:nvPr/>
          </p:nvSpPr>
          <p:spPr>
            <a:xfrm>
              <a:off x="7286708" y="1698690"/>
              <a:ext cx="11344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Si substrate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E4C7B46-5099-6B66-BA74-1C54C59050A5}"/>
              </a:ext>
            </a:extLst>
          </p:cNvPr>
          <p:cNvSpPr txBox="1"/>
          <p:nvPr/>
        </p:nvSpPr>
        <p:spPr>
          <a:xfrm>
            <a:off x="329610" y="148855"/>
            <a:ext cx="323120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Optical Response of MS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F23A3B-7070-27E9-4C22-AC8F5C3DA7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56" y="696705"/>
            <a:ext cx="3520912" cy="30264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D1E52B3-E11E-8FA4-7DAC-5B54871EC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093" y="696705"/>
            <a:ext cx="3520910" cy="30264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7151A6-93B4-CEC2-9BE5-7212D1C4F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2093" y="3723173"/>
            <a:ext cx="3520910" cy="30264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25D6359-A146-2466-64C8-088CDB7B7E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056" y="3723173"/>
            <a:ext cx="3520910" cy="302646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02AEC03-88A6-DCC8-9F25-A9BB67C148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891" t="8419" r="16667" b="8419"/>
          <a:stretch>
            <a:fillRect/>
          </a:stretch>
        </p:blipFill>
        <p:spPr>
          <a:xfrm>
            <a:off x="8362128" y="3348284"/>
            <a:ext cx="729648" cy="74977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EEB5308-5A12-C985-078E-5BADFE9269A2}"/>
              </a:ext>
            </a:extLst>
          </p:cNvPr>
          <p:cNvSpPr txBox="1"/>
          <p:nvPr/>
        </p:nvSpPr>
        <p:spPr>
          <a:xfrm>
            <a:off x="8942452" y="4681127"/>
            <a:ext cx="23848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*did not use lamellar EMT for these calculations*</a:t>
            </a:r>
          </a:p>
        </p:txBody>
      </p:sp>
    </p:spTree>
    <p:extLst>
      <p:ext uri="{BB962C8B-B14F-4D97-AF65-F5344CB8AC3E}">
        <p14:creationId xmlns:p14="http://schemas.microsoft.com/office/powerpoint/2010/main" val="253345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FE327-4D15-374D-B610-5AB21CBEE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30E3753-496D-D376-619F-B4E8E44A9404}"/>
              </a:ext>
            </a:extLst>
          </p:cNvPr>
          <p:cNvGrpSpPr>
            <a:grpSpLocks noChangeAspect="1"/>
          </p:cNvGrpSpPr>
          <p:nvPr/>
        </p:nvGrpSpPr>
        <p:grpSpPr>
          <a:xfrm>
            <a:off x="8437792" y="148855"/>
            <a:ext cx="3424598" cy="2102444"/>
            <a:chOff x="5442955" y="1523258"/>
            <a:chExt cx="3424598" cy="210244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D642707-8E7B-F854-FEBE-E47018A80BF1}"/>
                </a:ext>
              </a:extLst>
            </p:cNvPr>
            <p:cNvSpPr/>
            <p:nvPr/>
          </p:nvSpPr>
          <p:spPr>
            <a:xfrm>
              <a:off x="5826642" y="2062718"/>
              <a:ext cx="641497" cy="116958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457D26B-DFFA-E005-D40A-D92D38D3AF8F}"/>
                </a:ext>
              </a:extLst>
            </p:cNvPr>
            <p:cNvSpPr/>
            <p:nvPr/>
          </p:nvSpPr>
          <p:spPr>
            <a:xfrm>
              <a:off x="6468139" y="2062717"/>
              <a:ext cx="372139" cy="1169581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FFC000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95FBF6B-2566-DD84-49BD-47917AC75B42}"/>
                </a:ext>
              </a:extLst>
            </p:cNvPr>
            <p:cNvSpPr/>
            <p:nvPr/>
          </p:nvSpPr>
          <p:spPr>
            <a:xfrm>
              <a:off x="6840278" y="2062716"/>
              <a:ext cx="2027275" cy="1169581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5DB2888-2207-E424-E64A-0B027B6AEC56}"/>
                </a:ext>
              </a:extLst>
            </p:cNvPr>
            <p:cNvSpPr txBox="1"/>
            <p:nvPr/>
          </p:nvSpPr>
          <p:spPr>
            <a:xfrm>
              <a:off x="5442955" y="1523258"/>
              <a:ext cx="139732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100nm stratified layers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3B77264-41A9-2400-A382-D8CA34EEC2F0}"/>
                </a:ext>
              </a:extLst>
            </p:cNvPr>
            <p:cNvSpPr txBox="1"/>
            <p:nvPr/>
          </p:nvSpPr>
          <p:spPr>
            <a:xfrm>
              <a:off x="6154584" y="3317925"/>
              <a:ext cx="9992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50nm gold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3F1DFCF-EAA7-32DD-C555-96E5CDD1E89A}"/>
                </a:ext>
              </a:extLst>
            </p:cNvPr>
            <p:cNvSpPr txBox="1"/>
            <p:nvPr/>
          </p:nvSpPr>
          <p:spPr>
            <a:xfrm>
              <a:off x="7286708" y="1698690"/>
              <a:ext cx="11344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Si substrate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F92CB5C-FDFF-5E0D-3E5B-1EB19C014C73}"/>
              </a:ext>
            </a:extLst>
          </p:cNvPr>
          <p:cNvSpPr txBox="1"/>
          <p:nvPr/>
        </p:nvSpPr>
        <p:spPr>
          <a:xfrm>
            <a:off x="329610" y="148855"/>
            <a:ext cx="335598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/>
              <a:t>Ellipsometry Parameters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5EBE09-B5AC-D0AC-8E76-793B447D88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02056" y="733490"/>
            <a:ext cx="3520912" cy="29528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8D343B-DD1C-76AD-2140-BF22C5F08B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2030" y="696705"/>
            <a:ext cx="3481036" cy="302646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E94A03D-4472-F49F-294D-230C036DA69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02030" y="3723173"/>
            <a:ext cx="3481036" cy="30264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5E20788-58D6-BF5C-2A44-DCD11851842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1993" y="3723173"/>
            <a:ext cx="3481036" cy="302646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828C72E-7F0D-C4F8-6044-0D52A2C35FCC}"/>
              </a:ext>
            </a:extLst>
          </p:cNvPr>
          <p:cNvSpPr txBox="1"/>
          <p:nvPr/>
        </p:nvSpPr>
        <p:spPr>
          <a:xfrm>
            <a:off x="8942452" y="4681127"/>
            <a:ext cx="23848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*did not use lamellar EMT for these calculations*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2941B5-BD07-B9DB-0CBF-10958AC1F03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892" t="17907" r="16202" b="18465"/>
          <a:stretch>
            <a:fillRect/>
          </a:stretch>
        </p:blipFill>
        <p:spPr>
          <a:xfrm>
            <a:off x="8287698" y="3282712"/>
            <a:ext cx="925033" cy="72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044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52DA37-6849-C87B-B251-8A947C0428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5030" y="345104"/>
            <a:ext cx="3708482" cy="30838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6BF44A-3CEA-C59C-E275-4E088C2C7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248" y="3534891"/>
            <a:ext cx="3798448" cy="31674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2AF420-EAD0-A12E-0660-BFF410A18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171" y="3534891"/>
            <a:ext cx="3886200" cy="31674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FB07BB-F1F7-B798-5003-12F0C154E1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3248" y="367429"/>
            <a:ext cx="3798448" cy="316746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E5DE83E-EA4B-6CE6-2591-07985046832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3894" t="5088" r="13908" b="6283"/>
          <a:stretch>
            <a:fillRect/>
          </a:stretch>
        </p:blipFill>
        <p:spPr>
          <a:xfrm>
            <a:off x="3806457" y="1826461"/>
            <a:ext cx="664535" cy="85657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580395B-24F1-2B93-A84D-DED3EF6A0DAF}"/>
              </a:ext>
            </a:extLst>
          </p:cNvPr>
          <p:cNvGrpSpPr/>
          <p:nvPr/>
        </p:nvGrpSpPr>
        <p:grpSpPr>
          <a:xfrm>
            <a:off x="10117154" y="680350"/>
            <a:ext cx="285656" cy="338554"/>
            <a:chOff x="7751135" y="255181"/>
            <a:chExt cx="285656" cy="33855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34EBC55-1B82-2916-4BE2-DC546F531152}"/>
                </a:ext>
              </a:extLst>
            </p:cNvPr>
            <p:cNvSpPr txBox="1"/>
            <p:nvPr/>
          </p:nvSpPr>
          <p:spPr>
            <a:xfrm>
              <a:off x="7751135" y="255181"/>
              <a:ext cx="28565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b="1" dirty="0">
                  <a:solidFill>
                    <a:schemeClr val="accent1"/>
                  </a:solidFill>
                </a:rPr>
                <a:t>x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0CE30CC-A5AD-4904-CC19-1D637C98368A}"/>
                </a:ext>
              </a:extLst>
            </p:cNvPr>
            <p:cNvSpPr/>
            <p:nvPr/>
          </p:nvSpPr>
          <p:spPr>
            <a:xfrm>
              <a:off x="7792352" y="339083"/>
              <a:ext cx="201168" cy="201666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A9BCAE74-FE3F-1B89-3EA7-1FAD339DC24E}"/>
              </a:ext>
            </a:extLst>
          </p:cNvPr>
          <p:cNvSpPr/>
          <p:nvPr/>
        </p:nvSpPr>
        <p:spPr>
          <a:xfrm>
            <a:off x="10763691" y="1239544"/>
            <a:ext cx="372139" cy="11695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74D87C-BBA5-5540-A423-CD590E7E0881}"/>
              </a:ext>
            </a:extLst>
          </p:cNvPr>
          <p:cNvSpPr/>
          <p:nvPr/>
        </p:nvSpPr>
        <p:spPr>
          <a:xfrm>
            <a:off x="10164726" y="1241670"/>
            <a:ext cx="372139" cy="11695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AEE4B9-68DD-11DA-8A65-9636B5D2FEA1}"/>
              </a:ext>
            </a:extLst>
          </p:cNvPr>
          <p:cNvSpPr/>
          <p:nvPr/>
        </p:nvSpPr>
        <p:spPr>
          <a:xfrm>
            <a:off x="9606518" y="1239545"/>
            <a:ext cx="372139" cy="11695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52138A-EEDC-9B28-6489-9AFCF02A725C}"/>
              </a:ext>
            </a:extLst>
          </p:cNvPr>
          <p:cNvSpPr/>
          <p:nvPr/>
        </p:nvSpPr>
        <p:spPr>
          <a:xfrm>
            <a:off x="11132284" y="1239544"/>
            <a:ext cx="219739" cy="11695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C2E253-89DF-3E08-D748-98DD0D6CD4E3}"/>
              </a:ext>
            </a:extLst>
          </p:cNvPr>
          <p:cNvSpPr/>
          <p:nvPr/>
        </p:nvSpPr>
        <p:spPr>
          <a:xfrm>
            <a:off x="10536865" y="1239544"/>
            <a:ext cx="219739" cy="11695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E831E3-6E60-0DAF-9ABB-72932A84907E}"/>
              </a:ext>
            </a:extLst>
          </p:cNvPr>
          <p:cNvSpPr/>
          <p:nvPr/>
        </p:nvSpPr>
        <p:spPr>
          <a:xfrm>
            <a:off x="9978657" y="1239544"/>
            <a:ext cx="219739" cy="11695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27ECD8-E695-1D19-BF5F-7CECB33D95C8}"/>
              </a:ext>
            </a:extLst>
          </p:cNvPr>
          <p:cNvSpPr txBox="1"/>
          <p:nvPr/>
        </p:nvSpPr>
        <p:spPr>
          <a:xfrm>
            <a:off x="9011099" y="1466373"/>
            <a:ext cx="4988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…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7E7DDF-9904-1658-36D3-F5E60BB624E7}"/>
              </a:ext>
            </a:extLst>
          </p:cNvPr>
          <p:cNvSpPr txBox="1"/>
          <p:nvPr/>
        </p:nvSpPr>
        <p:spPr>
          <a:xfrm>
            <a:off x="11471188" y="1466373"/>
            <a:ext cx="49885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/>
              <a:t>…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1C147A3C-244E-218C-4A09-365C5DE05E3B}"/>
              </a:ext>
            </a:extLst>
          </p:cNvPr>
          <p:cNvSpPr/>
          <p:nvPr/>
        </p:nvSpPr>
        <p:spPr>
          <a:xfrm rot="16200000">
            <a:off x="9722148" y="2435263"/>
            <a:ext cx="140879" cy="37213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AB29F745-EB4B-E22D-1960-04E3758A7F7E}"/>
              </a:ext>
            </a:extLst>
          </p:cNvPr>
          <p:cNvSpPr/>
          <p:nvPr/>
        </p:nvSpPr>
        <p:spPr>
          <a:xfrm rot="16200000">
            <a:off x="10001252" y="2528297"/>
            <a:ext cx="140880" cy="18606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887293-6C11-1BD1-C1FD-20C0547E8D71}"/>
              </a:ext>
            </a:extLst>
          </p:cNvPr>
          <p:cNvSpPr txBox="1"/>
          <p:nvPr/>
        </p:nvSpPr>
        <p:spPr>
          <a:xfrm>
            <a:off x="9633345" y="2691772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05DCB8-3090-3F8B-2926-D1DE864784CD}"/>
              </a:ext>
            </a:extLst>
          </p:cNvPr>
          <p:cNvSpPr txBox="1"/>
          <p:nvPr/>
        </p:nvSpPr>
        <p:spPr>
          <a:xfrm>
            <a:off x="9917643" y="2691772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10840E5-6659-BC26-5409-33426381BB05}"/>
              </a:ext>
            </a:extLst>
          </p:cNvPr>
          <p:cNvCxnSpPr/>
          <p:nvPr/>
        </p:nvCxnSpPr>
        <p:spPr>
          <a:xfrm>
            <a:off x="9771316" y="466908"/>
            <a:ext cx="0" cy="7194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4807567-F1FD-5D36-CA26-2A5521E82D13}"/>
              </a:ext>
            </a:extLst>
          </p:cNvPr>
          <p:cNvSpPr txBox="1"/>
          <p:nvPr/>
        </p:nvSpPr>
        <p:spPr>
          <a:xfrm>
            <a:off x="9348888" y="649572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  <a:r>
              <a:rPr lang="en-US" baseline="-25000" dirty="0"/>
              <a:t>||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0E38189-6F1F-D289-8E7C-9A454169F277}"/>
              </a:ext>
            </a:extLst>
          </p:cNvPr>
          <p:cNvSpPr txBox="1"/>
          <p:nvPr/>
        </p:nvSpPr>
        <p:spPr>
          <a:xfrm>
            <a:off x="11087982" y="664961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  <a:r>
              <a:rPr lang="en-US" baseline="-25000" dirty="0"/>
              <a:t>⟂</a:t>
            </a:r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D69C923-7ACC-E9D8-25C6-4CD35624349E}"/>
              </a:ext>
            </a:extLst>
          </p:cNvPr>
          <p:cNvCxnSpPr>
            <a:cxnSpLocks/>
          </p:cNvCxnSpPr>
          <p:nvPr/>
        </p:nvCxnSpPr>
        <p:spPr>
          <a:xfrm>
            <a:off x="10912663" y="1069419"/>
            <a:ext cx="7885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9A1E3AC-0226-9779-CD67-439E6F990626}"/>
              </a:ext>
            </a:extLst>
          </p:cNvPr>
          <p:cNvSpPr txBox="1"/>
          <p:nvPr/>
        </p:nvSpPr>
        <p:spPr>
          <a:xfrm>
            <a:off x="9788421" y="680350"/>
            <a:ext cx="3674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2436282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1E3A8DB-8CC4-0ACF-AD7F-670FF7B95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568" y="1084521"/>
            <a:ext cx="4586478" cy="37859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E507CE9-2076-BFE8-FE2E-3469A6B49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085" y="1084521"/>
            <a:ext cx="4653190" cy="378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269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179</Words>
  <Application>Microsoft Macintosh PowerPoint</Application>
  <PresentationFormat>Widescreen</PresentationFormat>
  <Paragraphs>86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Lakhanpal</dc:creator>
  <cp:lastModifiedBy>Kunal Lakhanpal</cp:lastModifiedBy>
  <cp:revision>25</cp:revision>
  <dcterms:created xsi:type="dcterms:W3CDTF">2026-01-16T18:26:29Z</dcterms:created>
  <dcterms:modified xsi:type="dcterms:W3CDTF">2026-02-27T19:20:25Z</dcterms:modified>
</cp:coreProperties>
</file>