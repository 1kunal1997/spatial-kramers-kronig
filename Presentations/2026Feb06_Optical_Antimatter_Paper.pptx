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7" r:id="rId2"/>
    <p:sldId id="258" r:id="rId3"/>
    <p:sldId id="260" r:id="rId4"/>
    <p:sldId id="261" r:id="rId5"/>
    <p:sldId id="262" r:id="rId6"/>
    <p:sldId id="263" r:id="rId7"/>
    <p:sldId id="264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2"/>
  </p:normalViewPr>
  <p:slideViewPr>
    <p:cSldViewPr snapToGrid="0">
      <p:cViewPr>
        <p:scale>
          <a:sx n="100" d="100"/>
          <a:sy n="100" d="100"/>
        </p:scale>
        <p:origin x="9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57E4CF-50E2-2C40-9FB3-64EFE5EE6D79}" type="datetimeFigureOut">
              <a:rPr lang="en-US" smtClean="0"/>
              <a:t>2/6/26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86C39C-4197-5448-8937-3375B481D8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78194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86C39C-4197-5448-8937-3375B481D8F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73224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2C72F4-8D1F-FE70-429E-D37EF7D9E1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84F678-EE79-E747-EC84-72CF9B8AF1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ABCC5E-FEB4-929E-339A-BAB623C2E1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0AC80-3095-6C40-9435-7E9657C4CF9C}" type="datetimeFigureOut">
              <a:rPr lang="en-US" smtClean="0"/>
              <a:t>2/6/26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791C5D-49FF-CC77-77AE-0BC617E41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76C30A-9850-0E74-398A-0CECC0A97E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3A1750-D42F-DD4D-B729-BCF7B5F048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29636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859E05-2961-C13F-8A72-3E0017E4CF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5F92B3-9FF5-1D15-0102-9B165277A8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C2FEA-A9A2-62A3-2A57-1508E97A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0AC80-3095-6C40-9435-7E9657C4CF9C}" type="datetimeFigureOut">
              <a:rPr lang="en-US" smtClean="0"/>
              <a:t>2/6/26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05D681-04B2-F601-F555-D203629530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C9E699-DDA2-AADC-C0B6-94625F8035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3A1750-D42F-DD4D-B729-BCF7B5F048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48779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E530EC-F388-C090-2DD7-FE6499BF1A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256B6D-10C1-B649-4A12-2C9FC32B49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C0A626-EDEE-390B-4B70-BD0CD263B2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0AC80-3095-6C40-9435-7E9657C4CF9C}" type="datetimeFigureOut">
              <a:rPr lang="en-US" smtClean="0"/>
              <a:t>2/6/26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2BE126-C230-5AF8-2A75-339657F3C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2009DC-D164-EF9E-96C7-0F39C1BC21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3A1750-D42F-DD4D-B729-BCF7B5F048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8771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99597A-B08F-A197-8E97-FD1EC2A0DF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D4A8CE-5820-4580-A989-29459D09A6D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D99D16-F96E-85A7-F7C3-37DE18F4AE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2F4CA6-6D32-0489-7622-7B44BF4E78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0AC80-3095-6C40-9435-7E9657C4CF9C}" type="datetimeFigureOut">
              <a:rPr lang="en-US" smtClean="0"/>
              <a:t>2/6/26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99DB10-52DB-5B70-3BB1-1D1C204B68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FD4D39-F0F5-B85F-7100-95C22B1A9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3A1750-D42F-DD4D-B729-BCF7B5F048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84272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14A166-A445-C161-F656-2AB2ECE02A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EECA4F-9D3A-A3B4-82AD-2AC0444648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3E556E-BEB9-AFC4-DF60-E49DBD5A09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3FC3986-BEDF-3CFB-1948-CE2832F3BC9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C4736E8-B2EA-AC29-63EC-F7ECD7F1868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393414C-6CED-50EB-5222-450A88C736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0AC80-3095-6C40-9435-7E9657C4CF9C}" type="datetimeFigureOut">
              <a:rPr lang="en-US" smtClean="0"/>
              <a:t>2/6/26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26B93E2-BFC3-4B30-B334-B7E038B951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49883A3-FF0F-0502-3A87-317B059B99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3A1750-D42F-DD4D-B729-BCF7B5F048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69155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B5B8F0-55EB-29C6-A014-B4D70CBDB8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D3049D5-3A3E-3DCB-706F-83061390C3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0AC80-3095-6C40-9435-7E9657C4CF9C}" type="datetimeFigureOut">
              <a:rPr lang="en-US" smtClean="0"/>
              <a:t>2/6/26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C712AB-709B-3FB7-A768-B5B01EDD19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6CCA8C-73FC-FE8A-0732-F02D3E45C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3A1750-D42F-DD4D-B729-BCF7B5F048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20586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306C9D9-D575-4944-34D3-CB5954DB86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0AC80-3095-6C40-9435-7E9657C4CF9C}" type="datetimeFigureOut">
              <a:rPr lang="en-US" smtClean="0"/>
              <a:t>2/6/26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25B2C47-8D75-B31A-F351-ACE49410C9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FB3C59-BA48-59DE-3670-4BA0715EEC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3A1750-D42F-DD4D-B729-BCF7B5F048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76913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043725-24DF-2FD0-0096-B8845A4208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623BF7-F5F8-201C-8124-17990ECF79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55E293-F973-C0AC-2CF7-3B263DED6C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0B9352-0B5E-9C77-33B7-60528AD8A8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0AC80-3095-6C40-9435-7E9657C4CF9C}" type="datetimeFigureOut">
              <a:rPr lang="en-US" smtClean="0"/>
              <a:t>2/6/26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F86413-19E0-4E13-43F6-11ACEAA6E4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24AD53-5D23-E979-F013-5437F2CF0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3A1750-D42F-DD4D-B729-BCF7B5F048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31949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96D11-1F0F-575C-2C2A-CFEC9C4F62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FD0AFB0-6FE5-EF48-14DA-9F51727BC26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DED79A-AF8E-E9CA-5DA7-DE6CC1DC36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60D1FB-A5CA-DBA7-1180-191F32F99F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0AC80-3095-6C40-9435-7E9657C4CF9C}" type="datetimeFigureOut">
              <a:rPr lang="en-US" smtClean="0"/>
              <a:t>2/6/26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EEEFDC-48B9-E410-918E-7BF91EC79A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5EB0A1-2918-17A9-20D4-71D49D7CA3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3A1750-D42F-DD4D-B729-BCF7B5F048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13130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DC6305-9680-4385-B3CD-23324479B4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AD9E7AF-BF1A-D9FD-40A9-187D1E72B2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9CB6FD-1F75-1022-1D6E-9F8ED7E7A7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0AC80-3095-6C40-9435-7E9657C4CF9C}" type="datetimeFigureOut">
              <a:rPr lang="en-US" smtClean="0"/>
              <a:t>2/6/26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4CDA83-0791-7C45-E8F1-AD87DB6E1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982936-CCA1-7167-FC78-4A2DECB33A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3A1750-D42F-DD4D-B729-BCF7B5F048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19625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611BD96-38AB-3E8D-24C9-8CF71FE83B9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9B45FE1-CABE-01E5-620E-D5E16E6398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AA52C2-0803-D9BF-713D-A9A8069492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0AC80-3095-6C40-9435-7E9657C4CF9C}" type="datetimeFigureOut">
              <a:rPr lang="en-US" smtClean="0"/>
              <a:t>2/6/26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A1202B-1026-3DF4-84D4-F6B29D842C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97393A-792B-4D83-170C-3935D05006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3A1750-D42F-DD4D-B729-BCF7B5F048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1698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99D17A7-965D-C3D9-1573-5F40F7DA6B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C7CF4D-64A8-F60E-D154-CE190D7845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48A569-5D96-F41E-9586-F1FD27273C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F0AC80-3095-6C40-9435-7E9657C4CF9C}" type="datetimeFigureOut">
              <a:rPr lang="en-US" smtClean="0"/>
              <a:t>2/6/26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2F158F-C037-B55E-4B7C-A2DFC8240B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098CB8-EDB1-F68A-76CD-E965161E76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F3A1750-D42F-DD4D-B729-BCF7B5F048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25128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76D7995-D7EB-20A4-2312-496C672856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4100" y="89933"/>
            <a:ext cx="7772400" cy="136953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D2BB530-2E19-F484-9EBC-C1F262BD2646}"/>
              </a:ext>
            </a:extLst>
          </p:cNvPr>
          <p:cNvSpPr txBox="1"/>
          <p:nvPr/>
        </p:nvSpPr>
        <p:spPr>
          <a:xfrm>
            <a:off x="1771519" y="3626256"/>
            <a:ext cx="19507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Pendry et al. 2003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BD46508-6384-A29E-C3A2-F2F5724A4D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20433" y="1695322"/>
            <a:ext cx="3105150" cy="193093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C16847D-3435-2307-8690-94BDD437811B}"/>
              </a:ext>
            </a:extLst>
          </p:cNvPr>
          <p:cNvSpPr txBox="1"/>
          <p:nvPr/>
        </p:nvSpPr>
        <p:spPr>
          <a:xfrm>
            <a:off x="1524605" y="4066818"/>
            <a:ext cx="25083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complementary media: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39364C4-31C6-6B54-8E95-AD6A5283AE5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11865" y="4452660"/>
            <a:ext cx="2099344" cy="41617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D461146-08F0-B934-AECF-E6C8B67D28E1}"/>
              </a:ext>
            </a:extLst>
          </p:cNvPr>
          <p:cNvSpPr txBox="1"/>
          <p:nvPr/>
        </p:nvSpPr>
        <p:spPr>
          <a:xfrm>
            <a:off x="420611" y="4965700"/>
            <a:ext cx="5104795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1200"/>
              </a:spcAft>
              <a:buFontTx/>
              <a:buChar char="-"/>
            </a:pPr>
            <a:r>
              <a:rPr lang="en-US" dirty="0"/>
              <a:t>idealized to be lossless, which is impractical. due to constraint of positive energy density: negative permittivity -&gt; dispersive -&gt; lossy </a:t>
            </a:r>
          </a:p>
          <a:p>
            <a:pPr marL="285750" indent="-285750">
              <a:spcAft>
                <a:spcPts val="1200"/>
              </a:spcAft>
              <a:buFontTx/>
              <a:buChar char="-"/>
            </a:pPr>
            <a:r>
              <a:rPr lang="en-US" dirty="0"/>
              <a:t>“In experiments, the presence of loss has severely limited this demonstration.” Long et al.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6735727-1C86-9401-2634-F3D3BAA1762E}"/>
              </a:ext>
            </a:extLst>
          </p:cNvPr>
          <p:cNvCxnSpPr>
            <a:cxnSpLocks/>
          </p:cNvCxnSpPr>
          <p:nvPr/>
        </p:nvCxnSpPr>
        <p:spPr>
          <a:xfrm>
            <a:off x="5753100" y="1456451"/>
            <a:ext cx="0" cy="522073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1BF1F28A-A4A8-DA5A-6CE5-48F70ACB61F0}"/>
              </a:ext>
            </a:extLst>
          </p:cNvPr>
          <p:cNvSpPr txBox="1"/>
          <p:nvPr/>
        </p:nvSpPr>
        <p:spPr>
          <a:xfrm>
            <a:off x="6488966" y="1676400"/>
            <a:ext cx="50436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Complex frequency</a:t>
            </a:r>
            <a:r>
              <a:rPr lang="en-US" dirty="0"/>
              <a:t> (temporally decaying wave):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43812AD-8A8E-A98F-8E86-51D74662FDD1}"/>
                  </a:ext>
                </a:extLst>
              </p:cNvPr>
              <p:cNvSpPr txBox="1"/>
              <p:nvPr/>
            </p:nvSpPr>
            <p:spPr>
              <a:xfrm>
                <a:off x="8125599" y="2111415"/>
                <a:ext cx="1770421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200" i="1" smtClean="0">
                        <a:latin typeface="Cambria Math" panose="02040503050406030204" pitchFamily="18" charset="0"/>
                      </a:rPr>
                      <m:t>𝝎</m:t>
                    </m:r>
                  </m:oMath>
                </a14:m>
                <a:r>
                  <a:rPr lang="en-US" sz="2200" dirty="0"/>
                  <a:t> = </a:t>
                </a:r>
                <a14:m>
                  <m:oMath xmlns:m="http://schemas.openxmlformats.org/officeDocument/2006/math">
                    <m:r>
                      <a:rPr lang="en-US" sz="2200" i="1" smtClean="0">
                        <a:latin typeface="Cambria Math" panose="02040503050406030204" pitchFamily="18" charset="0"/>
                      </a:rPr>
                      <m:t>𝝎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′+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200" i="1" smtClean="0">
                        <a:latin typeface="Cambria Math" panose="02040503050406030204" pitchFamily="18" charset="0"/>
                      </a:rPr>
                      <m:t>𝝎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′′</m:t>
                    </m:r>
                  </m:oMath>
                </a14:m>
                <a:endParaRPr lang="en-US" sz="2200" dirty="0"/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43812AD-8A8E-A98F-8E86-51D74662FD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25599" y="2111415"/>
                <a:ext cx="1770421" cy="430887"/>
              </a:xfrm>
              <a:prstGeom prst="rect">
                <a:avLst/>
              </a:prstGeom>
              <a:blipFill>
                <a:blip r:embed="rId6"/>
                <a:stretch>
                  <a:fillRect t="-8571" b="-257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CCDACA21-C902-7FA3-9096-14AADEB73132}"/>
              </a:ext>
            </a:extLst>
          </p:cNvPr>
          <p:cNvSpPr txBox="1"/>
          <p:nvPr/>
        </p:nvSpPr>
        <p:spPr>
          <a:xfrm>
            <a:off x="6488966" y="2681069"/>
            <a:ext cx="53220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Allows for </a:t>
            </a:r>
            <a:r>
              <a:rPr lang="en-US" i="1" dirty="0"/>
              <a:t>lossless</a:t>
            </a:r>
            <a:r>
              <a:rPr lang="en-US" dirty="0"/>
              <a:t> propagation in positive-index, dispersive, passive media:</a:t>
            </a:r>
            <a:endParaRPr lang="en-US" i="1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0CAD4B67-28F2-8986-BB78-F3E1C7006AF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94084" y="3441700"/>
            <a:ext cx="6104514" cy="2932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91396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CD1BF23-BD32-C290-F0B6-D20BA6AAC7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429" y="5245169"/>
            <a:ext cx="5792032" cy="114471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1CC8EEF-F4E6-0B88-1C62-0EBCBED24F6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623" r="46189" b="83015"/>
          <a:stretch>
            <a:fillRect/>
          </a:stretch>
        </p:blipFill>
        <p:spPr>
          <a:xfrm>
            <a:off x="1668772" y="1366840"/>
            <a:ext cx="3209271" cy="96540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B53ED7A-9A6A-D89A-8429-86F3CF608C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81472" y="3327737"/>
            <a:ext cx="822131" cy="44268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4B6CB2B-41C5-40FE-211C-6D59E0BA9E9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81472" y="3916546"/>
            <a:ext cx="774700" cy="44268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DAE9EC2-52CA-9121-771C-6F48FEF59C1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31962" y="4515023"/>
            <a:ext cx="685798" cy="37982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6CA56F6-AECE-5D03-4BA1-BB02D4B4997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66696" y="797984"/>
            <a:ext cx="952500" cy="3048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24DDB1B-D057-D18A-A824-12D98AA1012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85402" y="1277461"/>
            <a:ext cx="3409950" cy="71892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FCE846C-3EFE-19C9-57C5-23EBDBEDB8F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98996" y="2101914"/>
            <a:ext cx="965403" cy="96540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B7607CB-83DD-F43A-2205-92983BA7F06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85402" y="3216151"/>
            <a:ext cx="3525681" cy="807826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2625633E-1532-E6E3-4D99-25755F8B53CC}"/>
              </a:ext>
            </a:extLst>
          </p:cNvPr>
          <p:cNvSpPr txBox="1"/>
          <p:nvPr/>
        </p:nvSpPr>
        <p:spPr>
          <a:xfrm>
            <a:off x="298335" y="175994"/>
            <a:ext cx="666733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/>
              <a:t>Proof that realizable parameters exist for the setup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B7CC3D3-F0C0-3E51-C139-E107E0EC740C}"/>
              </a:ext>
            </a:extLst>
          </p:cNvPr>
          <p:cNvCxnSpPr>
            <a:cxnSpLocks/>
          </p:cNvCxnSpPr>
          <p:nvPr/>
        </p:nvCxnSpPr>
        <p:spPr>
          <a:xfrm>
            <a:off x="6807200" y="797984"/>
            <a:ext cx="0" cy="588221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062C8BAC-4CFB-1301-043F-3EF2C9A5271D}"/>
              </a:ext>
            </a:extLst>
          </p:cNvPr>
          <p:cNvSpPr txBox="1"/>
          <p:nvPr/>
        </p:nvSpPr>
        <p:spPr>
          <a:xfrm>
            <a:off x="9220200" y="2332243"/>
            <a:ext cx="268732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In metamaterials, these can all be controlled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78204D83-55DA-3A64-AE97-005DBF96629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441394" y="4385959"/>
            <a:ext cx="1517649" cy="280181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151DB852-3E84-E5C9-4BDB-AA75CB44C09E}"/>
              </a:ext>
            </a:extLst>
          </p:cNvPr>
          <p:cNvSpPr txBox="1"/>
          <p:nvPr/>
        </p:nvSpPr>
        <p:spPr>
          <a:xfrm>
            <a:off x="7788952" y="4327586"/>
            <a:ext cx="166153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general solution: 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7D1FAE88-C235-C87D-9A1D-8342D46690BB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072475" y="4908026"/>
            <a:ext cx="1618817" cy="965404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BFE86B76-F656-34AE-E2B5-B564F240271C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895431" y="4939823"/>
            <a:ext cx="3200937" cy="933607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9A998CB9-0521-FC6E-71E8-C6955AB0B041}"/>
              </a:ext>
            </a:extLst>
          </p:cNvPr>
          <p:cNvSpPr txBox="1"/>
          <p:nvPr/>
        </p:nvSpPr>
        <p:spPr>
          <a:xfrm>
            <a:off x="8082754" y="6060016"/>
            <a:ext cx="28762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where ⍺ is a free(</a:t>
            </a:r>
            <a:r>
              <a:rPr lang="en-US" sz="1600" dirty="0" err="1"/>
              <a:t>ish</a:t>
            </a:r>
            <a:r>
              <a:rPr lang="en-US" sz="1600" dirty="0"/>
              <a:t>) variable 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5DF6C0C-08BB-AD83-3B13-FA7E18CB9273}"/>
              </a:ext>
            </a:extLst>
          </p:cNvPr>
          <p:cNvSpPr txBox="1"/>
          <p:nvPr/>
        </p:nvSpPr>
        <p:spPr>
          <a:xfrm>
            <a:off x="802464" y="769718"/>
            <a:ext cx="51265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Fundamental model for dispersive material (Drude-Lorentz model):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4288192-668F-79BC-1A80-4559628CF4C1}"/>
              </a:ext>
            </a:extLst>
          </p:cNvPr>
          <p:cNvSpPr txBox="1"/>
          <p:nvPr/>
        </p:nvSpPr>
        <p:spPr>
          <a:xfrm>
            <a:off x="1318066" y="2433892"/>
            <a:ext cx="42135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for realizable and non-exotic design of metamaterials, we require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B301410-45C4-6727-2886-0A1C2C8D3EF0}"/>
              </a:ext>
            </a:extLst>
          </p:cNvPr>
          <p:cNvSpPr txBox="1"/>
          <p:nvPr/>
        </p:nvSpPr>
        <p:spPr>
          <a:xfrm>
            <a:off x="2702580" y="3379803"/>
            <a:ext cx="355851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resonance frequency           (Eq. 7) 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D4764CE-4BBC-9DB2-DE83-F530B8796526}"/>
              </a:ext>
            </a:extLst>
          </p:cNvPr>
          <p:cNvSpPr txBox="1"/>
          <p:nvPr/>
        </p:nvSpPr>
        <p:spPr>
          <a:xfrm>
            <a:off x="2968447" y="4515023"/>
            <a:ext cx="355851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damping                        (Eq. 9) 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9EA22A2-EE63-3351-40CF-8C4E1D9A7B3A}"/>
              </a:ext>
            </a:extLst>
          </p:cNvPr>
          <p:cNvSpPr txBox="1"/>
          <p:nvPr/>
        </p:nvSpPr>
        <p:spPr>
          <a:xfrm>
            <a:off x="2786525" y="3916546"/>
            <a:ext cx="355851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plasma frequency              (Eq. 8)</a:t>
            </a:r>
          </a:p>
        </p:txBody>
      </p:sp>
    </p:spTree>
    <p:extLst>
      <p:ext uri="{BB962C8B-B14F-4D97-AF65-F5344CB8AC3E}">
        <p14:creationId xmlns:p14="http://schemas.microsoft.com/office/powerpoint/2010/main" val="17585085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CDD6DBB-B3E0-7F60-C940-6A43AF1ADC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0700" y="1342274"/>
            <a:ext cx="2165350" cy="41667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725828A-479E-469C-A4AE-86F736EFB8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9900" y="1879600"/>
            <a:ext cx="2216150" cy="3556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67AD27A-F51C-853D-BCD6-536A8BC6CB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76286" y="3819136"/>
            <a:ext cx="1333500" cy="41671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134B5CC-7FDB-CC23-B620-486D9F75177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76286" y="4348471"/>
            <a:ext cx="1391418" cy="416719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F43B34A-AF89-2FB1-8855-FAAEF1420D38}"/>
                  </a:ext>
                </a:extLst>
              </p:cNvPr>
              <p:cNvSpPr txBox="1"/>
              <p:nvPr/>
            </p:nvSpPr>
            <p:spPr>
              <a:xfrm>
                <a:off x="1653777" y="2821515"/>
                <a:ext cx="2439194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sz="2400" b="0" i="1" baseline="30000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𝜔</m:t>
                      </m:r>
                      <m:r>
                        <a:rPr lang="en-US" sz="2400" b="0" i="1" baseline="30000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𝜖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𝜔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F43B34A-AF89-2FB1-8855-FAAEF1420D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3777" y="2821515"/>
                <a:ext cx="2439194" cy="369332"/>
              </a:xfrm>
              <a:prstGeom prst="rect">
                <a:avLst/>
              </a:prstGeom>
              <a:blipFill>
                <a:blip r:embed="rId6"/>
                <a:stretch>
                  <a:fillRect l="-1554" t="-3333" r="-2591" b="-3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214AB12D-A636-A5BB-62B9-1702FD6B5AC0}"/>
              </a:ext>
            </a:extLst>
          </p:cNvPr>
          <p:cNvSpPr txBox="1"/>
          <p:nvPr/>
        </p:nvSpPr>
        <p:spPr>
          <a:xfrm>
            <a:off x="298335" y="175994"/>
            <a:ext cx="915693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/>
              <a:t>Lossless Propagation in Optical Antimatter using Passive, Lossy Media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ABBD484-8371-0AE6-F273-DD9D049F7FB2}"/>
              </a:ext>
            </a:extLst>
          </p:cNvPr>
          <p:cNvSpPr txBox="1"/>
          <p:nvPr/>
        </p:nvSpPr>
        <p:spPr>
          <a:xfrm>
            <a:off x="1330186" y="834449"/>
            <a:ext cx="3262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Start with Maxwell’s equations: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04E871F-CC54-9BED-1102-4C4F6ACC3AFA}"/>
              </a:ext>
            </a:extLst>
          </p:cNvPr>
          <p:cNvSpPr txBox="1"/>
          <p:nvPr/>
        </p:nvSpPr>
        <p:spPr>
          <a:xfrm>
            <a:off x="347930" y="2355850"/>
            <a:ext cx="52269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sub in one for the other, and using vector identities: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C40810C-F53C-1904-59F6-8ED75A18E28B}"/>
              </a:ext>
            </a:extLst>
          </p:cNvPr>
          <p:cNvSpPr txBox="1"/>
          <p:nvPr/>
        </p:nvSpPr>
        <p:spPr>
          <a:xfrm>
            <a:off x="1187400" y="3323253"/>
            <a:ext cx="33719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so it is sufficient to say for real k: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07D8CDF-A62A-376A-0700-8CCBE137EAD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39900" y="5030003"/>
            <a:ext cx="2591534" cy="66277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6EFAA81-26FC-C64D-F752-205E34B1A19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57992" y="5707608"/>
            <a:ext cx="2806820" cy="789999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CA69A60-B957-C691-38B2-96843AE4DEAC}"/>
                  </a:ext>
                </a:extLst>
              </p:cNvPr>
              <p:cNvSpPr txBox="1"/>
              <p:nvPr/>
            </p:nvSpPr>
            <p:spPr>
              <a:xfrm>
                <a:off x="5689600" y="837063"/>
                <a:ext cx="6311900" cy="52655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b="0" i="0" u="none" strike="noStrike" dirty="0">
                    <a:solidFill>
                      <a:srgbClr val="000000"/>
                    </a:solidFill>
                    <a:effectLst/>
                  </a:rPr>
                  <a:t>1) choose a </a:t>
                </a:r>
                <a:r>
                  <a:rPr lang="en-US" b="0" i="1" u="none" strike="noStrike" dirty="0">
                    <a:solidFill>
                      <a:srgbClr val="000000"/>
                    </a:solidFill>
                    <a:effectLst/>
                  </a:rPr>
                  <a:t>single</a:t>
                </a:r>
                <a:r>
                  <a:rPr lang="en-US" b="0" i="0" u="none" strike="noStrike" dirty="0">
                    <a:solidFill>
                      <a:srgbClr val="000000"/>
                    </a:solidFill>
                    <a:effectLst/>
                  </a:rPr>
                  <a:t> complex frequency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𝜔</m:t>
                    </m:r>
                  </m:oMath>
                </a14:m>
                <a:r>
                  <a:rPr lang="en-US" b="0" i="0" u="none" strike="noStrike" dirty="0">
                    <a:solidFill>
                      <a:srgbClr val="000000"/>
                    </a:solidFill>
                    <a:effectLst/>
                  </a:rPr>
                  <a:t>, and an arbitrary real number </a:t>
                </a:r>
                <a14:m>
                  <m:oMath xmlns:m="http://schemas.openxmlformats.org/officeDocument/2006/math">
                    <m:r>
                      <a:rPr lang="en-US" b="0" i="1" u="none" strike="noStrike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i="1" baseline="-25000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br>
                  <a:rPr lang="en-US" b="0" i="0" u="none" strike="noStrike" dirty="0">
                    <a:solidFill>
                      <a:srgbClr val="000000"/>
                    </a:solidFill>
                    <a:effectLst/>
                  </a:rPr>
                </a:br>
                <a:br>
                  <a:rPr lang="en-US" b="0" i="0" u="none" strike="noStrike" dirty="0">
                    <a:solidFill>
                      <a:srgbClr val="000000"/>
                    </a:solidFill>
                    <a:effectLst/>
                  </a:rPr>
                </a:br>
                <a:r>
                  <a:rPr lang="en-US" b="0" i="0" u="none" strike="noStrike" dirty="0">
                    <a:solidFill>
                      <a:srgbClr val="000000"/>
                    </a:solidFill>
                    <a:effectLst/>
                  </a:rPr>
                  <a:t>2) define a particular complex, lossy eps as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𝜖</m:t>
                    </m:r>
                    <m:r>
                      <a:rPr lang="en-US" b="0" i="0" u="none" strike="noStrike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u="none" strike="noStrike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u="none" strike="noStrike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US" i="1" baseline="-25000">
                            <a:latin typeface="Cambria Math" panose="02040503050406030204" pitchFamily="18" charset="0"/>
                          </a:rPr>
                          <m:t>𝜖</m:t>
                        </m:r>
                      </m:num>
                      <m:den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𝜔</m:t>
                        </m:r>
                      </m:den>
                    </m:f>
                  </m:oMath>
                </a14:m>
                <a:r>
                  <a:rPr lang="en-US" b="0" i="0" u="none" strike="noStrike" dirty="0">
                    <a:solidFill>
                      <a:srgbClr val="000000"/>
                    </a:solidFill>
                    <a:effectLst/>
                  </a:rPr>
                  <a:t> </a:t>
                </a:r>
              </a:p>
              <a:p>
                <a:br>
                  <a:rPr lang="en-US" dirty="0">
                    <a:solidFill>
                      <a:srgbClr val="000000"/>
                    </a:solidFill>
                  </a:rPr>
                </a:br>
                <a:r>
                  <a:rPr lang="en-US" dirty="0">
                    <a:solidFill>
                      <a:srgbClr val="000000"/>
                    </a:solidFill>
                  </a:rPr>
                  <a:t>3) define the complement media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ἐ</m:t>
                    </m:r>
                    <m:r>
                      <a:rPr lang="en-US" b="0" i="0" u="none" strike="noStrike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0" u="none" strike="noStrike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b="0" i="1" u="none" strike="noStrike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u="none" strike="noStrike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US" i="1" baseline="-25000">
                            <a:latin typeface="Cambria Math" panose="02040503050406030204" pitchFamily="18" charset="0"/>
                          </a:rPr>
                          <m:t>𝜖</m:t>
                        </m:r>
                      </m:num>
                      <m:den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𝜔</m:t>
                        </m:r>
                      </m:den>
                    </m:f>
                  </m:oMath>
                </a14:m>
                <a:br>
                  <a:rPr lang="en-US" dirty="0">
                    <a:solidFill>
                      <a:srgbClr val="000000"/>
                    </a:solidFill>
                  </a:rPr>
                </a:br>
                <a:br>
                  <a:rPr lang="en-US" dirty="0">
                    <a:solidFill>
                      <a:srgbClr val="000000"/>
                    </a:solidFill>
                  </a:rPr>
                </a:br>
                <a:r>
                  <a:rPr lang="en-US" dirty="0">
                    <a:solidFill>
                      <a:srgbClr val="000000"/>
                    </a:solidFill>
                  </a:rPr>
                  <a:t>4) for the first material, define as C + </a:t>
                </a:r>
                <a:r>
                  <a:rPr lang="en-US" dirty="0" err="1">
                    <a:solidFill>
                      <a:srgbClr val="000000"/>
                    </a:solidFill>
                  </a:rPr>
                  <a:t>iD</a:t>
                </a:r>
                <a:r>
                  <a:rPr lang="en-US" dirty="0">
                    <a:solidFill>
                      <a:srgbClr val="000000"/>
                    </a:solidFill>
                  </a:rPr>
                  <a:t> as they did in theorem, and use their solution to find real, positive values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𝜔</m:t>
                    </m:r>
                    <m:r>
                      <a:rPr lang="en-US" b="0" i="1" baseline="-25000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dirty="0">
                    <a:solidFill>
                      <a:srgbClr val="000000"/>
                    </a:solidFill>
                  </a:rPr>
                  <a:t> ,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𝜔</m:t>
                    </m:r>
                    <m:r>
                      <a:rPr lang="en-US" b="0" i="1" baseline="-25000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dirty="0">
                    <a:solidFill>
                      <a:srgbClr val="000000"/>
                    </a:solidFill>
                  </a:rPr>
                  <a:t> and 𝛾 for that material, which should be realizable experimentally</a:t>
                </a:r>
                <a:br>
                  <a:rPr lang="en-US" dirty="0">
                    <a:solidFill>
                      <a:srgbClr val="000000"/>
                    </a:solidFill>
                  </a:rPr>
                </a:br>
                <a:br>
                  <a:rPr lang="en-US" dirty="0">
                    <a:solidFill>
                      <a:srgbClr val="000000"/>
                    </a:solidFill>
                  </a:rPr>
                </a:br>
                <a:r>
                  <a:rPr lang="en-US" dirty="0">
                    <a:solidFill>
                      <a:srgbClr val="000000"/>
                    </a:solidFill>
                  </a:rPr>
                  <a:t>5) for the compliment, define again as C + </a:t>
                </a:r>
                <a:r>
                  <a:rPr lang="en-US" dirty="0" err="1">
                    <a:solidFill>
                      <a:srgbClr val="000000"/>
                    </a:solidFill>
                  </a:rPr>
                  <a:t>iD</a:t>
                </a:r>
                <a:r>
                  <a:rPr lang="en-US" dirty="0">
                    <a:solidFill>
                      <a:srgbClr val="000000"/>
                    </a:solidFill>
                  </a:rPr>
                  <a:t> (will be different than previous material), plug in the same complex frequency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𝜔</m:t>
                    </m:r>
                  </m:oMath>
                </a14:m>
                <a:r>
                  <a:rPr lang="en-US" dirty="0">
                    <a:solidFill>
                      <a:srgbClr val="000000"/>
                    </a:solidFill>
                  </a:rPr>
                  <a:t>, yielding different set of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𝜔</m:t>
                    </m:r>
                    <m:r>
                      <a:rPr lang="en-US" b="0" i="1" baseline="-25000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dirty="0">
                    <a:solidFill>
                      <a:srgbClr val="000000"/>
                    </a:solidFill>
                  </a:rPr>
                  <a:t> ,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𝜔</m:t>
                    </m:r>
                    <m:r>
                      <a:rPr lang="en-US" b="0" i="1" baseline="-25000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dirty="0">
                    <a:solidFill>
                      <a:srgbClr val="000000"/>
                    </a:solidFill>
                  </a:rPr>
                  <a:t> and 𝛾</a:t>
                </a:r>
                <a:br>
                  <a:rPr lang="en-US" dirty="0">
                    <a:solidFill>
                      <a:srgbClr val="000000"/>
                    </a:solidFill>
                  </a:rPr>
                </a:br>
                <a:br>
                  <a:rPr lang="en-US" dirty="0">
                    <a:solidFill>
                      <a:srgbClr val="000000"/>
                    </a:solidFill>
                  </a:rPr>
                </a:br>
                <a:r>
                  <a:rPr lang="en-US" dirty="0">
                    <a:solidFill>
                      <a:srgbClr val="000000"/>
                    </a:solidFill>
                  </a:rPr>
                  <a:t>6) both of these materials are passive, lossy media that are complimentary to one another, and both provide </a:t>
                </a:r>
                <a:r>
                  <a:rPr lang="en-US">
                    <a:solidFill>
                      <a:srgbClr val="000000"/>
                    </a:solidFill>
                  </a:rPr>
                  <a:t>lossless propagation.</a:t>
                </a:r>
                <a:endParaRPr lang="en-US" b="0" i="0" u="none" strike="noStrike" dirty="0">
                  <a:solidFill>
                    <a:srgbClr val="000000"/>
                  </a:solidFill>
                  <a:effectLst/>
                </a:endParaRPr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CA69A60-B957-C691-38B2-96843AE4DE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9600" y="837063"/>
                <a:ext cx="6311900" cy="5265544"/>
              </a:xfrm>
              <a:prstGeom prst="rect">
                <a:avLst/>
              </a:prstGeom>
              <a:blipFill>
                <a:blip r:embed="rId9"/>
                <a:stretch>
                  <a:fillRect l="-601" t="-481" r="-601" b="-7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979678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CC2CF58-AB30-9CD2-2350-73D5C2A84B9F}"/>
              </a:ext>
            </a:extLst>
          </p:cNvPr>
          <p:cNvSpPr txBox="1"/>
          <p:nvPr/>
        </p:nvSpPr>
        <p:spPr>
          <a:xfrm>
            <a:off x="298335" y="175994"/>
            <a:ext cx="626684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/>
              <a:t>Numerical Demonstration of Optical Antimatter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5B7E9F2-524A-D3F2-18B2-D3F9815E1E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7229" y="4108922"/>
            <a:ext cx="7372741" cy="268557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DB3F835-CDF6-F4F5-3E1A-2BB9A95D96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6753" y="669941"/>
            <a:ext cx="6853692" cy="3292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13528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F95569-D342-8908-F3F5-397570A49D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2689902-2F5A-E98F-0AE0-9BFB7357392A}"/>
              </a:ext>
            </a:extLst>
          </p:cNvPr>
          <p:cNvSpPr txBox="1"/>
          <p:nvPr/>
        </p:nvSpPr>
        <p:spPr>
          <a:xfrm>
            <a:off x="298335" y="175994"/>
            <a:ext cx="567533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/>
              <a:t>Ideal Perfect Lens using Optical Antimatter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1D886F2-FFF3-18F4-D02A-F7A2568093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6500" y="687134"/>
            <a:ext cx="9067800" cy="5994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81142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F3AAB5-2956-1F08-2434-AD4D5A7E0C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4960AC7-80E6-EB13-C5D7-4D033036C622}"/>
              </a:ext>
            </a:extLst>
          </p:cNvPr>
          <p:cNvSpPr txBox="1"/>
          <p:nvPr/>
        </p:nvSpPr>
        <p:spPr>
          <a:xfrm>
            <a:off x="298335" y="175994"/>
            <a:ext cx="542552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 err="1"/>
              <a:t>Superscattering</a:t>
            </a:r>
            <a:r>
              <a:rPr lang="en-US" sz="2200" b="1" dirty="0"/>
              <a:t> using Optical Antimatter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8843811-F359-BFF7-976F-E38E9BF240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2200" y="579232"/>
            <a:ext cx="5181600" cy="6102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967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1379462-DC6A-2F26-88FC-7001FD56AEF0}"/>
              </a:ext>
            </a:extLst>
          </p:cNvPr>
          <p:cNvSpPr txBox="1"/>
          <p:nvPr/>
        </p:nvSpPr>
        <p:spPr>
          <a:xfrm>
            <a:off x="298335" y="175994"/>
            <a:ext cx="22635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Key Takeaways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098888F-9AD0-A83B-80FE-09E2C25E1135}"/>
              </a:ext>
            </a:extLst>
          </p:cNvPr>
          <p:cNvSpPr txBox="1"/>
          <p:nvPr/>
        </p:nvSpPr>
        <p:spPr>
          <a:xfrm>
            <a:off x="1689100" y="1151453"/>
            <a:ext cx="6096000" cy="45550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200"/>
              </a:spcAft>
              <a:buAutoNum type="arabicParenR"/>
            </a:pPr>
            <a:r>
              <a:rPr lang="en-US" sz="2000" b="0" i="0" u="none" strike="noStrike" dirty="0">
                <a:solidFill>
                  <a:srgbClr val="000000"/>
                </a:solidFill>
                <a:effectLst/>
              </a:rPr>
              <a:t>Provided an alternative path to achieving complementary media</a:t>
            </a:r>
          </a:p>
          <a:p>
            <a:pPr marL="800100" lvl="1" indent="-342900">
              <a:spcAft>
                <a:spcPts val="600"/>
              </a:spcAft>
              <a:buAutoNum type="alphaLcParenR"/>
            </a:pPr>
            <a:r>
              <a:rPr lang="en-US" sz="2000" b="0" i="0" u="none" strike="noStrike" dirty="0">
                <a:solidFill>
                  <a:srgbClr val="000000"/>
                </a:solidFill>
                <a:effectLst/>
              </a:rPr>
              <a:t>negative-index materials are hard to fabricate and attenuate the signal due to losses</a:t>
            </a:r>
          </a:p>
          <a:p>
            <a:pPr marL="800100" lvl="1" indent="-342900">
              <a:spcAft>
                <a:spcPts val="600"/>
              </a:spcAft>
              <a:buAutoNum type="alphaLcParenR"/>
            </a:pPr>
            <a:r>
              <a:rPr lang="en-US" sz="2000" b="0" i="0" u="none" strike="noStrike" dirty="0">
                <a:solidFill>
                  <a:srgbClr val="000000"/>
                </a:solidFill>
                <a:effectLst/>
              </a:rPr>
              <a:t>Use a temporally decaying wave to make positive-index materials behave like negative-index ones, with lossless propagation!</a:t>
            </a:r>
          </a:p>
          <a:p>
            <a:pPr marL="342900" indent="-342900">
              <a:spcAft>
                <a:spcPts val="1200"/>
              </a:spcAft>
              <a:buAutoNum type="arabicParenR"/>
            </a:pPr>
            <a:r>
              <a:rPr lang="en-US" sz="2000" dirty="0">
                <a:solidFill>
                  <a:srgbClr val="000000"/>
                </a:solidFill>
              </a:rPr>
              <a:t>Laid out path for realizable materials for this schema using Drude model parameters</a:t>
            </a:r>
          </a:p>
          <a:p>
            <a:pPr marL="342900" indent="-342900">
              <a:spcAft>
                <a:spcPts val="1200"/>
              </a:spcAft>
              <a:buAutoNum type="arabicParenR"/>
            </a:pPr>
            <a:r>
              <a:rPr lang="en-US" sz="2000" b="0" i="0" u="none" strike="noStrike" dirty="0">
                <a:solidFill>
                  <a:srgbClr val="000000"/>
                </a:solidFill>
                <a:effectLst/>
              </a:rPr>
              <a:t>Showed applications of this technique in important fields like lensing, </a:t>
            </a:r>
            <a:r>
              <a:rPr lang="en-US" sz="2000" b="0" i="0" u="none" strike="noStrike" dirty="0" err="1">
                <a:solidFill>
                  <a:srgbClr val="000000"/>
                </a:solidFill>
                <a:effectLst/>
              </a:rPr>
              <a:t>superscattering</a:t>
            </a:r>
            <a:r>
              <a:rPr lang="en-US" sz="2000" b="0" i="0" u="none" strike="noStrike" dirty="0">
                <a:solidFill>
                  <a:srgbClr val="000000"/>
                </a:solidFill>
                <a:effectLst/>
              </a:rPr>
              <a:t>, etc.</a:t>
            </a:r>
          </a:p>
          <a:p>
            <a:pPr marL="800100" lvl="1" indent="-342900">
              <a:spcAft>
                <a:spcPts val="1200"/>
              </a:spcAft>
              <a:buAutoNum type="alphaLcParenR"/>
            </a:pPr>
            <a:endParaRPr lang="en-US" sz="2000" b="0" i="0" u="none" strike="noStrike" dirty="0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0461711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203</TotalTime>
  <Words>426</Words>
  <Application>Microsoft Macintosh PowerPoint</Application>
  <PresentationFormat>Widescreen</PresentationFormat>
  <Paragraphs>33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Kunal Lakhanpal</dc:creator>
  <cp:lastModifiedBy>Kunal Lakhanpal</cp:lastModifiedBy>
  <cp:revision>21</cp:revision>
  <dcterms:created xsi:type="dcterms:W3CDTF">2026-02-06T18:45:17Z</dcterms:created>
  <dcterms:modified xsi:type="dcterms:W3CDTF">2026-02-06T22:08:44Z</dcterms:modified>
</cp:coreProperties>
</file>