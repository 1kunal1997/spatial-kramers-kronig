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4" r:id="rId6"/>
    <p:sldId id="260" r:id="rId7"/>
    <p:sldId id="276" r:id="rId8"/>
    <p:sldId id="267" r:id="rId9"/>
    <p:sldId id="261" r:id="rId10"/>
    <p:sldId id="262" r:id="rId11"/>
    <p:sldId id="263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5" r:id="rId21"/>
    <p:sldId id="26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31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A506-51A0-BF23-4071-E8091316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664F5-1A87-8A76-AB99-ADC1C8040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17CAC-7953-87AC-C99A-80B7FF01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E67AA-1F3C-5398-EB0B-C40C7BA7A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09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Hilbert Transform: Why Symmetric Endpoints Matter</a:t>
            </a:r>
            <a:endParaRPr lang="en-US" sz="2400" dirty="0"/>
          </a:p>
        </p:txBody>
      </p:sp>
      <p:pic>
        <p:nvPicPr>
          <p:cNvPr id="3" name="Image 0" descr="/sessions/practical-intelligent-heisenberg/figures/fig_new1_lorentz_vs_gr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0"/>
            <a:ext cx="89611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Lorentzian profile has same endpoints — FFT-based HT works perfectly.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 coating has different endpoints. FFT assumes periodicity → jump discontinuity → the root cause of unwanted artifacts.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Hilbert Transform Problem: Asymmetric Endpoints</a:t>
            </a:r>
            <a:endParaRPr lang="en-US" sz="2400" dirty="0"/>
          </a:p>
        </p:txBody>
      </p:sp>
      <p:pic>
        <p:nvPicPr>
          <p:cNvPr id="3" name="Image 0" descr="/sessions/practical-intelligent-heisenberg/figures/fig0a_ht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0"/>
            <a:ext cx="89611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requires computing </a:t>
            </a: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ε''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[ε']. For coatings on substrates, ε'(−∞) = ε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≠ 1 = ε'(+∞). FFT-based HT assumes periodicity → endpoint mismatch causes gain regions.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Derivative-then-Integrate: Solving the Endpoint Problem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334699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derivative of ε'(x) → both endpoints go to 0 → standard HT works → integrate back.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well-localized ε'' peak, but "lossy air" region (n ≈ 1, k &gt; 0) persists — this is fundamental to the asymmetric HT.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7134D-C3AA-9EDF-2FB6-C7A314A8E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9" y="825016"/>
            <a:ext cx="8960002" cy="3370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Backside Reflection Reduction: sKK vs GRIN vs Bulk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s-pol, 80°: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coating reduces ⟨R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⟩ from 0.129 (bulk) to 0.022, a &gt;5× improvement. GRIN alone provides negligible benefit (0.128) at this sub-λ thickness.</a:t>
            </a:r>
            <a:endParaRPr lang="en-US" sz="1200" dirty="0"/>
          </a:p>
        </p:txBody>
      </p:sp>
      <p:pic>
        <p:nvPicPr>
          <p:cNvPr id="6" name="Picture 5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0EF0E4A6-39CC-5BFA-788B-40E85AD1E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6" y="803524"/>
            <a:ext cx="8832024" cy="3329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Angle-Dependence of Backside Reflection at λ = 3 μm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 coating reduces backside reflection at all angles for both polarizations.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particularly strong at ellipsometric angles (60–80°).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BF952-987F-732B-728F-411E9A0CE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47395" cy="3221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Analyticity: Spectral One-Sidedness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065058" y="107442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complex derivative function: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z(x) = dε′/dx + i · dε′′/dx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Fourier transform to spatial frequency: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Z(k) = FFT{ z(x) }</a:t>
            </a: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 = spatial wavenumber (μm⁻¹))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3. Measure one-sidedness: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E₊ = ∫ |Z(k)|² dk  for k &gt; 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E₋ = ∫ |Z(k)|² dk  for k &lt; 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FoM = 100 * (E₊ − E₋) / (E₊ + E₋)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Physical meaning: 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sKK requires ε(x) analytic in upper half-plane → its spatial spectrum is one-sided. Positive k = no reflection from one direction.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graph of a full skk profile&#10;&#10;AI-generated content may be incorrect.">
            <a:extLst>
              <a:ext uri="{FF2B5EF4-FFF2-40B4-BE49-F238E27FC236}">
                <a16:creationId xmlns:a16="http://schemas.microsoft.com/office/drawing/2014/main" id="{82BF1A4D-BB6B-EC13-CF9A-77024866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0" y="841785"/>
            <a:ext cx="4985060" cy="3584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EB28F-4CD3-6C8F-C56F-7808B3738A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5714862" y="209158"/>
            <a:ext cx="3008381" cy="22660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D7749C-319B-C92B-71F7-B075E39F5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097" y="347332"/>
            <a:ext cx="3008380" cy="21278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50BAD7-A060-5F77-A4E7-51E3BF2C86F2}"/>
              </a:ext>
            </a:extLst>
          </p:cNvPr>
          <p:cNvSpPr txBox="1"/>
          <p:nvPr/>
        </p:nvSpPr>
        <p:spPr>
          <a:xfrm>
            <a:off x="981674" y="2668290"/>
            <a:ext cx="71806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spatial frequency k is the </a:t>
            </a:r>
            <a:r>
              <a:rPr lang="en-US" sz="1400" dirty="0" err="1"/>
              <a:t>fourier</a:t>
            </a:r>
            <a:r>
              <a:rPr lang="en-US" sz="1400" dirty="0"/>
              <a:t> conjugate of position x. low k means slowly varying features</a:t>
            </a:r>
          </a:p>
          <a:p>
            <a:endParaRPr lang="en-US" sz="1400"/>
          </a:p>
          <a:p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580476-7C93-A926-0CCF-2FC082E56C9A}"/>
                  </a:ext>
                </a:extLst>
              </p:cNvPr>
              <p:cNvSpPr/>
              <p:nvPr/>
            </p:nvSpPr>
            <p:spPr>
              <a:xfrm>
                <a:off x="458429" y="1075380"/>
                <a:ext cx="1732975" cy="5336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580476-7C93-A926-0CCF-2FC082E56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29" y="1075380"/>
                <a:ext cx="1732975" cy="533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91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4B2F-03F6-643D-7092-E7D43727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FE7C32-9FEE-47AA-D287-8FACED15C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78" y="579079"/>
            <a:ext cx="2286000" cy="161692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124EB93-04E6-7EFE-73A2-82019002D057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Analyticity: Spectral One-Sidedness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74A292-3FD2-3A26-7267-04D3530F9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96006"/>
            <a:ext cx="7772400" cy="292726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40F92F8E-27B9-D46D-88CE-4BCE6CA19F38}"/>
              </a:ext>
            </a:extLst>
          </p:cNvPr>
          <p:cNvSpPr/>
          <p:nvPr/>
        </p:nvSpPr>
        <p:spPr>
          <a:xfrm>
            <a:off x="1051014" y="1824961"/>
            <a:ext cx="3931920" cy="404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with complex Lorentzian: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D913483-A3C8-74F7-0C8A-97CB52297401}"/>
                  </a:ext>
                </a:extLst>
              </p:cNvPr>
              <p:cNvSpPr/>
              <p:nvPr/>
            </p:nvSpPr>
            <p:spPr>
              <a:xfrm>
                <a:off x="3016974" y="902391"/>
                <a:ext cx="1732975" cy="5336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D913483-A3C8-74F7-0C8A-97CB522974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974" y="902391"/>
                <a:ext cx="1732975" cy="5336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209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→ A Trade-off: Sweeping Loss Magnitude</a:t>
            </a:r>
            <a:endParaRPr lang="en-US" sz="2400" dirty="0"/>
          </a:p>
        </p:txBody>
      </p:sp>
      <p:pic>
        <p:nvPicPr>
          <p:cNvPr id="3" name="Image 0" descr="/sessions/practical-intelligent-heisenberg/figures/fig4_alpha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ε''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</a:t>
            </a: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α · ε''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669280" y="1476103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R, A averaged over 2–5 μm.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 point at α ≈ 0.12: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⟨A⟩ ≈ 0.10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 (GRIN only):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0.128, FoM = 0%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1 (full sKK):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⟨R⟩ = 0.022, FoM = 96.4%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α lowers absorption but also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destroys analyticity (purple dashed).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Gating Removes Unphysical "Lossy Air" Region</a:t>
            </a:r>
            <a:endParaRPr lang="en-US" sz="2400" dirty="0"/>
          </a:p>
        </p:txBody>
      </p:sp>
      <p:pic>
        <p:nvPicPr>
          <p:cNvPr id="5" name="Picture 4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2171E0F8-B821-FA53-1CE7-9451EA584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55" y="600634"/>
            <a:ext cx="8755117" cy="44980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Analyticity Cost: Full sKK vs Gated Profile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3891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sKK (left): nearly all spectral weight on positive k → FoM = 96.4%. Gated σ = 0.1 (right): removing lossy air injects power into forbidden (negative k) side → FoM drops to 17.5%.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practical mitigation breaks analyticity.</a:t>
            </a:r>
            <a:endParaRPr lang="en-US" sz="1200" dirty="0"/>
          </a:p>
        </p:txBody>
      </p:sp>
      <p:pic>
        <p:nvPicPr>
          <p:cNvPr id="6" name="Picture 5" descr="A comparison of a graph&#10;&#10;AI-generated content may be incorrect.">
            <a:extLst>
              <a:ext uri="{FF2B5EF4-FFF2-40B4-BE49-F238E27FC236}">
                <a16:creationId xmlns:a16="http://schemas.microsoft.com/office/drawing/2014/main" id="{ED7A8668-CC17-4DEC-2617-2B09E92D7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" y="848348"/>
            <a:ext cx="8903371" cy="33560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03ED15D-2E4E-24E2-CC24-3F90E17C1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7" y="2829005"/>
            <a:ext cx="6145387" cy="2314496"/>
          </a:xfrm>
          <a:prstGeom prst="rect">
            <a:avLst/>
          </a:prstGeom>
        </p:spPr>
      </p:pic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3180D4B9-E915-60E2-9D76-9BCEBD730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6" y="546846"/>
            <a:ext cx="6145387" cy="23144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19538D-B89A-EAC2-8EC2-1D0535A22E07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=0.2384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19538D-B89A-EAC2-8EC2-1D0535A2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70ED86A1-8A82-7437-8CEF-1004113E60F1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8972D-0D21-F716-1E47-D43D7B1E1D34}"/>
              </a:ext>
            </a:extLst>
          </p:cNvPr>
          <p:cNvSpPr txBox="1"/>
          <p:nvPr/>
        </p:nvSpPr>
        <p:spPr>
          <a:xfrm>
            <a:off x="6604735" y="1898094"/>
            <a:ext cx="240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constant profile performs slightly worse than </a:t>
            </a:r>
            <a:r>
              <a:rPr lang="en-US" sz="1400" dirty="0" err="1"/>
              <a:t>sKK</a:t>
            </a:r>
            <a:r>
              <a:rPr lang="en-US" sz="1400" dirty="0"/>
              <a:t> profile </a:t>
            </a:r>
          </a:p>
        </p:txBody>
      </p:sp>
    </p:spTree>
    <p:extLst>
      <p:ext uri="{BB962C8B-B14F-4D97-AF65-F5344CB8AC3E}">
        <p14:creationId xmlns:p14="http://schemas.microsoft.com/office/powerpoint/2010/main" val="2887242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A5DB-BA6C-DF97-583D-EB3CB1F7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E98038-2650-7E02-8A1E-C262C934B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245625-1D0E-1BBE-64C4-2D70704C31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CE284-C8DB-6E5C-E1A3-FD010EB91C9B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=0.2384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CE284-C8DB-6E5C-E1A3-FD010EB9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1A3FA37F-877B-CD28-89CA-00145B742BB7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4381D-6C91-AC85-6AA2-2C1A57E8A17A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both double peaks and random distribution perform slightly worse than </a:t>
            </a:r>
            <a:r>
              <a:rPr lang="en-US" sz="1400" dirty="0" err="1"/>
              <a:t>sKK</a:t>
            </a:r>
            <a:r>
              <a:rPr lang="en-US" sz="1400" dirty="0"/>
              <a:t> profile </a:t>
            </a:r>
          </a:p>
        </p:txBody>
      </p:sp>
    </p:spTree>
    <p:extLst>
      <p:ext uri="{BB962C8B-B14F-4D97-AF65-F5344CB8AC3E}">
        <p14:creationId xmlns:p14="http://schemas.microsoft.com/office/powerpoint/2010/main" val="1179488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39834-358D-4490-67CA-FCBDE8D3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8F913B-350B-6C91-F504-D6828741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 descr="A comparison of a graph&#10;&#10;AI-generated content may be incorrect.">
            <a:extLst>
              <a:ext uri="{FF2B5EF4-FFF2-40B4-BE49-F238E27FC236}">
                <a16:creationId xmlns:a16="http://schemas.microsoft.com/office/drawing/2014/main" id="{4BF4B820-8582-62A6-D848-8D64A5735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6" y="546846"/>
            <a:ext cx="6145387" cy="23144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FDA87-3966-3617-489C-2EBCF3A9C645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=0.2384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FDA87-3966-3617-489C-2EBCF3A9C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2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E4C4031A-7577-25AC-3CF4-D87A57A00301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8B04D-7F8D-1D44-7136-4E7E9482E2B2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gaussian performs </a:t>
            </a:r>
            <a:r>
              <a:rPr lang="en-US" sz="1400" b="1" dirty="0"/>
              <a:t>slightly better</a:t>
            </a:r>
            <a:r>
              <a:rPr lang="en-US" sz="1400" dirty="0"/>
              <a:t> than </a:t>
            </a:r>
            <a:r>
              <a:rPr lang="en-US" sz="1400" dirty="0" err="1"/>
              <a:t>sKK</a:t>
            </a:r>
            <a:r>
              <a:rPr lang="en-US" sz="1400" dirty="0"/>
              <a:t> with </a:t>
            </a:r>
            <a:r>
              <a:rPr lang="en-US" sz="1400" b="1" dirty="0"/>
              <a:t>lower </a:t>
            </a:r>
            <a:r>
              <a:rPr lang="en-US" sz="1400" b="1" dirty="0" err="1"/>
              <a:t>FoM</a:t>
            </a:r>
            <a:r>
              <a:rPr lang="en-US" sz="1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92630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8285-3A79-763A-2EDF-0B3C3D24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20F27-756E-6753-0E6B-48F2C2AB7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FA00A-3338-2D98-0D4C-C9DAFA9AE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340391-CA4B-85DD-7011-E13D79F033CC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=0.1296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340391-CA4B-85DD-7011-E13D79F03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375608FF-F71E-9505-E954-776CFA720AB6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80°, gated)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5BF5D1-4184-3A13-0B02-7DA10A6BC760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gated profiles, constant again performs slightly worse than </a:t>
            </a:r>
            <a:r>
              <a:rPr lang="en-US" sz="1400" dirty="0" err="1"/>
              <a:t>sKK</a:t>
            </a:r>
            <a:r>
              <a:rPr lang="en-US" sz="1400" dirty="0"/>
              <a:t> gated </a:t>
            </a:r>
          </a:p>
        </p:txBody>
      </p:sp>
    </p:spTree>
    <p:extLst>
      <p:ext uri="{BB962C8B-B14F-4D97-AF65-F5344CB8AC3E}">
        <p14:creationId xmlns:p14="http://schemas.microsoft.com/office/powerpoint/2010/main" val="163284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3EA1-53E3-D96D-8E51-A7E18B8D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63500-2135-F0EC-88C1-F8D3A810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093761-E543-AEE0-F3B1-FDE599B0A4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AE0663-2873-B6AF-6481-7E6FF985B82A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=0.1296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AE0663-2873-B6AF-6481-7E6FF985B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9CC8E257-8F53-FFFD-9081-B9D048B4A01A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80°, gated) </a:t>
            </a:r>
            <a:endParaRPr 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C95B6-96E5-7E72-42D4-27BB85F4F780}"/>
              </a:ext>
            </a:extLst>
          </p:cNvPr>
          <p:cNvSpPr txBox="1"/>
          <p:nvPr/>
        </p:nvSpPr>
        <p:spPr>
          <a:xfrm>
            <a:off x="6604735" y="1898094"/>
            <a:ext cx="2405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both double peaks and random distribution perform slightly worse than </a:t>
            </a:r>
            <a:r>
              <a:rPr lang="en-US" sz="1400" dirty="0" err="1"/>
              <a:t>sKK</a:t>
            </a:r>
            <a:r>
              <a:rPr lang="en-US" sz="1400" dirty="0"/>
              <a:t> gated </a:t>
            </a:r>
          </a:p>
        </p:txBody>
      </p:sp>
    </p:spTree>
    <p:extLst>
      <p:ext uri="{BB962C8B-B14F-4D97-AF65-F5344CB8AC3E}">
        <p14:creationId xmlns:p14="http://schemas.microsoft.com/office/powerpoint/2010/main" val="3905204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648B-D6E2-B604-5D3F-1C6FDDA7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08566-4973-56A4-69B1-38BDA037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188" y="2829005"/>
            <a:ext cx="6145385" cy="2314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CB2331-4207-05CD-01EE-574DA3000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87" y="546846"/>
            <a:ext cx="6145385" cy="23144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71014-D49B-006D-D6AB-0F3204551C09}"/>
                  </a:ext>
                </a:extLst>
              </p:cNvPr>
              <p:cNvSpPr txBox="1"/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=0.1296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71014-D49B-006D-D6AB-0F3204551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35" y="896284"/>
                <a:ext cx="2195153" cy="645818"/>
              </a:xfrm>
              <a:prstGeom prst="rect">
                <a:avLst/>
              </a:prstGeom>
              <a:blipFill>
                <a:blip r:embed="rId4"/>
                <a:stretch>
                  <a:fillRect l="-37143" t="-151923" r="-1143" b="-2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0">
            <a:extLst>
              <a:ext uri="{FF2B5EF4-FFF2-40B4-BE49-F238E27FC236}">
                <a16:creationId xmlns:a16="http://schemas.microsoft.com/office/drawing/2014/main" id="{A77AF338-230A-8359-0A85-5E701587785D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Total Losses Constant, Vary Loss Shape (s-pol, 80°, gated) 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05BCA-E935-E7B2-5840-BB3CAE1D2ED2}"/>
              </a:ext>
            </a:extLst>
          </p:cNvPr>
          <p:cNvSpPr txBox="1"/>
          <p:nvPr/>
        </p:nvSpPr>
        <p:spPr>
          <a:xfrm>
            <a:off x="6604735" y="1898094"/>
            <a:ext cx="2405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again, gaussian performs better than </a:t>
            </a:r>
            <a:r>
              <a:rPr lang="en-US" sz="1400" dirty="0" err="1"/>
              <a:t>sKK</a:t>
            </a:r>
            <a:r>
              <a:rPr lang="en-US" sz="1400" dirty="0"/>
              <a:t>. could be the smoother increase in imaginary part. </a:t>
            </a:r>
          </a:p>
        </p:txBody>
      </p:sp>
    </p:spTree>
    <p:extLst>
      <p:ext uri="{BB962C8B-B14F-4D97-AF65-F5344CB8AC3E}">
        <p14:creationId xmlns:p14="http://schemas.microsoft.com/office/powerpoint/2010/main" val="3637687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29C08-5C39-9FD4-FF25-C321C22A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3E31BF9A-2592-923A-27E6-26E39D3849EE}"/>
              </a:ext>
            </a:extLst>
          </p:cNvPr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Experiment with 10x Coating Thickness (s-pol, 80°) </a:t>
            </a:r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5F5CE9-D91A-D220-A0FE-4F743973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6289708" cy="2098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FFB2B5-FE80-7D15-DF2D-75D8A3A56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41" y="1067334"/>
            <a:ext cx="2373948" cy="1701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793D76-8496-3EC2-3AA7-B93C6A6451DD}"/>
              </a:ext>
            </a:extLst>
          </p:cNvPr>
          <p:cNvSpPr txBox="1"/>
          <p:nvPr/>
        </p:nvSpPr>
        <p:spPr>
          <a:xfrm>
            <a:off x="519953" y="3165972"/>
            <a:ext cx="7548282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sKK</a:t>
            </a:r>
            <a:r>
              <a:rPr lang="en-US" sz="1600" dirty="0"/>
              <a:t> shape outperforms other shapes at 4um thickness, but not at 0.4um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my guess: </a:t>
            </a:r>
            <a:r>
              <a:rPr lang="en-US" sz="1600" dirty="0" err="1"/>
              <a:t>sKK</a:t>
            </a:r>
            <a:r>
              <a:rPr lang="en-US" sz="1600" dirty="0"/>
              <a:t> is a coherent effect, which requires phase to accumulate within each layer. if layers are much smaller than the incoming wavelength (2-5um), there is no phase accumulation or cancellation, so only the total loss matters (not the shape). thicker layers allow for </a:t>
            </a:r>
            <a:r>
              <a:rPr lang="en-US" sz="1600" dirty="0" err="1"/>
              <a:t>sKK</a:t>
            </a:r>
            <a:r>
              <a:rPr lang="en-US" sz="1600" dirty="0"/>
              <a:t> to do its thing, while accumulating reflections for other non-HT profiles. </a:t>
            </a:r>
          </a:p>
        </p:txBody>
      </p:sp>
    </p:spTree>
    <p:extLst>
      <p:ext uri="{BB962C8B-B14F-4D97-AF65-F5344CB8AC3E}">
        <p14:creationId xmlns:p14="http://schemas.microsoft.com/office/powerpoint/2010/main" val="2910424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B36DBBF3-6733-1E12-88D4-0167851FF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231" y="903659"/>
            <a:ext cx="4316506" cy="3053138"/>
          </a:xfrm>
          <a:prstGeom prst="rect">
            <a:avLst/>
          </a:prstGeom>
        </p:spPr>
      </p:pic>
      <p:pic>
        <p:nvPicPr>
          <p:cNvPr id="7" name="Picture 6" descr="A graph with colored lines and dots&#10;&#10;AI-generated content may be incorrect.">
            <a:extLst>
              <a:ext uri="{FF2B5EF4-FFF2-40B4-BE49-F238E27FC236}">
                <a16:creationId xmlns:a16="http://schemas.microsoft.com/office/drawing/2014/main" id="{6CA5ABDF-9692-AEFA-FA36-14540901C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3" y="1001245"/>
            <a:ext cx="4440737" cy="314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82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Space: GRIN vs sKK Across Coating Thickness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4320" y="4437456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regimes: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Sub-λ coatings (&lt;1.5 μm) where GRIN is ineffective and sKK provides the only path to low R — but at the cost of absorption and broken analyticity. Thick coatings (&gt;6 μm) where GRIN alone achieves low R without absorption. Crossover region (1.5–6 μm) is where the design tradeoff is most nuanced.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48F827E-0736-8F76-887C-72B31B4298C6}"/>
              </a:ext>
            </a:extLst>
          </p:cNvPr>
          <p:cNvSpPr/>
          <p:nvPr/>
        </p:nvSpPr>
        <p:spPr>
          <a:xfrm>
            <a:off x="815789" y="2057400"/>
            <a:ext cx="271630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averaged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400" baseline="-250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2-5um (s-pol, 80deg):</a:t>
            </a:r>
            <a:endParaRPr lang="en-US" sz="1400" dirty="0"/>
          </a:p>
        </p:txBody>
      </p:sp>
      <p:pic>
        <p:nvPicPr>
          <p:cNvPr id="5" name="Picture 4" descr="A graph of reflection and coating thickness&#10;&#10;AI-generated content may be incorrect.">
            <a:extLst>
              <a:ext uri="{FF2B5EF4-FFF2-40B4-BE49-F238E27FC236}">
                <a16:creationId xmlns:a16="http://schemas.microsoft.com/office/drawing/2014/main" id="{68326292-EFC5-9786-9BC1-60CF5D73B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094" y="680421"/>
            <a:ext cx="5320553" cy="36225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0964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the Hilbert transform of GRIN profiles with asymmetric endpoints (ε′(−∞) ≠ ε′(+∞)) is essential for coating application of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sKK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standard FFT-based HT fails due to periodic continuation artifacts.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Derivative-then-integrate: dε′/dx → 0 at both endpoints, so the standard HT works on the derivative. Integrate back to recover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′′.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zero-reflectance for all angles and wavelengths but with “lossy air” (n ≈ 1, k &gt; 0), which is fundamental to the asymmetric HT — not a numerical artifact (Horsley et al. perfect transmission via gain). First quantitative characterization of the analyticity–physicality tradeoff using spectral one-sidedness FoM.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thickness regimes: sub-λ (sKK essential, GRIN ineffective), crossover (1.5–6 μm), and thick coatings (&gt;6 μm, GRIN alone suffices).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mitigations (α-scaling, σ-gating) trade practicality for reflection reduction and broken analyticity.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11657</TotalTime>
  <Words>1079</Words>
  <Application>Microsoft Macintosh PowerPoint</Application>
  <PresentationFormat>On-screen Show (16:9)</PresentationFormat>
  <Paragraphs>95</Paragraphs>
  <Slides>21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sKK AR Coating Analysis — Derivative Method</dc:title>
  <dc:subject>PptxGenJS Presentation</dc:subject>
  <dc:creator>Kunal</dc:creator>
  <cp:lastModifiedBy>Kunal Lakhanpal</cp:lastModifiedBy>
  <cp:revision>46</cp:revision>
  <dcterms:created xsi:type="dcterms:W3CDTF">2026-03-13T17:47:29Z</dcterms:created>
  <dcterms:modified xsi:type="dcterms:W3CDTF">2026-03-27T18:30:11Z</dcterms:modified>
</cp:coreProperties>
</file>