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Reflectance_vs_wl_andD.png" descr="Reflectance_vs_wl_and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05123" y="818931"/>
            <a:ext cx="8712201" cy="599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Absorbance_vs_wl_andD.png" descr="Absorbance_vs_wl_andD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69978" y="7456047"/>
            <a:ext cx="8712201" cy="599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A+R+T.png" descr="A+R+T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305123" y="7456047"/>
            <a:ext cx="8712201" cy="599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Diel.png" descr="Diel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69978" y="437779"/>
            <a:ext cx="8712201" cy="5448301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Line"/>
          <p:cNvSpPr/>
          <p:nvPr/>
        </p:nvSpPr>
        <p:spPr>
          <a:xfrm>
            <a:off x="5350534" y="1149746"/>
            <a:ext cx="1780803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 len="sm"/>
            <a:tailEnd type="triangle" len="sm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6" name="Line"/>
          <p:cNvSpPr/>
          <p:nvPr/>
        </p:nvSpPr>
        <p:spPr>
          <a:xfrm flipV="1">
            <a:off x="7400516" y="2512489"/>
            <a:ext cx="1" cy="2607285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 len="sm"/>
            <a:tailEnd type="triangle" len="sm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7" name="d"/>
          <p:cNvSpPr txBox="1"/>
          <p:nvPr/>
        </p:nvSpPr>
        <p:spPr>
          <a:xfrm>
            <a:off x="6051044" y="1216561"/>
            <a:ext cx="37978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d </a:t>
            </a:r>
          </a:p>
        </p:txBody>
      </p:sp>
      <p:sp>
        <p:nvSpPr>
          <p:cNvPr id="158" name="A"/>
          <p:cNvSpPr txBox="1"/>
          <p:nvPr/>
        </p:nvSpPr>
        <p:spPr>
          <a:xfrm>
            <a:off x="7557400" y="3585448"/>
            <a:ext cx="31181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A</a:t>
            </a:r>
          </a:p>
        </p:txBody>
      </p:sp>
      <p:pic>
        <p:nvPicPr>
          <p:cNvPr id="159" name="Screenshot 2024-09-19 at 10.17.56 PM.png" descr="Screenshot 2024-09-19 at 10.17.56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70518" y="6005471"/>
            <a:ext cx="3940835" cy="13311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FOM_bulk.png" descr="FOM_bulk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162425" y="8011078"/>
            <a:ext cx="8134336" cy="55968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FOM_ratio.png" descr="FOM_rati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24825" y="4059634"/>
            <a:ext cx="8134217" cy="5596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FOM_KK.png" descr="FOM_KK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00466" y="8011078"/>
            <a:ext cx="8134233" cy="5596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Transmittance.png" descr="Transmittanc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00319" y="332166"/>
            <a:ext cx="8134527" cy="55969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Reflectance.png" descr="Reflectanc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162425" y="332267"/>
            <a:ext cx="8134233" cy="5596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Screenshot 2024-10-04 at 4.17.55 AM.png" descr="Screenshot 2024-10-04 at 4.17.55 AM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699750" y="1738696"/>
            <a:ext cx="2984500" cy="1435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Screenshot 2024-10-04 at 4.22.23 AM.png" descr="Screenshot 2024-10-04 at 4.22.23 AM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0064750" y="10314144"/>
            <a:ext cx="4254500" cy="990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Screenshot 2024-10-04 at 4.23.39 AM.png" descr="Screenshot 2024-10-04 at 4.23.39 AM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591800" y="11418984"/>
            <a:ext cx="3200400" cy="698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FOMRatio_4x.png" descr="FOMRatio_4x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35900" y="294969"/>
            <a:ext cx="8712200" cy="5448301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Next Steps:…"/>
          <p:cNvSpPr txBox="1"/>
          <p:nvPr/>
        </p:nvSpPr>
        <p:spPr>
          <a:xfrm>
            <a:off x="1778649" y="6222925"/>
            <a:ext cx="21205851" cy="5488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30000"/>
              </a:lnSpc>
              <a:defRPr sz="4800">
                <a:solidFill>
                  <a:srgbClr val="000000"/>
                </a:solidFill>
              </a:defRPr>
            </a:pPr>
            <a:r>
              <a:t>Next Steps:</a:t>
            </a:r>
          </a:p>
          <a:p>
            <a:pPr marL="609600" indent="-609600" algn="l">
              <a:lnSpc>
                <a:spcPct val="130000"/>
              </a:lnSpc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Verify Comsol results with TMM code</a:t>
            </a:r>
          </a:p>
          <a:p>
            <a:pPr marL="609600" indent="-609600" algn="l">
              <a:lnSpc>
                <a:spcPct val="130000"/>
              </a:lnSpc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Make more 2D plots of other parameter sweeps (width, incident angle, etc.)</a:t>
            </a:r>
          </a:p>
          <a:p>
            <a:pPr lvl="1" marL="1219200" indent="-609600" algn="l">
              <a:lnSpc>
                <a:spcPct val="130000"/>
              </a:lnSpc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Find trends and build intuition (upper limit of FOM)</a:t>
            </a:r>
          </a:p>
          <a:p>
            <a:pPr marL="609600" indent="-609600" algn="l">
              <a:lnSpc>
                <a:spcPct val="130000"/>
              </a:lnSpc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Use Topology Optimization to find optimal shape of dielectric function</a:t>
            </a:r>
          </a:p>
        </p:txBody>
      </p:sp>
      <p:sp>
        <p:nvSpPr>
          <p:cNvPr id="172" name="Increase peak width by factor of 4:"/>
          <p:cNvSpPr txBox="1"/>
          <p:nvPr/>
        </p:nvSpPr>
        <p:spPr>
          <a:xfrm>
            <a:off x="1199421" y="2745053"/>
            <a:ext cx="6006466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3000">
                <a:solidFill>
                  <a:srgbClr val="000000"/>
                </a:solidFill>
              </a:defRPr>
            </a:lvl1pPr>
          </a:lstStyle>
          <a:p>
            <a:pPr/>
            <a:r>
              <a:t>Increase peak width by factor of 4: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