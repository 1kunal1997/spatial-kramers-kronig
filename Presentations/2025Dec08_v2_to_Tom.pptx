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72" r:id="rId2"/>
    <p:sldId id="273" r:id="rId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11"/>
    <p:restoredTop sz="94666"/>
  </p:normalViewPr>
  <p:slideViewPr>
    <p:cSldViewPr snapToGrid="0">
      <p:cViewPr varScale="1">
        <p:scale>
          <a:sx n="102" d="100"/>
          <a:sy n="102" d="100"/>
        </p:scale>
        <p:origin x="856" y="1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559A65D-47A0-E65A-288E-51AC826F4F6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97C1397-8440-A6A9-274A-D29B804AA65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4CA24A2-A70A-81C3-46BF-D5115518789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5E6032-C457-084B-B44F-FEF7F8A892E3}" type="datetimeFigureOut">
              <a:rPr lang="en-US" smtClean="0"/>
              <a:t>12/8/25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6B218D6-8A6B-5DB4-910F-7343D0446C1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D36B251-407E-F250-208C-18DF0C0817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9D03F8-BD26-DA4E-B43B-D87DB675F2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8739035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F22CECE-BD02-DE5C-AA92-5D82F20782D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1DC44B0-F3D2-31D5-64AA-112AFFA836F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B221E12-7EF1-AD83-98C9-2D47DCB4ABB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5E6032-C457-084B-B44F-FEF7F8A892E3}" type="datetimeFigureOut">
              <a:rPr lang="en-US" smtClean="0"/>
              <a:t>12/8/25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D39A788-2FC2-2DD2-94C0-D80E5B52BC8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CF009CA-2C89-33BC-3984-E05395A308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9D03F8-BD26-DA4E-B43B-D87DB675F2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7232921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03BB5E0-1964-EE20-3FE6-F5677DCA296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2F003C6-1A67-2B0C-089F-AB551F72885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E0461B4-E63E-FB2D-BFBC-A4F3A737E35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5E6032-C457-084B-B44F-FEF7F8A892E3}" type="datetimeFigureOut">
              <a:rPr lang="en-US" smtClean="0"/>
              <a:t>12/8/25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37F4399-CEAE-2821-1BB1-075FF509F8F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BB58CB8-FC88-1940-8899-3FC22BA89A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9D03F8-BD26-DA4E-B43B-D87DB675F2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4182921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5B0B1EB-344D-AC7A-2376-A20741FD873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BF7E306-CC55-2C3F-B61D-BAD84ADC99D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077BADE-6647-A5C2-09E6-4250551A477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73843C8-8011-1C43-43E2-720A0D5B83C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5E6032-C457-084B-B44F-FEF7F8A892E3}" type="datetimeFigureOut">
              <a:rPr lang="en-US" smtClean="0"/>
              <a:t>12/8/25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53E1BF1-B1ED-D89D-D775-FEA40FFDC3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91C6623-8822-A53F-7104-DB76CE1EB6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9D03F8-BD26-DA4E-B43B-D87DB675F2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8575195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493860-C5D3-2CC5-A5B6-108466ED1A7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601541B-9876-4F3D-554B-9D28205C23D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78F5124-3F80-DA46-44F5-0ABCCD0A126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8A198C3-A276-23F7-F739-112E3CF6D3A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D1B9D849-7C05-09F6-270C-C6E2C4C8F75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BA7747B1-3F8A-58DD-9D1A-5787F0A27FB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5E6032-C457-084B-B44F-FEF7F8A892E3}" type="datetimeFigureOut">
              <a:rPr lang="en-US" smtClean="0"/>
              <a:t>12/8/25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F516801D-22FE-45AE-1105-76F47B60326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CCCA6AB-E6B4-7E61-01B3-04C1897BF7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9D03F8-BD26-DA4E-B43B-D87DB675F2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0014555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4EE783-4C1C-7452-EA47-DDF2B0432F8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5443BAB-F914-B65A-FBB4-C197B1C78C0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5E6032-C457-084B-B44F-FEF7F8A892E3}" type="datetimeFigureOut">
              <a:rPr lang="en-US" smtClean="0"/>
              <a:t>12/8/25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0B1EA27-C129-1CE4-299B-BA1404E1E39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E0425F1-3B82-E953-1CE7-13492C50B6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9D03F8-BD26-DA4E-B43B-D87DB675F2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7911220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B90A3FF6-7CD5-518B-CD8A-CACDE314A45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5E6032-C457-084B-B44F-FEF7F8A892E3}" type="datetimeFigureOut">
              <a:rPr lang="en-US" smtClean="0"/>
              <a:t>12/8/25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1DD3F3D-8A2F-B2D6-C7DA-7567A98E7B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D13D866-C4DC-7589-8EAA-AEF323BB2B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9D03F8-BD26-DA4E-B43B-D87DB675F2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8756586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80168DA-B266-FB38-90C3-F4B3D391B89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629CFD3-5F7E-75E6-A5A6-AA5F228F907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BD8D29D-0492-2A68-F223-5A059B124BB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4508A8D-33CB-ED58-AFEB-7AFE7E6B6B4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5E6032-C457-084B-B44F-FEF7F8A892E3}" type="datetimeFigureOut">
              <a:rPr lang="en-US" smtClean="0"/>
              <a:t>12/8/25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751D023-2406-5991-78CA-9AF882769E6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9E1DA3A-8E39-A52C-4A98-97DADA7D04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9D03F8-BD26-DA4E-B43B-D87DB675F2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0866855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889D1C5-B7F6-0E87-ACDC-677219AA92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5CA02B38-60CB-B373-3268-14A8287FC47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1A5994E-8929-C844-BE20-0B985D883BA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4E5D1DC-D338-BB97-6CCD-BDB9C9D772C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5E6032-C457-084B-B44F-FEF7F8A892E3}" type="datetimeFigureOut">
              <a:rPr lang="en-US" smtClean="0"/>
              <a:t>12/8/25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F8C92B9-EAA6-1FFE-8193-9E6587C455B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03ABCDF-A4AB-D359-042D-4A6745CB61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9D03F8-BD26-DA4E-B43B-D87DB675F2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6407474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38D39B0-05D9-01E3-3247-F5C33C45AFD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A0A9A38-2A0F-8CEA-0AD9-4A7B789B70B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05FC797-9409-9A80-F6A4-4D4DEF21262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5E6032-C457-084B-B44F-FEF7F8A892E3}" type="datetimeFigureOut">
              <a:rPr lang="en-US" smtClean="0"/>
              <a:t>12/8/25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6A57434-9469-460C-7577-0B90E68EF86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DFEBFBF-0A1F-848D-5224-DFAF44CFA0D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9D03F8-BD26-DA4E-B43B-D87DB675F2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6809689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30DFB038-AFA6-A965-3124-F57491EA162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3F12A3B-B833-1AB9-5AC7-09892EDD092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567016A-F9BF-7B56-09CA-D085414632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5E6032-C457-084B-B44F-FEF7F8A892E3}" type="datetimeFigureOut">
              <a:rPr lang="en-US" smtClean="0"/>
              <a:t>12/8/25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EDA3C47-C4F9-C722-D1B2-F0591CAA336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1589504-9F66-467C-0576-7F1A70088F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9D03F8-BD26-DA4E-B43B-D87DB675F2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3229136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10945F18-A0E7-EF5B-1FF0-E86B52C6B03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A98DDFB-F0AF-58DB-3A68-EC7F6A59ABD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81D9801-7BF0-19B0-5D29-941977D4EFA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C5E6032-C457-084B-B44F-FEF7F8A892E3}" type="datetimeFigureOut">
              <a:rPr lang="en-US" smtClean="0"/>
              <a:t>12/8/25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2034731-43F2-F662-DE98-D51C842ED4A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895E066-A462-7E15-FE33-02CF97881FA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29D03F8-BD26-DA4E-B43B-D87DB675F2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8432528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.png"/><Relationship Id="rId3" Type="http://schemas.openxmlformats.org/officeDocument/2006/relationships/image" Target="../media/image8.png"/><Relationship Id="rId7" Type="http://schemas.openxmlformats.org/officeDocument/2006/relationships/image" Target="../media/image12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1.png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" name="Group 15">
            <a:extLst>
              <a:ext uri="{FF2B5EF4-FFF2-40B4-BE49-F238E27FC236}">
                <a16:creationId xmlns:a16="http://schemas.microsoft.com/office/drawing/2014/main" id="{D5F967E8-7E81-6181-D774-0173C1625D69}"/>
              </a:ext>
            </a:extLst>
          </p:cNvPr>
          <p:cNvGrpSpPr>
            <a:grpSpLocks noChangeAspect="1"/>
          </p:cNvGrpSpPr>
          <p:nvPr/>
        </p:nvGrpSpPr>
        <p:grpSpPr>
          <a:xfrm>
            <a:off x="6146615" y="71038"/>
            <a:ext cx="3931760" cy="3380955"/>
            <a:chOff x="2209800" y="87222"/>
            <a:chExt cx="7772400" cy="6683555"/>
          </a:xfrm>
        </p:grpSpPr>
        <p:pic>
          <p:nvPicPr>
            <p:cNvPr id="17" name="Picture 16">
              <a:extLst>
                <a:ext uri="{FF2B5EF4-FFF2-40B4-BE49-F238E27FC236}">
                  <a16:creationId xmlns:a16="http://schemas.microsoft.com/office/drawing/2014/main" id="{80074C33-03DF-50F6-D16E-7B10FC70DE5E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2209800" y="87222"/>
              <a:ext cx="7772400" cy="6683555"/>
            </a:xfrm>
            <a:prstGeom prst="rect">
              <a:avLst/>
            </a:prstGeom>
          </p:spPr>
        </p:pic>
        <p:pic>
          <p:nvPicPr>
            <p:cNvPr id="18" name="Picture 17">
              <a:extLst>
                <a:ext uri="{FF2B5EF4-FFF2-40B4-BE49-F238E27FC236}">
                  <a16:creationId xmlns:a16="http://schemas.microsoft.com/office/drawing/2014/main" id="{E738CEE1-824E-EFF3-AC3C-83F129FD9FEF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rcRect l="4350" t="3908" r="3891" b="3742"/>
            <a:stretch>
              <a:fillRect/>
            </a:stretch>
          </p:blipFill>
          <p:spPr>
            <a:xfrm>
              <a:off x="7760367" y="590650"/>
              <a:ext cx="1834570" cy="1839399"/>
            </a:xfrm>
            <a:prstGeom prst="rect">
              <a:avLst/>
            </a:prstGeom>
          </p:spPr>
        </p:pic>
      </p:grpSp>
      <p:grpSp>
        <p:nvGrpSpPr>
          <p:cNvPr id="10" name="Group 9">
            <a:extLst>
              <a:ext uri="{FF2B5EF4-FFF2-40B4-BE49-F238E27FC236}">
                <a16:creationId xmlns:a16="http://schemas.microsoft.com/office/drawing/2014/main" id="{8E293B08-1FD1-8BB7-C72F-DB441F5BBB96}"/>
              </a:ext>
            </a:extLst>
          </p:cNvPr>
          <p:cNvGrpSpPr>
            <a:grpSpLocks noChangeAspect="1"/>
          </p:cNvGrpSpPr>
          <p:nvPr/>
        </p:nvGrpSpPr>
        <p:grpSpPr>
          <a:xfrm>
            <a:off x="8187459" y="3451993"/>
            <a:ext cx="3931760" cy="3380955"/>
            <a:chOff x="2372638" y="0"/>
            <a:chExt cx="7772400" cy="6683555"/>
          </a:xfrm>
        </p:grpSpPr>
        <p:pic>
          <p:nvPicPr>
            <p:cNvPr id="11" name="Picture 10">
              <a:extLst>
                <a:ext uri="{FF2B5EF4-FFF2-40B4-BE49-F238E27FC236}">
                  <a16:creationId xmlns:a16="http://schemas.microsoft.com/office/drawing/2014/main" id="{45FD1286-2326-8D72-716F-4D656C02E26D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2372638" y="0"/>
              <a:ext cx="7772400" cy="6683555"/>
            </a:xfrm>
            <a:prstGeom prst="rect">
              <a:avLst/>
            </a:prstGeom>
          </p:spPr>
        </p:pic>
        <p:pic>
          <p:nvPicPr>
            <p:cNvPr id="12" name="Picture 11">
              <a:extLst>
                <a:ext uri="{FF2B5EF4-FFF2-40B4-BE49-F238E27FC236}">
                  <a16:creationId xmlns:a16="http://schemas.microsoft.com/office/drawing/2014/main" id="{93D41D3A-099D-2FCD-C8BB-253D568C10ED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7312856" y="488513"/>
              <a:ext cx="2457532" cy="2438985"/>
            </a:xfrm>
            <a:prstGeom prst="rect">
              <a:avLst/>
            </a:prstGeom>
          </p:spPr>
        </p:pic>
      </p:grpSp>
      <p:grpSp>
        <p:nvGrpSpPr>
          <p:cNvPr id="13" name="Group 12">
            <a:extLst>
              <a:ext uri="{FF2B5EF4-FFF2-40B4-BE49-F238E27FC236}">
                <a16:creationId xmlns:a16="http://schemas.microsoft.com/office/drawing/2014/main" id="{B636444F-223D-4344-93A7-A37CF850CEFB}"/>
              </a:ext>
            </a:extLst>
          </p:cNvPr>
          <p:cNvGrpSpPr>
            <a:grpSpLocks noChangeAspect="1"/>
          </p:cNvGrpSpPr>
          <p:nvPr/>
        </p:nvGrpSpPr>
        <p:grpSpPr>
          <a:xfrm>
            <a:off x="4105770" y="3451993"/>
            <a:ext cx="3931760" cy="3380955"/>
            <a:chOff x="2209800" y="87222"/>
            <a:chExt cx="7772400" cy="6683555"/>
          </a:xfrm>
        </p:grpSpPr>
        <p:pic>
          <p:nvPicPr>
            <p:cNvPr id="14" name="Picture 13">
              <a:extLst>
                <a:ext uri="{FF2B5EF4-FFF2-40B4-BE49-F238E27FC236}">
                  <a16:creationId xmlns:a16="http://schemas.microsoft.com/office/drawing/2014/main" id="{81C96F6A-5EF0-BCFF-F803-C76757B2F875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2209800" y="87222"/>
              <a:ext cx="7772400" cy="6683555"/>
            </a:xfrm>
            <a:prstGeom prst="rect">
              <a:avLst/>
            </a:prstGeom>
          </p:spPr>
        </p:pic>
        <p:pic>
          <p:nvPicPr>
            <p:cNvPr id="15" name="Picture 14">
              <a:extLst>
                <a:ext uri="{FF2B5EF4-FFF2-40B4-BE49-F238E27FC236}">
                  <a16:creationId xmlns:a16="http://schemas.microsoft.com/office/drawing/2014/main" id="{D135CDE3-4E6A-37E9-2233-C5392AAB6D59}"/>
                </a:ext>
              </a:extLst>
            </p:cNvPr>
            <p:cNvPicPr>
              <a:picLocks noChangeAspect="1"/>
            </p:cNvPicPr>
            <p:nvPr/>
          </p:nvPicPr>
          <p:blipFill>
            <a:blip r:embed="rId7"/>
            <a:stretch>
              <a:fillRect/>
            </a:stretch>
          </p:blipFill>
          <p:spPr>
            <a:xfrm>
              <a:off x="7222127" y="588723"/>
              <a:ext cx="2385423" cy="2367420"/>
            </a:xfrm>
            <a:prstGeom prst="rect">
              <a:avLst/>
            </a:prstGeom>
          </p:spPr>
        </p:pic>
      </p:grpSp>
      <p:sp>
        <p:nvSpPr>
          <p:cNvPr id="7" name="TextBox 6">
            <a:extLst>
              <a:ext uri="{FF2B5EF4-FFF2-40B4-BE49-F238E27FC236}">
                <a16:creationId xmlns:a16="http://schemas.microsoft.com/office/drawing/2014/main" id="{3895327B-B7F3-35DF-EB0E-455997A77B6E}"/>
              </a:ext>
            </a:extLst>
          </p:cNvPr>
          <p:cNvSpPr txBox="1"/>
          <p:nvPr/>
        </p:nvSpPr>
        <p:spPr>
          <a:xfrm>
            <a:off x="284547" y="107396"/>
            <a:ext cx="363170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/>
              <a:t>3 Key Layers to Fabricate</a:t>
            </a:r>
            <a:endParaRPr lang="en-US" sz="2400" b="1" dirty="0">
              <a:highlight>
                <a:srgbClr val="FFFF00"/>
              </a:highlight>
            </a:endParaRPr>
          </a:p>
        </p:txBody>
      </p:sp>
      <p:graphicFrame>
        <p:nvGraphicFramePr>
          <p:cNvPr id="19" name="Table 18">
            <a:extLst>
              <a:ext uri="{FF2B5EF4-FFF2-40B4-BE49-F238E27FC236}">
                <a16:creationId xmlns:a16="http://schemas.microsoft.com/office/drawing/2014/main" id="{1D63CB0E-35B4-FB6D-3F85-DF679E5913B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93985196"/>
              </p:ext>
            </p:extLst>
          </p:nvPr>
        </p:nvGraphicFramePr>
        <p:xfrm>
          <a:off x="1002082" y="692539"/>
          <a:ext cx="4868904" cy="2560320"/>
        </p:xfrm>
        <a:graphic>
          <a:graphicData uri="http://schemas.openxmlformats.org/drawingml/2006/table">
            <a:tbl>
              <a:tblPr firstRow="1" bandRow="1">
                <a:tableStyleId>{00A15C55-8517-42AA-B614-E9B94910E393}</a:tableStyleId>
              </a:tblPr>
              <a:tblGrid>
                <a:gridCol w="944669">
                  <a:extLst>
                    <a:ext uri="{9D8B030D-6E8A-4147-A177-3AD203B41FA5}">
                      <a16:colId xmlns:a16="http://schemas.microsoft.com/office/drawing/2014/main" val="3195450066"/>
                    </a:ext>
                  </a:extLst>
                </a:gridCol>
                <a:gridCol w="2664134">
                  <a:extLst>
                    <a:ext uri="{9D8B030D-6E8A-4147-A177-3AD203B41FA5}">
                      <a16:colId xmlns:a16="http://schemas.microsoft.com/office/drawing/2014/main" val="2621671764"/>
                    </a:ext>
                  </a:extLst>
                </a:gridCol>
                <a:gridCol w="1260101">
                  <a:extLst>
                    <a:ext uri="{9D8B030D-6E8A-4147-A177-3AD203B41FA5}">
                      <a16:colId xmlns:a16="http://schemas.microsoft.com/office/drawing/2014/main" val="601739832"/>
                    </a:ext>
                  </a:extLst>
                </a:gridCol>
              </a:tblGrid>
              <a:tr h="372026">
                <a:tc>
                  <a:txBody>
                    <a:bodyPr/>
                    <a:lstStyle/>
                    <a:p>
                      <a:pPr algn="ctr"/>
                      <a:r>
                        <a:rPr lang="en-US" sz="1800" dirty="0"/>
                        <a:t>Layer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/>
                        <a:t>Material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/>
                        <a:t>Thickness (nm)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786114652"/>
                  </a:ext>
                </a:extLst>
              </a:tr>
              <a:tr h="372026">
                <a:tc>
                  <a:txBody>
                    <a:bodyPr/>
                    <a:lstStyle/>
                    <a:p>
                      <a:pPr algn="ctr"/>
                      <a:r>
                        <a:rPr lang="en-US" sz="1800" dirty="0"/>
                        <a:t>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/>
                        <a:t>Zinc Sulfide (79%) + Graphite (21%)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/>
                        <a:t>80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545204931"/>
                  </a:ext>
                </a:extLst>
              </a:tr>
              <a:tr h="372026">
                <a:tc>
                  <a:txBody>
                    <a:bodyPr/>
                    <a:lstStyle/>
                    <a:p>
                      <a:pPr algn="ctr"/>
                      <a:r>
                        <a:rPr lang="en-US" sz="1800" dirty="0"/>
                        <a:t>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/>
                        <a:t>Silica (61%) + </a:t>
                      </a:r>
                    </a:p>
                    <a:p>
                      <a:pPr algn="ctr"/>
                      <a:r>
                        <a:rPr lang="en-US" sz="1800" dirty="0"/>
                        <a:t>Graphite (39%)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/>
                        <a:t>40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404036487"/>
                  </a:ext>
                </a:extLst>
              </a:tr>
              <a:tr h="372026">
                <a:tc>
                  <a:txBody>
                    <a:bodyPr/>
                    <a:lstStyle/>
                    <a:p>
                      <a:pPr algn="ctr"/>
                      <a:r>
                        <a:rPr lang="en-US" sz="1800" dirty="0"/>
                        <a:t>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/>
                        <a:t>Mag. Fluoride (74%) + Graphite (26%)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/>
                        <a:t>80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61163387"/>
                  </a:ext>
                </a:extLst>
              </a:tr>
            </a:tbl>
          </a:graphicData>
        </a:graphic>
      </p:graphicFrame>
      <p:sp>
        <p:nvSpPr>
          <p:cNvPr id="20" name="TextBox 19">
            <a:extLst>
              <a:ext uri="{FF2B5EF4-FFF2-40B4-BE49-F238E27FC236}">
                <a16:creationId xmlns:a16="http://schemas.microsoft.com/office/drawing/2014/main" id="{9AFEB546-424F-7108-AE3C-22CD98EF6D08}"/>
              </a:ext>
            </a:extLst>
          </p:cNvPr>
          <p:cNvSpPr txBox="1"/>
          <p:nvPr/>
        </p:nvSpPr>
        <p:spPr>
          <a:xfrm>
            <a:off x="10354004" y="1430734"/>
            <a:ext cx="1039067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 err="1"/>
              <a:t>λ</a:t>
            </a:r>
            <a:r>
              <a:rPr lang="en-US" sz="2000" dirty="0"/>
              <a:t> = 3um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B92951B9-E565-D0B2-943F-38C86ED3BD99}"/>
              </a:ext>
            </a:extLst>
          </p:cNvPr>
          <p:cNvSpPr txBox="1"/>
          <p:nvPr/>
        </p:nvSpPr>
        <p:spPr>
          <a:xfrm>
            <a:off x="292496" y="3715574"/>
            <a:ext cx="3623751" cy="270843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spcAft>
                <a:spcPts val="600"/>
              </a:spcAft>
              <a:buFontTx/>
              <a:buChar char="-"/>
            </a:pPr>
            <a:r>
              <a:rPr lang="en-US" sz="2000" dirty="0"/>
              <a:t>added porosity, which made concentrations shift a bit</a:t>
            </a:r>
          </a:p>
          <a:p>
            <a:pPr marL="342900" indent="-342900">
              <a:spcAft>
                <a:spcPts val="600"/>
              </a:spcAft>
              <a:buFontTx/>
              <a:buChar char="-"/>
            </a:pPr>
            <a:r>
              <a:rPr lang="en-US" sz="2000" dirty="0"/>
              <a:t>start with fabricating individual mixed layers on gold substrate, to test effective RI</a:t>
            </a:r>
          </a:p>
          <a:p>
            <a:pPr marL="342900" indent="-342900">
              <a:spcAft>
                <a:spcPts val="600"/>
              </a:spcAft>
              <a:buFontTx/>
              <a:buChar char="-"/>
            </a:pPr>
            <a:r>
              <a:rPr lang="en-US" sz="2000" dirty="0"/>
              <a:t>once verified, build multilayer structure</a:t>
            </a:r>
          </a:p>
        </p:txBody>
      </p:sp>
    </p:spTree>
    <p:extLst>
      <p:ext uri="{BB962C8B-B14F-4D97-AF65-F5344CB8AC3E}">
        <p14:creationId xmlns:p14="http://schemas.microsoft.com/office/powerpoint/2010/main" val="217393730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60311FA-A9A4-3212-D2E1-D04D2AA1EA3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33DC70B2-E999-4AF8-5111-A1FFF1BEC68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74099" y="629433"/>
            <a:ext cx="3475602" cy="3051189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99B476F7-7D39-F1AD-E52E-DB55E6090EC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32893" y="629432"/>
            <a:ext cx="3357074" cy="3051190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21EA76DD-366B-AEAA-FBBF-5A419877455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54826" y="3712038"/>
            <a:ext cx="3357074" cy="3051190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AFDE5B8B-31AA-B320-9137-06CE40BD813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793625" y="3712038"/>
            <a:ext cx="3357074" cy="3051190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2783AABB-E828-C7E4-8EE3-7886AB3E34EF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335357" y="3680622"/>
            <a:ext cx="3475604" cy="3051190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FB84EB83-65F0-45E3-0531-8A48C212AE37}"/>
              </a:ext>
            </a:extLst>
          </p:cNvPr>
          <p:cNvSpPr txBox="1"/>
          <p:nvPr/>
        </p:nvSpPr>
        <p:spPr>
          <a:xfrm>
            <a:off x="151007" y="94772"/>
            <a:ext cx="3931717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200" b="1" dirty="0"/>
              <a:t>Bruggeman on 5 Layer Design</a:t>
            </a:r>
            <a:endParaRPr lang="en-US" sz="2200" b="1" dirty="0">
              <a:highlight>
                <a:srgbClr val="FFFF00"/>
              </a:highlight>
            </a:endParaRP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3820BBB5-C37E-E3BB-491B-DB98E8B8CCEC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775962" y="185203"/>
            <a:ext cx="2069997" cy="1634388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B3DBBBBF-CC7A-5DED-C290-A6119A59DC35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775962" y="1878848"/>
            <a:ext cx="2069998" cy="16343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8591135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4326</TotalTime>
  <Words>84</Words>
  <Application>Microsoft Macintosh PowerPoint</Application>
  <PresentationFormat>Widescreen</PresentationFormat>
  <Paragraphs>19</Paragraphs>
  <Slides>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6" baseType="lpstr">
      <vt:lpstr>Aptos</vt:lpstr>
      <vt:lpstr>Aptos Display</vt:lpstr>
      <vt:lpstr>Arial</vt:lpstr>
      <vt:lpstr>Office Theme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Kunal Lakhanpal</dc:creator>
  <cp:keywords/>
  <dc:description/>
  <cp:lastModifiedBy>Kunal Lakhanpal</cp:lastModifiedBy>
  <cp:revision>6</cp:revision>
  <dcterms:created xsi:type="dcterms:W3CDTF">2025-12-08T23:01:57Z</dcterms:created>
  <dcterms:modified xsi:type="dcterms:W3CDTF">2025-12-11T23:08:39Z</dcterms:modified>
  <cp:category/>
</cp:coreProperties>
</file>