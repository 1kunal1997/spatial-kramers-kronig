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63" r:id="rId4"/>
    <p:sldId id="264" r:id="rId5"/>
    <p:sldId id="265" r:id="rId6"/>
    <p:sldId id="26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267DB-B086-4E0D-B487-E3F936A72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36F32-2BEF-421B-9F76-FAD847BCBB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F83D2-2A53-486C-ACC0-F500A6F28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CEC91-6766-4CF0-8B72-78F30A22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DB892-D640-4D82-A117-DD0EA5EF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8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B1E9-7294-4CBF-BEDC-26DCD13A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3C326-D99A-49D8-9861-2927BE057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A9028-686C-4E13-BBE2-3F020654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4EE52-701A-4A0D-A2E3-04B35A4E8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F7E9-B93E-421D-8B0C-8C63B81D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436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8BE9A-6E0C-4D13-BA4F-B3F097A62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3DB12-00F9-41C9-AB1E-651B2EB45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CF5A0-D568-4C2E-8B42-B754BE6B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B6F5A-89EC-418F-85FE-6402A86AB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0E69E-73C0-409D-8CAB-C3AC4BDB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67C1A-7B16-43CE-9DA1-D0704159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658BF-A854-43B0-AE16-DACCF6457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0404F-DDA5-4F52-BE3A-E257E0638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E81839-CD7C-47A1-9F96-6A51A12D6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4DD12-DD9C-449A-BE2C-A72AA2A1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13634-F7E4-41AE-96EF-40E4C307A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67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A1FC7-D7D0-4ADF-A429-E48F7DC9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E91DC-7A07-4D69-A473-134582926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E8AD5-14ED-4408-B168-3ECB231C65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863097-8E84-4F3E-9331-2937CF2ECA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D29A5-EF56-4745-893C-BDC77D4207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EAC3B-BDC0-4956-B824-868B6995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83FE80-2984-4DA7-BE50-DE65DB6D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FE442C-FD51-46B0-8981-A1F49D1E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7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74CD-D48D-4E1D-9BCE-482EB064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5A8A71-F0D6-45A6-B2A0-3B3F09DAB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C6DB9E-7EBF-402F-89F6-D0C63458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056F5-9238-4432-ABE2-3FD2AC142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85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40089-A6DF-4DF6-9F53-A8686A67F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42966D-54AA-42CA-9936-2EC43304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F75CC-13F0-44E1-BF9D-56594A8CA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32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CC932-520F-4A47-830F-5749E9776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D2441-02B6-4D04-B87A-294F1E508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1F6EFE-1AE4-44DF-92DE-D4667939B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E9A15-0547-469D-8EC4-BE31D9F8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3EA7C-818B-423E-8DC3-D603A044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13A58B-FD13-45C7-BB51-C98C4E805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741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3FA0D-838C-4265-B668-9DE77459F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9A7F0-2ED2-44C6-9CF3-ED7587568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8970F7-20AC-4E64-A4CD-0E044A461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2AE86-F61C-44A5-8494-853FA7E5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F15D7-5B5E-4176-A2DA-F0568C785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DEEFA-ECCF-42DD-9B49-A4C3AD9D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3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EC225-484A-4DA2-AC5E-4D947B222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7F6A3-B6F9-4840-831F-EABB35C43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E4FB6-B2A6-45D9-BD53-50063307A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4A996-C0AB-4348-ACAE-2C006C314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940D-6778-448E-9130-4F5150227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9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1FA025-ACCD-43FF-A3E1-7457E54A57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3E090-5DC4-4333-A27A-19C09BE87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CD5C0-BD6C-4F52-81DA-DF0CCE743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12E31-CEA6-4EC8-BD44-C33186B8F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31593-D657-4610-AF1C-CA8359B83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0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67070F-1887-4F66-9C8F-B0E45F6BE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53DBC-2FA0-401E-BCA4-77640B612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5315F-4890-4F2F-8A74-51D1F45BF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0DDCD-36D4-41BC-B844-F0E283F9D31B}" type="datetimeFigureOut">
              <a:rPr lang="en-US" smtClean="0"/>
              <a:t>11/8/2024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DF7E7-1E06-4DCB-8E6C-66A8882CD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81F76-27B7-44C9-A328-E8424FCDF6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70478-1B1E-4F7E-AD85-51AE91DC1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3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9ED300-5730-44BA-838A-CC77D75662A2}"/>
              </a:ext>
            </a:extLst>
          </p:cNvPr>
          <p:cNvSpPr txBox="1"/>
          <p:nvPr/>
        </p:nvSpPr>
        <p:spPr>
          <a:xfrm>
            <a:off x="424543" y="493577"/>
            <a:ext cx="10929257" cy="626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Two </a:t>
            </a:r>
            <a:r>
              <a:rPr lang="en-US" dirty="0"/>
              <a:t>ideas for a paper:</a:t>
            </a:r>
          </a:p>
          <a:p>
            <a:endParaRPr lang="en-US" dirty="0"/>
          </a:p>
          <a:p>
            <a:pPr marL="342900" indent="-342900">
              <a:buFont typeface="+mj-lt"/>
              <a:buAutoNum type="alphaLcParenR"/>
            </a:pPr>
            <a:r>
              <a:rPr lang="en-US" dirty="0"/>
              <a:t>Pure Theory: </a:t>
            </a:r>
            <a:r>
              <a:rPr lang="en-US" b="1" dirty="0"/>
              <a:t>“Prospects and Limitations of Permittivity Spatial Engineering for Asymmetric Thermal Emission“</a:t>
            </a:r>
          </a:p>
          <a:p>
            <a:pPr marL="342900" indent="-342900">
              <a:buAutoNum type="alphaLcParenR"/>
            </a:pPr>
            <a:r>
              <a:rPr lang="en-US" dirty="0"/>
              <a:t>Theory + Experiment: </a:t>
            </a:r>
            <a:r>
              <a:rPr lang="en-US" b="1" dirty="0"/>
              <a:t>“Asymmetric Thermal Emission in Multilayer </a:t>
            </a:r>
            <a:r>
              <a:rPr lang="en-US" b="1" dirty="0" err="1"/>
              <a:t>Metasurface</a:t>
            </a:r>
            <a:r>
              <a:rPr lang="en-US" b="1" dirty="0"/>
              <a:t> Obeying Spatial </a:t>
            </a:r>
            <a:r>
              <a:rPr lang="en-US" b="1" dirty="0" err="1"/>
              <a:t>Kramers</a:t>
            </a:r>
            <a:r>
              <a:rPr lang="en-US" b="1" dirty="0"/>
              <a:t>-	</a:t>
            </a:r>
            <a:r>
              <a:rPr lang="en-US" b="1" dirty="0" err="1"/>
              <a:t>Kronig</a:t>
            </a:r>
            <a:r>
              <a:rPr lang="en-US" b="1" dirty="0"/>
              <a:t> Relations”</a:t>
            </a:r>
            <a:endParaRPr lang="en-US" dirty="0"/>
          </a:p>
          <a:p>
            <a:endParaRPr lang="en-US" dirty="0"/>
          </a:p>
          <a:p>
            <a:r>
              <a:rPr lang="en-US" dirty="0"/>
              <a:t>Journal to aim for: </a:t>
            </a:r>
            <a:r>
              <a:rPr lang="en-US" b="1" dirty="0"/>
              <a:t>Physical Review B </a:t>
            </a:r>
            <a:r>
              <a:rPr lang="en-US" dirty="0"/>
              <a:t>(IF: 3.2)</a:t>
            </a:r>
          </a:p>
          <a:p>
            <a:endParaRPr lang="en-US" dirty="0"/>
          </a:p>
          <a:p>
            <a:r>
              <a:rPr lang="en-US" dirty="0"/>
              <a:t>Henry’s Recommendations: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Advanced Optical Materials (IF: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APL Photonics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Optica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/>
              <a:t>ACS Photonics</a:t>
            </a:r>
          </a:p>
          <a:p>
            <a:endParaRPr lang="en-US" b="1" i="1" dirty="0"/>
          </a:p>
          <a:p>
            <a:r>
              <a:rPr lang="en-US" dirty="0"/>
              <a:t>Other journals: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PRApplied</a:t>
            </a:r>
            <a:r>
              <a:rPr lang="en-US" b="1" dirty="0"/>
              <a:t> (IF: 3.8)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PRMaterials</a:t>
            </a:r>
            <a:r>
              <a:rPr lang="en-US" dirty="0"/>
              <a:t> (IF: 3.1)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Optics Letters (IF: 3.1)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Photonics and Nanostructures - Fundamentals and Applications (IF: 2.5)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Applied Physics A (IF: 2.5)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dirty="0"/>
              <a:t>Journal of </a:t>
            </a:r>
            <a:r>
              <a:rPr lang="en-US" dirty="0" err="1"/>
              <a:t>Nanophotonics</a:t>
            </a:r>
            <a:r>
              <a:rPr lang="en-US" dirty="0"/>
              <a:t> (IF: 1.1)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26" name="Picture 2" descr="https://ars.els-cdn.com/content/image/X15694410.jpg">
            <a:extLst>
              <a:ext uri="{FF2B5EF4-FFF2-40B4-BE49-F238E27FC236}">
                <a16:creationId xmlns:a16="http://schemas.microsoft.com/office/drawing/2014/main" id="{5C19C439-0BBA-49E9-8B37-6C7EFE7A1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40" y="2199621"/>
            <a:ext cx="2081605" cy="277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3FC9C3B-35EC-483A-84F7-2298BDC8A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566" y="2199620"/>
            <a:ext cx="2117290" cy="277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31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0B1C-32AF-4468-B89C-A538C661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8" y="137015"/>
            <a:ext cx="10515600" cy="381442"/>
          </a:xfrm>
        </p:spPr>
        <p:txBody>
          <a:bodyPr>
            <a:noAutofit/>
          </a:bodyPr>
          <a:lstStyle/>
          <a:p>
            <a:r>
              <a:rPr lang="en-US" sz="3000" b="1" dirty="0"/>
              <a:t>1. Introduction + Theory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AB7920-1F10-466A-A004-1BA23170D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983" y="646067"/>
            <a:ext cx="3303450" cy="1603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150852-77E9-41D5-B032-FD585C294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1118" y="901324"/>
            <a:ext cx="5818899" cy="3021003"/>
          </a:xfrm>
          <a:prstGeom prst="rect">
            <a:avLst/>
          </a:prstGeom>
        </p:spPr>
      </p:pic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541EC28D-9DCF-4771-88F4-956742153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84" y="3373509"/>
            <a:ext cx="3951487" cy="27782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4CF447-C03D-406F-9604-AD73E405B348}"/>
              </a:ext>
            </a:extLst>
          </p:cNvPr>
          <p:cNvSpPr txBox="1"/>
          <p:nvPr/>
        </p:nvSpPr>
        <p:spPr>
          <a:xfrm>
            <a:off x="971982" y="2219679"/>
            <a:ext cx="3303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 1. Temporal and Spatial </a:t>
            </a:r>
            <a:r>
              <a:rPr lang="en-US" sz="1200" dirty="0" err="1"/>
              <a:t>Kramers-Kronig</a:t>
            </a:r>
            <a:r>
              <a:rPr lang="en-US" sz="1200" dirty="0"/>
              <a:t> relations for electric permittivity. Real, 𝜀′, and imaginary, 𝜀′′, part of the electric permittivity vs. frequency (left) and space (right) with corresponding causality effects.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9FDAC-8679-4F96-B3B9-61924CE23590}"/>
              </a:ext>
            </a:extLst>
          </p:cNvPr>
          <p:cNvSpPr txBox="1"/>
          <p:nvPr/>
        </p:nvSpPr>
        <p:spPr>
          <a:xfrm>
            <a:off x="5401118" y="3922327"/>
            <a:ext cx="58188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 2. Forwards and backwards transmittance (left) and reflectance (right) of a multilayer </a:t>
            </a:r>
            <a:r>
              <a:rPr lang="en-US" sz="1200" dirty="0" err="1"/>
              <a:t>metastructure</a:t>
            </a:r>
            <a:r>
              <a:rPr lang="en-US" sz="1200" dirty="0"/>
              <a:t> obeying spatial KK relations. The spatially varying refractive index (top) achieves zero reflectance for all wavelengths in one direction, allowing asymmetry in the emission (R + T + A = 1). Calculations were done at normal incidence using both </a:t>
            </a:r>
            <a:r>
              <a:rPr lang="en-US" sz="1200" dirty="0" err="1"/>
              <a:t>Comsol</a:t>
            </a:r>
            <a:r>
              <a:rPr lang="en-US" sz="1200" dirty="0"/>
              <a:t> and TMM software.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0BE1F4-B5F4-4C32-939E-DB3686E0E022}"/>
              </a:ext>
            </a:extLst>
          </p:cNvPr>
          <p:cNvSpPr txBox="1"/>
          <p:nvPr/>
        </p:nvSpPr>
        <p:spPr>
          <a:xfrm>
            <a:off x="569684" y="6126826"/>
            <a:ext cx="3951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 3. Transmittance and emittance (top) and reflectance (bottom) for different incident angles (s and p-polarization). Asymmetry in emission grows as incident angle increases. </a:t>
            </a:r>
          </a:p>
        </p:txBody>
      </p:sp>
    </p:spTree>
    <p:extLst>
      <p:ext uri="{BB962C8B-B14F-4D97-AF65-F5344CB8AC3E}">
        <p14:creationId xmlns:p14="http://schemas.microsoft.com/office/powerpoint/2010/main" val="1027174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4395462-9140-4002-84CC-B2EC18622A1F}"/>
              </a:ext>
            </a:extLst>
          </p:cNvPr>
          <p:cNvSpPr/>
          <p:nvPr/>
        </p:nvSpPr>
        <p:spPr>
          <a:xfrm>
            <a:off x="9064727" y="1511897"/>
            <a:ext cx="2551345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D0B1C-32AF-4468-B89C-A538C661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167858"/>
            <a:ext cx="10515600" cy="527504"/>
          </a:xfrm>
        </p:spPr>
        <p:txBody>
          <a:bodyPr>
            <a:normAutofit/>
          </a:bodyPr>
          <a:lstStyle/>
          <a:p>
            <a:r>
              <a:rPr lang="en-US" sz="3000" b="1" dirty="0"/>
              <a:t>2. Limitations of Spatial KK as a Window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A6EBE9-B07A-46F8-B75D-18585DB12170}"/>
              </a:ext>
            </a:extLst>
          </p:cNvPr>
          <p:cNvGrpSpPr>
            <a:grpSpLocks noChangeAspect="1"/>
          </p:cNvGrpSpPr>
          <p:nvPr/>
        </p:nvGrpSpPr>
        <p:grpSpPr>
          <a:xfrm>
            <a:off x="346115" y="695362"/>
            <a:ext cx="8819399" cy="4920139"/>
            <a:chOff x="1249759" y="955610"/>
            <a:chExt cx="7718876" cy="43061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6557FDF-D376-49CB-A2BB-A536D33DFD6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89873" y="955610"/>
              <a:ext cx="5278762" cy="4306183"/>
              <a:chOff x="2347389" y="371048"/>
              <a:chExt cx="7497221" cy="6115904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E27C488-24F0-4C0D-BB4C-6EBA6ED596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47389" y="371048"/>
                <a:ext cx="7497221" cy="6115904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0478543-A29A-4728-89A8-2CE231D19C17}"/>
                  </a:ext>
                </a:extLst>
              </p:cNvPr>
              <p:cNvSpPr/>
              <p:nvPr/>
            </p:nvSpPr>
            <p:spPr>
              <a:xfrm>
                <a:off x="8915400" y="381000"/>
                <a:ext cx="925286" cy="292825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DA15C4-7C81-428C-9269-AC6038BBE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49759" y="3790767"/>
              <a:ext cx="2440114" cy="797265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C1F526B-E7C6-42E9-A4BD-DDD1D7CA6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69864" y="1083990"/>
              <a:ext cx="2630509" cy="1819027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9F20126-E8AE-491D-BD55-526B8275D757}"/>
              </a:ext>
            </a:extLst>
          </p:cNvPr>
          <p:cNvSpPr txBox="1"/>
          <p:nvPr/>
        </p:nvSpPr>
        <p:spPr>
          <a:xfrm>
            <a:off x="451822" y="5706752"/>
            <a:ext cx="87889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Figure 4. Comparing the figure-of-merit (bottom left) of a spatial-KK varying </a:t>
            </a:r>
            <a:r>
              <a:rPr lang="en-US" sz="1500" dirty="0" err="1"/>
              <a:t>metasurface</a:t>
            </a:r>
            <a:r>
              <a:rPr lang="en-US" sz="1500" dirty="0"/>
              <a:t> to an equivalently lossy bulk window (top left). Although the </a:t>
            </a:r>
            <a:r>
              <a:rPr lang="en-US" sz="1500" dirty="0" err="1"/>
              <a:t>FoM</a:t>
            </a:r>
            <a:r>
              <a:rPr lang="en-US" sz="1500" dirty="0"/>
              <a:t> enhancement (top right) shows that an enhancement of over 12 is achievable, the transmittance is very low in this region (bottom right). Regions with good </a:t>
            </a:r>
            <a:r>
              <a:rPr lang="en-US" sz="1500" dirty="0" err="1"/>
              <a:t>FoMs</a:t>
            </a:r>
            <a:r>
              <a:rPr lang="en-US" sz="1500" dirty="0"/>
              <a:t> (bottom middle) show hardly any advantage to a spatially varied window.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E6AEB9-7A81-4ED4-A3E0-95007D2DAF5D}"/>
              </a:ext>
            </a:extLst>
          </p:cNvPr>
          <p:cNvSpPr txBox="1"/>
          <p:nvPr/>
        </p:nvSpPr>
        <p:spPr>
          <a:xfrm>
            <a:off x="9130043" y="1511897"/>
            <a:ext cx="25513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Kicker: Asymmetry is only advantageous when losses are high</a:t>
            </a:r>
          </a:p>
        </p:txBody>
      </p:sp>
    </p:spTree>
    <p:extLst>
      <p:ext uri="{BB962C8B-B14F-4D97-AF65-F5344CB8AC3E}">
        <p14:creationId xmlns:p14="http://schemas.microsoft.com/office/powerpoint/2010/main" val="151882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0B1C-32AF-4468-B89C-A538C661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167858"/>
            <a:ext cx="10515600" cy="527504"/>
          </a:xfrm>
        </p:spPr>
        <p:txBody>
          <a:bodyPr>
            <a:normAutofit/>
          </a:bodyPr>
          <a:lstStyle/>
          <a:p>
            <a:r>
              <a:rPr lang="en-US" sz="3000" b="1" dirty="0"/>
              <a:t>3a. What is the best we can do with set amount of losses?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20126-E8AE-491D-BD55-526B8275D757}"/>
              </a:ext>
            </a:extLst>
          </p:cNvPr>
          <p:cNvSpPr txBox="1"/>
          <p:nvPr/>
        </p:nvSpPr>
        <p:spPr>
          <a:xfrm>
            <a:off x="693869" y="5706752"/>
            <a:ext cx="83049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Figure 5 </a:t>
            </a:r>
            <a:r>
              <a:rPr lang="en-US" sz="1500" b="1" dirty="0"/>
              <a:t>(TODO)</a:t>
            </a:r>
            <a:r>
              <a:rPr lang="en-US" sz="1500" dirty="0"/>
              <a:t>. Given some total losses, find either using spatial </a:t>
            </a:r>
            <a:r>
              <a:rPr lang="en-US" sz="1500" dirty="0" err="1"/>
              <a:t>Kramers-Kronig</a:t>
            </a:r>
            <a:r>
              <a:rPr lang="en-US" sz="1500" dirty="0"/>
              <a:t> relations, or by optimization algorithm, the most asymmetry / highest </a:t>
            </a:r>
            <a:r>
              <a:rPr lang="en-US" sz="1500" dirty="0" err="1"/>
              <a:t>FoM</a:t>
            </a:r>
            <a:r>
              <a:rPr lang="en-US" sz="1500" dirty="0"/>
              <a:t> that can be achieved.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7A453-9E0F-4362-9ECB-6ABC851B3D59}"/>
              </a:ext>
            </a:extLst>
          </p:cNvPr>
          <p:cNvSpPr/>
          <p:nvPr/>
        </p:nvSpPr>
        <p:spPr>
          <a:xfrm>
            <a:off x="548640" y="1021976"/>
            <a:ext cx="8208085" cy="468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432628-CE37-495F-A058-67E22A8ABB7C}"/>
              </a:ext>
            </a:extLst>
          </p:cNvPr>
          <p:cNvSpPr txBox="1"/>
          <p:nvPr/>
        </p:nvSpPr>
        <p:spPr>
          <a:xfrm>
            <a:off x="9240819" y="1968649"/>
            <a:ext cx="27754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Concern: How can we guarantee that this is the highest </a:t>
            </a:r>
            <a:r>
              <a:rPr lang="en-US" b="1" dirty="0" err="1"/>
              <a:t>FoM</a:t>
            </a:r>
            <a:r>
              <a:rPr lang="en-US" b="1" dirty="0"/>
              <a:t> achievable? What is the fundamental limit? </a:t>
            </a:r>
          </a:p>
        </p:txBody>
      </p:sp>
    </p:spTree>
    <p:extLst>
      <p:ext uri="{BB962C8B-B14F-4D97-AF65-F5344CB8AC3E}">
        <p14:creationId xmlns:p14="http://schemas.microsoft.com/office/powerpoint/2010/main" val="702537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0B1C-32AF-4468-B89C-A538C661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167858"/>
            <a:ext cx="10515600" cy="527504"/>
          </a:xfrm>
        </p:spPr>
        <p:txBody>
          <a:bodyPr>
            <a:normAutofit/>
          </a:bodyPr>
          <a:lstStyle/>
          <a:p>
            <a:r>
              <a:rPr lang="en-US" sz="3000" b="1" dirty="0"/>
              <a:t>3b. Designing hole array </a:t>
            </a:r>
            <a:r>
              <a:rPr lang="en-US" sz="3000" b="1" dirty="0" err="1"/>
              <a:t>metasurface</a:t>
            </a:r>
            <a:endParaRPr lang="en-US" sz="3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20126-E8AE-491D-BD55-526B8275D757}"/>
              </a:ext>
            </a:extLst>
          </p:cNvPr>
          <p:cNvSpPr txBox="1"/>
          <p:nvPr/>
        </p:nvSpPr>
        <p:spPr>
          <a:xfrm>
            <a:off x="795280" y="4885649"/>
            <a:ext cx="100446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Figure 5.</a:t>
            </a:r>
            <a:r>
              <a:rPr lang="en-US" sz="1600" dirty="0"/>
              <a:t> Retrieved permittivity (left) and permittivity range vs. hole size (right) for SiO2 slab and arrays of air holes. Real and imaginary part effective permittivity spectra for a 0.9 µm thick silica slab (A) and arrays with air holes of increasing size (B-D).</a:t>
            </a:r>
            <a:endParaRPr lang="en-US" sz="15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1BD4EE-9EDD-4CAF-A3C2-2DB6F9A98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280" y="1196780"/>
            <a:ext cx="4856854" cy="36038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FCCF9D-26A4-46A3-ADE7-6275746371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099" y="1111741"/>
            <a:ext cx="4856855" cy="377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8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0B1C-32AF-4468-B89C-A538C661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8" y="167858"/>
            <a:ext cx="10515600" cy="527504"/>
          </a:xfrm>
        </p:spPr>
        <p:txBody>
          <a:bodyPr>
            <a:normAutofit/>
          </a:bodyPr>
          <a:lstStyle/>
          <a:p>
            <a:r>
              <a:rPr lang="en-US" sz="3000" b="1" dirty="0"/>
              <a:t>4b. Experimental Results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F20126-E8AE-491D-BD55-526B8275D757}"/>
              </a:ext>
            </a:extLst>
          </p:cNvPr>
          <p:cNvSpPr txBox="1"/>
          <p:nvPr/>
        </p:nvSpPr>
        <p:spPr>
          <a:xfrm>
            <a:off x="693869" y="5706752"/>
            <a:ext cx="83049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Figure 6 </a:t>
            </a:r>
            <a:r>
              <a:rPr lang="en-US" sz="1500" b="1" dirty="0"/>
              <a:t>(TODO)</a:t>
            </a:r>
            <a:r>
              <a:rPr lang="en-US" sz="1500" dirty="0"/>
              <a:t>. Fabricate proposed hole-array </a:t>
            </a:r>
            <a:r>
              <a:rPr lang="en-US" sz="1500" dirty="0" err="1"/>
              <a:t>metasurface</a:t>
            </a:r>
            <a:r>
              <a:rPr lang="en-US" sz="1500" dirty="0"/>
              <a:t>, and measure forwards and backwards reflectance over a range of angles. Hopefully they match the calculations.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7A453-9E0F-4362-9ECB-6ABC851B3D59}"/>
              </a:ext>
            </a:extLst>
          </p:cNvPr>
          <p:cNvSpPr/>
          <p:nvPr/>
        </p:nvSpPr>
        <p:spPr>
          <a:xfrm>
            <a:off x="548640" y="1021976"/>
            <a:ext cx="8208085" cy="46847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F17A10-1772-44C5-A3E2-68B9A31AC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30" y="1159316"/>
            <a:ext cx="7497221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223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7207</TotalTime>
  <Words>520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1. Introduction + Theory</vt:lpstr>
      <vt:lpstr>2. Limitations of Spatial KK as a Window</vt:lpstr>
      <vt:lpstr>3a. What is the best we can do with set amount of losses?</vt:lpstr>
      <vt:lpstr>3b. Designing hole array metasurface</vt:lpstr>
      <vt:lpstr>4b. Experimental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Outline</dc:title>
  <dc:creator>Kunal Lakhanpal</dc:creator>
  <cp:lastModifiedBy>Kunal Lakhanpal</cp:lastModifiedBy>
  <cp:revision>25</cp:revision>
  <dcterms:created xsi:type="dcterms:W3CDTF">2024-11-07T22:57:39Z</dcterms:created>
  <dcterms:modified xsi:type="dcterms:W3CDTF">2024-11-12T23:07:32Z</dcterms:modified>
</cp:coreProperties>
</file>